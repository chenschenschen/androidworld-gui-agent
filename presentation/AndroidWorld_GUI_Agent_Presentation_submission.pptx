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12" r:id="rId17"/>
    <p:sldId id="313" r:id="rId18"/>
    <p:sldId id="314" r:id="rId19"/>
    <p:sldId id="315" r:id="rId20"/>
    <p:sldId id="309" r:id="rId21"/>
    <p:sldId id="310" r:id="rId22"/>
    <p:sldId id="31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0065B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A7B1BD"/>
              </a:solidFill>
            </c:spPr>
            <c:extLst>
              <c:ext xmlns:c16="http://schemas.microsoft.com/office/drawing/2014/chart" uri="{C3380CC4-5D6E-409C-BE32-E72D297353CC}">
                <c16:uniqueId val="{00000001-6AE9-4AB0-B423-EB92CFB3C156}"/>
              </c:ext>
            </c:extLst>
          </c:dPt>
          <c:dPt>
            <c:idx val="1"/>
            <c:invertIfNegative val="1"/>
            <c:bubble3D val="0"/>
            <c:spPr>
              <a:solidFill>
                <a:srgbClr val="A7B1BD"/>
              </a:solidFill>
            </c:spPr>
            <c:extLst>
              <c:ext xmlns:c16="http://schemas.microsoft.com/office/drawing/2014/chart" uri="{C3380CC4-5D6E-409C-BE32-E72D297353CC}">
                <c16:uniqueId val="{00000003-6AE9-4AB0-B423-EB92CFB3C156}"/>
              </c:ext>
            </c:extLst>
          </c:dPt>
          <c:dPt>
            <c:idx val="2"/>
            <c:invertIfNegative val="1"/>
            <c:bubble3D val="0"/>
            <c:spPr>
              <a:solidFill>
                <a:srgbClr val="A7B1BD"/>
              </a:solidFill>
            </c:spPr>
            <c:extLst>
              <c:ext xmlns:c16="http://schemas.microsoft.com/office/drawing/2014/chart" uri="{C3380CC4-5D6E-409C-BE32-E72D297353CC}">
                <c16:uniqueId val="{00000005-6AE9-4AB0-B423-EB92CFB3C156}"/>
              </c:ext>
            </c:extLst>
          </c:dPt>
          <c:dPt>
            <c:idx val="3"/>
            <c:invertIfNegative val="1"/>
            <c:bubble3D val="0"/>
            <c:spPr>
              <a:solidFill>
                <a:srgbClr val="E37222"/>
              </a:solidFill>
            </c:spPr>
            <c:extLst>
              <c:ext xmlns:c16="http://schemas.microsoft.com/office/drawing/2014/chart" uri="{C3380CC4-5D6E-409C-BE32-E72D297353CC}">
                <c16:uniqueId val="{00000007-6AE9-4AB0-B423-EB92CFB3C156}"/>
              </c:ext>
            </c:extLst>
          </c:dPt>
          <c:dPt>
            <c:idx val="4"/>
            <c:invertIfNegative val="1"/>
            <c:bubble3D val="0"/>
            <c:spPr>
              <a:solidFill>
                <a:srgbClr val="A7B1BD"/>
              </a:solidFill>
            </c:spPr>
            <c:extLst>
              <c:ext xmlns:c16="http://schemas.microsoft.com/office/drawing/2014/chart" uri="{C3380CC4-5D6E-409C-BE32-E72D297353CC}">
                <c16:uniqueId val="{00000009-6AE9-4AB0-B423-EB92CFB3C156}"/>
              </c:ext>
            </c:extLst>
          </c:dPt>
          <c:dPt>
            <c:idx val="5"/>
            <c:invertIfNegative val="1"/>
            <c:bubble3D val="0"/>
            <c:spPr>
              <a:solidFill>
                <a:srgbClr val="0065BD"/>
              </a:solidFill>
            </c:spPr>
            <c:extLst>
              <c:ext xmlns:c16="http://schemas.microsoft.com/office/drawing/2014/chart" uri="{C3380CC4-5D6E-409C-BE32-E72D297353CC}">
                <c16:uniqueId val="{0000000B-6AE9-4AB0-B423-EB92CFB3C156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Setup or other error</c:v>
                </c:pt>
                <c:pt idx="1">
                  <c:v>Step budget used up</c:v>
                </c:pt>
                <c:pt idx="2">
                  <c:v>Invalid replies</c:v>
                </c:pt>
                <c:pt idx="3">
                  <c:v>Said done, verifier FAIL</c:v>
                </c:pt>
                <c:pt idx="4">
                  <c:v>No-progress stop</c:v>
                </c:pt>
                <c:pt idx="5">
                  <c:v>PASS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21</c:v>
                </c:pt>
                <c:pt idx="2">
                  <c:v>32</c:v>
                </c:pt>
                <c:pt idx="3">
                  <c:v>19</c:v>
                </c:pt>
                <c:pt idx="4">
                  <c:v>48</c:v>
                </c:pt>
                <c:pt idx="5">
                  <c:v>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6AE9-4AB0-B423-EB92CFB3C1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/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E6EA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D9DEE5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v30–v42
Text Skill</c:v>
                </c:pt>
                <c:pt idx="1">
                  <c:v>v43–v48
Rules on words</c:v>
                </c:pt>
                <c:pt idx="2">
                  <c:v>v49–v58
Reads the screen</c:v>
                </c:pt>
                <c:pt idx="3">
                  <c:v>v59–v62
Skill as code</c:v>
                </c:pt>
                <c:pt idx="4">
                  <c:v>v63–v65
Final agent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10</c:v>
                </c:pt>
                <c:pt idx="2">
                  <c:v>10</c:v>
                </c:pt>
                <c:pt idx="3">
                  <c:v>11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B77-4BD6-9AA8-ECF17B33DC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065BD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v30–v42
Text Skill</c:v>
                </c:pt>
                <c:pt idx="1">
                  <c:v>v43–v48
Rules on words</c:v>
                </c:pt>
                <c:pt idx="2">
                  <c:v>v49–v58
Reads the screen</c:v>
                </c:pt>
                <c:pt idx="3">
                  <c:v>v59–v62
Skill as code</c:v>
                </c:pt>
                <c:pt idx="4">
                  <c:v>v63–v65
Final agent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B77-4BD6-9AA8-ECF17B33DC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/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6EA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DE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Passed of 3</c:v>
                </c:pt>
              </c:strCache>
            </c:strRef>
          </c:tx>
          <c:spPr>
            <a:solidFill>
              <a:srgbClr val="0065BD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Text Skill only
(v42, other seeds)</c:v>
                </c:pt>
                <c:pt idx="1">
                  <c:v>No Skill
(v61)</c:v>
                </c:pt>
                <c:pt idx="2">
                  <c:v>Skill as code
(v61)</c:v>
                </c:pt>
                <c:pt idx="3">
                  <c:v>Final agent
(v65)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E6-41F9-BDFF-3D4BB2FF02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/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  <c:min val="0"/>
        </c:scaling>
        <c:delete val="0"/>
        <c:axPos val="l"/>
        <c:majorGridlines>
          <c:spPr>
            <a:ln>
              <a:solidFill>
                <a:srgbClr val="E6EA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DE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Our agent (mean of passing runs)</c:v>
                </c:pt>
              </c:strCache>
            </c:strRef>
          </c:tx>
          <c:spPr>
            <a:solidFill>
              <a:srgbClr val="0065BD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Wi-Fi</c:v>
                </c:pt>
                <c:pt idx="1">
                  <c:v>Contacts</c:v>
                </c:pt>
                <c:pt idx="2">
                  <c:v>SMS</c:v>
                </c:pt>
                <c:pt idx="3">
                  <c:v>Files</c:v>
                </c:pt>
                <c:pt idx="4">
                  <c:v>Calendar</c:v>
                </c:pt>
                <c:pt idx="5">
                  <c:v>Markor+SMS</c:v>
                </c:pt>
                <c:pt idx="6">
                  <c:v>OsmAnd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11.5</c:v>
                </c:pt>
                <c:pt idx="2">
                  <c:v>7.7</c:v>
                </c:pt>
                <c:pt idx="3">
                  <c:v>15.0</c:v>
                </c:pt>
                <c:pt idx="4">
                  <c:v>19.0</c:v>
                </c:pt>
                <c:pt idx="5">
                  <c:v>18.0</c:v>
                </c:pt>
                <c:pt idx="6">
                  <c:v>22.5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0AD-403F-8612-D75A4BD3EE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Reference steps (course list)</c:v>
                </c:pt>
              </c:strCache>
            </c:strRef>
          </c:tx>
          <c:spPr>
            <a:solidFill>
              <a:srgbClr val="072140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Wi-Fi</c:v>
                </c:pt>
                <c:pt idx="1">
                  <c:v>Contacts</c:v>
                </c:pt>
                <c:pt idx="2">
                  <c:v>SMS</c:v>
                </c:pt>
                <c:pt idx="3">
                  <c:v>Files</c:v>
                </c:pt>
                <c:pt idx="4">
                  <c:v>Calendar</c:v>
                </c:pt>
                <c:pt idx="5">
                  <c:v>Markor+SMS</c:v>
                </c:pt>
                <c:pt idx="6">
                  <c:v>OsmAnd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3.0</c:v>
                </c:pt>
                <c:pt idx="1">
                  <c:v>5.0</c:v>
                </c:pt>
                <c:pt idx="2">
                  <c:v>6.0</c:v>
                </c:pt>
                <c:pt idx="3">
                  <c:v>10.0</c:v>
                </c:pt>
                <c:pt idx="4">
                  <c:v>17.0</c:v>
                </c:pt>
                <c:pt idx="5">
                  <c:v>9.0</c:v>
                </c:pt>
                <c:pt idx="6">
                  <c:v>60.0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0AD-403F-8612-D75A4BD3EE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Step budget</c:v>
                </c:pt>
              </c:strCache>
            </c:strRef>
          </c:tx>
          <c:spPr>
            <a:solidFill>
              <a:srgbClr val="D9DEE5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Wi-Fi</c:v>
                </c:pt>
                <c:pt idx="1">
                  <c:v>Contacts</c:v>
                </c:pt>
                <c:pt idx="2">
                  <c:v>SMS</c:v>
                </c:pt>
                <c:pt idx="3">
                  <c:v>Files</c:v>
                </c:pt>
                <c:pt idx="4">
                  <c:v>Calendar</c:v>
                </c:pt>
                <c:pt idx="5">
                  <c:v>Markor+SMS</c:v>
                </c:pt>
                <c:pt idx="6">
                  <c:v>OsmAnd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12.0</c:v>
                </c:pt>
                <c:pt idx="1">
                  <c:v>16.0</c:v>
                </c:pt>
                <c:pt idx="2">
                  <c:v>20.0</c:v>
                </c:pt>
                <c:pt idx="3">
                  <c:v>25.0</c:v>
                </c:pt>
                <c:pt idx="4">
                  <c:v>35.0</c:v>
                </c:pt>
                <c:pt idx="5">
                  <c:v>40.0</c:v>
                </c:pt>
                <c:pt idx="6">
                  <c:v>90.0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0AD-403F-8612-D75A4BD3EE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/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6EA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DE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run time (s)</c:v>
                </c:pt>
              </c:strCache>
            </c:strRef>
          </c:tx>
          <c:spPr>
            <a:solidFill>
              <a:srgbClr val="0065BD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Wi-Fi</c:v>
                </c:pt>
                <c:pt idx="1">
                  <c:v>Contacts</c:v>
                </c:pt>
                <c:pt idx="2">
                  <c:v>SMS</c:v>
                </c:pt>
                <c:pt idx="3">
                  <c:v>Files</c:v>
                </c:pt>
                <c:pt idx="4">
                  <c:v>Calendar</c:v>
                </c:pt>
                <c:pt idx="5">
                  <c:v>Markor+SMS</c:v>
                </c:pt>
                <c:pt idx="6">
                  <c:v>OsmAnd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71.0</c:v>
                </c:pt>
                <c:pt idx="1">
                  <c:v>95.0</c:v>
                </c:pt>
                <c:pt idx="2">
                  <c:v>71.0</c:v>
                </c:pt>
                <c:pt idx="3">
                  <c:v>109.0</c:v>
                </c:pt>
                <c:pt idx="4">
                  <c:v>153.0</c:v>
                </c:pt>
                <c:pt idx="5">
                  <c:v>202.0</c:v>
                </c:pt>
                <c:pt idx="6">
                  <c:v>537.0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A22-4075-9359-7C282AF96C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200"/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E6EA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5F9247-1F47-3863-FBA6-42E896724B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1D243-83BE-B220-A765-E3C765780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B9E57-32ED-4905-A57B-6A7B0B2A064A}" type="datetimeFigureOut">
              <a:rPr lang="en-DE" smtClean="0"/>
              <a:t>10/10/2026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E29D0-3AC6-2FF9-1161-1BF5CC73A5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8DBA8-B400-D2D2-449F-7C52CF2E7B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A3EE7-BACA-45CB-8706-C49B797DE63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8177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95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Chenschenschen/androidworld-gui-agent/blob/team-agent/docs/evidence/team/runs/trial_SystemWifiTurnOn_20261008T215130_600754Z/trajectory.txt" TargetMode="External"/><Relationship Id="rId4" Type="http://schemas.openxmlformats.org/officeDocument/2006/relationships/hyperlink" Target="https://github.com/Chenschenschen/androidworld-gui-agent/blob/team-agent/docs/evidence/team/runs/trial_SystemWifiTurnOn_20261008T215246_616671Z/trajectory.txt" TargetMode="External"/><Relationship Id="rId5" Type="http://schemas.openxmlformats.org/officeDocument/2006/relationships/hyperlink" Target="https://github.com/Chenschenschen/androidworld-gui-agent/blob/team-agent/docs/evidence/team/runs/trial_SystemWifiTurnOn_20261008T215358_472883Z/trajectory.txt" TargetMode="External"/><Relationship Id="rId6" Type="http://schemas.openxmlformats.org/officeDocument/2006/relationships/hyperlink" Target="https://github.com/Chenschenschen/androidworld-gui-agent/blob/team-agent/docs/evidence/team/runs/trial_ContactsAddContact_20261008T215508_628423Z/trajectory.txt" TargetMode="External"/><Relationship Id="rId7" Type="http://schemas.openxmlformats.org/officeDocument/2006/relationships/hyperlink" Target="https://github.com/Chenschenschen/androidworld-gui-agent/blob/team-agent/docs/evidence/team/runs/trial_ContactsAddContact_20261008T215709_244163Z/trajectory.txt" TargetMode="External"/><Relationship Id="rId8" Type="http://schemas.openxmlformats.org/officeDocument/2006/relationships/hyperlink" Target="https://github.com/Chenschenschen/androidworld-gui-agent/blob/team-agent/docs/evidence/team/runs/trial_ContactsAddContact_20261008T215831_022667Z/trajectory.txt" TargetMode="External"/><Relationship Id="rId9" Type="http://schemas.openxmlformats.org/officeDocument/2006/relationships/hyperlink" Target="https://github.com/Chenschenschen/androidworld-gui-agent/blob/team-agent/docs/evidence/team/runs/trial_SimpleSmsSend_20261008T215957_234873Z/trajectory.txt" TargetMode="External"/><Relationship Id="rId10" Type="http://schemas.openxmlformats.org/officeDocument/2006/relationships/hyperlink" Target="https://github.com/Chenschenschen/androidworld-gui-agent/blob/team-agent/docs/evidence/team/runs/trial_SimpleSmsSend_20261008T220116_423331Z/trajectory.txt" TargetMode="External"/><Relationship Id="rId11" Type="http://schemas.openxmlformats.org/officeDocument/2006/relationships/hyperlink" Target="https://github.com/Chenschenschen/androidworld-gui-agent/blob/team-agent/docs/evidence/team/runs/trial_SimpleSmsSend_20261008T220223_867500Z/trajectory.txt" TargetMode="External"/><Relationship Id="rId12" Type="http://schemas.openxmlformats.org/officeDocument/2006/relationships/hyperlink" Target="https://github.com/Chenschenschen/androidworld-gui-agent/blob/team-agent/docs/evidence/team/runs/trial_FilesMoveFile_20261008T220333_997891Z/trajectory.txt" TargetMode="External"/><Relationship Id="rId13" Type="http://schemas.openxmlformats.org/officeDocument/2006/relationships/hyperlink" Target="https://github.com/Chenschenschen/androidworld-gui-agent/blob/team-agent/docs/evidence/team/runs/trial_FilesMoveFile_20261008T220533_834164Z/trajectory.txt" TargetMode="External"/><Relationship Id="rId14" Type="http://schemas.openxmlformats.org/officeDocument/2006/relationships/hyperlink" Target="https://github.com/Chenschenschen/androidworld-gui-agent/blob/team-agent/docs/evidence/team/runs/trial_FilesMoveFile_20261008T220713_812951Z/trajectory.txt" TargetMode="External"/><Relationship Id="rId15" Type="http://schemas.openxmlformats.org/officeDocument/2006/relationships/hyperlink" Target="https://github.com/Chenschenschen/androidworld-gui-agent/blob/team-agent/docs/evidence/team/runs/trial_SimpleCalendarAddOneEvent_20261008T220904_772591Z/trajectory.txt" TargetMode="External"/><Relationship Id="rId16" Type="http://schemas.openxmlformats.org/officeDocument/2006/relationships/hyperlink" Target="https://github.com/Chenschenschen/androidworld-gui-agent/blob/team-agent/docs/evidence/team/runs/trial_SimpleCalendarAddOneEvent_20261008T221147_529159Z/trajectory.txt" TargetMode="External"/><Relationship Id="rId17" Type="http://schemas.openxmlformats.org/officeDocument/2006/relationships/hyperlink" Target="https://github.com/Chenschenschen/androidworld-gui-agent/blob/team-agent/docs/evidence/team/runs/trial_SimpleCalendarAddOneEvent_20261008T221423_161758Z/trajectory.tx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Chenschenschen/androidworld-gui-agent/blob/team-agent/docs/evidence/markor_v66/runs/trial_MarkorCreateNoteAndSms_20261009T125039_586151Z/trajectory.txt" TargetMode="External"/><Relationship Id="rId4" Type="http://schemas.openxmlformats.org/officeDocument/2006/relationships/hyperlink" Target="https://github.com/Chenschenschen/androidworld-gui-agent/blob/team-agent/docs/evidence/markor_v66/runs/trial_MarkorCreateNoteAndSms_20261009T125401_048355Z/trajectory.txt" TargetMode="External"/><Relationship Id="rId5" Type="http://schemas.openxmlformats.org/officeDocument/2006/relationships/hyperlink" Target="https://github.com/Chenschenschen/androidworld-gui-agent/blob/team-agent/docs/evidence/markor_v66/runs/trial_MarkorCreateNoteAndSms_20261009T125719_921778Z/trajectory.txt" TargetMode="External"/><Relationship Id="rId6" Type="http://schemas.openxmlformats.org/officeDocument/2006/relationships/hyperlink" Target="https://github.com/Chenschenschen/androidworld-gui-agent/blob/team-agent/docs/evidence/team/runs/trial_OsmAndTrack_20261008T223004_312422Z/trajectory.txt" TargetMode="External"/><Relationship Id="rId7" Type="http://schemas.openxmlformats.org/officeDocument/2006/relationships/hyperlink" Target="https://github.com/Chenschenschen/androidworld-gui-agent/blob/team-agent/docs/evidence/team/runs/trial_OsmAndTrack_20261008T224202_113624Z/trajectory.txt" TargetMode="External"/><Relationship Id="rId8" Type="http://schemas.openxmlformats.org/officeDocument/2006/relationships/hyperlink" Target="https://github.com/Chenschenschen/androidworld-gui-agent/blob/team-agent/docs/evidence/team/runs/trial_OsmAndTrack_20261008T225108_345362Z/trajectory.tx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7.xml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microsoft.com/office/2007/relationships/media" Target="../media/media5.mp4"/><Relationship Id="rId2" Type="http://schemas.openxmlformats.org/officeDocument/2006/relationships/video" Target="../media/media5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microsoft.com/office/2007/relationships/media" Target="../media/media6.mp4"/><Relationship Id="rId2" Type="http://schemas.openxmlformats.org/officeDocument/2006/relationships/video" Target="../media/media6.mp4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9.xml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microsoft.com/office/2007/relationships/media" Target="../media/media8.mp4"/><Relationship Id="rId2" Type="http://schemas.openxmlformats.org/officeDocument/2006/relationships/video" Target="../media/media8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microsoft.com/office/2007/relationships/media" Target="../media/media11.mp4"/><Relationship Id="rId4" Type="http://schemas.openxmlformats.org/officeDocument/2006/relationships/video" Target="../media/media11.mp4"/><Relationship Id="rId5" Type="http://schemas.openxmlformats.org/officeDocument/2006/relationships/image" Target="../media/image29.png"/><Relationship Id="rId6" Type="http://schemas.microsoft.com/office/2007/relationships/media" Target="../media/media12.mp4"/><Relationship Id="rId7" Type="http://schemas.openxmlformats.org/officeDocument/2006/relationships/video" Target="../media/media12.mp4"/><Relationship Id="rId8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9.mp4"/><Relationship Id="rId2" Type="http://schemas.openxmlformats.org/officeDocument/2006/relationships/video" Target="../media/media9.mp4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2.xml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Chenschenschen/androidworld-gui-agent/tree/team-agent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223760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6217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4A0C8"/>
                </a:solidFill>
                <a:latin typeface="Arial"/>
              </a:rPr>
              <a:t>AGENTIC AI IN MODERN BUSINESS  · 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6217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TUM School of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6400800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One GUI agent for seven</a:t>
            </a:r>
          </a:p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AndroidWorld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6035040" cy="777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9C4D6"/>
                </a:solidFill>
                <a:latin typeface="Arial"/>
              </a:rPr>
              <a:t>An agent that looks at the phone screen and decides where to tap, evaluated with the official AndroidWorld verifier.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94760"/>
            <a:ext cx="1005840" cy="5486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251960"/>
            <a:ext cx="34747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A0C8"/>
                </a:solidFill>
                <a:latin typeface="Arial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2286000" cy="1737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Danh Phuong Le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Ssu-Cheng Chen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Hayati Ömer Koç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Jia Qi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Tin Nghia Nguyen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553712"/>
            <a:ext cx="1280160" cy="1737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03824340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03827578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03801613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03812325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B9C4D6"/>
                </a:solidFill>
                <a:latin typeface="Arial"/>
              </a:rPr>
              <a:t>03826855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251960"/>
            <a:ext cx="237744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A0C8"/>
                </a:solidFill>
                <a:latin typeface="Arial"/>
              </a:rPr>
              <a:t>LECTURERS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553712"/>
            <a:ext cx="237744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Haoyuan Jiang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Xuerui Zhang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Zhenyu Wang</a:t>
            </a:r>
          </a:p>
        </p:txBody>
      </p:sp>
      <p:pic>
        <p:nvPicPr>
          <p:cNvPr id="15" name="Picture 14" descr="traj_6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 rot="21120000">
            <a:off x="7406640" y="1325880"/>
            <a:ext cx="2016252" cy="4122115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  <p:pic>
        <p:nvPicPr>
          <p:cNvPr id="16" name="Picture 15" descr="traj_3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 rot="480000">
            <a:off x="9601200" y="1325880"/>
            <a:ext cx="2016252" cy="4122115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  <p:pic>
        <p:nvPicPr>
          <p:cNvPr id="17" name="Picture 16" descr="osmand_pass_4.png"/>
          <p:cNvPicPr>
            <a:picLocks noChangeAspect="1"/>
          </p:cNvPicPr>
          <p:nvPr/>
        </p:nvPicPr>
        <p:blipFill>
          <a:blip r:embed="rId5"/>
          <a:srcRect t="8000"/>
          <a:stretch>
            <a:fillRect/>
          </a:stretch>
        </p:blipFill>
        <p:spPr>
          <a:xfrm>
            <a:off x="8366760" y="777240"/>
            <a:ext cx="2366010" cy="4837176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223760" y="6172200"/>
            <a:ext cx="4965192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E6773"/>
                </a:solidFill>
                <a:latin typeface="Arial"/>
              </a:rPr>
              <a:t>Real screens from our evaluation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One agent, seven tasks: 17 of 21 runs passed the official check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2606040" cy="1874519"/>
          </a:xfrm>
          <a:prstGeom prst="rect">
            <a:avLst/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2606040" cy="6400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691640"/>
            <a:ext cx="233172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0065BD"/>
                </a:solidFill>
                <a:latin typeface="Arial"/>
              </a:rPr>
              <a:t>17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04872"/>
            <a:ext cx="23317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runs passed the official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AndroidWorld verifier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463040"/>
            <a:ext cx="260604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1463040"/>
            <a:ext cx="2606040" cy="6400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1691640"/>
            <a:ext cx="233172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065BD"/>
                </a:solidFill>
                <a:latin typeface="Arial"/>
              </a:rPr>
              <a:t>7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404872"/>
            <a:ext cx="23317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covering easy, medium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and hard (D1 task list)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463040"/>
            <a:ext cx="260604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1463040"/>
            <a:ext cx="2606040" cy="6400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691640"/>
            <a:ext cx="233172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065BD"/>
                </a:solidFill>
                <a:latin typeface="Arial"/>
              </a:rPr>
              <a:t>~300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04872"/>
            <a:ext cx="23317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recorded runs across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the whole 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1463040"/>
            <a:ext cx="2606040" cy="187451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4544" y="1463040"/>
            <a:ext cx="2606040" cy="6400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7424" y="1691640"/>
            <a:ext cx="233172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065BD"/>
                </a:solidFill>
                <a:latin typeface="Arial"/>
              </a:rPr>
              <a:t>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404872"/>
            <a:ext cx="23317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agent versions, each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change tested and logged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3474720" cy="2331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657600"/>
            <a:ext cx="54864" cy="23317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" y="3749039"/>
            <a:ext cx="32186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Rigorous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160520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Frozen, git-tagged code for all runs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Every run screen-recorded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Official checker decides 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657600"/>
            <a:ext cx="3474720" cy="2331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3657600"/>
            <a:ext cx="54864" cy="23317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3749039"/>
            <a:ext cx="32186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Cheap and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160520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About 0.066 € model cost for 21 runs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1.75 s median per model call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Hosted model, laptop without GPU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657600"/>
            <a:ext cx="3474720" cy="2331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3657600"/>
            <a:ext cx="54864" cy="233172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3749039"/>
            <a:ext cx="32186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Honest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160520"/>
            <a:ext cx="32004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Failures kept, analysed, not rerun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Fixes tested on other task seeds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>
                <a:solidFill>
                  <a:srgbClr val="0065BD"/>
                </a:solidFill>
                <a:latin typeface="Arial"/>
              </a:rPr>
              <a:t>▪  </a:t>
            </a:r>
            <a:r>
              <a:rPr sz="1600" b="0">
                <a:solidFill>
                  <a:srgbClr val="222A35"/>
                </a:solidFill>
                <a:latin typeface="Arial"/>
              </a:rPr>
              <a:t>Extra inputs disclosed per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A phone assistant that uses apps the way a person does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566160" cy="1417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4864" cy="14173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00200"/>
            <a:ext cx="33101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Who it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11680"/>
            <a:ext cx="32918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People who find phones hard to use, busy users with repeated tasks, teams that test apps.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3566160" cy="1417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54864" cy="14173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200400"/>
            <a:ext cx="33101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What it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611880"/>
            <a:ext cx="32918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Only the screen: no special app interface. It reads, taps, types and swipes like a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3566160" cy="1417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54864" cy="14173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4800600"/>
            <a:ext cx="33101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What it is told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212080"/>
            <a:ext cx="329184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One sentence in plain English, for example: “Create a note named … and share its content via SMS.”</a:t>
            </a:r>
          </a:p>
        </p:txBody>
      </p:sp>
      <p:pic>
        <p:nvPicPr>
          <p:cNvPr id="21" name="Picture 20" descr="traj_1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4572000" y="1508760"/>
            <a:ext cx="2077974" cy="4248302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pic>
        <p:nvPicPr>
          <p:cNvPr id="22" name="Picture 21" descr="traj_3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>
            <a:off x="6995160" y="1508760"/>
            <a:ext cx="2077974" cy="4248302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pic>
        <p:nvPicPr>
          <p:cNvPr id="23" name="Picture 22" descr="traj_6.png"/>
          <p:cNvPicPr>
            <a:picLocks noChangeAspect="1"/>
          </p:cNvPicPr>
          <p:nvPr/>
        </p:nvPicPr>
        <p:blipFill>
          <a:blip r:embed="rId5"/>
          <a:srcRect t="8000"/>
          <a:stretch>
            <a:fillRect/>
          </a:stretch>
        </p:blipFill>
        <p:spPr>
          <a:xfrm>
            <a:off x="9418320" y="1508760"/>
            <a:ext cx="2077974" cy="4248302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572000" y="6144768"/>
            <a:ext cx="694944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773"/>
                </a:solidFill>
                <a:latin typeface="Arial"/>
              </a:rPr>
              <a:t>One of our runs: a note in Markor, shared as an 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Seven tasks from all three difficulty rows of the course list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Row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the agent is told (short)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Reference steps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Warm-up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SystemWifiTurnOn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Turn Wi-Fi on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Warm-up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ContactsAddContact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Create a contact with a name and number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SimpleSmsSend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Send a message to a number with Simple SMS Messenger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FilesMoveFile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Move a file from one folder to another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SimpleCalendarAddOneEvent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Create an event on a date and hour, with title and length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Multi-app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MarkorCreateNoteAndSms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Create a note, then share its text with a number via SMS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Multi-app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OsmAndTrack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Save a track: Ruggell, then Bendern (the slide's instance)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773"/>
                </a:solidFill>
                <a:latin typeface="Arial"/>
              </a:rPr>
              <a:t>Reference steps: the number of steps AndroidWorld lists for each task (course slide D1 p.7).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Why AutoGLM-Phone-9B, and what we tried first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7406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AutoGLM-Phone-9B (Z.ai API)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GELab-Zero 4B (local, Ollama)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Built for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Phone GUI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Phone GUI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Where it runs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Hosted API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Laptop GPU (8 GB), partial offload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Speed per model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1.75 s median (297 calls)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19–21 s per screenshot 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Action format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Native do(...) / finish(...), parsed reliably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Bare tokens our parser rejected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€0.045 per million tokens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Free, but slow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Our results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17 / 21 in the final evaluation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Contacts: 1 PASS in 6 trials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Leaderboard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AutoGLM-Mobile (9B) 80.2% on AndroidWorld*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321040" y="1554480"/>
            <a:ext cx="324612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1040" y="1554480"/>
            <a:ext cx="54864" cy="402336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1645920"/>
            <a:ext cx="29900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Our first attempt (v1–v10)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0574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Started with GELab-Zero, the model on the course slide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Model larger than the 8 GB GPU: ~20 s per screenshot request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Contacts: 1 of 6 trials passed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Wi-Fi: invalid action format, false “Wi-Fi is on”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Switched to the hosted AutoGLM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773"/>
                </a:solidFill>
                <a:latin typeface="Arial"/>
              </a:rPr>
              <a:t>* Community leaderboard entry (google-research/android_world); the listed checkpoint may differ from the hosted model we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One class, one step(): observe, decide, check, act, record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920240"/>
            <a:ext cx="16916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72140"/>
                </a:solidFill>
                <a:latin typeface="Arial"/>
              </a:rPr>
              <a:t>1 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2286000"/>
            <a:ext cx="172821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Screenshot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(+ GUI labels for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some tasks)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2624328"/>
            <a:ext cx="31089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737360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1920240"/>
            <a:ext cx="16916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72140"/>
                </a:solidFill>
                <a:latin typeface="Arial"/>
              </a:rPr>
              <a:t>2 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286000"/>
            <a:ext cx="172821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AutoGLM picks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one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2312" y="2624328"/>
            <a:ext cx="31089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737360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FC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1920240"/>
            <a:ext cx="16916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72140"/>
                </a:solidFill>
                <a:latin typeface="Arial"/>
              </a:rPr>
              <a:t>3 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286000"/>
            <a:ext cx="172821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Format, screen point,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focus, task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2624328"/>
            <a:ext cx="31089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1737360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920240"/>
            <a:ext cx="16916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72140"/>
                </a:solidFill>
                <a:latin typeface="Arial"/>
              </a:rPr>
              <a:t>4 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2286000"/>
            <a:ext cx="172821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Tap, type, swipe,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launch, 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62872" y="2624328"/>
            <a:ext cx="31089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0" y="1737360"/>
            <a:ext cx="1874519" cy="1828800"/>
          </a:xfrm>
          <a:prstGeom prst="roundRect">
            <a:avLst>
              <a:gd name="adj" fmla="val 8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920240"/>
            <a:ext cx="16916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72140"/>
                </a:solidFill>
                <a:latin typeface="Arial"/>
              </a:rPr>
              <a:t>5 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286000"/>
            <a:ext cx="172821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Trajectory log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+ screen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10881360" cy="411480"/>
          </a:xfrm>
          <a:prstGeom prst="rect">
            <a:avLst/>
          </a:prstGeom>
          <a:solidFill>
            <a:srgbClr val="F2F5F9"/>
          </a:solidFill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065BD"/>
                </a:solidFill>
                <a:latin typeface="Arial"/>
              </a:rPr>
              <a:t>repeat until the model says finish, or the step budget ends  →  official AndroidWorld verifier: PASS / FAIL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17720"/>
            <a:ext cx="5303520" cy="1600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617720"/>
            <a:ext cx="54864" cy="16002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4709159"/>
            <a:ext cx="504748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step() in AutoGLMAgent (autoglm_agent.py)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5120640"/>
            <a:ext cx="5029200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Reads the screen and the task, chooses one action, checks it, executes it, and reports whether the model said it is done.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5303520" cy="1600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617720"/>
            <a:ext cx="54864" cy="16002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4709159"/>
            <a:ext cx="504748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Same agent for all seven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120640"/>
            <a:ext cx="5029200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Task-specific knowledge is loaded as data (completion rule, optional Skill). The model still decides every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Context and Skills: what goes into each model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520440" cy="3611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361188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4592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Every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5740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System prompt: action rules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Completion rule: what “done” looks like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Last 20 steps of history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Newest screenshot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Status: step number, last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20440" cy="3611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54864" cy="361188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4592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Markor Skill (text)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5740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Loaded only for this task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Fact: Share &gt; File makes a failing MMS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Procedure: name + extension, Save, Share &gt; Plain Text, SMS Messenger, number, SMS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Repeated each step as a reminder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520440" cy="3611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54864" cy="361188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64592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72140"/>
                </a:solidFill>
                <a:latin typeface="Arial"/>
              </a:rPr>
              <a:t>OsmAnd Skill (code)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05740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Recognises the screen from the GUI tree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States the next step and its tap centre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Refuses actions the screen shows to be wrong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Model still chooses every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27080" cy="685800"/>
          </a:xfrm>
          <a:prstGeom prst="rect">
            <a:avLst/>
          </a:prstGeom>
          <a:solidFill>
            <a:srgbClr val="F2F5F9"/>
          </a:solidFill>
        </p:spPr>
        <p:txBody>
          <a:bodyPr wrap="square" lIns="73152" rIns="7315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065BD"/>
                </a:solidFill>
                <a:latin typeface="Arial"/>
              </a:rPr>
              <a:t>No fixed list of taps: Skills add app knowledge, the model makes every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A safety net: actions are checked before they reach the phone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6675120" cy="250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Final runs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Type with no focused text 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Text would go nowhere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Malformed reply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Not exactly one action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Unsupported 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Not in the action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OsmAnd Favorite button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Saves a favourite, not a route 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554480"/>
            <a:ext cx="3977639" cy="2697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1554480"/>
            <a:ext cx="54864" cy="269748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4112" y="1645920"/>
            <a:ext cx="372160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How a refusal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057400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The action is not executed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The model gets the reason in the same step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One correction per step; a second invalid reply ends the run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All refusals are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320040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39512"/>
            <a:ext cx="32004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actions stopped in the final runs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(6 of 21 runs had one or more)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617720"/>
            <a:ext cx="75438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Arial"/>
              </a:rPr>
              <a:t>Without these checks, the agent would have typed into nothing, saved a favourite instead of a route point, or acted on a broken reply. Five of the six runs with a refusal still passed.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Implementation: four parts and how they talk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2331720" cy="2057400"/>
          </a:xfrm>
          <a:prstGeom prst="roundRect">
            <a:avLst>
              <a:gd name="adj" fmla="val 6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719072"/>
            <a:ext cx="21488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AutoGLM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176272"/>
            <a:ext cx="214884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Z.ai API (HTTPS)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autoglm-phone-multilingual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key kept in .env, not in git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2468880"/>
            <a:ext cx="448055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999232" y="2834640"/>
            <a:ext cx="448055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2926080"/>
            <a:ext cx="594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request /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one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600200"/>
            <a:ext cx="2331720" cy="2057400"/>
          </a:xfrm>
          <a:prstGeom prst="roundRect">
            <a:avLst>
              <a:gd name="adj" fmla="val 6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719072"/>
            <a:ext cx="21488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76272"/>
            <a:ext cx="214884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AutoGLMAgent.step()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autoglm_agent.py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prompt, Skills, task config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33872" y="2468880"/>
            <a:ext cx="448055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833872" y="2834640"/>
            <a:ext cx="448055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60720" y="2926080"/>
            <a:ext cx="594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step() /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00200"/>
            <a:ext cx="2331720" cy="2057400"/>
          </a:xfrm>
          <a:prstGeom prst="roundRect">
            <a:avLst>
              <a:gd name="adj" fmla="val 6000"/>
            </a:avLst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719072"/>
            <a:ext cx="21488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76272"/>
            <a:ext cx="214884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run_task.py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task setup, recorder, loop,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verifier, logs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2468880"/>
            <a:ext cx="44805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668512" y="2834640"/>
            <a:ext cx="448056" cy="0"/>
          </a:xfrm>
          <a:prstGeom prst="line">
            <a:avLst/>
          </a:prstGeom>
          <a:ln w="22225">
            <a:solidFill>
              <a:srgbClr val="0065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95360" y="2926080"/>
            <a:ext cx="594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adb: screen,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E6773"/>
                </a:solidFill>
                <a:latin typeface="Arial"/>
              </a:rPr>
              <a:t>tap, 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600200"/>
            <a:ext cx="2331720" cy="2057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719072"/>
            <a:ext cx="214884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76272"/>
            <a:ext cx="214884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Android emulator: Pixel 6,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Android 13, headless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AndroidWorld setup + verifier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3520440" cy="2103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54864" cy="21031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411480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Batch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452628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evaluate_tasks.py runs task x seed batches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Records a source fingerprint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Stops if the code changes mid-batch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023360"/>
            <a:ext cx="3520440" cy="2103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43400" y="4023360"/>
            <a:ext cx="54864" cy="21031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07992" y="411480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52628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38 offline tests (no phone needed)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Frozen git tag for the evaluation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Every run: summary, log, 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023360"/>
            <a:ext cx="3520440" cy="2103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0" y="4023360"/>
            <a:ext cx="54864" cy="210312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411480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Reproduce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52628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git checkout team-agent-final-v66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evaluate_tasks.py --tasks ... --seeds 42 43 44 --run-all-seeds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0065BD"/>
                </a:solidFill>
                <a:latin typeface="Arial"/>
              </a:rPr>
              <a:t>▪  </a:t>
            </a:r>
            <a:r>
              <a:rPr sz="1300" b="0">
                <a:solidFill>
                  <a:srgbClr val="222A35"/>
                </a:solidFill>
                <a:latin typeface="Arial"/>
              </a:rPr>
              <a:t>Python 3.11, Windows laptop, no GPU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One run, step by step: the OsmAnd track Ruggell to Bendern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osm_traj_1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576072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66344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“I need to tap "INCREASE SEARCH RADIUS" to expand the search area and find the place.”</a:t>
            </a:r>
          </a:p>
        </p:txBody>
      </p:sp>
      <p:pic>
        <p:nvPicPr>
          <p:cNvPr id="13" name="Picture 12" descr="osm_traj_2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>
            <a:off x="2478024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2368296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1448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“The "Ruggell" row labeled "Village" is visible and is the correct location.”</a:t>
            </a:r>
          </a:p>
        </p:txBody>
      </p:sp>
      <p:pic>
        <p:nvPicPr>
          <p:cNvPr id="17" name="Picture 16" descr="osm_traj_3.png"/>
          <p:cNvPicPr>
            <a:picLocks noChangeAspect="1"/>
          </p:cNvPicPr>
          <p:nvPr/>
        </p:nvPicPr>
        <p:blipFill>
          <a:blip r:embed="rId5"/>
          <a:srcRect t="8000"/>
          <a:stretch>
            <a:fillRect/>
          </a:stretch>
        </p:blipFill>
        <p:spPr>
          <a:xfrm>
            <a:off x="4379976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4270248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“I should tap it to start creating the route, which will allow me to add the next waypoint "Bendern" in the correct order.”</a:t>
            </a:r>
          </a:p>
        </p:txBody>
      </p:sp>
      <p:pic>
        <p:nvPicPr>
          <p:cNvPr id="21" name="Picture 20" descr="osm_traj_4.png"/>
          <p:cNvPicPr>
            <a:picLocks noChangeAspect="1"/>
          </p:cNvPicPr>
          <p:nvPr/>
        </p:nvPicPr>
        <p:blipFill>
          <a:blip r:embed="rId6"/>
          <a:srcRect t="8000"/>
          <a:stretch>
            <a:fillRect/>
          </a:stretch>
        </p:blipFill>
        <p:spPr>
          <a:xfrm>
            <a:off x="6281928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6172200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“I should tap this row to select it as the second waypoint for the track.”</a:t>
            </a:r>
          </a:p>
        </p:txBody>
      </p:sp>
      <p:pic>
        <p:nvPicPr>
          <p:cNvPr id="25" name="Picture 24" descr="osm_traj_5.png"/>
          <p:cNvPicPr>
            <a:picLocks noChangeAspect="1"/>
          </p:cNvPicPr>
          <p:nvPr/>
        </p:nvPicPr>
        <p:blipFill>
          <a:blip r:embed="rId7"/>
          <a:srcRect t="8000"/>
          <a:stretch>
            <a:fillRect/>
          </a:stretch>
        </p:blipFill>
        <p:spPr>
          <a:xfrm>
            <a:off x="8183880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8074152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47304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“To save the track with both waypoints in the correct order, I should tap "Done" to complete the route creation and save the track.”</a:t>
            </a:r>
          </a:p>
        </p:txBody>
      </p:sp>
      <p:pic>
        <p:nvPicPr>
          <p:cNvPr id="29" name="Picture 28" descr="osm_traj_6.png"/>
          <p:cNvPicPr>
            <a:picLocks noChangeAspect="1"/>
          </p:cNvPicPr>
          <p:nvPr/>
        </p:nvPicPr>
        <p:blipFill>
          <a:blip r:embed="rId8"/>
          <a:srcRect t="8000"/>
          <a:stretch>
            <a:fillRect/>
          </a:stretch>
        </p:blipFill>
        <p:spPr>
          <a:xfrm>
            <a:off x="10085832" y="1417320"/>
            <a:ext cx="1522476" cy="3112617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30" name="Rectangle 29"/>
          <p:cNvSpPr/>
          <p:nvPr/>
        </p:nvSpPr>
        <p:spPr>
          <a:xfrm>
            <a:off x="9976104" y="4709160"/>
            <a:ext cx="1792224" cy="1645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9256" y="4754880"/>
            <a:ext cx="1645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65BD"/>
                </a:solidFill>
                <a:latin typeface="Arial"/>
              </a:rPr>
              <a:t>Step 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6" y="5029200"/>
            <a:ext cx="1664208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22A35"/>
                </a:solidFill>
                <a:latin typeface="Arial"/>
              </a:rPr>
              <a:t>“The track has been created with both waypoints "Ruggell" and "Bendern" in the correct order and is now saved.”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How we tested: frozen code, three runs per 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566160" cy="2148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2148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45920"/>
            <a:ext cx="33101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Frozen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574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Final agent: tag team-agent-final-v66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Six tasks run on v65: same code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Markor re-run on v66 after a Skill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66160" cy="2148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54864" cy="2148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45920"/>
            <a:ext cx="33101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Three runs per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574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Seeds 42, 43, 44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OsmAnd: 31, 314, 366 = the slide's route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Failures kept, never rerun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520440" cy="2148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54864" cy="2148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645920"/>
            <a:ext cx="326440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Judged independently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057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Official AndroidWorld verifier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The model's “finish” never counts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Step budget about 2–4× reference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3474720" cy="1325880"/>
          </a:xfrm>
          <a:prstGeom prst="rect">
            <a:avLst/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160520"/>
            <a:ext cx="31089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Summary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53712"/>
            <a:ext cx="3108960" cy="777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Course fields (D1 p.49), written by the runner during the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069080"/>
            <a:ext cx="3474720" cy="1325880"/>
          </a:xfrm>
          <a:prstGeom prst="rect">
            <a:avLst/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Trajectory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553712"/>
            <a:ext cx="3108960" cy="777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Every screenshot, model reply, check and result, step by step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4069080"/>
            <a:ext cx="3474720" cy="1325880"/>
          </a:xfrm>
          <a:prstGeom prst="rect">
            <a:avLst/>
          </a:prstGeom>
          <a:solidFill>
            <a:srgbClr val="E5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9" y="4160520"/>
            <a:ext cx="310896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Screen recording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553712"/>
            <a:ext cx="3108960" cy="777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The whole run on video, in one or more clips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270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065BD"/>
                </a:solidFill>
                <a:latin typeface="Arial"/>
              </a:rPr>
              <a:t>Kept for every one of the 21 runs. The full run log follows right after the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17 of 21 runs passed; every task passed at least twice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Row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1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2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3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Warm-up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SystemWifiTurnOn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s42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s43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3/3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Warm-up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ContactsAddContact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s42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  s43
other: navigation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2/3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SimpleSmsSend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s42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s43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3/3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FilesMoveFile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s42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  s43
false_done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2/3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Real 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SimpleCalendarAddOneEvent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s42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s43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3/3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Multi-app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MarkorCreateNoteAndSms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  s42
grounding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s43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s44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2/3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Multi-app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OsmAndTrack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s31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  s314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  s366
grounding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2/3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80760"/>
            <a:ext cx="1092708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773"/>
                </a:solidFill>
                <a:latin typeface="Arial"/>
              </a:rPr>
              <a:t>s = task seed. Official AndroidWorld verifier. Tag team-agent-final-v66 (six tasks run on v65, same code).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Run log (1/2): one row per run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773"/>
                </a:solidFill>
                <a:latin typeface="Arial"/>
              </a:rPr>
              <a:t>Model AutoGLM-Phone-9B (Z.ai), version v65, grounding by coordinates. Rows written by the runner during each run; click a run to open its log.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72768"/>
          <a:ext cx="11064240" cy="4489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Seed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Steps / budget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Verifier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Failure class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Clips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SystemWifiTurnOn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3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labels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5 /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Settings &gt; Internet &gt; Wi-Fi on; finished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SystemWifiTurnOn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4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labels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5 / 12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Same 5-step path; finished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SystemWifiTurnOn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5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labels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5 /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Same 5-step path; finished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ContactsAddContact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6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12 / 16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Name, scroll, number, Save; finished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ContactsAddContact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7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11 / 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other: navigation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Swiped past Phone field; no-progress stop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ContactsAddContact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8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11 / 16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Name, scroll, number, Save; finished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SimpleSmsSend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9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9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New conversation, number, message, send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SimpleSmsSend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0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7 / 20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Chinese app name resolved; sent in 7 steps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SimpleSmsSend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1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7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Chinese app name resolved; sent in 7 steps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FilesMoveFile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2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17 / 25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Scrolled to file, Move to, MOVE; finished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FilesMoveFile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3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13 /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false_done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Moved look-alike file, then finished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FilesMoveFile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4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13 / 25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Same procedure; 1 malformed reply corrected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SimpleCalendarAddOneEvent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5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20 / 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Title, text, date, time, length; 1 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SimpleCalendarAddOneEvent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6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21 / 35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Saved event; 1 unsupported action fixed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SimpleCalendarAddOneEvent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17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16 / 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Saved event in 16 steps; no refusals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Run log (2/2): the two multi-app tasks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773"/>
                </a:solidFill>
                <a:latin typeface="Arial"/>
              </a:rPr>
              <a:t>Model AutoGLM-Phone-9B (Z.ai), grounding by coordinates; Markor rows v66, OsmAnd v65 (same code). Click a run to open its log.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72768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Seed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Steps / budget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Verifier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Failure class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Clips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MarkorCreateNoteAndSms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3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Skill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18 / 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grounding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Note saved; Share &gt; Plain Text sent its text to SMS Messenger; number confirmed. The model then said the SMS button was at the top right and tapped [940, 60] four times; the button was at the right of the message bar. No-progress stop.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MarkorCreateNoteAndSms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4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Skill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18 / 40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New file, name and .txt, text, Save; More options &gt; Share &gt; Plain Text &gt; SMS Messenger; number and checkmark; the text was already in the message field, so it only tapped SMS.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MarkorCreateNoteAndSms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5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Skill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18 / 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Same path as run 2: the note's text was shared with Share &gt; Plain Text, not typed again; SMS sent in 18 steps.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OsmAndTrack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6"/>
                        </a:rPr>
                        <a:t>1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tree + Skill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22 / 90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Before the run the runner restored OsmAnd's map (the Files runs had cleared storage). Three radius increases and one scroll found the Ruggell village; Actions &gt; Plan a route; searched Bendern, SHOW ON THE MAP, Back x3, Add, Done. The Favorite button and one unfocused Type were refused.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OsmAndTrack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7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tree + Skill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23 / 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Same procedure as run 1; the accessibility service's “keeps stopping” dialog appeared and the model closed it; one unfocused Type was refused. Shown on slide 10.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OsmAndTrack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u="sng">
                          <a:solidFill>
                            <a:srgbClr val="0065BD"/>
                          </a:solidFill>
                          <a:latin typeface="Arial"/>
                          <a:hlinkClick r:id="rId8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screenshot + tree + Skill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16 / 90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grounding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A35"/>
                          </a:solidFill>
                          <a:latin typeface="Arial"/>
                        </a:rPr>
                        <a:t>Ruggell became route point 1 and the crash dialog was closed; in the second search the code stated “Tap Clear at [941, 83]” but the model tapped [941, 57], the top edge of the button, three times with no effect. No-progress stop.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All 21 evaluation runs at once (sped up)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15</a:t>
            </a:r>
          </a:p>
        </p:txBody>
      </p:sp>
      <p:pic>
        <p:nvPicPr>
          <p:cNvPr id="9" name="wall_21_run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0080" y="1371600"/>
            <a:ext cx="5232654" cy="4983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371600"/>
            <a:ext cx="5303520" cy="4983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" cy="498348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463040"/>
            <a:ext cx="504748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74519"/>
            <a:ext cx="5029200" cy="188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Columns: Wi-Fi, Contacts, SMS, Files, Calendar, </a:t>
            </a:r>
            <a:r>
              <a:rPr sz="1700" b="0" dirty="0" err="1">
                <a:solidFill>
                  <a:srgbClr val="222A35"/>
                </a:solidFill>
                <a:latin typeface="Arial"/>
              </a:rPr>
              <a:t>Markor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 + SMS, </a:t>
            </a:r>
            <a:r>
              <a:rPr sz="1700" b="0" dirty="0" err="1">
                <a:solidFill>
                  <a:srgbClr val="222A35"/>
                </a:solidFill>
                <a:latin typeface="Arial"/>
              </a:rPr>
              <a:t>OsmAnd</a:t>
            </a:r>
            <a:endParaRPr sz="1700" b="0" dirty="0">
              <a:solidFill>
                <a:srgbClr val="222A35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Rows: run 1, 2, 3 (seeds 42 / 43 / 44; </a:t>
            </a:r>
            <a:r>
              <a:rPr sz="1700" b="0" dirty="0" err="1">
                <a:solidFill>
                  <a:srgbClr val="222A35"/>
                </a:solidFill>
                <a:latin typeface="Arial"/>
              </a:rPr>
              <a:t>OsmAnd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 31 / 314 / 366)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Label: verdict and speed-up (x2)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700" b="0" dirty="0">
                <a:solidFill>
                  <a:srgbClr val="222A35"/>
                </a:solidFill>
                <a:latin typeface="Arial"/>
              </a:rPr>
              <a:t>Each clip stops on its final screen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dirty="0">
                <a:solidFill>
                  <a:srgbClr val="072140"/>
                </a:solidFill>
                <a:latin typeface="Arial"/>
              </a:rPr>
              <a:t>Warm-up: SystemWifiTurnOn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16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Clip placeholder left"/>
          <p:cNvSpPr/>
          <p:nvPr/>
        </p:nvSpPr>
        <p:spPr>
          <a:xfrm>
            <a:off x="118872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Wi-Fi, seed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40466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 dirty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18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>S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eed 42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5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Switched Wi-Fi on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Finished on its own</a:t>
            </a:r>
          </a:p>
        </p:txBody>
      </p:sp>
      <p:pic>
        <p:nvPicPr>
          <p:cNvPr id="20" name="WIFI">
            <a:hlinkClick r:id="" action="ppaction://media"/>
            <a:extLst>
              <a:ext uri="{FF2B5EF4-FFF2-40B4-BE49-F238E27FC236}">
                <a16:creationId xmlns:a16="http://schemas.microsoft.com/office/drawing/2014/main" id="{0BF6308A-12A7-8EEF-BBA3-7D336A5A8E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447" r="37310"/>
          <a:stretch>
            <a:fillRect/>
          </a:stretch>
        </p:blipFill>
        <p:spPr>
          <a:xfrm>
            <a:off x="1188720" y="1417319"/>
            <a:ext cx="2240280" cy="49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6761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lang="en-US" sz="2800" b="1" dirty="0">
                <a:solidFill>
                  <a:srgbClr val="072140"/>
                </a:solidFill>
                <a:latin typeface="Arial"/>
              </a:rPr>
              <a:t>Warm-up</a:t>
            </a:r>
            <a:r>
              <a:rPr lang="en-US" sz="2800" b="1" i="0" dirty="0">
                <a:solidFill>
                  <a:srgbClr val="072140"/>
                </a:solidFill>
                <a:latin typeface="Arial"/>
              </a:rPr>
              <a:t>: ContactsAddContact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17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Clip placeholder left"/>
          <p:cNvSpPr/>
          <p:nvPr/>
        </p:nvSpPr>
        <p:spPr>
          <a:xfrm>
            <a:off x="118872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Contacts, seed 42</a:t>
            </a:r>
          </a:p>
        </p:txBody>
      </p:sp>
      <p:sp>
        <p:nvSpPr>
          <p:cNvPr id="10" name="Clip placeholder right"/>
          <p:cNvSpPr/>
          <p:nvPr/>
        </p:nvSpPr>
        <p:spPr>
          <a:xfrm>
            <a:off x="635508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Contacts, seed 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43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>S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eed 42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12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Name, scroll, number, save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Finished on its 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1" y="1417320"/>
            <a:ext cx="2532886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0" y="1417320"/>
            <a:ext cx="54864" cy="329184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42832" y="1508760"/>
            <a:ext cx="25328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920240"/>
            <a:ext cx="2514600" cy="143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>S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eed 43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11 steps, FAIL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Swiped past the Phone field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Stopped for no progress</a:t>
            </a:r>
          </a:p>
        </p:txBody>
      </p:sp>
      <p:pic>
        <p:nvPicPr>
          <p:cNvPr id="19" name="Create contact success">
            <a:hlinkClick r:id="" action="ppaction://media"/>
            <a:extLst>
              <a:ext uri="{FF2B5EF4-FFF2-40B4-BE49-F238E27FC236}">
                <a16:creationId xmlns:a16="http://schemas.microsoft.com/office/drawing/2014/main" id="{D8AF7EA0-561F-1B36-DE0E-4822A2C30A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37456" r="37299"/>
          <a:stretch>
            <a:fillRect/>
          </a:stretch>
        </p:blipFill>
        <p:spPr>
          <a:xfrm>
            <a:off x="1188720" y="1417319"/>
            <a:ext cx="2240280" cy="4991501"/>
          </a:xfrm>
          <a:prstGeom prst="rect">
            <a:avLst/>
          </a:prstGeom>
        </p:spPr>
      </p:pic>
      <p:pic>
        <p:nvPicPr>
          <p:cNvPr id="20" name="Create contact failed">
            <a:hlinkClick r:id="" action="ppaction://media"/>
            <a:extLst>
              <a:ext uri="{FF2B5EF4-FFF2-40B4-BE49-F238E27FC236}">
                <a16:creationId xmlns:a16="http://schemas.microsoft.com/office/drawing/2014/main" id="{08224475-867A-39B9-EFBB-49BBCAD7EF3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37456" r="37299"/>
          <a:stretch>
            <a:fillRect/>
          </a:stretch>
        </p:blipFill>
        <p:spPr>
          <a:xfrm>
            <a:off x="6361460" y="1417319"/>
            <a:ext cx="2240280" cy="49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72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lang="en-US" sz="2800" b="1" i="0" dirty="0">
                <a:solidFill>
                  <a:srgbClr val="072140"/>
                </a:solidFill>
                <a:latin typeface="Arial"/>
              </a:rPr>
              <a:t>Real work: SimpleSmsSend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18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Clip placeholder left"/>
          <p:cNvSpPr/>
          <p:nvPr/>
        </p:nvSpPr>
        <p:spPr>
          <a:xfrm>
            <a:off x="118872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SMS, seed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40466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 dirty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14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Seed 42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9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New conversation, number, message, send</a:t>
            </a:r>
          </a:p>
        </p:txBody>
      </p:sp>
      <p:pic>
        <p:nvPicPr>
          <p:cNvPr id="19" name="Send SMS">
            <a:hlinkClick r:id="" action="ppaction://media"/>
            <a:extLst>
              <a:ext uri="{FF2B5EF4-FFF2-40B4-BE49-F238E27FC236}">
                <a16:creationId xmlns:a16="http://schemas.microsoft.com/office/drawing/2014/main" id="{1EF78A74-EBFE-DF1F-CE30-C6AA31B1E6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456" r="37299"/>
          <a:stretch>
            <a:fillRect/>
          </a:stretch>
        </p:blipFill>
        <p:spPr>
          <a:xfrm>
            <a:off x="1188720" y="1417319"/>
            <a:ext cx="2240280" cy="49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91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lang="en-US" sz="2800" b="1" dirty="0">
                <a:solidFill>
                  <a:srgbClr val="072140"/>
                </a:solidFill>
                <a:latin typeface="Arial"/>
              </a:rPr>
              <a:t>Real work</a:t>
            </a:r>
            <a:r>
              <a:rPr lang="en-GB" sz="2800" b="1" i="0" dirty="0">
                <a:solidFill>
                  <a:srgbClr val="072140"/>
                </a:solidFill>
                <a:latin typeface="Arial"/>
              </a:rPr>
              <a:t>: </a:t>
            </a:r>
            <a:r>
              <a:rPr lang="en-GB" sz="2800" b="1" i="0" dirty="0" err="1">
                <a:solidFill>
                  <a:srgbClr val="072140"/>
                </a:solidFill>
                <a:latin typeface="Arial"/>
              </a:rPr>
              <a:t>FilesMoveFile</a:t>
            </a:r>
            <a:endParaRPr sz="2800" b="1" i="0" dirty="0">
              <a:solidFill>
                <a:srgbClr val="072140"/>
              </a:solidFill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19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pic>
        <p:nvPicPr>
          <p:cNvPr id="9" name="featured_files_pas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88720" y="1417320"/>
            <a:ext cx="2240280" cy="4983480"/>
          </a:xfrm>
          <a:prstGeom prst="rect">
            <a:avLst/>
          </a:prstGeom>
        </p:spPr>
      </p:pic>
      <p:pic>
        <p:nvPicPr>
          <p:cNvPr id="10" name="featured_files_fail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355080" y="1417320"/>
            <a:ext cx="2240280" cy="4983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14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GB" sz="1500" dirty="0">
                <a:solidFill>
                  <a:srgbClr val="222A35"/>
                </a:solidFill>
                <a:latin typeface="Arial"/>
              </a:rPr>
              <a:t>S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e</a:t>
            </a:r>
            <a:r>
              <a:rPr lang="en-GB" sz="1500" b="0" dirty="0">
                <a:solidFill>
                  <a:srgbClr val="222A35"/>
                </a:solidFill>
                <a:latin typeface="Arial"/>
              </a:rPr>
              <a:t>e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d 42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17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Chose the file whose full name was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532887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0" y="1417320"/>
            <a:ext cx="54864" cy="329184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42832" y="1508760"/>
            <a:ext cx="25328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920240"/>
            <a:ext cx="2514600" cy="114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GB" sz="1500" dirty="0">
                <a:solidFill>
                  <a:srgbClr val="222A35"/>
                </a:solidFill>
                <a:latin typeface="Arial"/>
              </a:rPr>
              <a:t>Se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ed 43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13 steps, FAIL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 dirty="0">
                <a:solidFill>
                  <a:srgbClr val="222A35"/>
                </a:solidFill>
                <a:latin typeface="Arial"/>
              </a:rPr>
              <a:t>Moved a look-alike file, then said done</a:t>
            </a:r>
          </a:p>
        </p:txBody>
      </p:sp>
    </p:spTree>
    <p:extLst>
      <p:ext uri="{BB962C8B-B14F-4D97-AF65-F5344CB8AC3E}">
        <p14:creationId xmlns:p14="http://schemas.microsoft.com/office/powerpoint/2010/main" val="82976313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lang="en-US" sz="2800" b="1" dirty="0">
                <a:solidFill>
                  <a:srgbClr val="072140"/>
                </a:solidFill>
                <a:latin typeface="Arial"/>
              </a:rPr>
              <a:t>Real work</a:t>
            </a:r>
            <a:r>
              <a:rPr lang="en-US" sz="2800" b="1" i="0" dirty="0">
                <a:solidFill>
                  <a:srgbClr val="072140"/>
                </a:solidFill>
                <a:latin typeface="Arial"/>
              </a:rPr>
              <a:t>: SimpleCalendarAddOneEvent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20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Clip placeholder left"/>
          <p:cNvSpPr/>
          <p:nvPr/>
        </p:nvSpPr>
        <p:spPr>
          <a:xfrm>
            <a:off x="118872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Calendar, seed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40466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 dirty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685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</a:t>
            </a:r>
            <a:r>
              <a:rPr lang="vi-VN" sz="1500" dirty="0">
                <a:solidFill>
                  <a:srgbClr val="0065BD"/>
                </a:solidFill>
                <a:latin typeface="Arial"/>
              </a:rPr>
              <a:t>  </a:t>
            </a:r>
            <a:r>
              <a:rPr lang="en-GB" sz="1500" dirty="0">
                <a:solidFill>
                  <a:srgbClr val="222A35"/>
                </a:solidFill>
                <a:latin typeface="Arial"/>
              </a:rPr>
              <a:t>Se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ed 44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>16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Title, text, date, time, length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Event saved, no refusal</a:t>
            </a:r>
          </a:p>
        </p:txBody>
      </p:sp>
      <p:pic>
        <p:nvPicPr>
          <p:cNvPr id="19" name="Calendar">
            <a:hlinkClick r:id="" action="ppaction://media"/>
            <a:extLst>
              <a:ext uri="{FF2B5EF4-FFF2-40B4-BE49-F238E27FC236}">
                <a16:creationId xmlns:a16="http://schemas.microsoft.com/office/drawing/2014/main" id="{8FBEF4C2-2E0B-CA04-D676-87BFF44879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451" r="37303"/>
          <a:stretch>
            <a:fillRect/>
          </a:stretch>
        </p:blipFill>
        <p:spPr>
          <a:xfrm>
            <a:off x="1188719" y="1417319"/>
            <a:ext cx="2225041" cy="495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6339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dirty="0">
                <a:solidFill>
                  <a:srgbClr val="072140"/>
                </a:solidFill>
                <a:latin typeface="Arial"/>
              </a:rPr>
              <a:t>Multi-app and memory: MarkorCreateNoteAndSms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21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40466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 dirty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114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Seed 43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/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18 steps, PASS</a:t>
            </a:r>
            <a:r>
              <a:rPr lang="en-US" sz="1500" dirty="0">
                <a:solidFill>
                  <a:srgbClr val="222A35"/>
                </a:solidFill>
                <a:latin typeface="Arial"/>
              </a:rPr>
              <a:t/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Shared the note (Share &gt; Plain Text), then sent the SMS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C8F8F1-0228-AD5E-FD2F-97D72EC41287}"/>
              </a:ext>
            </a:extLst>
          </p:cNvPr>
          <p:cNvSpPr/>
          <p:nvPr/>
        </p:nvSpPr>
        <p:spPr>
          <a:xfrm>
            <a:off x="8778240" y="1417320"/>
            <a:ext cx="2532887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FB6644-40E7-7FF8-0FF3-FEA445D287A8}"/>
              </a:ext>
            </a:extLst>
          </p:cNvPr>
          <p:cNvSpPr/>
          <p:nvPr/>
        </p:nvSpPr>
        <p:spPr>
          <a:xfrm>
            <a:off x="8778240" y="1417320"/>
            <a:ext cx="54864" cy="329184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709DF7-1C4C-BB13-8146-7D302AAC1DCD}"/>
              </a:ext>
            </a:extLst>
          </p:cNvPr>
          <p:cNvSpPr txBox="1"/>
          <p:nvPr/>
        </p:nvSpPr>
        <p:spPr>
          <a:xfrm>
            <a:off x="8942832" y="1508760"/>
            <a:ext cx="25328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Failure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8E9B6F-003B-BC02-618B-D74CF26DE0A4}"/>
              </a:ext>
            </a:extLst>
          </p:cNvPr>
          <p:cNvSpPr txBox="1"/>
          <p:nvPr/>
        </p:nvSpPr>
        <p:spPr>
          <a:xfrm>
            <a:off x="8942832" y="1920240"/>
            <a:ext cx="2514600" cy="13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DE" sz="1500" dirty="0">
                <a:solidFill>
                  <a:srgbClr val="0065BD"/>
                </a:solidFill>
                <a:latin typeface="Arial"/>
              </a:rPr>
              <a:t>▪  Seed 42</a:t>
            </a:r>
            <a:r>
              <a:rPr lang="en-GB" sz="1500" dirty="0">
                <a:solidFill>
                  <a:srgbClr val="222A35"/>
                </a:solidFill>
                <a:latin typeface="Arial"/>
              </a:rPr>
              <a:t/>
            </a:r>
            <a:r>
              <a:rPr sz="1500" b="0" dirty="0">
                <a:solidFill>
                  <a:srgbClr val="222A35"/>
                </a:solidFill>
                <a:latin typeface="Arial"/>
              </a:rPr>
              <a:t/>
            </a:r>
            <a:r>
              <a:rPr lang="en-GB" sz="1500" b="0" dirty="0">
                <a:solidFill>
                  <a:srgbClr val="222A35"/>
                </a:solidFill>
                <a:latin typeface="Arial"/>
              </a:rPr>
              <a:t/>
            </a:r>
            <a:endParaRPr sz="1500" b="0" dirty="0">
              <a:solidFill>
                <a:srgbClr val="222A35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18 steps, FAIL</a:t>
            </a:r>
            <a:r>
              <a:rPr lang="en-GB" sz="1500" b="0" dirty="0">
                <a:solidFill>
                  <a:srgbClr val="222A35"/>
                </a:solidFill>
                <a:latin typeface="Arial"/>
              </a:rPr>
              <a:t/>
            </a:r>
            <a:r>
              <a:rPr sz="1500" b="0" dirty="0">
                <a:solidFill>
                  <a:srgbClr val="222A35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GB" sz="1500" dirty="0">
                <a:solidFill>
                  <a:srgbClr val="222A35"/>
                </a:solidFill>
                <a:latin typeface="Arial"/>
              </a:rPr>
              <a:t>Shared the note, then tapped the top edge instead of SMS</a:t>
            </a:r>
            <a:endParaRPr sz="1500" b="0" dirty="0">
              <a:solidFill>
                <a:srgbClr val="222A35"/>
              </a:solidFill>
              <a:latin typeface="Arial"/>
            </a:endParaRPr>
          </a:p>
        </p:txBody>
      </p:sp>
      <p:pic>
        <p:nvPicPr>
          <p:cNvPr id="29" name="featured_markor_v66_pas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88720" y="1417320"/>
            <a:ext cx="2240280" cy="4983480"/>
          </a:xfrm>
          <a:prstGeom prst="rect">
            <a:avLst/>
          </a:prstGeom>
        </p:spPr>
      </p:pic>
      <p:pic>
        <p:nvPicPr>
          <p:cNvPr id="30" name="featured_markor_v66_fail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355080" y="1417320"/>
            <a:ext cx="224028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738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65BD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lang="en-US" sz="2800" b="1" dirty="0">
                <a:solidFill>
                  <a:srgbClr val="072140"/>
                </a:solidFill>
                <a:latin typeface="Arial"/>
              </a:rPr>
              <a:t>Multi-app and memory: </a:t>
            </a:r>
            <a:r>
              <a:rPr lang="en-US" sz="2800" b="1" i="0" dirty="0" err="1">
                <a:solidFill>
                  <a:srgbClr val="072140"/>
                </a:solidFill>
                <a:latin typeface="Arial"/>
              </a:rPr>
              <a:t>OsmAndTrack</a:t>
            </a:r>
            <a:endParaRPr lang="en-US" sz="2800" b="1" i="0" dirty="0">
              <a:solidFill>
                <a:srgbClr val="072140"/>
              </a:solidFill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22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Clip placeholder left"/>
          <p:cNvSpPr/>
          <p:nvPr/>
        </p:nvSpPr>
        <p:spPr>
          <a:xfrm>
            <a:off x="118872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OsmAnd, seed 314</a:t>
            </a:r>
          </a:p>
        </p:txBody>
      </p:sp>
      <p:sp>
        <p:nvSpPr>
          <p:cNvPr id="10" name="Clip placeholder right"/>
          <p:cNvSpPr/>
          <p:nvPr/>
        </p:nvSpPr>
        <p:spPr>
          <a:xfrm>
            <a:off x="6355080" y="1417320"/>
            <a:ext cx="22402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37160" rIns="137160" anchor="ctr"/>
          <a:lstStyle/>
          <a:p>
            <a:pPr algn="ctr"/>
            <a:r>
              <a:rPr lang="en-US" sz="1400" b="1" dirty="0">
                <a:solidFill>
                  <a:srgbClr val="5E6773"/>
                </a:solidFill>
                <a:latin typeface="Arial"/>
              </a:rPr>
              <a:t>Clip goes here</a:t>
            </a:r>
          </a:p>
          <a:p>
            <a:pPr algn="ctr"/>
            <a:r>
              <a:rPr lang="en-US" sz="1400" dirty="0">
                <a:solidFill>
                  <a:srgbClr val="5E6773"/>
                </a:solidFill>
                <a:latin typeface="Arial"/>
              </a:rPr>
              <a:t>OsmAnd, seed 366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251460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17320"/>
            <a:ext cx="54864" cy="329184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1508760"/>
            <a:ext cx="225856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2024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OsmAnd, seed 314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23 steps, PASS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Route Ruggell to Bendern saved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dirty="0">
                <a:solidFill>
                  <a:srgbClr val="0065BD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Closed a crash dialog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532887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0" y="1417320"/>
            <a:ext cx="54864" cy="329184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42832" y="1508760"/>
            <a:ext cx="25328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72140"/>
                </a:solidFill>
                <a:latin typeface="Arial"/>
              </a:rPr>
              <a:t>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92024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OsmAnd, seed 366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16 steps, FAIL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Tapped [941, 57], not [941, 83]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E37222"/>
                </a:solidFill>
                <a:latin typeface="Arial"/>
              </a:rPr>
              <a:t>▪  </a:t>
            </a:r>
            <a:r>
              <a:rPr lang="en-US" sz="1500" b="0" dirty="0">
                <a:solidFill>
                  <a:srgbClr val="222A35"/>
                </a:solidFill>
                <a:latin typeface="Arial"/>
              </a:rPr>
              <a:t>Clear button missed 3 times</a:t>
            </a:r>
          </a:p>
        </p:txBody>
      </p:sp>
      <p:pic>
        <p:nvPicPr>
          <p:cNvPr id="21" name="Osmand failed">
            <a:hlinkClick r:id="" action="ppaction://media"/>
            <a:extLst>
              <a:ext uri="{FF2B5EF4-FFF2-40B4-BE49-F238E27FC236}">
                <a16:creationId xmlns:a16="http://schemas.microsoft.com/office/drawing/2014/main" id="{279C5D90-4C24-9ECA-3431-7E525347D6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37446" r="37306"/>
          <a:stretch>
            <a:fillRect/>
          </a:stretch>
        </p:blipFill>
        <p:spPr>
          <a:xfrm>
            <a:off x="6355080" y="1417319"/>
            <a:ext cx="2240280" cy="4991501"/>
          </a:xfrm>
          <a:prstGeom prst="rect">
            <a:avLst/>
          </a:prstGeom>
        </p:spPr>
      </p:pic>
      <p:pic>
        <p:nvPicPr>
          <p:cNvPr id="22" name="Osmand success">
            <a:hlinkClick r:id="" action="ppaction://media"/>
            <a:extLst>
              <a:ext uri="{FF2B5EF4-FFF2-40B4-BE49-F238E27FC236}">
                <a16:creationId xmlns:a16="http://schemas.microsoft.com/office/drawing/2014/main" id="{35D9AD7F-1AD6-C18C-CE0D-0E9393CA656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37451" r="37303"/>
          <a:stretch>
            <a:fillRect/>
          </a:stretch>
        </p:blipFill>
        <p:spPr>
          <a:xfrm>
            <a:off x="1188720" y="1417319"/>
            <a:ext cx="2240280" cy="49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94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6464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37222"/>
                </a:solidFill>
                <a:latin typeface="Arial"/>
              </a:rPr>
              <a:t>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How 284 project runs ended: the setup failed most often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23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46304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7726679" y="1554480"/>
            <a:ext cx="3840480" cy="4480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554480"/>
            <a:ext cx="54864" cy="448056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1645920"/>
            <a:ext cx="358444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The five failure classes (D1 p.50)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05740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1">
                <a:solidFill>
                  <a:srgbClr val="222A35"/>
                </a:solidFill>
                <a:latin typeface="Arial"/>
              </a:rPr>
              <a:t>grounding</a:t>
            </a:r>
            <a:r>
              <a:rPr sz="1500" b="0">
                <a:solidFill>
                  <a:srgbClr val="222A35"/>
                </a:solidFill>
                <a:latin typeface="Arial"/>
              </a:rPr>
              <a:t>: the tap lands on nothing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1">
                <a:solidFill>
                  <a:srgbClr val="222A35"/>
                </a:solidFill>
                <a:latin typeface="Arial"/>
              </a:rPr>
              <a:t>too_early</a:t>
            </a:r>
            <a:r>
              <a:rPr sz="1500" b="0">
                <a:solidFill>
                  <a:srgbClr val="222A35"/>
                </a:solidFill>
                <a:latin typeface="Arial"/>
              </a:rPr>
              <a:t>: acting on a loading screen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1">
                <a:solidFill>
                  <a:srgbClr val="222A35"/>
                </a:solidFill>
                <a:latin typeface="Arial"/>
              </a:rPr>
              <a:t>lost_value</a:t>
            </a:r>
            <a:r>
              <a:rPr sz="1500" b="0">
                <a:solidFill>
                  <a:srgbClr val="222A35"/>
                </a:solidFill>
                <a:latin typeface="Arial"/>
              </a:rPr>
              <a:t>: a value is lost or invented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1">
                <a:solidFill>
                  <a:srgbClr val="222A35"/>
                </a:solidFill>
                <a:latin typeface="Arial"/>
              </a:rPr>
              <a:t>wrong_app</a:t>
            </a:r>
            <a:r>
              <a:rPr sz="1500" b="0">
                <a:solidFill>
                  <a:srgbClr val="222A35"/>
                </a:solidFill>
                <a:latin typeface="Arial"/>
              </a:rPr>
              <a:t>: the wrong app is used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1">
                <a:solidFill>
                  <a:srgbClr val="222A35"/>
                </a:solidFill>
                <a:latin typeface="Arial"/>
              </a:rPr>
              <a:t>false_done</a:t>
            </a:r>
            <a:r>
              <a:rPr sz="1500" b="0">
                <a:solidFill>
                  <a:srgbClr val="222A35"/>
                </a:solidFill>
                <a:latin typeface="Arial"/>
              </a:rPr>
              <a:t>: says done, verifier fails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>
                <a:solidFill>
                  <a:srgbClr val="0065BD"/>
                </a:solidFill>
                <a:latin typeface="Arial"/>
              </a:rPr>
              <a:t>▪  </a:t>
            </a:r>
            <a:r>
              <a:rPr sz="1500" b="0">
                <a:solidFill>
                  <a:srgbClr val="222A35"/>
                </a:solidFill>
                <a:latin typeface="Arial"/>
              </a:rPr>
              <a:t>Final evaluation: false_done 1, grounding 2, other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37222"/>
                </a:solidFill>
                <a:latin typeface="Arial"/>
              </a:rPr>
              <a:t>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Deep dive: a false finish caused by a look-alike 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24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pic>
        <p:nvPicPr>
          <p:cNvPr id="9" name="Picture 8" descr="files43_step5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640080" y="1463040"/>
            <a:ext cx="2180844" cy="4458614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pic>
        <p:nvPicPr>
          <p:cNvPr id="10" name="Picture 9" descr="files43_final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>
            <a:off x="2971800" y="1463040"/>
            <a:ext cx="2180844" cy="4458614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40680" y="1463040"/>
          <a:ext cx="61264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Steps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happened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Assessment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Opened Files, the storage root, then Alarms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Grid with cut-off names; long-pressed “documentary_20…”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Wrong object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6–11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More options &gt; Move to &gt; Movies &gt; MOVE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Correct steps, wrong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Waited for “Moving 1 item”, then finish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false_done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40680" y="3886200"/>
            <a:ext cx="612648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72140"/>
                </a:solidFill>
                <a:latin typeface="Arial"/>
              </a:rPr>
              <a:t>Model: </a:t>
            </a:r>
            <a:r>
              <a:rPr sz="1300" b="0" i="1">
                <a:solidFill>
                  <a:srgbClr val="222A35"/>
                </a:solidFill>
                <a:latin typeface="Arial"/>
              </a:rPr>
              <a:t>“I see the "documentary_2023_03_14.mp4" file in the Alarms folder, which matches the required file "documentary.mp4" (assuming it is named differently here).”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4663440"/>
            <a:ext cx="2971800" cy="1600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0680" y="4663440"/>
            <a:ext cx="54864" cy="160020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05272" y="4754879"/>
            <a:ext cx="271576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5166359"/>
            <a:ext cx="2697480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false_done (D1 p.50); root cause: a look-alike chosen from a truncated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663440"/>
            <a:ext cx="2971800" cy="1600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95360" y="4663440"/>
            <a:ext cx="54864" cy="16002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9952" y="4754879"/>
            <a:ext cx="271576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Fix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5166359"/>
            <a:ext cx="2697480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A35"/>
                </a:solidFill>
                <a:latin typeface="Arial"/>
              </a:rPr>
              <a:t>Instruction: list view or exact search. Program: check the full name before Move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37222"/>
                </a:solidFill>
                <a:latin typeface="Arial"/>
              </a:rPr>
              <a:t>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Two more failures, and why runs of one task differ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25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pic>
        <p:nvPicPr>
          <p:cNvPr id="9" name="Picture 8" descr="contacts43_step9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640080" y="1463040"/>
            <a:ext cx="1769364" cy="3617366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pic>
        <p:nvPicPr>
          <p:cNvPr id="10" name="Picture 9" descr="osmand366_step15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>
            <a:off x="2514600" y="1463040"/>
            <a:ext cx="1769364" cy="3617366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440680"/>
            <a:ext cx="365760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773"/>
                </a:solidFill>
                <a:latin typeface="Arial"/>
              </a:rPr>
              <a:t>Left: Contacts s43, Phone field cut off at the top.  Right: OsmAnd s366, Clear button at the top right.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383280" cy="2240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54864" cy="224028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554480"/>
            <a:ext cx="312724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Contacts s43: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965960"/>
            <a:ext cx="3108960" cy="1691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Two swipes went past the Phone field; four more changed only the blinking cursor, which our check counted as a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63040"/>
            <a:ext cx="3383280" cy="2240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54864" cy="224028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554480"/>
            <a:ext cx="312724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OsmAnd s366: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965960"/>
            <a:ext cx="3108960" cy="1691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Arial"/>
              </a:rPr>
              <a:t>Code: “Tap Clear at [941, 83]”. Model tapped [941, 57], the top edge of the button, three times: no effect.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0" y="3931920"/>
          <a:ext cx="6995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Same task, two frozen evaluations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1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2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 3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OsmAnd v61 (Skill experiment)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OsmAnd v65 (final)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Contacts v42 (earlier)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Contacts v65 (final)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E37222"/>
                </a:solidFill>
                <a:latin typeface="Arial"/>
              </a:rPr>
              <a:t>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Not every failure is the model: test-setup problems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26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7863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Model “waited” on a black screen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Emulator GPU mode returned all-black frames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Headless host-GPU emulator; black frames stop the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Screen recording stopped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Android tools restarted their server on a timeout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Keep the server; longer app-start timeout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App start timed 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Cold start longer than 5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30 s launch timeout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“keeps stopping” dialog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Accessibility service crash (11 of 25 OsmAnd runs)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Model closes it; empty tree read again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OsmAnd map 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Files task initialization deletes shared storage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Check the map before OsmAnd; rerun official setup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9" descr="forwarder_crash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8869680" y="1508760"/>
            <a:ext cx="1892808" cy="3869740"/>
          </a:xfrm>
          <a:prstGeom prst="roundRect">
            <a:avLst/>
          </a:prstGeom>
          <a:ln w="44450">
            <a:solidFill>
              <a:srgbClr val="1B1F2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65BD"/>
                </a:solidFill>
                <a:latin typeface="Arial"/>
              </a:rPr>
              <a:t>Trust the harness before judging the model: without these fixes, setup faults would look like agent failures.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4F"/>
                </a:solidFill>
                <a:latin typeface="Arial"/>
              </a:rPr>
              <a:t>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The hardest task: from zero passes to two of three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27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46304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0" y="1554480"/>
            <a:ext cx="3337560" cy="4480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54864" cy="448056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645920"/>
            <a:ext cx="30815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72140"/>
                </a:solidFill>
                <a:latin typeface="Arial"/>
              </a:rPr>
              <a:t>What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5740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Skill as text: the model often ignored it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Rules on the model’s words: bypassed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1">
                <a:solidFill>
                  <a:srgbClr val="222A35"/>
                </a:solidFill>
                <a:latin typeface="Arial"/>
              </a:rPr>
              <a:t>Program reads the screen</a:t>
            </a:r>
            <a:r>
              <a:rPr sz="1400" b="0">
                <a:solidFill>
                  <a:srgbClr val="222A35"/>
                </a:solidFill>
                <a:latin typeface="Arial"/>
              </a:rPr>
              <a:t> (accessibility tree)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1">
                <a:solidFill>
                  <a:srgbClr val="222A35"/>
                </a:solidFill>
                <a:latin typeface="Arial"/>
              </a:rPr>
              <a:t>Skill as code</a:t>
            </a:r>
            <a:r>
              <a:rPr sz="1400" b="0">
                <a:solidFill>
                  <a:srgbClr val="222A35"/>
                </a:solidFill>
                <a:latin typeface="Arial"/>
              </a:rPr>
              <a:t>: next step + tap centre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0065BD"/>
                </a:solidFill>
                <a:latin typeface="Arial"/>
              </a:rPr>
              <a:t>▪  </a:t>
            </a:r>
            <a:r>
              <a:rPr sz="1400" b="0">
                <a:solidFill>
                  <a:srgbClr val="222A35"/>
                </a:solidFill>
                <a:latin typeface="Arial"/>
              </a:rPr>
              <a:t>Each fix tested on practice seeds, never on the evaluation seeds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4F"/>
                </a:solidFill>
                <a:latin typeface="Arial"/>
              </a:rPr>
              <a:t>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Before and after: only the Skill changed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28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5669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OsmAnd, seeds 31 / 314 / 366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No Skill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Skill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5"/>
                          </a:solidFill>
                          <a:latin typeface="Arial"/>
                        </a:rPr>
                        <a:t>Official verifier 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0 / 3</a:t>
                      </a:r>
                    </a:p>
                  </a:txBody>
                  <a:tcPr marL="54864" marR="54864" marT="27432" marB="27432" anchor="ctr">
                    <a:solidFill>
                      <a:srgbClr val="E37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2 / 3</a:t>
                      </a:r>
                    </a:p>
                  </a:txBody>
                  <a:tcPr marL="54864" marR="54864" marT="27432" marB="27432"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5"/>
                          </a:solidFill>
                          <a:latin typeface="Arial"/>
                        </a:rPr>
                        <a:t>Searched the place name only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0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3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5"/>
                          </a:solidFill>
                          <a:latin typeface="Arial"/>
                        </a:rPr>
                        <a:t>Route started with a searched place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0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5"/>
                          </a:solidFill>
                          <a:latin typeface="Arial"/>
                        </a:rPr>
                        <a:t>Saved a track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0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2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5"/>
                          </a:solidFill>
                          <a:latin typeface="Arial"/>
                        </a:rPr>
                        <a:t>Mean steps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23.3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A35"/>
                          </a:solidFill>
                          <a:latin typeface="Arial"/>
                        </a:rPr>
                        <a:t>18.7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754880"/>
            <a:ext cx="5669280" cy="1463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6773"/>
                </a:solidFill>
                <a:latin typeface="Arial"/>
              </a:rPr>
              <a:t>Frozen v61 (tag osmand-extra-v61); identical source hashes in both batches; only task_skills differs. Three runs per side is a small sample.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0" y="1463040"/>
          <a:ext cx="49834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4F"/>
                </a:solidFill>
                <a:latin typeface="Arial"/>
              </a:rPr>
              <a:t>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Every failure taught us something we built into the final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29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9270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Failure we saw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Cause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Final result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Markor: message “Not sent”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Share &gt; File attaches the note: MMS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Skill: Share &gt; Plain Text, then SMS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Markor 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Markor: typing refused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Custom editor not seen as a text field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Focus check accepts the editor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Markor 2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SMS app name in Chinese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Two apps allowed, name unclear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Alias table for known translations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Markor 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OsmAnd map missing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Files initialization clears storage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Map check + official setup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OsmAnd 2 / 3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OsmAnd 0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Long procedure, model loses its place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Skill as code + GUI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OsmAnd 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486400"/>
            <a:ext cx="109270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65BD"/>
                </a:solidFill>
                <a:latin typeface="Arial"/>
              </a:rPr>
              <a:t>Every change has an automatic offline test (38 tests in total) that fails on the old code and passes on the new code.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72140"/>
                </a:solidFill>
                <a:latin typeface="Arial"/>
              </a:rPr>
              <a:t>OUR WORK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Behind the final result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30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~300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1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recorded runs across the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4592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79191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agent versions with a written reason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19" y="164592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196596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1,531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679191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steps executed in this agent's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88620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20624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1,722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19472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model calls in this agent's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88620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88620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19472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automatic offline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3886200"/>
            <a:ext cx="3474720" cy="1920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19" y="3886200"/>
            <a:ext cx="3474720" cy="6400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19" y="4206240"/>
            <a:ext cx="31089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065BD"/>
                </a:solidFill>
                <a:latin typeface="Arial"/>
              </a:rPr>
              <a:t>€0.51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919472"/>
            <a:ext cx="3108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model cost of all local runs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72140"/>
                </a:solidFill>
                <a:latin typeface="Arial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What we learned, and what is still limited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31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6309360" cy="457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45720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645920"/>
            <a:ext cx="6053328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072140"/>
                </a:solidFill>
                <a:latin typeface="Arial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0574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1">
                <a:solidFill>
                  <a:srgbClr val="222A35"/>
                </a:solidFill>
                <a:latin typeface="Arial"/>
              </a:rPr>
              <a:t>Trust the harness first</a:t>
            </a:r>
            <a:r>
              <a:rPr sz="1900" b="0">
                <a:solidFill>
                  <a:srgbClr val="222A35"/>
                </a:solidFill>
                <a:latin typeface="Arial"/>
              </a:rPr>
              <a:t>: setup faults looked like agent failures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1">
                <a:solidFill>
                  <a:srgbClr val="222A35"/>
                </a:solidFill>
                <a:latin typeface="Arial"/>
              </a:rPr>
              <a:t>The verifier decides</a:t>
            </a:r>
            <a:r>
              <a:rPr sz="1900" b="0">
                <a:solidFill>
                  <a:srgbClr val="222A35"/>
                </a:solidFill>
                <a:latin typeface="Arial"/>
              </a:rPr>
              <a:t>: false completions are real and dangerous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1">
                <a:solidFill>
                  <a:srgbClr val="222A35"/>
                </a:solidFill>
                <a:latin typeface="Arial"/>
              </a:rPr>
              <a:t>Where knowledge lives matters</a:t>
            </a:r>
            <a:r>
              <a:rPr sz="1900" b="0">
                <a:solidFill>
                  <a:srgbClr val="222A35"/>
                </a:solidFill>
                <a:latin typeface="Arial"/>
              </a:rPr>
              <a:t>: prompt &lt; reminder each step &lt; code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1">
                <a:solidFill>
                  <a:srgbClr val="222A35"/>
                </a:solidFill>
                <a:latin typeface="Arial"/>
              </a:rPr>
              <a:t>Long tasks fail by small errors</a:t>
            </a:r>
            <a:r>
              <a:rPr sz="1900" b="0">
                <a:solidFill>
                  <a:srgbClr val="222A35"/>
                </a:solidFill>
                <a:latin typeface="Arial"/>
              </a:rPr>
              <a:t>: one missed tap is enough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1">
                <a:solidFill>
                  <a:srgbClr val="222A35"/>
                </a:solidFill>
                <a:latin typeface="Arial"/>
              </a:rPr>
              <a:t>Checks catch traps</a:t>
            </a:r>
            <a:r>
              <a:rPr sz="1900" b="0">
                <a:solidFill>
                  <a:srgbClr val="222A35"/>
                </a:solidFill>
                <a:latin typeface="Arial"/>
              </a:rPr>
              <a:t>: 7 actions stopped in the final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554480"/>
            <a:ext cx="4389120" cy="457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78040" y="1554480"/>
            <a:ext cx="54864" cy="4572000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1" y="1645920"/>
            <a:ext cx="4133087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072140"/>
                </a:solidFill>
                <a:latin typeface="Arial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0574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0">
                <a:solidFill>
                  <a:srgbClr val="222A35"/>
                </a:solidFill>
                <a:latin typeface="Arial"/>
              </a:rPr>
              <a:t>Three runs per task: small sample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0">
                <a:solidFill>
                  <a:srgbClr val="222A35"/>
                </a:solidFill>
                <a:latin typeface="Arial"/>
              </a:rPr>
              <a:t>One model, one laptop, one emulator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0">
                <a:solidFill>
                  <a:srgbClr val="222A35"/>
                </a:solidFill>
                <a:latin typeface="Arial"/>
              </a:rPr>
              <a:t>OsmAnd Skill works only for OsmAnd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0">
                <a:solidFill>
                  <a:srgbClr val="222A35"/>
                </a:solidFill>
                <a:latin typeface="Arial"/>
              </a:rPr>
              <a:t>Two tasks used extra screen labels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900">
                <a:solidFill>
                  <a:srgbClr val="0065BD"/>
                </a:solidFill>
                <a:latin typeface="Arial"/>
              </a:rPr>
              <a:t>▪  </a:t>
            </a:r>
            <a:r>
              <a:rPr sz="1900" b="0">
                <a:solidFill>
                  <a:srgbClr val="222A35"/>
                </a:solidFill>
                <a:latin typeface="Arial"/>
              </a:rPr>
              <a:t>Fixes after the freeze are not evaluated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223760" cy="73152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6217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4A0C8"/>
                </a:solidFill>
                <a:latin typeface="Arial"/>
              </a:rPr>
              <a:t>AGENTIC AI IN MODERN BUSINESS  · 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309360" cy="1005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630936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B9C4D6"/>
                </a:solidFill>
                <a:latin typeface="Arial"/>
              </a:rPr>
              <a:t>Questions are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885" y="3493008"/>
            <a:ext cx="1005840" cy="54864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6309360" cy="6208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vi-VN" sz="1500" dirty="0">
                <a:solidFill>
                  <a:srgbClr val="F09A5B"/>
                </a:solidFill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https://github.com/Chenschenschen/androidworld-gui-agent/tree/team-agent</a:t>
            </a:r>
            <a:endParaRPr sz="1500" b="0" i="0" dirty="0">
              <a:solidFill>
                <a:srgbClr val="F09A5B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630936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9C4D6"/>
                </a:solidFill>
                <a:latin typeface="Arial"/>
              </a:rPr>
              <a:t>Model: AutoGLM-Phone-9B-Multilingual (Z.ai)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9C4D6"/>
                </a:solidFill>
                <a:latin typeface="Arial"/>
              </a:rPr>
              <a:t>Benchmark: AndroidWorld (Google Research)</a:t>
            </a:r>
          </a:p>
        </p:txBody>
      </p:sp>
      <p:pic>
        <p:nvPicPr>
          <p:cNvPr id="11" name="Picture 10" descr="traj_2.png"/>
          <p:cNvPicPr>
            <a:picLocks noChangeAspect="1"/>
          </p:cNvPicPr>
          <p:nvPr/>
        </p:nvPicPr>
        <p:blipFill>
          <a:blip r:embed="rId4"/>
          <a:srcRect t="8000"/>
          <a:stretch>
            <a:fillRect/>
          </a:stretch>
        </p:blipFill>
        <p:spPr>
          <a:xfrm rot="21120000">
            <a:off x="7406640" y="1325880"/>
            <a:ext cx="2016252" cy="4122115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  <p:pic>
        <p:nvPicPr>
          <p:cNvPr id="12" name="Picture 11" descr="traj_5.png"/>
          <p:cNvPicPr>
            <a:picLocks noChangeAspect="1"/>
          </p:cNvPicPr>
          <p:nvPr/>
        </p:nvPicPr>
        <p:blipFill>
          <a:blip r:embed="rId5"/>
          <a:srcRect t="8000"/>
          <a:stretch>
            <a:fillRect/>
          </a:stretch>
        </p:blipFill>
        <p:spPr>
          <a:xfrm rot="480000">
            <a:off x="9601200" y="1325880"/>
            <a:ext cx="2016252" cy="4122115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  <p:pic>
        <p:nvPicPr>
          <p:cNvPr id="13" name="Picture 12" descr="osmand_pass_3.png"/>
          <p:cNvPicPr>
            <a:picLocks noChangeAspect="1"/>
          </p:cNvPicPr>
          <p:nvPr/>
        </p:nvPicPr>
        <p:blipFill>
          <a:blip r:embed="rId6"/>
          <a:srcRect t="8000"/>
          <a:stretch>
            <a:fillRect/>
          </a:stretch>
        </p:blipFill>
        <p:spPr>
          <a:xfrm>
            <a:off x="8366760" y="777240"/>
            <a:ext cx="2366010" cy="4837176"/>
          </a:xfrm>
          <a:prstGeom prst="roundRect">
            <a:avLst/>
          </a:prstGeom>
          <a:ln w="76200">
            <a:solidFill>
              <a:srgbClr val="1B1F2A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5E6773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What the agent can do, and what it sees in each 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33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Tap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do(action="Tap", element=[500, 335])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do(action="Type", text="Ruggell")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Swipe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do(action="Swipe", start=[500,560], end=[500,260])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Launch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do(action="Launch", app="markor")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Back / Wait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do(action="Back")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Finish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finish(message="Track saved")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544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07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Wi-Fi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+ Settings labels</a:t>
                      </a:r>
                    </a:p>
                  </a:txBody>
                  <a:tcPr marL="54864" marR="54864" marT="27432" marB="27432" anchor="ctr">
                    <a:solidFill>
                      <a:srgbClr val="E5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Contacts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only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SMS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only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Markor + SMS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only (+ text Skill)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  <a:latin typeface="Arial"/>
                        </a:rPr>
                        <a:t>OsmAnd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  <a:latin typeface="Arial"/>
                        </a:rPr>
                        <a:t>Screenshot + accessibility tree (+ coded Skill)</a:t>
                      </a:r>
                    </a:p>
                  </a:txBody>
                  <a:tcPr marL="54864" marR="54864" marT="27432" marB="27432" anchor="ctr">
                    <a:solidFill>
                      <a:srgbClr val="FC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773"/>
                </a:solidFill>
                <a:latin typeface="Arial"/>
              </a:rPr>
              <a:t>Grounding: coordinates on a 0–1000 grid. Where labels are given, the step text also lists each label's tap centre.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5E6773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Steps used versus the course's reference steps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34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463040"/>
          <a:ext cx="10927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201168" cy="109728"/>
          </a:xfrm>
          <a:prstGeom prst="rect">
            <a:avLst/>
          </a:prstGeom>
          <a:solidFill>
            <a:srgbClr val="5E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"/>
            <a:ext cx="8229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5E6773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2140"/>
                </a:solidFill>
                <a:latin typeface="Arial"/>
              </a:rPr>
              <a:t>Speed and cost: about 0.066 € for all 21 runs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E6773"/>
                </a:solidFill>
                <a:latin typeface="Arial"/>
              </a:rPr>
              <a:t>Agentic AI in Modern Business  ·  AndroidWorld GUI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DE" sz="1000" b="0" i="0">
                <a:solidFill>
                  <a:srgbClr val="5E6773"/>
                </a:solidFill>
                <a:latin typeface="Arial"/>
              </a:rPr>
              <a:t>35</a:t>
            </a:r>
            <a:endParaRPr sz="1000" b="0" i="0">
              <a:solidFill>
                <a:srgbClr val="5E6773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46304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1600200"/>
            <a:ext cx="35661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065BD"/>
                </a:solidFill>
                <a:latin typeface="Arial"/>
              </a:rPr>
              <a:t>1.47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13432"/>
            <a:ext cx="35661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tokens for all 21 final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063240"/>
            <a:ext cx="35661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065BD"/>
                </a:solidFill>
                <a:latin typeface="Arial"/>
              </a:rPr>
              <a:t>€0.066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776472"/>
            <a:ext cx="35661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model cost of the final evaluation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(€0.045 per million 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526280"/>
            <a:ext cx="356616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065BD"/>
                </a:solidFill>
                <a:latin typeface="Arial"/>
              </a:rPr>
              <a:t>1.75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239512"/>
            <a:ext cx="35661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6773"/>
                </a:solidFill>
                <a:latin typeface="Arial"/>
              </a:rPr>
              <a:t>median time per model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F756E6-8C80-4A83-A2A9-96F100A09D2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1f25de8-71ed-4d83-9d74-4f1b1319718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9425</Words>
  <Application>Microsoft Office PowerPoint</Application>
  <PresentationFormat>Widescreen</PresentationFormat>
  <Paragraphs>1058</Paragraphs>
  <Slides>35</Slides>
  <Notes>35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Nghia Nguyen</cp:lastModifiedBy>
  <cp:revision>3</cp:revision>
  <dcterms:created xsi:type="dcterms:W3CDTF">2013-01-27T09:14:16Z</dcterms:created>
  <dcterms:modified xsi:type="dcterms:W3CDTF">2026-10-11T10:14:06Z</dcterms:modified>
  <cp:category/>
</cp:coreProperties>
</file>