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Runs</c:v>
                </c:pt>
              </c:strCache>
            </c:strRef>
          </c:tx>
          <c:spPr>
            <a:solidFill>
              <a:srgbClr val="0065BD"/>
            </a:solidFill>
          </c:spPr>
          <c:dPt>
            <c:idx val="0"/>
            <c:spPr>
              <a:solidFill>
                <a:srgbClr val="A7B1BD"/>
              </a:solidFill>
            </c:spPr>
          </c:dPt>
          <c:dPt>
            <c:idx val="1"/>
            <c:spPr>
              <a:solidFill>
                <a:srgbClr val="A7B1BD"/>
              </a:solidFill>
            </c:spPr>
          </c:dPt>
          <c:dPt>
            <c:idx val="2"/>
            <c:spPr>
              <a:solidFill>
                <a:srgbClr val="A7B1BD"/>
              </a:solidFill>
            </c:spPr>
          </c:dPt>
          <c:dPt>
            <c:idx val="3"/>
            <c:spPr>
              <a:solidFill>
                <a:srgbClr val="E37222"/>
              </a:solidFill>
            </c:spPr>
          </c:dPt>
          <c:dPt>
            <c:idx val="4"/>
            <c:spPr>
              <a:solidFill>
                <a:srgbClr val="A7B1BD"/>
              </a:solidFill>
            </c:spPr>
          </c:dPt>
          <c:dPt>
            <c:idx val="5"/>
            <c:spPr>
              <a:solidFill>
                <a:srgbClr val="0065BD"/>
              </a:solidFill>
            </c:spPr>
          </c:dPt>
          <c:cat>
            <c:strRef>
              <c:f>Sheet1!$A$2:$A$7</c:f>
              <c:strCache>
                <c:ptCount val="6"/>
                <c:pt idx="0">
                  <c:v>Setup or other error</c:v>
                </c:pt>
                <c:pt idx="1">
                  <c:v>Step budget used up</c:v>
                </c:pt>
                <c:pt idx="2">
                  <c:v>Invalid replies</c:v>
                </c:pt>
                <c:pt idx="3">
                  <c:v>Said done, verifier FAIL</c:v>
                </c:pt>
                <c:pt idx="4">
                  <c:v>No-progress stop</c:v>
                </c:pt>
                <c:pt idx="5">
                  <c:v>PASS</c:v>
                </c:pt>
              </c:strCache>
            </c:strRef>
          </c:cat>
          <c:val>
            <c:numRef>
              <c:f>Sheet1!$B$2:$B$7</c:f>
              <c:numCache>
                <c:formatCode>General</c:formatCode>
                <c:ptCount val="6"/>
                <c:pt idx="0">
                  <c:v>60</c:v>
                </c:pt>
                <c:pt idx="1">
                  <c:v>21</c:v>
                </c:pt>
                <c:pt idx="2">
                  <c:v>32</c:v>
                </c:pt>
                <c:pt idx="3">
                  <c:v>19</c:v>
                </c:pt>
                <c:pt idx="4">
                  <c:v>47</c:v>
                </c:pt>
                <c:pt idx="5">
                  <c:v>96</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D9DEE5"/>
            </a:solidFill>
          </a:ln>
        </c:spPr>
        <c:txPr>
          <a:bodyPr/>
          <a:lstStyle/>
          <a:p>
            <a:pPr>
              <a:defRPr sz="1300"/>
            </a:pPr>
          </a:p>
        </c:txPr>
        <c:crossAx val="-2113994440"/>
        <c:crosses val="autoZero"/>
        <c:auto val="1"/>
        <c:lblAlgn val="ctr"/>
        <c:lblOffset val="100"/>
        <c:noMultiLvlLbl val="0"/>
      </c:catAx>
      <c:valAx>
        <c:axId val="-2113994440"/>
        <c:scaling>
          <c:min val="0.0"/>
        </c:scaling>
        <c:delete val="0"/>
        <c:axPos val="b"/>
        <c:majorGridlines>
          <c:spPr>
            <a:ln>
              <a:solidFill>
                <a:srgbClr val="E6EAEF"/>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Runs</c:v>
                </c:pt>
              </c:strCache>
            </c:strRef>
          </c:tx>
          <c:spPr>
            <a:solidFill>
              <a:srgbClr val="D9DEE5"/>
            </a:solidFill>
          </c:spPr>
          <c:cat>
            <c:strRef>
              <c:f>Sheet1!$A$2:$A$6</c:f>
              <c:strCache>
                <c:ptCount val="5"/>
                <c:pt idx="0">
                  <c:v>v30–v42
Text Skill</c:v>
                </c:pt>
                <c:pt idx="1">
                  <c:v>v43–v48
Rules on words</c:v>
                </c:pt>
                <c:pt idx="2">
                  <c:v>v49–v58
Reads the screen</c:v>
                </c:pt>
                <c:pt idx="3">
                  <c:v>v59–v62
Skill as code</c:v>
                </c:pt>
                <c:pt idx="4">
                  <c:v>v63–v65
Final agent</c:v>
                </c:pt>
              </c:strCache>
            </c:strRef>
          </c:cat>
          <c:val>
            <c:numRef>
              <c:f>Sheet1!$B$2:$B$6</c:f>
              <c:numCache>
                <c:formatCode>General</c:formatCode>
                <c:ptCount val="5"/>
                <c:pt idx="0">
                  <c:v>26</c:v>
                </c:pt>
                <c:pt idx="1">
                  <c:v>10</c:v>
                </c:pt>
                <c:pt idx="2">
                  <c:v>10</c:v>
                </c:pt>
                <c:pt idx="3">
                  <c:v>11</c:v>
                </c:pt>
                <c:pt idx="4">
                  <c:v>4</c:v>
                </c:pt>
              </c:numCache>
            </c:numRef>
          </c:val>
        </c:ser>
        <c:ser>
          <c:idx val="1"/>
          <c:order val="1"/>
          <c:tx>
            <c:strRef>
              <c:f>Sheet1!$C$1</c:f>
              <c:strCache>
                <c:ptCount val="1"/>
                <c:pt idx="0">
                  <c:v>Passed</c:v>
                </c:pt>
              </c:strCache>
            </c:strRef>
          </c:tx>
          <c:spPr>
            <a:solidFill>
              <a:srgbClr val="0065BD"/>
            </a:solidFill>
          </c:spPr>
          <c:cat>
            <c:strRef>
              <c:f>Sheet1!$A$2:$A$6</c:f>
              <c:strCache>
                <c:ptCount val="5"/>
                <c:pt idx="0">
                  <c:v>v30–v42
Text Skill</c:v>
                </c:pt>
                <c:pt idx="1">
                  <c:v>v43–v48
Rules on words</c:v>
                </c:pt>
                <c:pt idx="2">
                  <c:v>v49–v58
Reads the screen</c:v>
                </c:pt>
                <c:pt idx="3">
                  <c:v>v59–v62
Skill as code</c:v>
                </c:pt>
                <c:pt idx="4">
                  <c:v>v63–v65
Final agent</c:v>
                </c:pt>
              </c:strCache>
            </c:strRef>
          </c:cat>
          <c:val>
            <c:numRef>
              <c:f>Sheet1!$C$2:$C$6</c:f>
              <c:numCache>
                <c:formatCode>General</c:formatCode>
                <c:ptCount val="5"/>
                <c:pt idx="0">
                  <c:v>0</c:v>
                </c:pt>
                <c:pt idx="1">
                  <c:v>0</c:v>
                </c:pt>
                <c:pt idx="2">
                  <c:v>0</c:v>
                </c:pt>
                <c:pt idx="3">
                  <c:v>5</c:v>
                </c:pt>
                <c:pt idx="4">
                  <c:v>3</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9DEE5"/>
            </a:solidFill>
          </a:ln>
        </c:spPr>
        <c:txPr>
          <a:bodyPr/>
          <a:lstStyle/>
          <a:p>
            <a:pPr>
              <a:defRPr sz="1300"/>
            </a:pPr>
          </a:p>
        </c:txPr>
        <c:crossAx val="-2113994440"/>
        <c:crosses val="autoZero"/>
        <c:auto val="1"/>
        <c:lblAlgn val="ctr"/>
        <c:lblOffset val="100"/>
        <c:noMultiLvlLbl val="0"/>
      </c:catAx>
      <c:valAx>
        <c:axId val="-2113994440"/>
        <c:scaling>
          <c:min val="0.0"/>
        </c:scaling>
        <c:delete val="0"/>
        <c:axPos val="l"/>
        <c:majorGridlines>
          <c:spPr>
            <a:ln>
              <a:solidFill>
                <a:srgbClr val="E6EAEF"/>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legend>
    <c:dispBlanksAs val="gap"/>
  </c:chart>
  <c:txPr>
    <a:bodyPr/>
    <a:lstStyle/>
    <a:p>
      <a:pPr>
        <a:defRPr sz="12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Passed of 3</c:v>
                </c:pt>
              </c:strCache>
            </c:strRef>
          </c:tx>
          <c:spPr>
            <a:solidFill>
              <a:srgbClr val="0065BD"/>
            </a:solidFill>
          </c:spPr>
          <c:cat>
            <c:strRef>
              <c:f>Sheet1!$A$2:$A$5</c:f>
              <c:strCache>
                <c:ptCount val="4"/>
                <c:pt idx="0">
                  <c:v>Text Skill only
(v42, other seeds)</c:v>
                </c:pt>
                <c:pt idx="1">
                  <c:v>No Skill
(v61)</c:v>
                </c:pt>
                <c:pt idx="2">
                  <c:v>Skill as code
(v61)</c:v>
                </c:pt>
                <c:pt idx="3">
                  <c:v>Final agent
(v65)</c:v>
                </c:pt>
              </c:strCache>
            </c:strRef>
          </c:cat>
          <c:val>
            <c:numRef>
              <c:f>Sheet1!$B$2:$B$5</c:f>
              <c:numCache>
                <c:formatCode>General</c:formatCode>
                <c:ptCount val="4"/>
                <c:pt idx="0">
                  <c:v>0</c:v>
                </c:pt>
                <c:pt idx="1">
                  <c:v>0</c:v>
                </c:pt>
                <c:pt idx="2">
                  <c:v>2</c:v>
                </c:pt>
                <c:pt idx="3">
                  <c:v>2</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E5"/>
            </a:solidFill>
          </a:ln>
        </c:spPr>
        <c:txPr>
          <a:bodyPr/>
          <a:lstStyle/>
          <a:p>
            <a:pPr>
              <a:defRPr sz="1300"/>
            </a:pPr>
          </a:p>
        </c:txPr>
        <c:crossAx val="-2113994440"/>
        <c:crosses val="autoZero"/>
        <c:auto val="1"/>
        <c:lblAlgn val="ctr"/>
        <c:lblOffset val="100"/>
        <c:noMultiLvlLbl val="0"/>
      </c:catAx>
      <c:valAx>
        <c:axId val="-2113994440"/>
        <c:scaling>
          <c:max val="3.0"/>
          <c:min val="0.0"/>
        </c:scaling>
        <c:delete val="0"/>
        <c:axPos val="l"/>
        <c:majorGridlines>
          <c:spPr>
            <a:ln>
              <a:solidFill>
                <a:srgbClr val="E6EAEF"/>
              </a:solidFill>
            </a:ln>
          </c:spPr>
        </c:majorGridlines>
        <c:majorTickMark val="out"/>
        <c:minorTickMark val="none"/>
        <c:tickLblPos val="nextTo"/>
        <c:spPr>
          <a:ln>
            <a:noFill/>
          </a:ln>
        </c:spPr>
        <c:txPr>
          <a:bodyPr/>
          <a:lstStyle/>
          <a:p>
            <a:pPr>
              <a:defRPr sz="1100"/>
            </a:pPr>
          </a:p>
        </c:txPr>
        <c:crossAx val="-2068027336"/>
        <c:crosses val="autoZero"/>
        <c:majorUnit val="1.0"/>
      </c:valAx>
    </c:plotArea>
    <c:dispBlanksAs val="gap"/>
  </c:chart>
  <c:txPr>
    <a:bodyPr/>
    <a:lstStyle/>
    <a:p>
      <a:pPr>
        <a:defRPr sz="12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Our agent (mean of passing runs)</c:v>
                </c:pt>
              </c:strCache>
            </c:strRef>
          </c:tx>
          <c:spPr>
            <a:solidFill>
              <a:srgbClr val="0065BD"/>
            </a:solidFill>
          </c:spPr>
          <c:cat>
            <c:strRef>
              <c:f>Sheet1!$A$2:$A$8</c:f>
              <c:strCache>
                <c:ptCount val="7"/>
                <c:pt idx="0">
                  <c:v>Wi-Fi</c:v>
                </c:pt>
                <c:pt idx="1">
                  <c:v>Contacts</c:v>
                </c:pt>
                <c:pt idx="2">
                  <c:v>SMS</c:v>
                </c:pt>
                <c:pt idx="3">
                  <c:v>Files</c:v>
                </c:pt>
                <c:pt idx="4">
                  <c:v>Calendar</c:v>
                </c:pt>
                <c:pt idx="5">
                  <c:v>Markor+SMS</c:v>
                </c:pt>
                <c:pt idx="6">
                  <c:v>OsmAnd</c:v>
                </c:pt>
              </c:strCache>
            </c:strRef>
          </c:cat>
          <c:val>
            <c:numRef>
              <c:f>Sheet1!$B$2:$B$8</c:f>
              <c:numCache>
                <c:formatCode>General</c:formatCode>
                <c:ptCount val="7"/>
                <c:pt idx="0">
                  <c:v>5</c:v>
                </c:pt>
                <c:pt idx="1">
                  <c:v>11.5</c:v>
                </c:pt>
                <c:pt idx="2">
                  <c:v>7.7</c:v>
                </c:pt>
                <c:pt idx="3">
                  <c:v>15</c:v>
                </c:pt>
                <c:pt idx="4">
                  <c:v>19</c:v>
                </c:pt>
                <c:pt idx="5">
                  <c:v>17</c:v>
                </c:pt>
                <c:pt idx="6">
                  <c:v>22.5</c:v>
                </c:pt>
              </c:numCache>
            </c:numRef>
          </c:val>
        </c:ser>
        <c:ser>
          <c:idx val="1"/>
          <c:order val="1"/>
          <c:tx>
            <c:strRef>
              <c:f>Sheet1!$C$1</c:f>
              <c:strCache>
                <c:ptCount val="1"/>
                <c:pt idx="0">
                  <c:v>Reference steps (course list)</c:v>
                </c:pt>
              </c:strCache>
            </c:strRef>
          </c:tx>
          <c:spPr>
            <a:solidFill>
              <a:srgbClr val="072140"/>
            </a:solidFill>
          </c:spPr>
          <c:cat>
            <c:strRef>
              <c:f>Sheet1!$A$2:$A$8</c:f>
              <c:strCache>
                <c:ptCount val="7"/>
                <c:pt idx="0">
                  <c:v>Wi-Fi</c:v>
                </c:pt>
                <c:pt idx="1">
                  <c:v>Contacts</c:v>
                </c:pt>
                <c:pt idx="2">
                  <c:v>SMS</c:v>
                </c:pt>
                <c:pt idx="3">
                  <c:v>Files</c:v>
                </c:pt>
                <c:pt idx="4">
                  <c:v>Calendar</c:v>
                </c:pt>
                <c:pt idx="5">
                  <c:v>Markor+SMS</c:v>
                </c:pt>
                <c:pt idx="6">
                  <c:v>OsmAnd</c:v>
                </c:pt>
              </c:strCache>
            </c:strRef>
          </c:cat>
          <c:val>
            <c:numRef>
              <c:f>Sheet1!$C$2:$C$8</c:f>
              <c:numCache>
                <c:formatCode>General</c:formatCode>
                <c:ptCount val="7"/>
                <c:pt idx="0">
                  <c:v>3</c:v>
                </c:pt>
                <c:pt idx="1">
                  <c:v>5</c:v>
                </c:pt>
                <c:pt idx="2">
                  <c:v>6</c:v>
                </c:pt>
                <c:pt idx="3">
                  <c:v>10</c:v>
                </c:pt>
                <c:pt idx="4">
                  <c:v>17</c:v>
                </c:pt>
                <c:pt idx="5">
                  <c:v>9</c:v>
                </c:pt>
                <c:pt idx="6">
                  <c:v>60</c:v>
                </c:pt>
              </c:numCache>
            </c:numRef>
          </c:val>
        </c:ser>
        <c:ser>
          <c:idx val="2"/>
          <c:order val="2"/>
          <c:tx>
            <c:strRef>
              <c:f>Sheet1!$D$1</c:f>
              <c:strCache>
                <c:ptCount val="1"/>
                <c:pt idx="0">
                  <c:v>Step budget</c:v>
                </c:pt>
              </c:strCache>
            </c:strRef>
          </c:tx>
          <c:spPr>
            <a:solidFill>
              <a:srgbClr val="D9DEE5"/>
            </a:solidFill>
          </c:spPr>
          <c:cat>
            <c:strRef>
              <c:f>Sheet1!$A$2:$A$8</c:f>
              <c:strCache>
                <c:ptCount val="7"/>
                <c:pt idx="0">
                  <c:v>Wi-Fi</c:v>
                </c:pt>
                <c:pt idx="1">
                  <c:v>Contacts</c:v>
                </c:pt>
                <c:pt idx="2">
                  <c:v>SMS</c:v>
                </c:pt>
                <c:pt idx="3">
                  <c:v>Files</c:v>
                </c:pt>
                <c:pt idx="4">
                  <c:v>Calendar</c:v>
                </c:pt>
                <c:pt idx="5">
                  <c:v>Markor+SMS</c:v>
                </c:pt>
                <c:pt idx="6">
                  <c:v>OsmAnd</c:v>
                </c:pt>
              </c:strCache>
            </c:strRef>
          </c:cat>
          <c:val>
            <c:numRef>
              <c:f>Sheet1!$D$2:$D$8</c:f>
              <c:numCache>
                <c:formatCode>General</c:formatCode>
                <c:ptCount val="7"/>
                <c:pt idx="0">
                  <c:v>12</c:v>
                </c:pt>
                <c:pt idx="1">
                  <c:v>16</c:v>
                </c:pt>
                <c:pt idx="2">
                  <c:v>20</c:v>
                </c:pt>
                <c:pt idx="3">
                  <c:v>25</c:v>
                </c:pt>
                <c:pt idx="4">
                  <c:v>35</c:v>
                </c:pt>
                <c:pt idx="5">
                  <c:v>40</c:v>
                </c:pt>
                <c:pt idx="6">
                  <c:v>90</c:v>
                </c:pt>
              </c:numCache>
            </c:numRef>
          </c:val>
        </c:ser>
        <c:dLbls>
          <c:numFmt formatCode="General" sourceLinked="0"/>
          <c:txPr>
            <a:bodyPr/>
            <a:lstStyle/>
            <a:p>
              <a:pPr>
                <a:defRPr sz="1100"/>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9DEE5"/>
            </a:solidFill>
          </a:ln>
        </c:spPr>
        <c:txPr>
          <a:bodyPr/>
          <a:lstStyle/>
          <a:p>
            <a:pPr>
              <a:defRPr sz="1300"/>
            </a:pPr>
          </a:p>
        </c:txPr>
        <c:crossAx val="-2113994440"/>
        <c:crosses val="autoZero"/>
        <c:auto val="1"/>
        <c:lblAlgn val="ctr"/>
        <c:lblOffset val="100"/>
        <c:noMultiLvlLbl val="0"/>
      </c:catAx>
      <c:valAx>
        <c:axId val="-2113994440"/>
        <c:scaling>
          <c:min val="0.0"/>
        </c:scaling>
        <c:delete val="0"/>
        <c:axPos val="l"/>
        <c:majorGridlines>
          <c:spPr>
            <a:ln>
              <a:solidFill>
                <a:srgbClr val="E6EAEF"/>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legend>
    <c:dispBlanksAs val="gap"/>
  </c:chart>
  <c:txPr>
    <a:bodyPr/>
    <a:lstStyle/>
    <a:p>
      <a:pPr>
        <a:defRPr sz="12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Mean run time (s)</c:v>
                </c:pt>
              </c:strCache>
            </c:strRef>
          </c:tx>
          <c:spPr>
            <a:solidFill>
              <a:srgbClr val="0065BD"/>
            </a:solidFill>
          </c:spPr>
          <c:cat>
            <c:strRef>
              <c:f>Sheet1!$A$2:$A$8</c:f>
              <c:strCache>
                <c:ptCount val="7"/>
                <c:pt idx="0">
                  <c:v>Wi-Fi</c:v>
                </c:pt>
                <c:pt idx="1">
                  <c:v>Contacts</c:v>
                </c:pt>
                <c:pt idx="2">
                  <c:v>SMS</c:v>
                </c:pt>
                <c:pt idx="3">
                  <c:v>Files</c:v>
                </c:pt>
                <c:pt idx="4">
                  <c:v>Calendar</c:v>
                </c:pt>
                <c:pt idx="5">
                  <c:v>Markor+SMS</c:v>
                </c:pt>
                <c:pt idx="6">
                  <c:v>OsmAnd</c:v>
                </c:pt>
              </c:strCache>
            </c:strRef>
          </c:cat>
          <c:val>
            <c:numRef>
              <c:f>Sheet1!$B$2:$B$8</c:f>
              <c:numCache>
                <c:formatCode>General</c:formatCode>
                <c:ptCount val="7"/>
                <c:pt idx="0">
                  <c:v>71</c:v>
                </c:pt>
                <c:pt idx="1">
                  <c:v>95</c:v>
                </c:pt>
                <c:pt idx="2">
                  <c:v>71</c:v>
                </c:pt>
                <c:pt idx="3">
                  <c:v>109</c:v>
                </c:pt>
                <c:pt idx="4">
                  <c:v>153</c:v>
                </c:pt>
                <c:pt idx="5">
                  <c:v>261</c:v>
                </c:pt>
                <c:pt idx="6">
                  <c:v>537</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9DEE5"/>
            </a:solidFill>
          </a:ln>
        </c:spPr>
        <c:txPr>
          <a:bodyPr/>
          <a:lstStyle/>
          <a:p>
            <a:pPr>
              <a:defRPr sz="1200"/>
            </a:pPr>
          </a:p>
        </c:txPr>
        <c:crossAx val="-2113994440"/>
        <c:crosses val="autoZero"/>
        <c:auto val="1"/>
        <c:lblAlgn val="ctr"/>
        <c:lblOffset val="100"/>
        <c:noMultiLvlLbl val="0"/>
      </c:catAx>
      <c:valAx>
        <c:axId val="-2113994440"/>
        <c:scaling>
          <c:min val="0.0"/>
        </c:scaling>
        <c:delete val="0"/>
        <c:axPos val="l"/>
        <c:majorGridlines>
          <c:spPr>
            <a:ln>
              <a:solidFill>
                <a:srgbClr val="E6EAEF"/>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and thank you for having us.</a:t>
            </a:r>
          </a:p>
          <a:p>
            <a:r>
              <a:t>Our project is a GUI agent for Android. A GUI agent uses a phone the way a person does: it looks at the screen and decides where to tap or what to type.</a:t>
            </a:r>
          </a:p>
          <a:p>
            <a:r>
              <a:t>In the next 25 minutes we will show how we built one agent, how we tested it on seven AndroidWorld tasks, where it failed, and how we improved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short version.</a:t>
            </a:r>
          </a:p>
          <a:p>
            <a:r>
              <a:t>We built one agent and gave it seven tasks from AndroidWorld, from easy to the hardest one on the course list. Each task ran three times on one frozen version, and every run was screen-recorded.</a:t>
            </a:r>
          </a:p>
          <a:p>
            <a:r>
              <a:t>18 of the 21 runs passed. Pass means the official AndroidWorld checker looked at the phone's data and confirmed the task was done. The model's own "I am done" does not count.</a:t>
            </a:r>
          </a:p>
          <a:p>
            <a:r>
              <a:t>Behind this result there is a lot of work: about 300 recorded runs across the project and 65 versions of the agent.</a:t>
            </a:r>
          </a:p>
          <a:p>
            <a:r>
              <a:t>And it was cheap: the model cost for all 21 final runs was about 0.065 euro.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use case is a phone assistant for everyday tasks.</a:t>
            </a:r>
          </a:p>
          <a:p>
            <a:r>
              <a:t>You tell it in plain words what you want, for example "Send this message to this number", and it opens the right app and does the steps on the screen.</a:t>
            </a:r>
          </a:p>
          <a:p>
            <a:r>
              <a:t>This is useful because it works with normal apps. It needs no special interface from the app maker. It only needs the screen, like a person.</a:t>
            </a:r>
          </a:p>
          <a:p>
            <a:r>
              <a:t>In business this helps with three things: helping people who find phones hard to use, saving time on repeated phone tasks, and testing apps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asks for at least three tasks, at least one from each difficulty row. We chose seven, so we could see patterns, not just single cases.</a:t>
            </a:r>
          </a:p>
          <a:p>
            <a:r>
              <a:t>Two warm-up tasks: turn on Wi-Fi and add a contact.</a:t>
            </a:r>
          </a:p>
          <a:p>
            <a:r>
              <a:t>Three real-work tasks: send an SMS, move a file, and add a calendar event with date, time and length.</a:t>
            </a:r>
          </a:p>
          <a:p>
            <a:r>
              <a:t>Two multi-app tasks: write a note in Markor and send it by SMS, which uses two apps, and OsmAndTrack, the hardest task on the list, with a reference of 60 steps.</a:t>
            </a:r>
          </a:p>
          <a:p>
            <a:r>
              <a:t>For the six template tasks AndroidWorld fills in random names and numbers. For OsmAnd we used exactly the route on the course slide: Ruggell, then Bendern.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model. The course says any model is fine, as long as we name it. Ours is AutoGLM-Phone-9B-Multilingual, which we use through the Z.ai API.</a:t>
            </a:r>
          </a:p>
          <a:p>
            <a:r>
              <a:t>We did not start with it. Our first versions used GELab-Zero 4B, the model on the course slide, running locally with Ollama on a laptop GPU with 8 gigabytes of memory. The model did not fit completely on the GPU, so one screenshot request took about 20 seconds. Only one of six Contacts trials passed, and in a Wi-Fi run the model answered in a format our parser could not accept, and even said Wi-Fi was on when it was not. That was our first unsuccessful attempt.</a:t>
            </a:r>
          </a:p>
          <a:p>
            <a:r>
              <a:t>AutoGLM is trained for phone screens and has a clear action format. Our median time per model call was 1.77 seconds, and the price is 0.045 euro per million tokens.</a:t>
            </a:r>
          </a:p>
          <a:p>
            <a:r>
              <a:t>On the AndroidWorld leaderboard a 9B AutoGLM-Mobile entry is listed at 80.2 percent. That entry may not be the exact hosted version we use, so we only say it is one of the top-ranked model families.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agent works. It is one Python class with one method, step, as the course asks.</a:t>
            </a:r>
          </a:p>
          <a:p>
            <a:r>
              <a:t>Each step does five things.</a:t>
            </a:r>
          </a:p>
          <a:p>
            <a:r>
              <a:t>First, observe: take a screenshot of the phone. For Wi-Fi and OsmAnd it also gets text labels of the screen, and we report this for every run.</a:t>
            </a:r>
          </a:p>
          <a:p>
            <a:r>
              <a:t>Second, decide: send the task, the recent history and the screenshot to the model. The model answers with one action, for example tap at this point, or type this text.</a:t>
            </a:r>
          </a:p>
          <a:p>
            <a:r>
              <a:t>Third, check: our code checks the action before anything happens on the phone. Is the format valid? Is the point on the screen? Is a text field really focused before we type?</a:t>
            </a:r>
          </a:p>
          <a:p>
            <a:r>
              <a:t>Fourth, act: run the action on the emulator.</a:t>
            </a:r>
          </a:p>
          <a:p>
            <a:r>
              <a:t>Fifth, record: save the screenshot, the model's answer and the result in the trajectory log, while the screen recorder runs.</a:t>
            </a:r>
          </a:p>
          <a:p>
            <a:r>
              <a:t>This repeats until the model says finish or the step budget ends. Then the official checker decides pass or fail. All seven tasks use this same class.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the model receive at each step?</a:t>
            </a:r>
          </a:p>
          <a:p>
            <a:r>
              <a:t>A system prompt with the action rules and a short completion rule, for example: the contact must be saved, a filled form is not enough.</a:t>
            </a:r>
          </a:p>
          <a:p>
            <a:r>
              <a:t>The last 20 steps of history, the newest screenshot, and a short status text.</a:t>
            </a:r>
          </a:p>
          <a:p>
            <a:r>
              <a:t>For two tasks we add a Skill. A Skill is app knowledge, loaded only for its task, as in the course's Skills idea.</a:t>
            </a:r>
          </a:p>
          <a:p>
            <a:r>
              <a:t>For Markor it is text: use a plain SMS, never Markor's Share menu, because that sends an MMS that fails.</a:t>
            </a:r>
          </a:p>
          <a:p>
            <a:r>
              <a:t>For OsmAnd the Skill is code. It reads the screen and tells the model the next step and where to tap. The model still decides and acts, and it did not always follow the advice.</a:t>
            </a:r>
          </a:p>
          <a:p>
            <a:r>
              <a:t>So nothing is a fixed list of taps. The model makes every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check step catches bad actions before they happen.</a:t>
            </a:r>
          </a:p>
          <a:p>
            <a:r>
              <a:t>The general checks work for every task: an action must have the right format, a point must be on the screen, and typing is only allowed when a text field is focused. Otherwise the text would go nowhere.</a:t>
            </a:r>
          </a:p>
          <a:p>
            <a:r>
              <a:t>Task checks protect against known traps. For OsmAnd, the star button on a place card saves a favourite, not a route point, so we refuse it.</a:t>
            </a:r>
          </a:p>
          <a:p>
            <a:r>
              <a:t>When we refuse an action, the model gets one correction in the same step, with the reason.</a:t>
            </a:r>
          </a:p>
          <a:p>
            <a:r>
              <a:t>In the 21 final runs these checks stopped 8 actions. Without them, some of these passing runs would have failed.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is it implemented? Four parts work together.</a:t>
            </a:r>
          </a:p>
          <a:p>
            <a:r>
              <a:t>The Android emulator runs a Pixel 6 phone with Android 13, without a window. AndroidWorld sets up each task from its seed and, at the end, its official verifier checks the result.</a:t>
            </a:r>
          </a:p>
          <a:p>
            <a:r>
              <a:t>Our runner, run_task.py, prepares the task, starts the screen recorder, calls the agent step by step, then asks the verifier and writes the logs.</a:t>
            </a:r>
          </a:p>
          <a:p>
            <a:r>
              <a:t>The agent, the AutoGLMAgent class in autoglm_agent.py, builds each request and checks each answer. The model itself runs behind the Z.ai API.</a:t>
            </a:r>
          </a:p>
          <a:p>
            <a:r>
              <a:t>Around this, evaluate_tasks.py runs whole batches and stops if the code changes during a batch, and 38 offline tests protect every fix. One command reproduces the whole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full run from the final evaluation: the hardest task, OsmAnd, with seed 314. It passed in 23 steps.</a:t>
            </a:r>
          </a:p>
          <a:p>
            <a:r>
              <a:t>The model searched for Ruggell. The first search found nothing nearby, so it increased the search radius three times, scrolled the results, and picked the row labelled Village.</a:t>
            </a:r>
          </a:p>
          <a:p>
            <a:r>
              <a:t>From the place menu it chose Plan a route, so Ruggell became the first point of the route.</a:t>
            </a:r>
          </a:p>
          <a:p>
            <a:r>
              <a:t>Then it searched for Bendern, picked the village, went back to the route panel and tapped Add. The panel showed two points. It tapped Done, which saves the track, and called finish.</a:t>
            </a:r>
          </a:p>
          <a:p>
            <a:r>
              <a:t>On the way it closed a crash dialog, and our check refused one Type because no text field was focused.</a:t>
            </a:r>
          </a:p>
          <a:p>
            <a:r>
              <a:t>The official checker then read the saved track and confirmed both points in the right order. Under each picture is a sentence from the model's own reasoning, taken from the 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did we test?</a:t>
            </a:r>
          </a:p>
          <a:p>
            <a:r>
              <a:t>First, we froze the code. The final version has a git tag, and both evaluation batches have the same source fingerprint, so all 21 runs come from exactly the same agent.</a:t>
            </a:r>
          </a:p>
          <a:p>
            <a:r>
              <a:t>Each task ran three times with fixed task seeds, 42, 43 and 44. For OsmAnd we used 31, 314 and 366, because these three seeds produce exactly the route on the course slide.</a:t>
            </a:r>
          </a:p>
          <a:p>
            <a:r>
              <a:t>Success is decided only by the official AndroidWorld verifier, which reads the phone's data.</a:t>
            </a:r>
          </a:p>
          <a:p>
            <a:r>
              <a:t>Every run keeps three records: a summary row with the fields from the course, written by our runner while the run happens; a step-by-step trajectory log; and a screen recording. You will see all 21 rows right after the results.</a:t>
            </a:r>
          </a:p>
          <a:p>
            <a:r>
              <a:t>We did not rerun failures. A rerun of the same code only measures luck.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all 21 runs. Blue is pass, orange is fail.</a:t>
            </a:r>
          </a:p>
          <a:p>
            <a:r>
              <a:t>Wi-Fi, SMS, Calendar and Markor passed all three runs.</a:t>
            </a:r>
          </a:p>
          <a:p>
            <a:r>
              <a:t>Contacts, Files and OsmAnd passed two of three.</a:t>
            </a:r>
          </a:p>
          <a:p>
            <a:r>
              <a:t>Both multi-app tasks together passed five of six, including OsmAndTrack, the hardest task on the list.</a:t>
            </a:r>
          </a:p>
          <a:p>
            <a:r>
              <a:t>The three failures are all different. One is a false finish, one is a missed tap, and one is a navigation problem. We will look at each of them in a moment.</a:t>
            </a:r>
          </a:p>
          <a:p>
            <a:r>
              <a:t>Please keep in mind that three runs is a small sample. Three of three does not mean the task always works.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full log, one row per run, sorted by task, as the course asks.</a:t>
            </a:r>
          </a:p>
          <a:p>
            <a:r>
              <a:t>Each row has the course's fields: task, run, the observation, steps against the budget, the verifier result, the failure class, the recording and a short note. The model, version and grounding are the same for every run, so they are in the line above the table.</a:t>
            </a:r>
          </a:p>
          <a:p>
            <a:r>
              <a:t>Our runner writes these rows while each run happens, so nothing is filled in from memory. Each run number links to its full step-by-step log on GitHub.</a:t>
            </a:r>
          </a:p>
          <a:p>
            <a:r>
              <a:t>The notes show small things the checks handled, for example the SMS runs where the model wrote the app name in Chinese and our runner still understood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part shows the two hard tasks, with longer notes.</a:t>
            </a:r>
          </a:p>
          <a:p>
            <a:r>
              <a:t>All three Markor runs followed the Skill: save the note, then send its text as a plain SMS. One run needed the alias table, because the model named the SMS app in Chinese.</a:t>
            </a:r>
          </a:p>
          <a:p>
            <a:r>
              <a:t>The first OsmAnd run had to restore the map first, because the Files task had cleared the phone's storage. The only failure here, OsmAnd run 3, reached the first route point and then missed the Clear button. We come back to it in the failure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demo. This video shows all 21 evaluation runs at the same time.</a:t>
            </a:r>
          </a:p>
          <a:p>
            <a:r>
              <a:t>Each column is one task, each row is one run. The label says the task, the seed, pass or fail, and how much the video is sped up. Each clip ends on the final screen.</a:t>
            </a:r>
          </a:p>
          <a:p>
            <a:r>
              <a:t>You can see the difference in length: Wi-Fi is sped up only two times, OsmAnd about ten times or more.</a:t>
            </a:r>
          </a:p>
          <a:p>
            <a:r>
              <a:t>Look at the orange labels: Contacts seed 43, Files seed 43 and OsmAnd seed 366. These are the three failures we explain next.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two runs of the same task, Files, at a speed you can follow. Both are three times faster.</a:t>
            </a:r>
          </a:p>
          <a:p>
            <a:r>
              <a:t>On the left, seed 42. The folder holds look-alike files whose names are cut off. The agent scrolls until it sees the full name, sci_fi_book.mp3, selects exactly that file and moves it to Audiobooks. The file disappears from Recordings, and the agent goes to Audiobooks to check before it says done. The checker says pass.</a:t>
            </a:r>
          </a:p>
          <a:p>
            <a:r>
              <a:t>On the right, seed 43. Everything looks right: it opens the folder, selects a file, and moves it to Movies. But watch the file name in the grid. The name is cut off, and the agent picks a file that only looks like the right one. Then it says it is done. The checker says fail.</a:t>
            </a:r>
          </a:p>
          <a:p>
            <a:r>
              <a:t>Same app, same kind of screen, one different choice. This brings us to the failure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look at single failures, here is the bigger picture: all 275 runs in our project that have a machine-readable summary, from the first tests to the final evaluation.</a:t>
            </a:r>
          </a:p>
          <a:p>
            <a:r>
              <a:t>96 runs passed. Among the rest, the largest group is not the model at all: 60 runs ended with setup or other errors, for example the emulator, the recorder or a crashed service.</a:t>
            </a:r>
          </a:p>
          <a:p>
            <a:r>
              <a:t>Next come no-progress stops: the agent repeated an action and nothing changed, so our rule stopped the run early instead of wasting the budget. Then invalid replies, and runs that used up the step budget.</a:t>
            </a:r>
          </a:p>
          <a:p>
            <a:r>
              <a:t>The most dangerous group is false completion: the model says done, but the checker says fail. We saw 19 of these. The course calls this false_done, and our completion rules and checks are there to reduce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main failure analysis: Files, seed 43. The task: move documentary dot mp4 from Alarms to Movies.</a:t>
            </a:r>
          </a:p>
          <a:p>
            <a:r>
              <a:t>AndroidWorld puts distractor files with similar names in the same folder. In the grid view, the names are cut off.</a:t>
            </a:r>
          </a:p>
          <a:p>
            <a:r>
              <a:t>At step 5 the agent saw "documentary underscore 20..." and picked it. In its reasoning it even wrote "assuming it is named differently here". So it guessed, and it invented the full name.</a:t>
            </a:r>
          </a:p>
          <a:p>
            <a:r>
              <a:t>Then it did the move perfectly, waited for "Moving 1 item", and finished with the message that the file was moved. The verifier failed it, because the real file never moved.</a:t>
            </a:r>
          </a:p>
          <a:p>
            <a:r>
              <a:t>Class: false_done. The root cause is choosing a look-alike from a truncated name.</a:t>
            </a:r>
          </a:p>
          <a:p>
            <a:r>
              <a:t>Where to fix it: in the instructions, switch to list view or search for the exact name. And in the program, a check before Move that the selected name is exactly the requested one. That is the course's idea of a check step before declaring done.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two failures.</a:t>
            </a:r>
          </a:p>
          <a:p>
            <a:r>
              <a:t>Contacts, seed 43: the agent swiped to find the phone field, but two swipes went past it to the end of the form. Then it kept swiping in the same direction. Our own feedback did not help: the blinking text cursor counted as a screen change, so the agent was told its swipe had worked. We classify this as other, a navigation problem.</a:t>
            </a:r>
          </a:p>
          <a:p>
            <a:r>
              <a:t>OsmAnd, seed 366: our code said "tap Clear at 941, 83". The model tapped at 941, 57, the very top edge of the button, three times, and nothing happened. That is grounding: the tap lands on nothing.</a:t>
            </a:r>
          </a:p>
          <a:p>
            <a:r>
              <a:t>An important pattern: the same task can pass on one run and fail on another. OsmAnd was two of three in two separate frozen evaluations, but different runs failed, for different reasons. Long tasks have many steps, and each step is a chance for a small error.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failure is the model's fault. We found several problems in the test setup itself, and we fixed them before trusting any result.</a:t>
            </a:r>
          </a:p>
          <a:p>
            <a:r>
              <a:t>On our laptop the emulator first returned black screenshots, so the model was waiting on a black screen. The screen recorder died when the Android tools restarted their server. A cold app start took longer than the default five seconds.</a:t>
            </a:r>
          </a:p>
          <a:p>
            <a:r>
              <a:t>Two problems were special. AndroidWorld's accessibility service crashed in 11 of 25 OsmAnd runs with it; the model learned to close the dialog. And the official initialization of the Files task deletes every file in shared storage, including OsmAnd's offline map. So before each OsmAnd run our runner now checks the map and restores it.</a:t>
            </a:r>
          </a:p>
          <a:p>
            <a:r>
              <a:t>Our lesson: trust the test harness first, then judge the model.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improvement. We focused on OsmAndTrack, the hardest task. It needs about 20 correct steps in a map app.</a:t>
            </a:r>
          </a:p>
          <a:p>
            <a:r>
              <a:t>This chart shows all our OsmAnd runs, grouped by version, and how many passed.</a:t>
            </a:r>
          </a:p>
          <a:p>
            <a:r>
              <a:t>For a long time nothing passed: 46 runs with zero passes. With the Skill only as text, and later with rules based on the model's own words, the agent never saved a correct track.</a:t>
            </a:r>
          </a:p>
          <a:p>
            <a:r>
              <a:t>Two changes made the difference. First, we gave the program eyes: the accessibility tree, so the code can read the real screen. Second, we turned the Skill into code: it recognises the screen and gives the next step and where to tap.</a:t>
            </a:r>
          </a:p>
          <a:p>
            <a:r>
              <a:t>After that, 8 of the next 15 runs passed, and both frozen evaluations reached two of three.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documented improvement with before and after results.</a:t>
            </a:r>
          </a:p>
          <a:p>
            <a:r>
              <a:t>We ran the slide's exact OsmAnd task three times with the Skill and three times without it. Same frozen code, same seeds, same model. Only the Skill was switched on or off.</a:t>
            </a:r>
          </a:p>
          <a:p>
            <a:r>
              <a:t>Without the Skill: zero of three. The model typed "Ruggell, Liechtenstein", which only finds the country, and two runs used navigation, which never saves a track.</a:t>
            </a:r>
          </a:p>
          <a:p>
            <a:r>
              <a:t>With the Skill: two of three passed.</a:t>
            </a:r>
          </a:p>
          <a:p>
            <a:r>
              <a:t>The chart on the right shows the milestones. Without the Skill the agent never reached the first real milestone.</a:t>
            </a:r>
          </a:p>
          <a:p>
            <a:r>
              <a:t>To be fair, this is app knowledge in code, and it only works for OsmAnd. A new app would need its own procedure.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improvement was not only OsmAnd. While building the final agent, each failure led to one small, tested change.</a:t>
            </a:r>
          </a:p>
          <a:p>
            <a:r>
              <a:t>For Markor, an earlier analysis found that sharing the file from Markor sends an MMS that fails. We turned that into the Markor Skill, and the final runs passed three of three.</a:t>
            </a:r>
          </a:p>
          <a:p>
            <a:r>
              <a:t>Markor's editor uses a custom text box, so our focus check refused typing. We fixed the check.</a:t>
            </a:r>
          </a:p>
          <a:p>
            <a:r>
              <a:t>The model sometimes translated the SMS app name into Chinese. With two apps in one task we could not guess which one it meant, so we added an alias table.</a:t>
            </a:r>
          </a:p>
          <a:p>
            <a:r>
              <a:t>And the Files task deleted OsmAnd's map, so we added the map check.</a:t>
            </a:r>
          </a:p>
          <a:p>
            <a:r>
              <a:t>Each fix came from one recorded failure and has an automatic test.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numbers show the work behind the result.</a:t>
            </a:r>
          </a:p>
          <a:p>
            <a:r>
              <a:t>About 300 recorded runs across the project, 65 versions of the agent, 38 automatic tests, and 1453 executed steps in this agent's runs alone.</a:t>
            </a:r>
          </a:p>
          <a:p>
            <a:r>
              <a:t>Every version change has a written reason, and every run has its log. This is what lets us explain the failures today,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finish, what did we learn?</a:t>
            </a:r>
          </a:p>
          <a:p>
            <a:r>
              <a:t>One: trust the test setup before you judge the model. Black screens and lost videos looked like agent failures at first.</a:t>
            </a:r>
          </a:p>
          <a:p>
            <a:r>
              <a:t>Two: the official checker must decide, not the model. False completions are real, and they are the most dangerous failure.</a:t>
            </a:r>
          </a:p>
          <a:p>
            <a:r>
              <a:t>Three: where knowledge lives matters. A Skill in the system prompt was ignored. Repeated each step it was followed. As code it worked best.</a:t>
            </a:r>
          </a:p>
          <a:p>
            <a:r>
              <a:t>Four: long tasks fail by small errors adding up. A missed tap or a wrong guess at any step is enough.</a:t>
            </a:r>
          </a:p>
          <a:p>
            <a:r>
              <a:t>Our limitations: three runs per task is a small sample; we used one model; the OsmAnd Skill only works for OsmAnd; and two tasks used extra screen labels, which we report in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We are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can use seven actions: tap, type, swipe, launch an app, go back, wait, and finish. Taps use coordinates on a grid from 0 to 1000.</a:t>
            </a:r>
          </a:p>
          <a:p>
            <a:r>
              <a:t>What the agent sees is the screenshot. For two tasks it also gets text labels of the screen elements. For Wi-Fi these come from the Settings app. For OsmAnd they come from AndroidWorld's accessibility tree, the same information a screen reader uses.</a:t>
            </a:r>
          </a:p>
          <a:p>
            <a:r>
              <a:t>We show this openly because it changes what we measure: five tasks were solved from the screenshot alone, two had extra help. The course example log on slide 49 also lists "accessibility tree" as an observation type, so this is allowed, but it must be reported.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compares the steps our agent used in passing runs with the reference steps from the course list.</a:t>
            </a:r>
          </a:p>
          <a:p>
            <a:r>
              <a:t>On simple tasks the agent needs a few more steps than the reference, for example because it checks the result or opens a menu first.</a:t>
            </a:r>
          </a:p>
          <a:p>
            <a:r>
              <a:t>Markor needs about twice the reference, because the agent types the text twice, once in the note and once in the SMS, instead of sharing it.</a:t>
            </a:r>
          </a:p>
          <a:p>
            <a:r>
              <a:t>On OsmAnd it is the other way round: the reference is 60 steps, and our agent needed only about 22, because the coded Skill leads it along the shortest path.</a:t>
            </a:r>
          </a:p>
          <a:p>
            <a:r>
              <a:t>The light bar is the step budget, the maximum we allow before we stop a run.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long and how expensive was it?</a:t>
            </a:r>
          </a:p>
          <a:p>
            <a:r>
              <a:t>Simple tasks finished in about one to two minutes. Markor took about four minutes and OsmAnd about nine, including app start and setup time.</a:t>
            </a:r>
          </a:p>
          <a:p>
            <a:r>
              <a:t>All 21 runs together used about 1.45 million tokens. At 0.045 euro per million tokens, that is about 0.065 euro.</a:t>
            </a:r>
          </a:p>
          <a:p>
            <a:r>
              <a:t>Even the whole project, all local development runs together, cost only about 0.48 euro in model calls.</a:t>
            </a:r>
          </a:p>
          <a:p>
            <a:r>
              <a:t>The model answers fast, 1.77 seconds per call at the median. Most of the time per step is the phone: waiting for screens to load, typing, and saving logs and video.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github.com/Chenschenschen/androidworld-gui-agent/blob/team-agent/docs/evidence/team/runs/trial_SystemWifiTurnOn_20261008T215130_600754Z/trajectory.txt" TargetMode="External"/><Relationship Id="rId4" Type="http://schemas.openxmlformats.org/officeDocument/2006/relationships/hyperlink" Target="https://github.com/Chenschenschen/androidworld-gui-agent/blob/team-agent/docs/evidence/team/runs/trial_SystemWifiTurnOn_20261008T215246_616671Z/trajectory.txt" TargetMode="External"/><Relationship Id="rId5" Type="http://schemas.openxmlformats.org/officeDocument/2006/relationships/hyperlink" Target="https://github.com/Chenschenschen/androidworld-gui-agent/blob/team-agent/docs/evidence/team/runs/trial_SystemWifiTurnOn_20261008T215358_472883Z/trajectory.txt" TargetMode="External"/><Relationship Id="rId6" Type="http://schemas.openxmlformats.org/officeDocument/2006/relationships/hyperlink" Target="https://github.com/Chenschenschen/androidworld-gui-agent/blob/team-agent/docs/evidence/team/runs/trial_ContactsAddContact_20261008T215508_628423Z/trajectory.txt" TargetMode="External"/><Relationship Id="rId7" Type="http://schemas.openxmlformats.org/officeDocument/2006/relationships/hyperlink" Target="https://github.com/Chenschenschen/androidworld-gui-agent/blob/team-agent/docs/evidence/team/runs/trial_ContactsAddContact_20261008T215709_244163Z/trajectory.txt" TargetMode="External"/><Relationship Id="rId8" Type="http://schemas.openxmlformats.org/officeDocument/2006/relationships/hyperlink" Target="https://github.com/Chenschenschen/androidworld-gui-agent/blob/team-agent/docs/evidence/team/runs/trial_ContactsAddContact_20261008T215831_022667Z/trajectory.txt" TargetMode="External"/><Relationship Id="rId9" Type="http://schemas.openxmlformats.org/officeDocument/2006/relationships/hyperlink" Target="https://github.com/Chenschenschen/androidworld-gui-agent/blob/team-agent/docs/evidence/team/runs/trial_SimpleSmsSend_20261008T215957_234873Z/trajectory.txt" TargetMode="External"/><Relationship Id="rId10" Type="http://schemas.openxmlformats.org/officeDocument/2006/relationships/hyperlink" Target="https://github.com/Chenschenschen/androidworld-gui-agent/blob/team-agent/docs/evidence/team/runs/trial_SimpleSmsSend_20261008T220116_423331Z/trajectory.txt" TargetMode="External"/><Relationship Id="rId11" Type="http://schemas.openxmlformats.org/officeDocument/2006/relationships/hyperlink" Target="https://github.com/Chenschenschen/androidworld-gui-agent/blob/team-agent/docs/evidence/team/runs/trial_SimpleSmsSend_20261008T220223_867500Z/trajectory.txt" TargetMode="External"/><Relationship Id="rId12" Type="http://schemas.openxmlformats.org/officeDocument/2006/relationships/hyperlink" Target="https://github.com/Chenschenschen/androidworld-gui-agent/blob/team-agent/docs/evidence/team/runs/trial_FilesMoveFile_20261008T220333_997891Z/trajectory.txt" TargetMode="External"/><Relationship Id="rId13" Type="http://schemas.openxmlformats.org/officeDocument/2006/relationships/hyperlink" Target="https://github.com/Chenschenschen/androidworld-gui-agent/blob/team-agent/docs/evidence/team/runs/trial_FilesMoveFile_20261008T220533_834164Z/trajectory.txt" TargetMode="External"/><Relationship Id="rId14" Type="http://schemas.openxmlformats.org/officeDocument/2006/relationships/hyperlink" Target="https://github.com/Chenschenschen/androidworld-gui-agent/blob/team-agent/docs/evidence/team/runs/trial_FilesMoveFile_20261008T220713_812951Z/trajectory.txt" TargetMode="External"/><Relationship Id="rId15" Type="http://schemas.openxmlformats.org/officeDocument/2006/relationships/hyperlink" Target="https://github.com/Chenschenschen/androidworld-gui-agent/blob/team-agent/docs/evidence/team/runs/trial_SimpleCalendarAddOneEvent_20261008T220904_772591Z/trajectory.txt" TargetMode="External"/><Relationship Id="rId16" Type="http://schemas.openxmlformats.org/officeDocument/2006/relationships/hyperlink" Target="https://github.com/Chenschenschen/androidworld-gui-agent/blob/team-agent/docs/evidence/team/runs/trial_SimpleCalendarAddOneEvent_20261008T221147_529159Z/trajectory.txt" TargetMode="External"/><Relationship Id="rId17" Type="http://schemas.openxmlformats.org/officeDocument/2006/relationships/hyperlink" Target="https://github.com/Chenschenschen/androidworld-gui-agent/blob/team-agent/docs/evidence/team/runs/trial_SimpleCalendarAddOneEvent_20261008T221423_161758Z/trajectory.tx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github.com/Chenschenschen/androidworld-gui-agent/blob/team-agent/docs/evidence/team/runs/trial_MarkorCreateNoteAndSms_20261008T221647_424207Z/trajectory.txt" TargetMode="External"/><Relationship Id="rId4" Type="http://schemas.openxmlformats.org/officeDocument/2006/relationships/hyperlink" Target="https://github.com/Chenschenschen/androidworld-gui-agent/blob/team-agent/docs/evidence/team/runs/trial_MarkorCreateNoteAndSms_20261008T222123_918435Z/trajectory.txt" TargetMode="External"/><Relationship Id="rId5" Type="http://schemas.openxmlformats.org/officeDocument/2006/relationships/hyperlink" Target="https://github.com/Chenschenschen/androidworld-gui-agent/blob/team-agent/docs/evidence/team/runs/trial_MarkorCreateNoteAndSms_20261008T222633_440045Z/trajectory.txt" TargetMode="External"/><Relationship Id="rId6" Type="http://schemas.openxmlformats.org/officeDocument/2006/relationships/hyperlink" Target="https://github.com/Chenschenschen/androidworld-gui-agent/blob/team-agent/docs/evidence/team/runs/trial_OsmAndTrack_20261008T223004_312422Z/trajectory.txt" TargetMode="External"/><Relationship Id="rId7" Type="http://schemas.openxmlformats.org/officeDocument/2006/relationships/hyperlink" Target="https://github.com/Chenschenschen/androidworld-gui-agent/blob/team-agent/docs/evidence/team/runs/trial_OsmAndTrack_20261008T224202_113624Z/trajectory.txt" TargetMode="External"/><Relationship Id="rId8" Type="http://schemas.openxmlformats.org/officeDocument/2006/relationships/hyperlink" Target="https://github.com/Chenschenschen/androidworld-gui-agent/blob/team-agent/docs/evidence/team/runs/trial_OsmAndTrack_20261008T225108_345362Z/trajectory.tx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12.png"/><Relationship Id="rId6" Type="http://schemas.microsoft.com/office/2007/relationships/media" Target="../media/media3.mp4"/><Relationship Id="rId7" Type="http://schemas.openxmlformats.org/officeDocument/2006/relationships/video" Target="../media/media3.mp4"/><Relationship Id="rId8"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chart" Target="../charts/char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223760" cy="6858000"/>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0"/>
            <a:ext cx="7223760"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640080"/>
            <a:ext cx="6217920" cy="320040"/>
          </a:xfrm>
          <a:prstGeom prst="rect">
            <a:avLst/>
          </a:prstGeom>
          <a:noFill/>
        </p:spPr>
        <p:txBody>
          <a:bodyPr wrap="square" anchor="t" lIns="73152" rIns="73152">
            <a:spAutoFit/>
          </a:bodyPr>
          <a:lstStyle/>
          <a:p>
            <a:pPr algn="l">
              <a:lnSpc>
                <a:spcPct val="110000"/>
              </a:lnSpc>
            </a:pPr>
            <a:r>
              <a:rPr sz="1300" b="1" i="0">
                <a:solidFill>
                  <a:srgbClr val="64A0C8"/>
                </a:solidFill>
                <a:latin typeface="Arial"/>
              </a:rPr>
              <a:t>AGENTIC AI IN MODERN BUSINESS  ·  PRESENTATION</a:t>
            </a:r>
          </a:p>
        </p:txBody>
      </p:sp>
      <p:sp>
        <p:nvSpPr>
          <p:cNvPr id="6" name="TextBox 5"/>
          <p:cNvSpPr txBox="1"/>
          <p:nvPr/>
        </p:nvSpPr>
        <p:spPr>
          <a:xfrm>
            <a:off x="685800" y="932688"/>
            <a:ext cx="6217920" cy="320040"/>
          </a:xfrm>
          <a:prstGeom prst="rect">
            <a:avLst/>
          </a:prstGeom>
          <a:noFill/>
        </p:spPr>
        <p:txBody>
          <a:bodyPr wrap="square" anchor="t" lIns="73152" rIns="73152">
            <a:spAutoFit/>
          </a:bodyPr>
          <a:lstStyle/>
          <a:p>
            <a:pPr algn="l">
              <a:lnSpc>
                <a:spcPct val="110000"/>
              </a:lnSpc>
            </a:pPr>
            <a:r>
              <a:rPr sz="1300" b="0" i="0">
                <a:solidFill>
                  <a:srgbClr val="B9C4D6"/>
                </a:solidFill>
                <a:latin typeface="Arial"/>
              </a:rPr>
              <a:t>TUM School of Management</a:t>
            </a:r>
          </a:p>
        </p:txBody>
      </p:sp>
      <p:sp>
        <p:nvSpPr>
          <p:cNvPr id="7" name="TextBox 6"/>
          <p:cNvSpPr txBox="1"/>
          <p:nvPr/>
        </p:nvSpPr>
        <p:spPr>
          <a:xfrm>
            <a:off x="685800" y="1463040"/>
            <a:ext cx="6400800" cy="1188720"/>
          </a:xfrm>
          <a:prstGeom prst="rect">
            <a:avLst/>
          </a:prstGeom>
          <a:noFill/>
        </p:spPr>
        <p:txBody>
          <a:bodyPr wrap="square" anchor="t" lIns="73152" rIns="73152">
            <a:spAutoFit/>
          </a:bodyPr>
          <a:lstStyle/>
          <a:p>
            <a:pPr algn="l">
              <a:lnSpc>
                <a:spcPct val="100000"/>
              </a:lnSpc>
            </a:pPr>
            <a:r>
              <a:rPr sz="3400" b="1" i="0">
                <a:solidFill>
                  <a:srgbClr val="FFFFFF"/>
                </a:solidFill>
                <a:latin typeface="Arial"/>
              </a:rPr>
              <a:t>One GUI agent for seven</a:t>
            </a:r>
          </a:p>
          <a:p>
            <a:pPr algn="l">
              <a:lnSpc>
                <a:spcPct val="100000"/>
              </a:lnSpc>
            </a:pPr>
            <a:r>
              <a:rPr sz="3400" b="1" i="0">
                <a:solidFill>
                  <a:srgbClr val="FFFFFF"/>
                </a:solidFill>
                <a:latin typeface="Arial"/>
              </a:rPr>
              <a:t>AndroidWorld tasks</a:t>
            </a:r>
          </a:p>
        </p:txBody>
      </p:sp>
      <p:sp>
        <p:nvSpPr>
          <p:cNvPr id="8" name="TextBox 7"/>
          <p:cNvSpPr txBox="1"/>
          <p:nvPr/>
        </p:nvSpPr>
        <p:spPr>
          <a:xfrm>
            <a:off x="685800" y="2788920"/>
            <a:ext cx="6035040" cy="777240"/>
          </a:xfrm>
          <a:prstGeom prst="rect">
            <a:avLst/>
          </a:prstGeom>
          <a:noFill/>
        </p:spPr>
        <p:txBody>
          <a:bodyPr wrap="square" anchor="t" lIns="73152" rIns="73152">
            <a:spAutoFit/>
          </a:bodyPr>
          <a:lstStyle/>
          <a:p>
            <a:pPr algn="l">
              <a:lnSpc>
                <a:spcPct val="115000"/>
              </a:lnSpc>
            </a:pPr>
            <a:r>
              <a:rPr sz="1600" b="0" i="0">
                <a:solidFill>
                  <a:srgbClr val="B9C4D6"/>
                </a:solidFill>
                <a:latin typeface="Arial"/>
              </a:rPr>
              <a:t>An agent that looks at the phone screen and decides where to tap, evaluated with the official AndroidWorld verifier.</a:t>
            </a:r>
          </a:p>
        </p:txBody>
      </p:sp>
      <p:sp>
        <p:nvSpPr>
          <p:cNvPr id="9" name="Rectangle 8"/>
          <p:cNvSpPr/>
          <p:nvPr/>
        </p:nvSpPr>
        <p:spPr>
          <a:xfrm>
            <a:off x="685800" y="3794760"/>
            <a:ext cx="1005840" cy="54864"/>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251960"/>
            <a:ext cx="3474720" cy="274320"/>
          </a:xfrm>
          <a:prstGeom prst="rect">
            <a:avLst/>
          </a:prstGeom>
          <a:noFill/>
        </p:spPr>
        <p:txBody>
          <a:bodyPr wrap="square" anchor="t" lIns="73152" rIns="73152">
            <a:spAutoFit/>
          </a:bodyPr>
          <a:lstStyle/>
          <a:p>
            <a:pPr algn="l">
              <a:lnSpc>
                <a:spcPct val="110000"/>
              </a:lnSpc>
            </a:pPr>
            <a:r>
              <a:rPr sz="1100" b="1" i="0">
                <a:solidFill>
                  <a:srgbClr val="64A0C8"/>
                </a:solidFill>
                <a:latin typeface="Arial"/>
              </a:rPr>
              <a:t>TEAM MEMBERS</a:t>
            </a:r>
          </a:p>
        </p:txBody>
      </p:sp>
      <p:sp>
        <p:nvSpPr>
          <p:cNvPr id="11" name="TextBox 10"/>
          <p:cNvSpPr txBox="1"/>
          <p:nvPr/>
        </p:nvSpPr>
        <p:spPr>
          <a:xfrm>
            <a:off x="685800" y="4553712"/>
            <a:ext cx="2286000" cy="1737360"/>
          </a:xfrm>
          <a:prstGeom prst="rect">
            <a:avLst/>
          </a:prstGeom>
          <a:noFill/>
        </p:spPr>
        <p:txBody>
          <a:bodyPr wrap="square" anchor="t" lIns="73152" rIns="73152">
            <a:spAutoFit/>
          </a:bodyPr>
          <a:lstStyle/>
          <a:p>
            <a:pPr algn="l">
              <a:lnSpc>
                <a:spcPct val="128000"/>
              </a:lnSpc>
            </a:pPr>
            <a:r>
              <a:rPr sz="1300" b="0" i="0">
                <a:solidFill>
                  <a:srgbClr val="FFFFFF"/>
                </a:solidFill>
                <a:latin typeface="Arial"/>
              </a:rPr>
              <a:t>Danh Phuong Le</a:t>
            </a:r>
          </a:p>
          <a:p>
            <a:pPr algn="l">
              <a:lnSpc>
                <a:spcPct val="128000"/>
              </a:lnSpc>
            </a:pPr>
            <a:r>
              <a:rPr sz="1300" b="0" i="0">
                <a:solidFill>
                  <a:srgbClr val="FFFFFF"/>
                </a:solidFill>
                <a:latin typeface="Arial"/>
              </a:rPr>
              <a:t>Ssu-Cheng Chen</a:t>
            </a:r>
          </a:p>
          <a:p>
            <a:pPr algn="l">
              <a:lnSpc>
                <a:spcPct val="128000"/>
              </a:lnSpc>
            </a:pPr>
            <a:r>
              <a:rPr sz="1300" b="0" i="0">
                <a:solidFill>
                  <a:srgbClr val="FFFFFF"/>
                </a:solidFill>
                <a:latin typeface="Arial"/>
              </a:rPr>
              <a:t>Hayati Ömer Koç</a:t>
            </a:r>
          </a:p>
          <a:p>
            <a:pPr algn="l">
              <a:lnSpc>
                <a:spcPct val="128000"/>
              </a:lnSpc>
            </a:pPr>
            <a:r>
              <a:rPr sz="1300" b="0" i="0">
                <a:solidFill>
                  <a:srgbClr val="FFFFFF"/>
                </a:solidFill>
                <a:latin typeface="Arial"/>
              </a:rPr>
              <a:t>Jia Qi</a:t>
            </a:r>
          </a:p>
          <a:p>
            <a:pPr algn="l">
              <a:lnSpc>
                <a:spcPct val="128000"/>
              </a:lnSpc>
            </a:pPr>
            <a:r>
              <a:rPr sz="1300" b="0" i="0">
                <a:solidFill>
                  <a:srgbClr val="FFFFFF"/>
                </a:solidFill>
                <a:latin typeface="Arial"/>
              </a:rPr>
              <a:t>Tin Nghia Nguyen</a:t>
            </a:r>
          </a:p>
        </p:txBody>
      </p:sp>
      <p:sp>
        <p:nvSpPr>
          <p:cNvPr id="12" name="TextBox 11"/>
          <p:cNvSpPr txBox="1"/>
          <p:nvPr/>
        </p:nvSpPr>
        <p:spPr>
          <a:xfrm>
            <a:off x="2926080" y="4553712"/>
            <a:ext cx="1280160" cy="1737360"/>
          </a:xfrm>
          <a:prstGeom prst="rect">
            <a:avLst/>
          </a:prstGeom>
          <a:noFill/>
        </p:spPr>
        <p:txBody>
          <a:bodyPr wrap="square" anchor="t" lIns="73152" rIns="73152">
            <a:spAutoFit/>
          </a:bodyPr>
          <a:lstStyle/>
          <a:p>
            <a:pPr algn="l">
              <a:lnSpc>
                <a:spcPct val="128000"/>
              </a:lnSpc>
            </a:pPr>
            <a:r>
              <a:rPr sz="1300" b="0" i="0">
                <a:solidFill>
                  <a:srgbClr val="B9C4D6"/>
                </a:solidFill>
                <a:latin typeface="Arial"/>
              </a:rPr>
              <a:t>03824340</a:t>
            </a:r>
          </a:p>
          <a:p>
            <a:pPr algn="l">
              <a:lnSpc>
                <a:spcPct val="128000"/>
              </a:lnSpc>
            </a:pPr>
            <a:r>
              <a:rPr sz="1300" b="0" i="0">
                <a:solidFill>
                  <a:srgbClr val="B9C4D6"/>
                </a:solidFill>
                <a:latin typeface="Arial"/>
              </a:rPr>
              <a:t>03827578</a:t>
            </a:r>
          </a:p>
          <a:p>
            <a:pPr algn="l">
              <a:lnSpc>
                <a:spcPct val="128000"/>
              </a:lnSpc>
            </a:pPr>
            <a:r>
              <a:rPr sz="1300" b="0" i="0">
                <a:solidFill>
                  <a:srgbClr val="B9C4D6"/>
                </a:solidFill>
                <a:latin typeface="Arial"/>
              </a:rPr>
              <a:t>03801613</a:t>
            </a:r>
          </a:p>
          <a:p>
            <a:pPr algn="l">
              <a:lnSpc>
                <a:spcPct val="128000"/>
              </a:lnSpc>
            </a:pPr>
            <a:r>
              <a:rPr sz="1300" b="0" i="0">
                <a:solidFill>
                  <a:srgbClr val="B9C4D6"/>
                </a:solidFill>
                <a:latin typeface="Arial"/>
              </a:rPr>
              <a:t>03812325</a:t>
            </a:r>
          </a:p>
          <a:p>
            <a:pPr algn="l">
              <a:lnSpc>
                <a:spcPct val="128000"/>
              </a:lnSpc>
            </a:pPr>
            <a:r>
              <a:rPr sz="1300" b="0" i="0">
                <a:solidFill>
                  <a:srgbClr val="B9C4D6"/>
                </a:solidFill>
                <a:latin typeface="Arial"/>
              </a:rPr>
              <a:t>03826855</a:t>
            </a:r>
          </a:p>
        </p:txBody>
      </p:sp>
      <p:sp>
        <p:nvSpPr>
          <p:cNvPr id="13" name="TextBox 12"/>
          <p:cNvSpPr txBox="1"/>
          <p:nvPr/>
        </p:nvSpPr>
        <p:spPr>
          <a:xfrm>
            <a:off x="4617720" y="4251960"/>
            <a:ext cx="2377440" cy="274320"/>
          </a:xfrm>
          <a:prstGeom prst="rect">
            <a:avLst/>
          </a:prstGeom>
          <a:noFill/>
        </p:spPr>
        <p:txBody>
          <a:bodyPr wrap="square" anchor="t" lIns="73152" rIns="73152">
            <a:spAutoFit/>
          </a:bodyPr>
          <a:lstStyle/>
          <a:p>
            <a:pPr algn="l">
              <a:lnSpc>
                <a:spcPct val="110000"/>
              </a:lnSpc>
            </a:pPr>
            <a:r>
              <a:rPr sz="1100" b="1" i="0">
                <a:solidFill>
                  <a:srgbClr val="64A0C8"/>
                </a:solidFill>
                <a:latin typeface="Arial"/>
              </a:rPr>
              <a:t>LECTURERS</a:t>
            </a:r>
          </a:p>
        </p:txBody>
      </p:sp>
      <p:sp>
        <p:nvSpPr>
          <p:cNvPr id="14" name="TextBox 13"/>
          <p:cNvSpPr txBox="1"/>
          <p:nvPr/>
        </p:nvSpPr>
        <p:spPr>
          <a:xfrm>
            <a:off x="4617720" y="4553712"/>
            <a:ext cx="2377440" cy="1097280"/>
          </a:xfrm>
          <a:prstGeom prst="rect">
            <a:avLst/>
          </a:prstGeom>
          <a:noFill/>
        </p:spPr>
        <p:txBody>
          <a:bodyPr wrap="square" anchor="t" lIns="73152" rIns="73152">
            <a:spAutoFit/>
          </a:bodyPr>
          <a:lstStyle/>
          <a:p>
            <a:pPr algn="l">
              <a:lnSpc>
                <a:spcPct val="128000"/>
              </a:lnSpc>
            </a:pPr>
            <a:r>
              <a:rPr sz="1300" b="0" i="0">
                <a:solidFill>
                  <a:srgbClr val="FFFFFF"/>
                </a:solidFill>
                <a:latin typeface="Arial"/>
              </a:rPr>
              <a:t>Haoyuan Jiang</a:t>
            </a:r>
          </a:p>
          <a:p>
            <a:pPr algn="l">
              <a:lnSpc>
                <a:spcPct val="128000"/>
              </a:lnSpc>
            </a:pPr>
            <a:r>
              <a:rPr sz="1300" b="0" i="0">
                <a:solidFill>
                  <a:srgbClr val="FFFFFF"/>
                </a:solidFill>
                <a:latin typeface="Arial"/>
              </a:rPr>
              <a:t>Xuerui Zhang</a:t>
            </a:r>
          </a:p>
          <a:p>
            <a:pPr algn="l">
              <a:lnSpc>
                <a:spcPct val="128000"/>
              </a:lnSpc>
            </a:pPr>
            <a:r>
              <a:rPr sz="1300" b="0" i="0">
                <a:solidFill>
                  <a:srgbClr val="FFFFFF"/>
                </a:solidFill>
                <a:latin typeface="Arial"/>
              </a:rPr>
              <a:t>Zhenyu Wang</a:t>
            </a:r>
          </a:p>
        </p:txBody>
      </p:sp>
      <p:pic>
        <p:nvPicPr>
          <p:cNvPr id="15" name="Picture 14" descr="traj_6.png"/>
          <p:cNvPicPr>
            <a:picLocks noChangeAspect="1"/>
          </p:cNvPicPr>
          <p:nvPr/>
        </p:nvPicPr>
        <p:blipFill>
          <a:blip r:embed="rId3"/>
          <a:srcRect t="8000"/>
          <a:stretch>
            <a:fillRect/>
          </a:stretch>
        </p:blipFill>
        <p:spPr>
          <a:xfrm rot="21120000">
            <a:off x="7406640" y="1325880"/>
            <a:ext cx="2016252" cy="4122115"/>
          </a:xfrm>
          <a:prstGeom prst="roundRect">
            <a:avLst/>
          </a:prstGeom>
          <a:ln w="76200">
            <a:solidFill>
              <a:srgbClr val="1B1F2A"/>
            </a:solidFill>
          </a:ln>
        </p:spPr>
      </p:pic>
      <p:pic>
        <p:nvPicPr>
          <p:cNvPr id="16" name="Picture 15" descr="traj_3.png"/>
          <p:cNvPicPr>
            <a:picLocks noChangeAspect="1"/>
          </p:cNvPicPr>
          <p:nvPr/>
        </p:nvPicPr>
        <p:blipFill>
          <a:blip r:embed="rId4"/>
          <a:srcRect t="8000"/>
          <a:stretch>
            <a:fillRect/>
          </a:stretch>
        </p:blipFill>
        <p:spPr>
          <a:xfrm rot="480000">
            <a:off x="9601200" y="1325880"/>
            <a:ext cx="2016252" cy="4122115"/>
          </a:xfrm>
          <a:prstGeom prst="roundRect">
            <a:avLst/>
          </a:prstGeom>
          <a:ln w="76200">
            <a:solidFill>
              <a:srgbClr val="1B1F2A"/>
            </a:solidFill>
          </a:ln>
        </p:spPr>
      </p:pic>
      <p:pic>
        <p:nvPicPr>
          <p:cNvPr id="17" name="Picture 16" descr="osmand_pass_4.png"/>
          <p:cNvPicPr>
            <a:picLocks noChangeAspect="1"/>
          </p:cNvPicPr>
          <p:nvPr/>
        </p:nvPicPr>
        <p:blipFill>
          <a:blip r:embed="rId5"/>
          <a:srcRect t="8000"/>
          <a:stretch>
            <a:fillRect/>
          </a:stretch>
        </p:blipFill>
        <p:spPr>
          <a:xfrm>
            <a:off x="8366760" y="777240"/>
            <a:ext cx="2366010" cy="4837176"/>
          </a:xfrm>
          <a:prstGeom prst="roundRect">
            <a:avLst/>
          </a:prstGeom>
          <a:ln w="76200">
            <a:solidFill>
              <a:srgbClr val="1B1F2A"/>
            </a:solidFill>
          </a:ln>
        </p:spPr>
      </p:pic>
      <p:sp>
        <p:nvSpPr>
          <p:cNvPr id="18" name="TextBox 17"/>
          <p:cNvSpPr txBox="1"/>
          <p:nvPr/>
        </p:nvSpPr>
        <p:spPr>
          <a:xfrm>
            <a:off x="7223760" y="6172200"/>
            <a:ext cx="4965192" cy="320040"/>
          </a:xfrm>
          <a:prstGeom prst="rect">
            <a:avLst/>
          </a:prstGeom>
          <a:noFill/>
        </p:spPr>
        <p:txBody>
          <a:bodyPr wrap="square" anchor="t" lIns="73152" rIns="73152">
            <a:spAutoFit/>
          </a:bodyPr>
          <a:lstStyle/>
          <a:p>
            <a:pPr algn="ctr">
              <a:lnSpc>
                <a:spcPct val="110000"/>
              </a:lnSpc>
            </a:pPr>
            <a:r>
              <a:rPr sz="1100" b="0" i="0">
                <a:solidFill>
                  <a:srgbClr val="5E6773"/>
                </a:solidFill>
                <a:latin typeface="Arial"/>
              </a:rPr>
              <a:t>Real screens from our evaluation runs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AT A GLANCE</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One agent, seven tasks: 18 of 21 runs passed the official check</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a:t>
            </a:r>
          </a:p>
        </p:txBody>
      </p:sp>
      <p:sp>
        <p:nvSpPr>
          <p:cNvPr id="9" name="Rectangle 8"/>
          <p:cNvSpPr/>
          <p:nvPr/>
        </p:nvSpPr>
        <p:spPr>
          <a:xfrm>
            <a:off x="640080" y="1463040"/>
            <a:ext cx="2606040" cy="1874519"/>
          </a:xfrm>
          <a:prstGeom prst="rect">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1463040"/>
            <a:ext cx="2606040" cy="6400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1691640"/>
            <a:ext cx="2331720" cy="685800"/>
          </a:xfrm>
          <a:prstGeom prst="rect">
            <a:avLst/>
          </a:prstGeom>
          <a:noFill/>
        </p:spPr>
        <p:txBody>
          <a:bodyPr wrap="square" anchor="t" lIns="73152" rIns="73152">
            <a:spAutoFit/>
          </a:bodyPr>
          <a:lstStyle/>
          <a:p>
            <a:pPr algn="l">
              <a:lnSpc>
                <a:spcPct val="110000"/>
              </a:lnSpc>
            </a:pPr>
            <a:r>
              <a:rPr sz="4400" b="1" i="0">
                <a:solidFill>
                  <a:srgbClr val="0065BD"/>
                </a:solidFill>
                <a:latin typeface="Arial"/>
              </a:rPr>
              <a:t>18 / 21</a:t>
            </a:r>
          </a:p>
        </p:txBody>
      </p:sp>
      <p:sp>
        <p:nvSpPr>
          <p:cNvPr id="12" name="TextBox 11"/>
          <p:cNvSpPr txBox="1"/>
          <p:nvPr/>
        </p:nvSpPr>
        <p:spPr>
          <a:xfrm>
            <a:off x="822959" y="2404872"/>
            <a:ext cx="233172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runs passed the official</a:t>
            </a:r>
          </a:p>
          <a:p>
            <a:pPr algn="l">
              <a:lnSpc>
                <a:spcPct val="110000"/>
              </a:lnSpc>
            </a:pPr>
            <a:r>
              <a:rPr sz="1400" b="0" i="0">
                <a:solidFill>
                  <a:srgbClr val="5E6773"/>
                </a:solidFill>
                <a:latin typeface="Arial"/>
              </a:rPr>
              <a:t>AndroidWorld verifier</a:t>
            </a:r>
          </a:p>
        </p:txBody>
      </p:sp>
      <p:sp>
        <p:nvSpPr>
          <p:cNvPr id="13" name="Rectangle 12"/>
          <p:cNvSpPr/>
          <p:nvPr/>
        </p:nvSpPr>
        <p:spPr>
          <a:xfrm>
            <a:off x="3401568" y="1463040"/>
            <a:ext cx="2606040" cy="1874519"/>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401568" y="1463040"/>
            <a:ext cx="2606040" cy="6400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1691640"/>
            <a:ext cx="2331720" cy="685800"/>
          </a:xfrm>
          <a:prstGeom prst="rect">
            <a:avLst/>
          </a:prstGeom>
          <a:noFill/>
        </p:spPr>
        <p:txBody>
          <a:bodyPr wrap="square" anchor="t" lIns="73152" rIns="73152">
            <a:spAutoFit/>
          </a:bodyPr>
          <a:lstStyle/>
          <a:p>
            <a:pPr algn="l">
              <a:lnSpc>
                <a:spcPct val="110000"/>
              </a:lnSpc>
            </a:pPr>
            <a:r>
              <a:rPr sz="3800" b="1" i="0">
                <a:solidFill>
                  <a:srgbClr val="0065BD"/>
                </a:solidFill>
                <a:latin typeface="Arial"/>
              </a:rPr>
              <a:t>7 tasks</a:t>
            </a:r>
          </a:p>
        </p:txBody>
      </p:sp>
      <p:sp>
        <p:nvSpPr>
          <p:cNvPr id="16" name="TextBox 15"/>
          <p:cNvSpPr txBox="1"/>
          <p:nvPr/>
        </p:nvSpPr>
        <p:spPr>
          <a:xfrm>
            <a:off x="3584448" y="2404872"/>
            <a:ext cx="233172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covering easy, medium</a:t>
            </a:r>
          </a:p>
          <a:p>
            <a:pPr algn="l">
              <a:lnSpc>
                <a:spcPct val="110000"/>
              </a:lnSpc>
            </a:pPr>
            <a:r>
              <a:rPr sz="1400" b="0" i="0">
                <a:solidFill>
                  <a:srgbClr val="5E6773"/>
                </a:solidFill>
                <a:latin typeface="Arial"/>
              </a:rPr>
              <a:t>and hard (D1 task list)</a:t>
            </a:r>
          </a:p>
        </p:txBody>
      </p:sp>
      <p:sp>
        <p:nvSpPr>
          <p:cNvPr id="17" name="Rectangle 16"/>
          <p:cNvSpPr/>
          <p:nvPr/>
        </p:nvSpPr>
        <p:spPr>
          <a:xfrm>
            <a:off x="6163056" y="1463040"/>
            <a:ext cx="2606040" cy="1874519"/>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163056" y="1463040"/>
            <a:ext cx="2606040" cy="6400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45936" y="1691640"/>
            <a:ext cx="2331720" cy="685800"/>
          </a:xfrm>
          <a:prstGeom prst="rect">
            <a:avLst/>
          </a:prstGeom>
          <a:noFill/>
        </p:spPr>
        <p:txBody>
          <a:bodyPr wrap="square" anchor="t" lIns="73152" rIns="73152">
            <a:spAutoFit/>
          </a:bodyPr>
          <a:lstStyle/>
          <a:p>
            <a:pPr algn="l">
              <a:lnSpc>
                <a:spcPct val="110000"/>
              </a:lnSpc>
            </a:pPr>
            <a:r>
              <a:rPr sz="3800" b="1" i="0">
                <a:solidFill>
                  <a:srgbClr val="0065BD"/>
                </a:solidFill>
                <a:latin typeface="Arial"/>
              </a:rPr>
              <a:t>~300</a:t>
            </a:r>
          </a:p>
        </p:txBody>
      </p:sp>
      <p:sp>
        <p:nvSpPr>
          <p:cNvPr id="20" name="TextBox 19"/>
          <p:cNvSpPr txBox="1"/>
          <p:nvPr/>
        </p:nvSpPr>
        <p:spPr>
          <a:xfrm>
            <a:off x="6345936" y="2404872"/>
            <a:ext cx="233172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recorded runs across</a:t>
            </a:r>
          </a:p>
          <a:p>
            <a:pPr algn="l">
              <a:lnSpc>
                <a:spcPct val="110000"/>
              </a:lnSpc>
            </a:pPr>
            <a:r>
              <a:rPr sz="1400" b="0" i="0">
                <a:solidFill>
                  <a:srgbClr val="5E6773"/>
                </a:solidFill>
                <a:latin typeface="Arial"/>
              </a:rPr>
              <a:t>the whole project</a:t>
            </a:r>
          </a:p>
        </p:txBody>
      </p:sp>
      <p:sp>
        <p:nvSpPr>
          <p:cNvPr id="21" name="Rectangle 20"/>
          <p:cNvSpPr/>
          <p:nvPr/>
        </p:nvSpPr>
        <p:spPr>
          <a:xfrm>
            <a:off x="8924544" y="1463040"/>
            <a:ext cx="2606040" cy="1874519"/>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924544" y="1463040"/>
            <a:ext cx="2606040" cy="6400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07424" y="1691640"/>
            <a:ext cx="2331720" cy="685800"/>
          </a:xfrm>
          <a:prstGeom prst="rect">
            <a:avLst/>
          </a:prstGeom>
          <a:noFill/>
        </p:spPr>
        <p:txBody>
          <a:bodyPr wrap="square" anchor="t" lIns="73152" rIns="73152">
            <a:spAutoFit/>
          </a:bodyPr>
          <a:lstStyle/>
          <a:p>
            <a:pPr algn="l">
              <a:lnSpc>
                <a:spcPct val="110000"/>
              </a:lnSpc>
            </a:pPr>
            <a:r>
              <a:rPr sz="3800" b="1" i="0">
                <a:solidFill>
                  <a:srgbClr val="0065BD"/>
                </a:solidFill>
                <a:latin typeface="Arial"/>
              </a:rPr>
              <a:t>65</a:t>
            </a:r>
          </a:p>
        </p:txBody>
      </p:sp>
      <p:sp>
        <p:nvSpPr>
          <p:cNvPr id="24" name="TextBox 23"/>
          <p:cNvSpPr txBox="1"/>
          <p:nvPr/>
        </p:nvSpPr>
        <p:spPr>
          <a:xfrm>
            <a:off x="9107424" y="2404872"/>
            <a:ext cx="233172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agent versions, each</a:t>
            </a:r>
          </a:p>
          <a:p>
            <a:pPr algn="l">
              <a:lnSpc>
                <a:spcPct val="110000"/>
              </a:lnSpc>
            </a:pPr>
            <a:r>
              <a:rPr sz="1400" b="0" i="0">
                <a:solidFill>
                  <a:srgbClr val="5E6773"/>
                </a:solidFill>
                <a:latin typeface="Arial"/>
              </a:rPr>
              <a:t>change tested and logged</a:t>
            </a:r>
          </a:p>
        </p:txBody>
      </p:sp>
      <p:sp>
        <p:nvSpPr>
          <p:cNvPr id="25" name="Rectangle 24"/>
          <p:cNvSpPr/>
          <p:nvPr/>
        </p:nvSpPr>
        <p:spPr>
          <a:xfrm>
            <a:off x="640080" y="3657600"/>
            <a:ext cx="3474720" cy="23317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40080" y="3657600"/>
            <a:ext cx="54864" cy="23317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04671" y="3749039"/>
            <a:ext cx="3218687" cy="365760"/>
          </a:xfrm>
          <a:prstGeom prst="rect">
            <a:avLst/>
          </a:prstGeom>
          <a:noFill/>
        </p:spPr>
        <p:txBody>
          <a:bodyPr wrap="square" anchor="t" lIns="73152" rIns="73152">
            <a:spAutoFit/>
          </a:bodyPr>
          <a:lstStyle/>
          <a:p>
            <a:pPr algn="l">
              <a:lnSpc>
                <a:spcPct val="110000"/>
              </a:lnSpc>
            </a:pPr>
            <a:r>
              <a:rPr sz="1800" b="1" i="0">
                <a:solidFill>
                  <a:srgbClr val="072140"/>
                </a:solidFill>
                <a:latin typeface="Arial"/>
              </a:rPr>
              <a:t>Rigorous</a:t>
            </a:r>
          </a:p>
        </p:txBody>
      </p:sp>
      <p:sp>
        <p:nvSpPr>
          <p:cNvPr id="28" name="TextBox 27"/>
          <p:cNvSpPr txBox="1"/>
          <p:nvPr/>
        </p:nvSpPr>
        <p:spPr>
          <a:xfrm>
            <a:off x="804671" y="4160520"/>
            <a:ext cx="3200400" cy="1783079"/>
          </a:xfrm>
          <a:prstGeom prst="rect">
            <a:avLst/>
          </a:prstGeom>
          <a:noFill/>
        </p:spPr>
        <p:txBody>
          <a:bodyPr wrap="square">
            <a:spAutoFit/>
          </a:bodyPr>
          <a:lstStyle/>
          <a:p>
            <a:pPr>
              <a:lnSpc>
                <a:spcPct val="108000"/>
              </a:lnSpc>
              <a:spcAft>
                <a:spcPts val="300"/>
              </a:spcAft>
            </a:pPr>
            <a:r>
              <a:rPr sz="1600">
                <a:solidFill>
                  <a:srgbClr val="0065BD"/>
                </a:solidFill>
                <a:latin typeface="Arial"/>
              </a:rPr>
              <a:t>▪  </a:t>
            </a:r>
            <a:r>
              <a:rPr sz="1600" b="0">
                <a:solidFill>
                  <a:srgbClr val="222A35"/>
                </a:solidFill>
                <a:latin typeface="Arial"/>
              </a:rPr>
              <a:t>One frozen version for all 21 runs</a:t>
            </a:r>
          </a:p>
          <a:p>
            <a:pPr>
              <a:lnSpc>
                <a:spcPct val="108000"/>
              </a:lnSpc>
              <a:spcAft>
                <a:spcPts val="300"/>
              </a:spcAft>
            </a:pPr>
            <a:r>
              <a:rPr sz="1600">
                <a:solidFill>
                  <a:srgbClr val="0065BD"/>
                </a:solidFill>
                <a:latin typeface="Arial"/>
              </a:rPr>
              <a:t>▪  </a:t>
            </a:r>
            <a:r>
              <a:rPr sz="1600" b="0">
                <a:solidFill>
                  <a:srgbClr val="222A35"/>
                </a:solidFill>
                <a:latin typeface="Arial"/>
              </a:rPr>
              <a:t>Every run screen-recorded</a:t>
            </a:r>
          </a:p>
          <a:p>
            <a:pPr>
              <a:lnSpc>
                <a:spcPct val="108000"/>
              </a:lnSpc>
              <a:spcAft>
                <a:spcPts val="300"/>
              </a:spcAft>
            </a:pPr>
            <a:r>
              <a:rPr sz="1600">
                <a:solidFill>
                  <a:srgbClr val="0065BD"/>
                </a:solidFill>
                <a:latin typeface="Arial"/>
              </a:rPr>
              <a:t>▪  </a:t>
            </a:r>
            <a:r>
              <a:rPr sz="1600" b="0">
                <a:solidFill>
                  <a:srgbClr val="222A35"/>
                </a:solidFill>
                <a:latin typeface="Arial"/>
              </a:rPr>
              <a:t>Official checker decides success</a:t>
            </a:r>
          </a:p>
        </p:txBody>
      </p:sp>
      <p:sp>
        <p:nvSpPr>
          <p:cNvPr id="29" name="Rectangle 28"/>
          <p:cNvSpPr/>
          <p:nvPr/>
        </p:nvSpPr>
        <p:spPr>
          <a:xfrm>
            <a:off x="4343400" y="3657600"/>
            <a:ext cx="3474720" cy="23317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343400" y="3657600"/>
            <a:ext cx="54864" cy="23317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07992" y="3749039"/>
            <a:ext cx="3218687" cy="365760"/>
          </a:xfrm>
          <a:prstGeom prst="rect">
            <a:avLst/>
          </a:prstGeom>
          <a:noFill/>
        </p:spPr>
        <p:txBody>
          <a:bodyPr wrap="square" anchor="t" lIns="73152" rIns="73152">
            <a:spAutoFit/>
          </a:bodyPr>
          <a:lstStyle/>
          <a:p>
            <a:pPr algn="l">
              <a:lnSpc>
                <a:spcPct val="110000"/>
              </a:lnSpc>
            </a:pPr>
            <a:r>
              <a:rPr sz="1800" b="1" i="0">
                <a:solidFill>
                  <a:srgbClr val="072140"/>
                </a:solidFill>
                <a:latin typeface="Arial"/>
              </a:rPr>
              <a:t>Cheap and fast</a:t>
            </a:r>
          </a:p>
        </p:txBody>
      </p:sp>
      <p:sp>
        <p:nvSpPr>
          <p:cNvPr id="32" name="TextBox 31"/>
          <p:cNvSpPr txBox="1"/>
          <p:nvPr/>
        </p:nvSpPr>
        <p:spPr>
          <a:xfrm>
            <a:off x="4507992" y="4160520"/>
            <a:ext cx="3200400" cy="1783079"/>
          </a:xfrm>
          <a:prstGeom prst="rect">
            <a:avLst/>
          </a:prstGeom>
          <a:noFill/>
        </p:spPr>
        <p:txBody>
          <a:bodyPr wrap="square">
            <a:spAutoFit/>
          </a:bodyPr>
          <a:lstStyle/>
          <a:p>
            <a:pPr>
              <a:lnSpc>
                <a:spcPct val="108000"/>
              </a:lnSpc>
              <a:spcAft>
                <a:spcPts val="300"/>
              </a:spcAft>
            </a:pPr>
            <a:r>
              <a:rPr sz="1600">
                <a:solidFill>
                  <a:srgbClr val="0065BD"/>
                </a:solidFill>
                <a:latin typeface="Arial"/>
              </a:rPr>
              <a:t>▪  </a:t>
            </a:r>
            <a:r>
              <a:rPr sz="1600" b="0">
                <a:solidFill>
                  <a:srgbClr val="222A35"/>
                </a:solidFill>
                <a:latin typeface="Arial"/>
              </a:rPr>
              <a:t>About 0.065 € model cost for 21 runs</a:t>
            </a:r>
          </a:p>
          <a:p>
            <a:pPr>
              <a:lnSpc>
                <a:spcPct val="108000"/>
              </a:lnSpc>
              <a:spcAft>
                <a:spcPts val="300"/>
              </a:spcAft>
            </a:pPr>
            <a:r>
              <a:rPr sz="1600">
                <a:solidFill>
                  <a:srgbClr val="0065BD"/>
                </a:solidFill>
                <a:latin typeface="Arial"/>
              </a:rPr>
              <a:t>▪  </a:t>
            </a:r>
            <a:r>
              <a:rPr sz="1600" b="0">
                <a:solidFill>
                  <a:srgbClr val="222A35"/>
                </a:solidFill>
                <a:latin typeface="Arial"/>
              </a:rPr>
              <a:t>1.77 s median per model call</a:t>
            </a:r>
          </a:p>
          <a:p>
            <a:pPr>
              <a:lnSpc>
                <a:spcPct val="108000"/>
              </a:lnSpc>
              <a:spcAft>
                <a:spcPts val="300"/>
              </a:spcAft>
            </a:pPr>
            <a:r>
              <a:rPr sz="1600">
                <a:solidFill>
                  <a:srgbClr val="0065BD"/>
                </a:solidFill>
                <a:latin typeface="Arial"/>
              </a:rPr>
              <a:t>▪  </a:t>
            </a:r>
            <a:r>
              <a:rPr sz="1600" b="0">
                <a:solidFill>
                  <a:srgbClr val="222A35"/>
                </a:solidFill>
                <a:latin typeface="Arial"/>
              </a:rPr>
              <a:t>Hosted model, laptop without GPU</a:t>
            </a:r>
          </a:p>
        </p:txBody>
      </p:sp>
      <p:sp>
        <p:nvSpPr>
          <p:cNvPr id="33" name="Rectangle 32"/>
          <p:cNvSpPr/>
          <p:nvPr/>
        </p:nvSpPr>
        <p:spPr>
          <a:xfrm>
            <a:off x="8046720" y="3657600"/>
            <a:ext cx="3474720" cy="23317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46720" y="3657600"/>
            <a:ext cx="54864" cy="233172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11312" y="3749039"/>
            <a:ext cx="3218687" cy="365760"/>
          </a:xfrm>
          <a:prstGeom prst="rect">
            <a:avLst/>
          </a:prstGeom>
          <a:noFill/>
        </p:spPr>
        <p:txBody>
          <a:bodyPr wrap="square" anchor="t" lIns="73152" rIns="73152">
            <a:spAutoFit/>
          </a:bodyPr>
          <a:lstStyle/>
          <a:p>
            <a:pPr algn="l">
              <a:lnSpc>
                <a:spcPct val="110000"/>
              </a:lnSpc>
            </a:pPr>
            <a:r>
              <a:rPr sz="1800" b="1" i="0">
                <a:solidFill>
                  <a:srgbClr val="072140"/>
                </a:solidFill>
                <a:latin typeface="Arial"/>
              </a:rPr>
              <a:t>Honest</a:t>
            </a:r>
          </a:p>
        </p:txBody>
      </p:sp>
      <p:sp>
        <p:nvSpPr>
          <p:cNvPr id="36" name="TextBox 35"/>
          <p:cNvSpPr txBox="1"/>
          <p:nvPr/>
        </p:nvSpPr>
        <p:spPr>
          <a:xfrm>
            <a:off x="8211312" y="4160520"/>
            <a:ext cx="3200400" cy="1783079"/>
          </a:xfrm>
          <a:prstGeom prst="rect">
            <a:avLst/>
          </a:prstGeom>
          <a:noFill/>
        </p:spPr>
        <p:txBody>
          <a:bodyPr wrap="square">
            <a:spAutoFit/>
          </a:bodyPr>
          <a:lstStyle/>
          <a:p>
            <a:pPr>
              <a:lnSpc>
                <a:spcPct val="108000"/>
              </a:lnSpc>
              <a:spcAft>
                <a:spcPts val="300"/>
              </a:spcAft>
            </a:pPr>
            <a:r>
              <a:rPr sz="1600">
                <a:solidFill>
                  <a:srgbClr val="0065BD"/>
                </a:solidFill>
                <a:latin typeface="Arial"/>
              </a:rPr>
              <a:t>▪  </a:t>
            </a:r>
            <a:r>
              <a:rPr sz="1600" b="0">
                <a:solidFill>
                  <a:srgbClr val="222A35"/>
                </a:solidFill>
                <a:latin typeface="Arial"/>
              </a:rPr>
              <a:t>Failures kept, analysed, not rerun</a:t>
            </a:r>
          </a:p>
          <a:p>
            <a:pPr>
              <a:lnSpc>
                <a:spcPct val="108000"/>
              </a:lnSpc>
              <a:spcAft>
                <a:spcPts val="300"/>
              </a:spcAft>
            </a:pPr>
            <a:r>
              <a:rPr sz="1600">
                <a:solidFill>
                  <a:srgbClr val="0065BD"/>
                </a:solidFill>
                <a:latin typeface="Arial"/>
              </a:rPr>
              <a:t>▪  </a:t>
            </a:r>
            <a:r>
              <a:rPr sz="1600" b="0">
                <a:solidFill>
                  <a:srgbClr val="222A35"/>
                </a:solidFill>
                <a:latin typeface="Arial"/>
              </a:rPr>
              <a:t>Fixes tested on other task seeds</a:t>
            </a:r>
          </a:p>
          <a:p>
            <a:pPr>
              <a:lnSpc>
                <a:spcPct val="108000"/>
              </a:lnSpc>
              <a:spcAft>
                <a:spcPts val="300"/>
              </a:spcAft>
            </a:pPr>
            <a:r>
              <a:rPr sz="1600">
                <a:solidFill>
                  <a:srgbClr val="0065BD"/>
                </a:solidFill>
                <a:latin typeface="Arial"/>
              </a:rPr>
              <a:t>▪  </a:t>
            </a:r>
            <a:r>
              <a:rPr sz="1600" b="0">
                <a:solidFill>
                  <a:srgbClr val="222A35"/>
                </a:solidFill>
                <a:latin typeface="Arial"/>
              </a:rPr>
              <a:t>Extra inputs disclosed per task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USE CASE</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A phone assistant that uses apps the way a person does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3</a:t>
            </a:r>
          </a:p>
        </p:txBody>
      </p:sp>
      <p:sp>
        <p:nvSpPr>
          <p:cNvPr id="9" name="Rectangle 8"/>
          <p:cNvSpPr/>
          <p:nvPr/>
        </p:nvSpPr>
        <p:spPr>
          <a:xfrm>
            <a:off x="640080" y="1508760"/>
            <a:ext cx="3566160" cy="14173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1508760"/>
            <a:ext cx="54864" cy="14173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 y="1600200"/>
            <a:ext cx="331012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Who it helps</a:t>
            </a:r>
          </a:p>
        </p:txBody>
      </p:sp>
      <p:sp>
        <p:nvSpPr>
          <p:cNvPr id="12" name="TextBox 11"/>
          <p:cNvSpPr txBox="1"/>
          <p:nvPr/>
        </p:nvSpPr>
        <p:spPr>
          <a:xfrm>
            <a:off x="804671" y="2011680"/>
            <a:ext cx="3291840" cy="86868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People who find phones hard to use, busy users with repeated tasks, teams that test apps.</a:t>
            </a:r>
          </a:p>
        </p:txBody>
      </p:sp>
      <p:sp>
        <p:nvSpPr>
          <p:cNvPr id="13" name="Rectangle 12"/>
          <p:cNvSpPr/>
          <p:nvPr/>
        </p:nvSpPr>
        <p:spPr>
          <a:xfrm>
            <a:off x="640080" y="3108960"/>
            <a:ext cx="3566160" cy="14173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40080" y="3108960"/>
            <a:ext cx="54864" cy="14173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4671" y="3200400"/>
            <a:ext cx="331012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What it needs</a:t>
            </a:r>
          </a:p>
        </p:txBody>
      </p:sp>
      <p:sp>
        <p:nvSpPr>
          <p:cNvPr id="16" name="TextBox 15"/>
          <p:cNvSpPr txBox="1"/>
          <p:nvPr/>
        </p:nvSpPr>
        <p:spPr>
          <a:xfrm>
            <a:off x="804671" y="3611880"/>
            <a:ext cx="3291840" cy="86868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Only the screen: no special app interface. It reads, taps, types and swipes like a person.</a:t>
            </a:r>
          </a:p>
        </p:txBody>
      </p:sp>
      <p:sp>
        <p:nvSpPr>
          <p:cNvPr id="17" name="Rectangle 16"/>
          <p:cNvSpPr/>
          <p:nvPr/>
        </p:nvSpPr>
        <p:spPr>
          <a:xfrm>
            <a:off x="640080" y="4709160"/>
            <a:ext cx="3566160" cy="14173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40080" y="4709160"/>
            <a:ext cx="54864" cy="14173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04671" y="4800600"/>
            <a:ext cx="331012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What it is told</a:t>
            </a:r>
          </a:p>
        </p:txBody>
      </p:sp>
      <p:sp>
        <p:nvSpPr>
          <p:cNvPr id="20" name="TextBox 19"/>
          <p:cNvSpPr txBox="1"/>
          <p:nvPr/>
        </p:nvSpPr>
        <p:spPr>
          <a:xfrm>
            <a:off x="804671" y="5212080"/>
            <a:ext cx="3291840" cy="86868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One sentence in plain English, for example: “Create a note named … and share its content via SMS.”</a:t>
            </a:r>
          </a:p>
        </p:txBody>
      </p:sp>
      <p:pic>
        <p:nvPicPr>
          <p:cNvPr id="21" name="Picture 20" descr="traj_1.png"/>
          <p:cNvPicPr>
            <a:picLocks noChangeAspect="1"/>
          </p:cNvPicPr>
          <p:nvPr/>
        </p:nvPicPr>
        <p:blipFill>
          <a:blip r:embed="rId3"/>
          <a:srcRect t="8000"/>
          <a:stretch>
            <a:fillRect/>
          </a:stretch>
        </p:blipFill>
        <p:spPr>
          <a:xfrm>
            <a:off x="4572000" y="1508760"/>
            <a:ext cx="2077974" cy="4248302"/>
          </a:xfrm>
          <a:prstGeom prst="roundRect">
            <a:avLst/>
          </a:prstGeom>
          <a:ln w="44450">
            <a:solidFill>
              <a:srgbClr val="1B1F2A"/>
            </a:solidFill>
          </a:ln>
        </p:spPr>
      </p:pic>
      <p:pic>
        <p:nvPicPr>
          <p:cNvPr id="22" name="Picture 21" descr="traj_3.png"/>
          <p:cNvPicPr>
            <a:picLocks noChangeAspect="1"/>
          </p:cNvPicPr>
          <p:nvPr/>
        </p:nvPicPr>
        <p:blipFill>
          <a:blip r:embed="rId4"/>
          <a:srcRect t="8000"/>
          <a:stretch>
            <a:fillRect/>
          </a:stretch>
        </p:blipFill>
        <p:spPr>
          <a:xfrm>
            <a:off x="6995160" y="1508760"/>
            <a:ext cx="2077974" cy="4248302"/>
          </a:xfrm>
          <a:prstGeom prst="roundRect">
            <a:avLst/>
          </a:prstGeom>
          <a:ln w="44450">
            <a:solidFill>
              <a:srgbClr val="1B1F2A"/>
            </a:solidFill>
          </a:ln>
        </p:spPr>
      </p:pic>
      <p:pic>
        <p:nvPicPr>
          <p:cNvPr id="23" name="Picture 22" descr="traj_6.png"/>
          <p:cNvPicPr>
            <a:picLocks noChangeAspect="1"/>
          </p:cNvPicPr>
          <p:nvPr/>
        </p:nvPicPr>
        <p:blipFill>
          <a:blip r:embed="rId5"/>
          <a:srcRect t="8000"/>
          <a:stretch>
            <a:fillRect/>
          </a:stretch>
        </p:blipFill>
        <p:spPr>
          <a:xfrm>
            <a:off x="9418320" y="1508760"/>
            <a:ext cx="2077974" cy="4248302"/>
          </a:xfrm>
          <a:prstGeom prst="roundRect">
            <a:avLst/>
          </a:prstGeom>
          <a:ln w="44450">
            <a:solidFill>
              <a:srgbClr val="1B1F2A"/>
            </a:solidFill>
          </a:ln>
        </p:spPr>
      </p:pic>
      <p:sp>
        <p:nvSpPr>
          <p:cNvPr id="24" name="TextBox 23"/>
          <p:cNvSpPr txBox="1"/>
          <p:nvPr/>
        </p:nvSpPr>
        <p:spPr>
          <a:xfrm>
            <a:off x="4572000" y="6144768"/>
            <a:ext cx="6949440" cy="274320"/>
          </a:xfrm>
          <a:prstGeom prst="rect">
            <a:avLst/>
          </a:prstGeom>
          <a:noFill/>
        </p:spPr>
        <p:txBody>
          <a:bodyPr wrap="square" anchor="t" lIns="73152" rIns="73152">
            <a:spAutoFit/>
          </a:bodyPr>
          <a:lstStyle/>
          <a:p>
            <a:pPr algn="l">
              <a:lnSpc>
                <a:spcPct val="110000"/>
              </a:lnSpc>
            </a:pPr>
            <a:r>
              <a:rPr sz="1100" b="0" i="0">
                <a:solidFill>
                  <a:srgbClr val="5E6773"/>
                </a:solidFill>
                <a:latin typeface="Arial"/>
              </a:rPr>
              <a:t>One of our runs: a note created in Markor, then sent as an SMS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TASKS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Seven tasks from all three difficulty rows of the course list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4</a:t>
            </a:r>
          </a:p>
        </p:txBody>
      </p:sp>
      <p:graphicFrame>
        <p:nvGraphicFramePr>
          <p:cNvPr id="9" name="Table 8"/>
          <p:cNvGraphicFramePr>
            <a:graphicFrameLocks noGrp="1"/>
          </p:cNvGraphicFramePr>
          <p:nvPr/>
        </p:nvGraphicFramePr>
        <p:xfrm>
          <a:off x="640080" y="1554480"/>
          <a:ext cx="10881360" cy="4023360"/>
        </p:xfrm>
        <a:graphic>
          <a:graphicData uri="http://schemas.openxmlformats.org/drawingml/2006/table">
            <a:tbl>
              <a:tblPr firstRow="1" bandRow="1">
                <a:tableStyleId>{5C22544A-7EE6-4342-B048-85BDC9FD1C3A}</a:tableStyleId>
              </a:tblPr>
              <a:tblGrid>
                <a:gridCol w="1371600"/>
                <a:gridCol w="2743200"/>
                <a:gridCol w="5394960"/>
                <a:gridCol w="1371600"/>
              </a:tblGrid>
              <a:tr h="502920">
                <a:tc>
                  <a:txBody>
                    <a:bodyPr wrap="square"/>
                    <a:lstStyle/>
                    <a:p>
                      <a:r>
                        <a:rPr sz="1400" b="1">
                          <a:solidFill>
                            <a:srgbClr val="FFFFFF"/>
                          </a:solidFill>
                          <a:latin typeface="Arial"/>
                        </a:rPr>
                        <a:t>Row</a:t>
                      </a:r>
                    </a:p>
                  </a:txBody>
                  <a:tcPr marL="54864" marR="54864" marT="27432" marB="27432" anchor="ctr">
                    <a:solidFill>
                      <a:srgbClr val="072140"/>
                    </a:solidFill>
                  </a:tcPr>
                </a:tc>
                <a:tc>
                  <a:txBody>
                    <a:bodyPr wrap="square"/>
                    <a:lstStyle/>
                    <a:p>
                      <a:r>
                        <a:rPr sz="1400" b="1">
                          <a:solidFill>
                            <a:srgbClr val="FFFFFF"/>
                          </a:solidFill>
                          <a:latin typeface="Arial"/>
                        </a:rPr>
                        <a:t>Task</a:t>
                      </a:r>
                    </a:p>
                  </a:txBody>
                  <a:tcPr marL="54864" marR="54864" marT="27432" marB="27432" anchor="ctr">
                    <a:solidFill>
                      <a:srgbClr val="072140"/>
                    </a:solidFill>
                  </a:tcPr>
                </a:tc>
                <a:tc>
                  <a:txBody>
                    <a:bodyPr wrap="square"/>
                    <a:lstStyle/>
                    <a:p>
                      <a:r>
                        <a:rPr sz="1400" b="1">
                          <a:solidFill>
                            <a:srgbClr val="FFFFFF"/>
                          </a:solidFill>
                          <a:latin typeface="Arial"/>
                        </a:rPr>
                        <a:t>What the agent is told (short)</a:t>
                      </a:r>
                    </a:p>
                  </a:txBody>
                  <a:tcPr marL="54864" marR="54864" marT="27432" marB="27432" anchor="ctr">
                    <a:solidFill>
                      <a:srgbClr val="072140"/>
                    </a:solidFill>
                  </a:tcPr>
                </a:tc>
                <a:tc>
                  <a:txBody>
                    <a:bodyPr wrap="square"/>
                    <a:lstStyle/>
                    <a:p>
                      <a:pPr algn="ctr"/>
                      <a:r>
                        <a:rPr sz="1400" b="1">
                          <a:solidFill>
                            <a:srgbClr val="FFFFFF"/>
                          </a:solidFill>
                          <a:latin typeface="Arial"/>
                        </a:rPr>
                        <a:t>Reference steps</a:t>
                      </a:r>
                    </a:p>
                  </a:txBody>
                  <a:tcPr marL="54864" marR="54864" marT="27432" marB="27432" anchor="ctr">
                    <a:solidFill>
                      <a:srgbClr val="072140"/>
                    </a:solidFill>
                  </a:tcPr>
                </a:tc>
              </a:tr>
              <a:tr h="502920">
                <a:tc>
                  <a:txBody>
                    <a:bodyPr wrap="square"/>
                    <a:lstStyle/>
                    <a:p>
                      <a:r>
                        <a:rPr sz="1400" b="0">
                          <a:solidFill>
                            <a:srgbClr val="222A35"/>
                          </a:solidFill>
                          <a:latin typeface="Arial"/>
                        </a:rPr>
                        <a:t>Warm-up</a:t>
                      </a:r>
                    </a:p>
                  </a:txBody>
                  <a:tcPr marL="54864" marR="54864" marT="27432" marB="27432" anchor="ctr">
                    <a:solidFill>
                      <a:srgbClr val="E5EFF8"/>
                    </a:solidFill>
                  </a:tcPr>
                </a:tc>
                <a:tc>
                  <a:txBody>
                    <a:bodyPr wrap="square"/>
                    <a:lstStyle/>
                    <a:p>
                      <a:r>
                        <a:rPr sz="1400" b="0">
                          <a:solidFill>
                            <a:srgbClr val="222A35"/>
                          </a:solidFill>
                          <a:latin typeface="Arial"/>
                        </a:rPr>
                        <a:t>SystemWifiTurnOn</a:t>
                      </a:r>
                    </a:p>
                  </a:txBody>
                  <a:tcPr marL="54864" marR="54864" marT="27432" marB="27432" anchor="ctr">
                    <a:solidFill>
                      <a:srgbClr val="E5EFF8"/>
                    </a:solidFill>
                  </a:tcPr>
                </a:tc>
                <a:tc>
                  <a:txBody>
                    <a:bodyPr wrap="square"/>
                    <a:lstStyle/>
                    <a:p>
                      <a:r>
                        <a:rPr sz="1400" b="0">
                          <a:solidFill>
                            <a:srgbClr val="222A35"/>
                          </a:solidFill>
                          <a:latin typeface="Arial"/>
                        </a:rPr>
                        <a:t>Turn Wi-Fi on</a:t>
                      </a:r>
                    </a:p>
                  </a:txBody>
                  <a:tcPr marL="54864" marR="54864" marT="27432" marB="27432" anchor="ctr">
                    <a:solidFill>
                      <a:srgbClr val="E5EFF8"/>
                    </a:solidFill>
                  </a:tcPr>
                </a:tc>
                <a:tc>
                  <a:txBody>
                    <a:bodyPr wrap="square"/>
                    <a:lstStyle/>
                    <a:p>
                      <a:pPr algn="ctr"/>
                      <a:r>
                        <a:rPr sz="1400" b="0">
                          <a:solidFill>
                            <a:srgbClr val="222A35"/>
                          </a:solidFill>
                          <a:latin typeface="Arial"/>
                        </a:rPr>
                        <a:t>3</a:t>
                      </a:r>
                    </a:p>
                  </a:txBody>
                  <a:tcPr marL="54864" marR="54864" marT="27432" marB="27432" anchor="ctr">
                    <a:solidFill>
                      <a:srgbClr val="E5EFF8"/>
                    </a:solidFill>
                  </a:tcPr>
                </a:tc>
              </a:tr>
              <a:tr h="502920">
                <a:tc>
                  <a:txBody>
                    <a:bodyPr wrap="square"/>
                    <a:lstStyle/>
                    <a:p>
                      <a:r>
                        <a:rPr sz="1400" b="0">
                          <a:solidFill>
                            <a:srgbClr val="222A35"/>
                          </a:solidFill>
                          <a:latin typeface="Arial"/>
                        </a:rPr>
                        <a:t>Warm-up</a:t>
                      </a:r>
                    </a:p>
                  </a:txBody>
                  <a:tcPr marL="54864" marR="54864" marT="27432" marB="27432" anchor="ctr">
                    <a:solidFill>
                      <a:srgbClr val="E5EFF8"/>
                    </a:solidFill>
                  </a:tcPr>
                </a:tc>
                <a:tc>
                  <a:txBody>
                    <a:bodyPr wrap="square"/>
                    <a:lstStyle/>
                    <a:p>
                      <a:r>
                        <a:rPr sz="1400" b="0">
                          <a:solidFill>
                            <a:srgbClr val="222A35"/>
                          </a:solidFill>
                          <a:latin typeface="Arial"/>
                        </a:rPr>
                        <a:t>ContactsAddContact</a:t>
                      </a:r>
                    </a:p>
                  </a:txBody>
                  <a:tcPr marL="54864" marR="54864" marT="27432" marB="27432" anchor="ctr">
                    <a:solidFill>
                      <a:srgbClr val="E5EFF8"/>
                    </a:solidFill>
                  </a:tcPr>
                </a:tc>
                <a:tc>
                  <a:txBody>
                    <a:bodyPr wrap="square"/>
                    <a:lstStyle/>
                    <a:p>
                      <a:r>
                        <a:rPr sz="1400" b="0">
                          <a:solidFill>
                            <a:srgbClr val="222A35"/>
                          </a:solidFill>
                          <a:latin typeface="Arial"/>
                        </a:rPr>
                        <a:t>Create a contact with a name and number</a:t>
                      </a:r>
                    </a:p>
                  </a:txBody>
                  <a:tcPr marL="54864" marR="54864" marT="27432" marB="27432" anchor="ctr">
                    <a:solidFill>
                      <a:srgbClr val="E5EFF8"/>
                    </a:solidFill>
                  </a:tcPr>
                </a:tc>
                <a:tc>
                  <a:txBody>
                    <a:bodyPr wrap="square"/>
                    <a:lstStyle/>
                    <a:p>
                      <a:pPr algn="ctr"/>
                      <a:r>
                        <a:rPr sz="1400" b="0">
                          <a:solidFill>
                            <a:srgbClr val="222A35"/>
                          </a:solidFill>
                          <a:latin typeface="Arial"/>
                        </a:rPr>
                        <a:t>5</a:t>
                      </a:r>
                    </a:p>
                  </a:txBody>
                  <a:tcPr marL="54864" marR="54864" marT="27432" marB="27432" anchor="ctr">
                    <a:solidFill>
                      <a:srgbClr val="E5EFF8"/>
                    </a:solidFill>
                  </a:tcPr>
                </a:tc>
              </a:tr>
              <a:tr h="502920">
                <a:tc>
                  <a:txBody>
                    <a:bodyPr wrap="square"/>
                    <a:lstStyle/>
                    <a:p>
                      <a:r>
                        <a:rPr sz="1400" b="0">
                          <a:solidFill>
                            <a:srgbClr val="222A35"/>
                          </a:solidFill>
                          <a:latin typeface="Arial"/>
                        </a:rPr>
                        <a:t>Real work</a:t>
                      </a:r>
                    </a:p>
                  </a:txBody>
                  <a:tcPr marL="54864" marR="54864" marT="27432" marB="27432" anchor="ctr">
                    <a:solidFill>
                      <a:srgbClr val="F2F5F9"/>
                    </a:solidFill>
                  </a:tcPr>
                </a:tc>
                <a:tc>
                  <a:txBody>
                    <a:bodyPr wrap="square"/>
                    <a:lstStyle/>
                    <a:p>
                      <a:r>
                        <a:rPr sz="1400" b="0">
                          <a:solidFill>
                            <a:srgbClr val="222A35"/>
                          </a:solidFill>
                          <a:latin typeface="Arial"/>
                        </a:rPr>
                        <a:t>SimpleSmsSend</a:t>
                      </a:r>
                    </a:p>
                  </a:txBody>
                  <a:tcPr marL="54864" marR="54864" marT="27432" marB="27432" anchor="ctr">
                    <a:solidFill>
                      <a:srgbClr val="F2F5F9"/>
                    </a:solidFill>
                  </a:tcPr>
                </a:tc>
                <a:tc>
                  <a:txBody>
                    <a:bodyPr wrap="square"/>
                    <a:lstStyle/>
                    <a:p>
                      <a:r>
                        <a:rPr sz="1400" b="0">
                          <a:solidFill>
                            <a:srgbClr val="222A35"/>
                          </a:solidFill>
                          <a:latin typeface="Arial"/>
                        </a:rPr>
                        <a:t>Send a message to a number with Simple SMS Messenger</a:t>
                      </a:r>
                    </a:p>
                  </a:txBody>
                  <a:tcPr marL="54864" marR="54864" marT="27432" marB="27432" anchor="ctr">
                    <a:solidFill>
                      <a:srgbClr val="F2F5F9"/>
                    </a:solidFill>
                  </a:tcPr>
                </a:tc>
                <a:tc>
                  <a:txBody>
                    <a:bodyPr wrap="square"/>
                    <a:lstStyle/>
                    <a:p>
                      <a:pPr algn="ctr"/>
                      <a:r>
                        <a:rPr sz="1400" b="0">
                          <a:solidFill>
                            <a:srgbClr val="222A35"/>
                          </a:solidFill>
                          <a:latin typeface="Arial"/>
                        </a:rPr>
                        <a:t>6</a:t>
                      </a:r>
                    </a:p>
                  </a:txBody>
                  <a:tcPr marL="54864" marR="54864" marT="27432" marB="27432" anchor="ctr">
                    <a:solidFill>
                      <a:srgbClr val="F2F5F9"/>
                    </a:solidFill>
                  </a:tcPr>
                </a:tc>
              </a:tr>
              <a:tr h="502920">
                <a:tc>
                  <a:txBody>
                    <a:bodyPr wrap="square"/>
                    <a:lstStyle/>
                    <a:p>
                      <a:r>
                        <a:rPr sz="1400" b="0">
                          <a:solidFill>
                            <a:srgbClr val="222A35"/>
                          </a:solidFill>
                          <a:latin typeface="Arial"/>
                        </a:rPr>
                        <a:t>Real work</a:t>
                      </a:r>
                    </a:p>
                  </a:txBody>
                  <a:tcPr marL="54864" marR="54864" marT="27432" marB="27432" anchor="ctr">
                    <a:solidFill>
                      <a:srgbClr val="F2F5F9"/>
                    </a:solidFill>
                  </a:tcPr>
                </a:tc>
                <a:tc>
                  <a:txBody>
                    <a:bodyPr wrap="square"/>
                    <a:lstStyle/>
                    <a:p>
                      <a:r>
                        <a:rPr sz="1400" b="0">
                          <a:solidFill>
                            <a:srgbClr val="222A35"/>
                          </a:solidFill>
                          <a:latin typeface="Arial"/>
                        </a:rPr>
                        <a:t>FilesMoveFile</a:t>
                      </a:r>
                    </a:p>
                  </a:txBody>
                  <a:tcPr marL="54864" marR="54864" marT="27432" marB="27432" anchor="ctr">
                    <a:solidFill>
                      <a:srgbClr val="F2F5F9"/>
                    </a:solidFill>
                  </a:tcPr>
                </a:tc>
                <a:tc>
                  <a:txBody>
                    <a:bodyPr wrap="square"/>
                    <a:lstStyle/>
                    <a:p>
                      <a:r>
                        <a:rPr sz="1400" b="0">
                          <a:solidFill>
                            <a:srgbClr val="222A35"/>
                          </a:solidFill>
                          <a:latin typeface="Arial"/>
                        </a:rPr>
                        <a:t>Move a file from one folder to another</a:t>
                      </a:r>
                    </a:p>
                  </a:txBody>
                  <a:tcPr marL="54864" marR="54864" marT="27432" marB="27432" anchor="ctr">
                    <a:solidFill>
                      <a:srgbClr val="F2F5F9"/>
                    </a:solidFill>
                  </a:tcPr>
                </a:tc>
                <a:tc>
                  <a:txBody>
                    <a:bodyPr wrap="square"/>
                    <a:lstStyle/>
                    <a:p>
                      <a:pPr algn="ctr"/>
                      <a:r>
                        <a:rPr sz="1400" b="0">
                          <a:solidFill>
                            <a:srgbClr val="222A35"/>
                          </a:solidFill>
                          <a:latin typeface="Arial"/>
                        </a:rPr>
                        <a:t>10</a:t>
                      </a:r>
                    </a:p>
                  </a:txBody>
                  <a:tcPr marL="54864" marR="54864" marT="27432" marB="27432" anchor="ctr">
                    <a:solidFill>
                      <a:srgbClr val="F2F5F9"/>
                    </a:solidFill>
                  </a:tcPr>
                </a:tc>
              </a:tr>
              <a:tr h="502920">
                <a:tc>
                  <a:txBody>
                    <a:bodyPr wrap="square"/>
                    <a:lstStyle/>
                    <a:p>
                      <a:r>
                        <a:rPr sz="1400" b="0">
                          <a:solidFill>
                            <a:srgbClr val="222A35"/>
                          </a:solidFill>
                          <a:latin typeface="Arial"/>
                        </a:rPr>
                        <a:t>Real work</a:t>
                      </a:r>
                    </a:p>
                  </a:txBody>
                  <a:tcPr marL="54864" marR="54864" marT="27432" marB="27432" anchor="ctr">
                    <a:solidFill>
                      <a:srgbClr val="F2F5F9"/>
                    </a:solidFill>
                  </a:tcPr>
                </a:tc>
                <a:tc>
                  <a:txBody>
                    <a:bodyPr wrap="square"/>
                    <a:lstStyle/>
                    <a:p>
                      <a:r>
                        <a:rPr sz="1400" b="0">
                          <a:solidFill>
                            <a:srgbClr val="222A35"/>
                          </a:solidFill>
                          <a:latin typeface="Arial"/>
                        </a:rPr>
                        <a:t>SimpleCalendarAddOneEvent</a:t>
                      </a:r>
                    </a:p>
                  </a:txBody>
                  <a:tcPr marL="54864" marR="54864" marT="27432" marB="27432" anchor="ctr">
                    <a:solidFill>
                      <a:srgbClr val="F2F5F9"/>
                    </a:solidFill>
                  </a:tcPr>
                </a:tc>
                <a:tc>
                  <a:txBody>
                    <a:bodyPr wrap="square"/>
                    <a:lstStyle/>
                    <a:p>
                      <a:r>
                        <a:rPr sz="1400" b="0">
                          <a:solidFill>
                            <a:srgbClr val="222A35"/>
                          </a:solidFill>
                          <a:latin typeface="Arial"/>
                        </a:rPr>
                        <a:t>Create an event on a date and hour, with title and length</a:t>
                      </a:r>
                    </a:p>
                  </a:txBody>
                  <a:tcPr marL="54864" marR="54864" marT="27432" marB="27432" anchor="ctr">
                    <a:solidFill>
                      <a:srgbClr val="F2F5F9"/>
                    </a:solidFill>
                  </a:tcPr>
                </a:tc>
                <a:tc>
                  <a:txBody>
                    <a:bodyPr wrap="square"/>
                    <a:lstStyle/>
                    <a:p>
                      <a:pPr algn="ctr"/>
                      <a:r>
                        <a:rPr sz="1400" b="0">
                          <a:solidFill>
                            <a:srgbClr val="222A35"/>
                          </a:solidFill>
                          <a:latin typeface="Arial"/>
                        </a:rPr>
                        <a:t>17</a:t>
                      </a:r>
                    </a:p>
                  </a:txBody>
                  <a:tcPr marL="54864" marR="54864" marT="27432" marB="27432" anchor="ctr">
                    <a:solidFill>
                      <a:srgbClr val="F2F5F9"/>
                    </a:solidFill>
                  </a:tcPr>
                </a:tc>
              </a:tr>
              <a:tr h="502920">
                <a:tc>
                  <a:txBody>
                    <a:bodyPr wrap="square"/>
                    <a:lstStyle/>
                    <a:p>
                      <a:r>
                        <a:rPr sz="1400" b="0">
                          <a:solidFill>
                            <a:srgbClr val="222A35"/>
                          </a:solidFill>
                          <a:latin typeface="Arial"/>
                        </a:rPr>
                        <a:t>Multi-app</a:t>
                      </a:r>
                    </a:p>
                  </a:txBody>
                  <a:tcPr marL="54864" marR="54864" marT="27432" marB="27432" anchor="ctr">
                    <a:solidFill>
                      <a:srgbClr val="FCECE0"/>
                    </a:solidFill>
                  </a:tcPr>
                </a:tc>
                <a:tc>
                  <a:txBody>
                    <a:bodyPr wrap="square"/>
                    <a:lstStyle/>
                    <a:p>
                      <a:r>
                        <a:rPr sz="1400" b="0">
                          <a:solidFill>
                            <a:srgbClr val="222A35"/>
                          </a:solidFill>
                          <a:latin typeface="Arial"/>
                        </a:rPr>
                        <a:t>MarkorCreateNoteAndSms</a:t>
                      </a:r>
                    </a:p>
                  </a:txBody>
                  <a:tcPr marL="54864" marR="54864" marT="27432" marB="27432" anchor="ctr">
                    <a:solidFill>
                      <a:srgbClr val="FCECE0"/>
                    </a:solidFill>
                  </a:tcPr>
                </a:tc>
                <a:tc>
                  <a:txBody>
                    <a:bodyPr wrap="square"/>
                    <a:lstStyle/>
                    <a:p>
                      <a:r>
                        <a:rPr sz="1400" b="0">
                          <a:solidFill>
                            <a:srgbClr val="222A35"/>
                          </a:solidFill>
                          <a:latin typeface="Arial"/>
                        </a:rPr>
                        <a:t>Create a note, then share its text with a number via SMS</a:t>
                      </a:r>
                    </a:p>
                  </a:txBody>
                  <a:tcPr marL="54864" marR="54864" marT="27432" marB="27432" anchor="ctr">
                    <a:solidFill>
                      <a:srgbClr val="FCECE0"/>
                    </a:solidFill>
                  </a:tcPr>
                </a:tc>
                <a:tc>
                  <a:txBody>
                    <a:bodyPr wrap="square"/>
                    <a:lstStyle/>
                    <a:p>
                      <a:pPr algn="ctr"/>
                      <a:r>
                        <a:rPr sz="1400" b="0">
                          <a:solidFill>
                            <a:srgbClr val="222A35"/>
                          </a:solidFill>
                          <a:latin typeface="Arial"/>
                        </a:rPr>
                        <a:t>9</a:t>
                      </a:r>
                    </a:p>
                  </a:txBody>
                  <a:tcPr marL="54864" marR="54864" marT="27432" marB="27432" anchor="ctr">
                    <a:solidFill>
                      <a:srgbClr val="FCECE0"/>
                    </a:solidFill>
                  </a:tcPr>
                </a:tc>
              </a:tr>
              <a:tr h="502920">
                <a:tc>
                  <a:txBody>
                    <a:bodyPr wrap="square"/>
                    <a:lstStyle/>
                    <a:p>
                      <a:r>
                        <a:rPr sz="1400" b="0">
                          <a:solidFill>
                            <a:srgbClr val="222A35"/>
                          </a:solidFill>
                          <a:latin typeface="Arial"/>
                        </a:rPr>
                        <a:t>Multi-app</a:t>
                      </a:r>
                    </a:p>
                  </a:txBody>
                  <a:tcPr marL="54864" marR="54864" marT="27432" marB="27432" anchor="ctr">
                    <a:solidFill>
                      <a:srgbClr val="FCECE0"/>
                    </a:solidFill>
                  </a:tcPr>
                </a:tc>
                <a:tc>
                  <a:txBody>
                    <a:bodyPr wrap="square"/>
                    <a:lstStyle/>
                    <a:p>
                      <a:r>
                        <a:rPr sz="1400" b="0">
                          <a:solidFill>
                            <a:srgbClr val="222A35"/>
                          </a:solidFill>
                          <a:latin typeface="Arial"/>
                        </a:rPr>
                        <a:t>OsmAndTrack</a:t>
                      </a:r>
                    </a:p>
                  </a:txBody>
                  <a:tcPr marL="54864" marR="54864" marT="27432" marB="27432" anchor="ctr">
                    <a:solidFill>
                      <a:srgbClr val="FCECE0"/>
                    </a:solidFill>
                  </a:tcPr>
                </a:tc>
                <a:tc>
                  <a:txBody>
                    <a:bodyPr wrap="square"/>
                    <a:lstStyle/>
                    <a:p>
                      <a:r>
                        <a:rPr sz="1400" b="0">
                          <a:solidFill>
                            <a:srgbClr val="222A35"/>
                          </a:solidFill>
                          <a:latin typeface="Arial"/>
                        </a:rPr>
                        <a:t>Save a track: Ruggell, then Bendern (the slide's instance)</a:t>
                      </a:r>
                    </a:p>
                  </a:txBody>
                  <a:tcPr marL="54864" marR="54864" marT="27432" marB="27432" anchor="ctr">
                    <a:solidFill>
                      <a:srgbClr val="FCECE0"/>
                    </a:solidFill>
                  </a:tcPr>
                </a:tc>
                <a:tc>
                  <a:txBody>
                    <a:bodyPr wrap="square"/>
                    <a:lstStyle/>
                    <a:p>
                      <a:pPr algn="ctr"/>
                      <a:r>
                        <a:rPr sz="1400" b="0">
                          <a:solidFill>
                            <a:srgbClr val="222A35"/>
                          </a:solidFill>
                          <a:latin typeface="Arial"/>
                        </a:rPr>
                        <a:t>60</a:t>
                      </a:r>
                    </a:p>
                  </a:txBody>
                  <a:tcPr marL="54864" marR="54864" marT="27432" marB="27432" anchor="ctr">
                    <a:solidFill>
                      <a:srgbClr val="FCECE0"/>
                    </a:solidFill>
                  </a:tcPr>
                </a:tc>
              </a:tr>
            </a:tbl>
          </a:graphicData>
        </a:graphic>
      </p:graphicFrame>
      <p:sp>
        <p:nvSpPr>
          <p:cNvPr id="10" name="TextBox 9"/>
          <p:cNvSpPr txBox="1"/>
          <p:nvPr/>
        </p:nvSpPr>
        <p:spPr>
          <a:xfrm>
            <a:off x="640080" y="5760720"/>
            <a:ext cx="10881360" cy="548640"/>
          </a:xfrm>
          <a:prstGeom prst="rect">
            <a:avLst/>
          </a:prstGeom>
          <a:noFill/>
        </p:spPr>
        <p:txBody>
          <a:bodyPr wrap="square" anchor="t" lIns="73152" rIns="73152">
            <a:spAutoFit/>
          </a:bodyPr>
          <a:lstStyle/>
          <a:p>
            <a:pPr algn="l">
              <a:lnSpc>
                <a:spcPct val="110000"/>
              </a:lnSpc>
            </a:pPr>
            <a:r>
              <a:rPr sz="1200" b="0" i="0">
                <a:solidFill>
                  <a:srgbClr val="5E6773"/>
                </a:solidFill>
                <a:latin typeface="Arial"/>
              </a:rPr>
              <a:t>Reference steps: the number of steps AndroidWorld lists for each task (course slide D1 p.7).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MODEL</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Why AutoGLM-Phone-9B, and what we tried first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5</a:t>
            </a:r>
          </a:p>
        </p:txBody>
      </p:sp>
      <p:graphicFrame>
        <p:nvGraphicFramePr>
          <p:cNvPr id="9" name="Table 8"/>
          <p:cNvGraphicFramePr>
            <a:graphicFrameLocks noGrp="1"/>
          </p:cNvGraphicFramePr>
          <p:nvPr/>
        </p:nvGraphicFramePr>
        <p:xfrm>
          <a:off x="640080" y="1554480"/>
          <a:ext cx="7406640" cy="4069080"/>
        </p:xfrm>
        <a:graphic>
          <a:graphicData uri="http://schemas.openxmlformats.org/drawingml/2006/table">
            <a:tbl>
              <a:tblPr firstRow="1" bandRow="1">
                <a:tableStyleId>{5C22544A-7EE6-4342-B048-85BDC9FD1C3A}</a:tableStyleId>
              </a:tblPr>
              <a:tblGrid>
                <a:gridCol w="1920240"/>
                <a:gridCol w="2926080"/>
                <a:gridCol w="2560320"/>
              </a:tblGrid>
              <a:tr h="508635">
                <a:tc>
                  <a:txBody>
                    <a:bodyPr wrap="square"/>
                    <a:lstStyle/>
                    <a:p>
                      <a:r>
                        <a:rPr sz="1300" b="1">
                          <a:solidFill>
                            <a:srgbClr val="FFFFFF"/>
                          </a:solidFill>
                          <a:latin typeface="Arial"/>
                        </a:rPr>
                        <a:t/>
                      </a:r>
                    </a:p>
                  </a:txBody>
                  <a:tcPr marL="54864" marR="54864" marT="27432" marB="27432" anchor="ctr">
                    <a:solidFill>
                      <a:srgbClr val="072140"/>
                    </a:solidFill>
                  </a:tcPr>
                </a:tc>
                <a:tc>
                  <a:txBody>
                    <a:bodyPr wrap="square"/>
                    <a:lstStyle/>
                    <a:p>
                      <a:r>
                        <a:rPr sz="1300" b="1">
                          <a:solidFill>
                            <a:srgbClr val="FFFFFF"/>
                          </a:solidFill>
                          <a:latin typeface="Arial"/>
                        </a:rPr>
                        <a:t>AutoGLM-Phone-9B (Z.ai API)</a:t>
                      </a:r>
                    </a:p>
                  </a:txBody>
                  <a:tcPr marL="54864" marR="54864" marT="27432" marB="27432" anchor="ctr">
                    <a:solidFill>
                      <a:srgbClr val="072140"/>
                    </a:solidFill>
                  </a:tcPr>
                </a:tc>
                <a:tc>
                  <a:txBody>
                    <a:bodyPr wrap="square"/>
                    <a:lstStyle/>
                    <a:p>
                      <a:r>
                        <a:rPr sz="1300" b="1">
                          <a:solidFill>
                            <a:srgbClr val="FFFFFF"/>
                          </a:solidFill>
                          <a:latin typeface="Arial"/>
                        </a:rPr>
                        <a:t>GELab-Zero 4B (local, Ollama)</a:t>
                      </a:r>
                    </a:p>
                  </a:txBody>
                  <a:tcPr marL="54864" marR="54864" marT="27432" marB="27432" anchor="ctr">
                    <a:solidFill>
                      <a:srgbClr val="072140"/>
                    </a:solidFill>
                  </a:tcPr>
                </a:tc>
              </a:tr>
              <a:tr h="508635">
                <a:tc>
                  <a:txBody>
                    <a:bodyPr wrap="square"/>
                    <a:lstStyle/>
                    <a:p>
                      <a:r>
                        <a:rPr sz="1300" b="1">
                          <a:solidFill>
                            <a:srgbClr val="222A35"/>
                          </a:solidFill>
                          <a:latin typeface="Arial"/>
                        </a:rPr>
                        <a:t>Built for</a:t>
                      </a:r>
                    </a:p>
                  </a:txBody>
                  <a:tcPr marL="54864" marR="54864" marT="27432" marB="27432" anchor="ctr">
                    <a:solidFill>
                      <a:srgbClr val="FFFFFF"/>
                    </a:solidFill>
                  </a:tcPr>
                </a:tc>
                <a:tc>
                  <a:txBody>
                    <a:bodyPr wrap="square"/>
                    <a:lstStyle/>
                    <a:p>
                      <a:r>
                        <a:rPr sz="1300" b="0">
                          <a:solidFill>
                            <a:srgbClr val="222A35"/>
                          </a:solidFill>
                          <a:latin typeface="Arial"/>
                        </a:rPr>
                        <a:t>Phone GUI control</a:t>
                      </a:r>
                    </a:p>
                  </a:txBody>
                  <a:tcPr marL="54864" marR="54864" marT="27432" marB="27432" anchor="ctr">
                    <a:solidFill>
                      <a:srgbClr val="FFFFFF"/>
                    </a:solidFill>
                  </a:tcPr>
                </a:tc>
                <a:tc>
                  <a:txBody>
                    <a:bodyPr wrap="square"/>
                    <a:lstStyle/>
                    <a:p>
                      <a:r>
                        <a:rPr sz="1300" b="0">
                          <a:solidFill>
                            <a:srgbClr val="222A35"/>
                          </a:solidFill>
                          <a:latin typeface="Arial"/>
                        </a:rPr>
                        <a:t>Phone GUI control</a:t>
                      </a:r>
                    </a:p>
                  </a:txBody>
                  <a:tcPr marL="54864" marR="54864" marT="27432" marB="27432" anchor="ctr">
                    <a:solidFill>
                      <a:srgbClr val="FFFFFF"/>
                    </a:solidFill>
                  </a:tcPr>
                </a:tc>
              </a:tr>
              <a:tr h="508635">
                <a:tc>
                  <a:txBody>
                    <a:bodyPr wrap="square"/>
                    <a:lstStyle/>
                    <a:p>
                      <a:r>
                        <a:rPr sz="1300" b="1">
                          <a:solidFill>
                            <a:srgbClr val="222A35"/>
                          </a:solidFill>
                          <a:latin typeface="Arial"/>
                        </a:rPr>
                        <a:t>Where it runs</a:t>
                      </a:r>
                    </a:p>
                  </a:txBody>
                  <a:tcPr marL="54864" marR="54864" marT="27432" marB="27432" anchor="ctr">
                    <a:solidFill>
                      <a:srgbClr val="F2F5F9"/>
                    </a:solidFill>
                  </a:tcPr>
                </a:tc>
                <a:tc>
                  <a:txBody>
                    <a:bodyPr wrap="square"/>
                    <a:lstStyle/>
                    <a:p>
                      <a:r>
                        <a:rPr sz="1300" b="0">
                          <a:solidFill>
                            <a:srgbClr val="222A35"/>
                          </a:solidFill>
                          <a:latin typeface="Arial"/>
                        </a:rPr>
                        <a:t>Hosted API</a:t>
                      </a:r>
                    </a:p>
                  </a:txBody>
                  <a:tcPr marL="54864" marR="54864" marT="27432" marB="27432" anchor="ctr">
                    <a:solidFill>
                      <a:srgbClr val="F2F5F9"/>
                    </a:solidFill>
                  </a:tcPr>
                </a:tc>
                <a:tc>
                  <a:txBody>
                    <a:bodyPr wrap="square"/>
                    <a:lstStyle/>
                    <a:p>
                      <a:r>
                        <a:rPr sz="1300" b="0">
                          <a:solidFill>
                            <a:srgbClr val="222A35"/>
                          </a:solidFill>
                          <a:latin typeface="Arial"/>
                        </a:rPr>
                        <a:t>Laptop GPU (8 GB), partial offload</a:t>
                      </a:r>
                    </a:p>
                  </a:txBody>
                  <a:tcPr marL="54864" marR="54864" marT="27432" marB="27432" anchor="ctr">
                    <a:solidFill>
                      <a:srgbClr val="F2F5F9"/>
                    </a:solidFill>
                  </a:tcPr>
                </a:tc>
              </a:tr>
              <a:tr h="508635">
                <a:tc>
                  <a:txBody>
                    <a:bodyPr wrap="square"/>
                    <a:lstStyle/>
                    <a:p>
                      <a:r>
                        <a:rPr sz="1300" b="1">
                          <a:solidFill>
                            <a:srgbClr val="222A35"/>
                          </a:solidFill>
                          <a:latin typeface="Arial"/>
                        </a:rPr>
                        <a:t>Speed per model call</a:t>
                      </a:r>
                    </a:p>
                  </a:txBody>
                  <a:tcPr marL="54864" marR="54864" marT="27432" marB="27432" anchor="ctr">
                    <a:solidFill>
                      <a:srgbClr val="FFFFFF"/>
                    </a:solidFill>
                  </a:tcPr>
                </a:tc>
                <a:tc>
                  <a:txBody>
                    <a:bodyPr wrap="square"/>
                    <a:lstStyle/>
                    <a:p>
                      <a:r>
                        <a:rPr sz="1300" b="0">
                          <a:solidFill>
                            <a:srgbClr val="222A35"/>
                          </a:solidFill>
                          <a:latin typeface="Arial"/>
                        </a:rPr>
                        <a:t>1.77 s median (296 calls)</a:t>
                      </a:r>
                    </a:p>
                  </a:txBody>
                  <a:tcPr marL="54864" marR="54864" marT="27432" marB="27432" anchor="ctr">
                    <a:solidFill>
                      <a:srgbClr val="FFFFFF"/>
                    </a:solidFill>
                  </a:tcPr>
                </a:tc>
                <a:tc>
                  <a:txBody>
                    <a:bodyPr wrap="square"/>
                    <a:lstStyle/>
                    <a:p>
                      <a:r>
                        <a:rPr sz="1300" b="0">
                          <a:solidFill>
                            <a:srgbClr val="222A35"/>
                          </a:solidFill>
                          <a:latin typeface="Arial"/>
                        </a:rPr>
                        <a:t>19–21 s per screenshot request</a:t>
                      </a:r>
                    </a:p>
                  </a:txBody>
                  <a:tcPr marL="54864" marR="54864" marT="27432" marB="27432" anchor="ctr">
                    <a:solidFill>
                      <a:srgbClr val="FFFFFF"/>
                    </a:solidFill>
                  </a:tcPr>
                </a:tc>
              </a:tr>
              <a:tr h="508635">
                <a:tc>
                  <a:txBody>
                    <a:bodyPr wrap="square"/>
                    <a:lstStyle/>
                    <a:p>
                      <a:r>
                        <a:rPr sz="1300" b="1">
                          <a:solidFill>
                            <a:srgbClr val="222A35"/>
                          </a:solidFill>
                          <a:latin typeface="Arial"/>
                        </a:rPr>
                        <a:t>Action format</a:t>
                      </a:r>
                    </a:p>
                  </a:txBody>
                  <a:tcPr marL="54864" marR="54864" marT="27432" marB="27432" anchor="ctr">
                    <a:solidFill>
                      <a:srgbClr val="F2F5F9"/>
                    </a:solidFill>
                  </a:tcPr>
                </a:tc>
                <a:tc>
                  <a:txBody>
                    <a:bodyPr wrap="square"/>
                    <a:lstStyle/>
                    <a:p>
                      <a:r>
                        <a:rPr sz="1300" b="0">
                          <a:solidFill>
                            <a:srgbClr val="222A35"/>
                          </a:solidFill>
                          <a:latin typeface="Arial"/>
                        </a:rPr>
                        <a:t>Native do(...) / finish(...), parsed reliably</a:t>
                      </a:r>
                    </a:p>
                  </a:txBody>
                  <a:tcPr marL="54864" marR="54864" marT="27432" marB="27432" anchor="ctr">
                    <a:solidFill>
                      <a:srgbClr val="F2F5F9"/>
                    </a:solidFill>
                  </a:tcPr>
                </a:tc>
                <a:tc>
                  <a:txBody>
                    <a:bodyPr wrap="square"/>
                    <a:lstStyle/>
                    <a:p>
                      <a:r>
                        <a:rPr sz="1300" b="0">
                          <a:solidFill>
                            <a:srgbClr val="222A35"/>
                          </a:solidFill>
                          <a:latin typeface="Arial"/>
                        </a:rPr>
                        <a:t>Bare tokens our parser rejected</a:t>
                      </a:r>
                    </a:p>
                  </a:txBody>
                  <a:tcPr marL="54864" marR="54864" marT="27432" marB="27432" anchor="ctr">
                    <a:solidFill>
                      <a:srgbClr val="F2F5F9"/>
                    </a:solidFill>
                  </a:tcPr>
                </a:tc>
              </a:tr>
              <a:tr h="508635">
                <a:tc>
                  <a:txBody>
                    <a:bodyPr wrap="square"/>
                    <a:lstStyle/>
                    <a:p>
                      <a:r>
                        <a:rPr sz="1300" b="1">
                          <a:solidFill>
                            <a:srgbClr val="222A35"/>
                          </a:solidFill>
                          <a:latin typeface="Arial"/>
                        </a:rPr>
                        <a:t>Cost</a:t>
                      </a:r>
                    </a:p>
                  </a:txBody>
                  <a:tcPr marL="54864" marR="54864" marT="27432" marB="27432" anchor="ctr">
                    <a:solidFill>
                      <a:srgbClr val="FFFFFF"/>
                    </a:solidFill>
                  </a:tcPr>
                </a:tc>
                <a:tc>
                  <a:txBody>
                    <a:bodyPr wrap="square"/>
                    <a:lstStyle/>
                    <a:p>
                      <a:r>
                        <a:rPr sz="1300" b="0">
                          <a:solidFill>
                            <a:srgbClr val="222A35"/>
                          </a:solidFill>
                          <a:latin typeface="Arial"/>
                        </a:rPr>
                        <a:t>€0.045 per million tokens</a:t>
                      </a:r>
                    </a:p>
                  </a:txBody>
                  <a:tcPr marL="54864" marR="54864" marT="27432" marB="27432" anchor="ctr">
                    <a:solidFill>
                      <a:srgbClr val="FFFFFF"/>
                    </a:solidFill>
                  </a:tcPr>
                </a:tc>
                <a:tc>
                  <a:txBody>
                    <a:bodyPr wrap="square"/>
                    <a:lstStyle/>
                    <a:p>
                      <a:r>
                        <a:rPr sz="1300" b="0">
                          <a:solidFill>
                            <a:srgbClr val="222A35"/>
                          </a:solidFill>
                          <a:latin typeface="Arial"/>
                        </a:rPr>
                        <a:t>Free, but slow</a:t>
                      </a:r>
                    </a:p>
                  </a:txBody>
                  <a:tcPr marL="54864" marR="54864" marT="27432" marB="27432" anchor="ctr">
                    <a:solidFill>
                      <a:srgbClr val="FFFFFF"/>
                    </a:solidFill>
                  </a:tcPr>
                </a:tc>
              </a:tr>
              <a:tr h="508635">
                <a:tc>
                  <a:txBody>
                    <a:bodyPr wrap="square"/>
                    <a:lstStyle/>
                    <a:p>
                      <a:r>
                        <a:rPr sz="1300" b="1">
                          <a:solidFill>
                            <a:srgbClr val="222A35"/>
                          </a:solidFill>
                          <a:latin typeface="Arial"/>
                        </a:rPr>
                        <a:t>Our results</a:t>
                      </a:r>
                    </a:p>
                  </a:txBody>
                  <a:tcPr marL="54864" marR="54864" marT="27432" marB="27432" anchor="ctr">
                    <a:solidFill>
                      <a:srgbClr val="F2F5F9"/>
                    </a:solidFill>
                  </a:tcPr>
                </a:tc>
                <a:tc>
                  <a:txBody>
                    <a:bodyPr wrap="square"/>
                    <a:lstStyle/>
                    <a:p>
                      <a:r>
                        <a:rPr sz="1300" b="0">
                          <a:solidFill>
                            <a:srgbClr val="222A35"/>
                          </a:solidFill>
                          <a:latin typeface="Arial"/>
                        </a:rPr>
                        <a:t>18 / 21 in the final evaluation</a:t>
                      </a:r>
                    </a:p>
                  </a:txBody>
                  <a:tcPr marL="54864" marR="54864" marT="27432" marB="27432" anchor="ctr">
                    <a:solidFill>
                      <a:srgbClr val="F2F5F9"/>
                    </a:solidFill>
                  </a:tcPr>
                </a:tc>
                <a:tc>
                  <a:txBody>
                    <a:bodyPr wrap="square"/>
                    <a:lstStyle/>
                    <a:p>
                      <a:r>
                        <a:rPr sz="1300" b="0">
                          <a:solidFill>
                            <a:srgbClr val="222A35"/>
                          </a:solidFill>
                          <a:latin typeface="Arial"/>
                        </a:rPr>
                        <a:t>Contacts: 1 PASS in 6 trials</a:t>
                      </a:r>
                    </a:p>
                  </a:txBody>
                  <a:tcPr marL="54864" marR="54864" marT="27432" marB="27432" anchor="ctr">
                    <a:solidFill>
                      <a:srgbClr val="F2F5F9"/>
                    </a:solidFill>
                  </a:tcPr>
                </a:tc>
              </a:tr>
              <a:tr h="508635">
                <a:tc>
                  <a:txBody>
                    <a:bodyPr wrap="square"/>
                    <a:lstStyle/>
                    <a:p>
                      <a:r>
                        <a:rPr sz="1300" b="1">
                          <a:solidFill>
                            <a:srgbClr val="222A35"/>
                          </a:solidFill>
                          <a:latin typeface="Arial"/>
                        </a:rPr>
                        <a:t>Leaderboard</a:t>
                      </a:r>
                    </a:p>
                  </a:txBody>
                  <a:tcPr marL="54864" marR="54864" marT="27432" marB="27432" anchor="ctr">
                    <a:solidFill>
                      <a:srgbClr val="FFFFFF"/>
                    </a:solidFill>
                  </a:tcPr>
                </a:tc>
                <a:tc>
                  <a:txBody>
                    <a:bodyPr wrap="square"/>
                    <a:lstStyle/>
                    <a:p>
                      <a:r>
                        <a:rPr sz="1300" b="0">
                          <a:solidFill>
                            <a:srgbClr val="222A35"/>
                          </a:solidFill>
                          <a:latin typeface="Arial"/>
                        </a:rPr>
                        <a:t>AutoGLM-Mobile (9B) 80.2% on AndroidWorld*</a:t>
                      </a:r>
                    </a:p>
                  </a:txBody>
                  <a:tcPr marL="54864" marR="54864" marT="27432" marB="27432" anchor="ctr">
                    <a:solidFill>
                      <a:srgbClr val="FFFFFF"/>
                    </a:solidFill>
                  </a:tcPr>
                </a:tc>
                <a:tc>
                  <a:txBody>
                    <a:bodyPr wrap="square"/>
                    <a:lstStyle/>
                    <a:p>
                      <a:r>
                        <a:rPr sz="1300" b="0">
                          <a:solidFill>
                            <a:srgbClr val="222A35"/>
                          </a:solidFill>
                          <a:latin typeface="Arial"/>
                        </a:rPr>
                        <a:t>—</a:t>
                      </a:r>
                    </a:p>
                  </a:txBody>
                  <a:tcPr marL="54864" marR="54864" marT="27432" marB="27432" anchor="ctr">
                    <a:solidFill>
                      <a:srgbClr val="FFFFFF"/>
                    </a:solidFill>
                  </a:tcPr>
                </a:tc>
              </a:tr>
            </a:tbl>
          </a:graphicData>
        </a:graphic>
      </p:graphicFrame>
      <p:sp>
        <p:nvSpPr>
          <p:cNvPr id="10" name="Rectangle 9"/>
          <p:cNvSpPr/>
          <p:nvPr/>
        </p:nvSpPr>
        <p:spPr>
          <a:xfrm>
            <a:off x="8321040" y="1554480"/>
            <a:ext cx="3246120" cy="40233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321040" y="1554480"/>
            <a:ext cx="54864" cy="402336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85632" y="1645920"/>
            <a:ext cx="2990087"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Our first attempt (v1–v10)</a:t>
            </a:r>
          </a:p>
        </p:txBody>
      </p:sp>
      <p:sp>
        <p:nvSpPr>
          <p:cNvPr id="13" name="TextBox 12"/>
          <p:cNvSpPr txBox="1"/>
          <p:nvPr/>
        </p:nvSpPr>
        <p:spPr>
          <a:xfrm>
            <a:off x="8485632" y="2057400"/>
            <a:ext cx="2971800" cy="3474720"/>
          </a:xfrm>
          <a:prstGeom prst="rect">
            <a:avLst/>
          </a:prstGeom>
          <a:noFill/>
        </p:spPr>
        <p:txBody>
          <a:bodyPr wrap="square">
            <a:spAutoFit/>
          </a:bodyPr>
          <a:lstStyle/>
          <a:p>
            <a:pPr>
              <a:lnSpc>
                <a:spcPct val="108000"/>
              </a:lnSpc>
              <a:spcAft>
                <a:spcPts val="300"/>
              </a:spcAft>
            </a:pPr>
            <a:r>
              <a:rPr sz="1300">
                <a:solidFill>
                  <a:srgbClr val="0065BD"/>
                </a:solidFill>
                <a:latin typeface="Arial"/>
              </a:rPr>
              <a:t>▪  </a:t>
            </a:r>
            <a:r>
              <a:rPr sz="1300" b="0">
                <a:solidFill>
                  <a:srgbClr val="222A35"/>
                </a:solidFill>
                <a:latin typeface="Arial"/>
              </a:rPr>
              <a:t>Started with GELab-Zero, the model on the course slide</a:t>
            </a:r>
          </a:p>
          <a:p>
            <a:pPr>
              <a:lnSpc>
                <a:spcPct val="108000"/>
              </a:lnSpc>
              <a:spcAft>
                <a:spcPts val="300"/>
              </a:spcAft>
            </a:pPr>
            <a:r>
              <a:rPr sz="1300">
                <a:solidFill>
                  <a:srgbClr val="0065BD"/>
                </a:solidFill>
                <a:latin typeface="Arial"/>
              </a:rPr>
              <a:t>▪  </a:t>
            </a:r>
            <a:r>
              <a:rPr sz="1300" b="0">
                <a:solidFill>
                  <a:srgbClr val="222A35"/>
                </a:solidFill>
                <a:latin typeface="Arial"/>
              </a:rPr>
              <a:t>Model larger than the 8 GB GPU: ~20 s per screenshot request</a:t>
            </a:r>
          </a:p>
          <a:p>
            <a:pPr>
              <a:lnSpc>
                <a:spcPct val="108000"/>
              </a:lnSpc>
              <a:spcAft>
                <a:spcPts val="300"/>
              </a:spcAft>
            </a:pPr>
            <a:r>
              <a:rPr sz="1300">
                <a:solidFill>
                  <a:srgbClr val="0065BD"/>
                </a:solidFill>
                <a:latin typeface="Arial"/>
              </a:rPr>
              <a:t>▪  </a:t>
            </a:r>
            <a:r>
              <a:rPr sz="1300" b="0">
                <a:solidFill>
                  <a:srgbClr val="222A35"/>
                </a:solidFill>
                <a:latin typeface="Arial"/>
              </a:rPr>
              <a:t>Contacts: 1 of 6 trials passed</a:t>
            </a:r>
          </a:p>
          <a:p>
            <a:pPr>
              <a:lnSpc>
                <a:spcPct val="108000"/>
              </a:lnSpc>
              <a:spcAft>
                <a:spcPts val="300"/>
              </a:spcAft>
            </a:pPr>
            <a:r>
              <a:rPr sz="1300">
                <a:solidFill>
                  <a:srgbClr val="0065BD"/>
                </a:solidFill>
                <a:latin typeface="Arial"/>
              </a:rPr>
              <a:t>▪  </a:t>
            </a:r>
            <a:r>
              <a:rPr sz="1300" b="0">
                <a:solidFill>
                  <a:srgbClr val="222A35"/>
                </a:solidFill>
                <a:latin typeface="Arial"/>
              </a:rPr>
              <a:t>Wi-Fi: invalid action format, false “Wi-Fi is on”</a:t>
            </a:r>
          </a:p>
          <a:p>
            <a:pPr>
              <a:lnSpc>
                <a:spcPct val="108000"/>
              </a:lnSpc>
              <a:spcAft>
                <a:spcPts val="300"/>
              </a:spcAft>
            </a:pPr>
            <a:r>
              <a:rPr sz="1300">
                <a:solidFill>
                  <a:srgbClr val="0065BD"/>
                </a:solidFill>
                <a:latin typeface="Arial"/>
              </a:rPr>
              <a:t>▪  </a:t>
            </a:r>
            <a:r>
              <a:rPr sz="1300" b="0">
                <a:solidFill>
                  <a:srgbClr val="222A35"/>
                </a:solidFill>
                <a:latin typeface="Arial"/>
              </a:rPr>
              <a:t>Switched to the hosted AutoGLM model</a:t>
            </a:r>
          </a:p>
        </p:txBody>
      </p:sp>
      <p:sp>
        <p:nvSpPr>
          <p:cNvPr id="14" name="TextBox 13"/>
          <p:cNvSpPr txBox="1"/>
          <p:nvPr/>
        </p:nvSpPr>
        <p:spPr>
          <a:xfrm>
            <a:off x="640080" y="5715000"/>
            <a:ext cx="10881360" cy="640080"/>
          </a:xfrm>
          <a:prstGeom prst="rect">
            <a:avLst/>
          </a:prstGeom>
          <a:noFill/>
        </p:spPr>
        <p:txBody>
          <a:bodyPr wrap="square" anchor="t" lIns="73152" rIns="73152">
            <a:spAutoFit/>
          </a:bodyPr>
          <a:lstStyle/>
          <a:p>
            <a:pPr algn="l">
              <a:lnSpc>
                <a:spcPct val="110000"/>
              </a:lnSpc>
            </a:pPr>
            <a:r>
              <a:rPr sz="1100" b="0" i="0">
                <a:solidFill>
                  <a:srgbClr val="5E6773"/>
                </a:solidFill>
                <a:latin typeface="Arial"/>
              </a:rPr>
              <a:t>* Community leaderboard entry (google-research/android_world); the listed checkpoint may differ from the hosted model we 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AGENT DESIGN</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One class, one step(): observe, decide, check, act, record</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6</a:t>
            </a:r>
          </a:p>
        </p:txBody>
      </p:sp>
      <p:sp>
        <p:nvSpPr>
          <p:cNvPr id="9" name="Rounded Rectangle 8"/>
          <p:cNvSpPr/>
          <p:nvPr/>
        </p:nvSpPr>
        <p:spPr>
          <a:xfrm>
            <a:off x="640080" y="1737360"/>
            <a:ext cx="1874519" cy="1828800"/>
          </a:xfrm>
          <a:prstGeom prst="roundRect">
            <a:avLst>
              <a:gd name="adj" fmla="val 8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19" y="1920240"/>
            <a:ext cx="1691640" cy="365760"/>
          </a:xfrm>
          <a:prstGeom prst="rect">
            <a:avLst/>
          </a:prstGeom>
          <a:noFill/>
        </p:spPr>
        <p:txBody>
          <a:bodyPr wrap="square" anchor="t" lIns="73152" rIns="73152">
            <a:spAutoFit/>
          </a:bodyPr>
          <a:lstStyle/>
          <a:p>
            <a:pPr algn="ctr">
              <a:lnSpc>
                <a:spcPct val="110000"/>
              </a:lnSpc>
            </a:pPr>
            <a:r>
              <a:rPr sz="1600" b="1" i="0">
                <a:solidFill>
                  <a:srgbClr val="072140"/>
                </a:solidFill>
                <a:latin typeface="Arial"/>
              </a:rPr>
              <a:t>1  Observe</a:t>
            </a:r>
          </a:p>
        </p:txBody>
      </p:sp>
      <p:sp>
        <p:nvSpPr>
          <p:cNvPr id="11" name="TextBox 10"/>
          <p:cNvSpPr txBox="1"/>
          <p:nvPr/>
        </p:nvSpPr>
        <p:spPr>
          <a:xfrm>
            <a:off x="713231" y="2286000"/>
            <a:ext cx="1728216" cy="1234440"/>
          </a:xfrm>
          <a:prstGeom prst="rect">
            <a:avLst/>
          </a:prstGeom>
          <a:noFill/>
        </p:spPr>
        <p:txBody>
          <a:bodyPr wrap="square" anchor="t" lIns="73152" rIns="73152">
            <a:spAutoFit/>
          </a:bodyPr>
          <a:lstStyle/>
          <a:p>
            <a:pPr algn="ctr">
              <a:lnSpc>
                <a:spcPct val="110000"/>
              </a:lnSpc>
            </a:pPr>
            <a:r>
              <a:rPr sz="1400" b="0" i="0">
                <a:solidFill>
                  <a:srgbClr val="222A35"/>
                </a:solidFill>
                <a:latin typeface="Arial"/>
              </a:rPr>
              <a:t>Screenshot</a:t>
            </a:r>
          </a:p>
          <a:p>
            <a:pPr algn="ctr">
              <a:lnSpc>
                <a:spcPct val="110000"/>
              </a:lnSpc>
            </a:pPr>
            <a:r>
              <a:rPr sz="1400" b="0" i="0">
                <a:solidFill>
                  <a:srgbClr val="222A35"/>
                </a:solidFill>
                <a:latin typeface="Arial"/>
              </a:rPr>
              <a:t>(+ GUI labels for</a:t>
            </a:r>
          </a:p>
          <a:p>
            <a:pPr algn="ctr">
              <a:lnSpc>
                <a:spcPct val="110000"/>
              </a:lnSpc>
            </a:pPr>
            <a:r>
              <a:rPr sz="1400" b="0" i="0">
                <a:solidFill>
                  <a:srgbClr val="222A35"/>
                </a:solidFill>
                <a:latin typeface="Arial"/>
              </a:rPr>
              <a:t>some tasks)</a:t>
            </a:r>
          </a:p>
        </p:txBody>
      </p:sp>
      <p:cxnSp>
        <p:nvCxnSpPr>
          <p:cNvPr id="12" name="Connector 11"/>
          <p:cNvCxnSpPr/>
          <p:nvPr/>
        </p:nvCxnSpPr>
        <p:spPr>
          <a:xfrm>
            <a:off x="2542032" y="2624328"/>
            <a:ext cx="31089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80360" y="1737360"/>
            <a:ext cx="1874519" cy="1828800"/>
          </a:xfrm>
          <a:prstGeom prst="roundRect">
            <a:avLst>
              <a:gd name="adj" fmla="val 8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71800" y="1920240"/>
            <a:ext cx="1691640" cy="365760"/>
          </a:xfrm>
          <a:prstGeom prst="rect">
            <a:avLst/>
          </a:prstGeom>
          <a:noFill/>
        </p:spPr>
        <p:txBody>
          <a:bodyPr wrap="square" anchor="t" lIns="73152" rIns="73152">
            <a:spAutoFit/>
          </a:bodyPr>
          <a:lstStyle/>
          <a:p>
            <a:pPr algn="ctr">
              <a:lnSpc>
                <a:spcPct val="110000"/>
              </a:lnSpc>
            </a:pPr>
            <a:r>
              <a:rPr sz="1600" b="1" i="0">
                <a:solidFill>
                  <a:srgbClr val="072140"/>
                </a:solidFill>
                <a:latin typeface="Arial"/>
              </a:rPr>
              <a:t>2  Decide</a:t>
            </a:r>
          </a:p>
        </p:txBody>
      </p:sp>
      <p:sp>
        <p:nvSpPr>
          <p:cNvPr id="15" name="TextBox 14"/>
          <p:cNvSpPr txBox="1"/>
          <p:nvPr/>
        </p:nvSpPr>
        <p:spPr>
          <a:xfrm>
            <a:off x="2953512" y="2286000"/>
            <a:ext cx="1728216" cy="1234440"/>
          </a:xfrm>
          <a:prstGeom prst="rect">
            <a:avLst/>
          </a:prstGeom>
          <a:noFill/>
        </p:spPr>
        <p:txBody>
          <a:bodyPr wrap="square" anchor="t" lIns="73152" rIns="73152">
            <a:spAutoFit/>
          </a:bodyPr>
          <a:lstStyle/>
          <a:p>
            <a:pPr algn="ctr">
              <a:lnSpc>
                <a:spcPct val="110000"/>
              </a:lnSpc>
            </a:pPr>
            <a:r>
              <a:rPr sz="1400" b="0" i="0">
                <a:solidFill>
                  <a:srgbClr val="222A35"/>
                </a:solidFill>
                <a:latin typeface="Arial"/>
              </a:rPr>
              <a:t>AutoGLM picks</a:t>
            </a:r>
          </a:p>
          <a:p>
            <a:pPr algn="ctr">
              <a:lnSpc>
                <a:spcPct val="110000"/>
              </a:lnSpc>
            </a:pPr>
            <a:r>
              <a:rPr sz="1400" b="0" i="0">
                <a:solidFill>
                  <a:srgbClr val="222A35"/>
                </a:solidFill>
                <a:latin typeface="Arial"/>
              </a:rPr>
              <a:t>one action</a:t>
            </a:r>
          </a:p>
        </p:txBody>
      </p:sp>
      <p:cxnSp>
        <p:nvCxnSpPr>
          <p:cNvPr id="16" name="Connector 15"/>
          <p:cNvCxnSpPr/>
          <p:nvPr/>
        </p:nvCxnSpPr>
        <p:spPr>
          <a:xfrm>
            <a:off x="4782312" y="2624328"/>
            <a:ext cx="31089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20640" y="1737360"/>
            <a:ext cx="1874519" cy="1828800"/>
          </a:xfrm>
          <a:prstGeom prst="roundRect">
            <a:avLst>
              <a:gd name="adj" fmla="val 8000"/>
            </a:avLst>
          </a:prstGeom>
          <a:solidFill>
            <a:srgbClr val="FC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212080" y="1920240"/>
            <a:ext cx="1691640" cy="365760"/>
          </a:xfrm>
          <a:prstGeom prst="rect">
            <a:avLst/>
          </a:prstGeom>
          <a:noFill/>
        </p:spPr>
        <p:txBody>
          <a:bodyPr wrap="square" anchor="t" lIns="73152" rIns="73152">
            <a:spAutoFit/>
          </a:bodyPr>
          <a:lstStyle/>
          <a:p>
            <a:pPr algn="ctr">
              <a:lnSpc>
                <a:spcPct val="110000"/>
              </a:lnSpc>
            </a:pPr>
            <a:r>
              <a:rPr sz="1600" b="1" i="0">
                <a:solidFill>
                  <a:srgbClr val="072140"/>
                </a:solidFill>
                <a:latin typeface="Arial"/>
              </a:rPr>
              <a:t>3  Check</a:t>
            </a:r>
          </a:p>
        </p:txBody>
      </p:sp>
      <p:sp>
        <p:nvSpPr>
          <p:cNvPr id="19" name="TextBox 18"/>
          <p:cNvSpPr txBox="1"/>
          <p:nvPr/>
        </p:nvSpPr>
        <p:spPr>
          <a:xfrm>
            <a:off x="5193792" y="2286000"/>
            <a:ext cx="1728216" cy="1234440"/>
          </a:xfrm>
          <a:prstGeom prst="rect">
            <a:avLst/>
          </a:prstGeom>
          <a:noFill/>
        </p:spPr>
        <p:txBody>
          <a:bodyPr wrap="square" anchor="t" lIns="73152" rIns="73152">
            <a:spAutoFit/>
          </a:bodyPr>
          <a:lstStyle/>
          <a:p>
            <a:pPr algn="ctr">
              <a:lnSpc>
                <a:spcPct val="110000"/>
              </a:lnSpc>
            </a:pPr>
            <a:r>
              <a:rPr sz="1400" b="0" i="0">
                <a:solidFill>
                  <a:srgbClr val="222A35"/>
                </a:solidFill>
                <a:latin typeface="Arial"/>
              </a:rPr>
              <a:t>Format, screen point,</a:t>
            </a:r>
          </a:p>
          <a:p>
            <a:pPr algn="ctr">
              <a:lnSpc>
                <a:spcPct val="110000"/>
              </a:lnSpc>
            </a:pPr>
            <a:r>
              <a:rPr sz="1400" b="0" i="0">
                <a:solidFill>
                  <a:srgbClr val="222A35"/>
                </a:solidFill>
                <a:latin typeface="Arial"/>
              </a:rPr>
              <a:t>focus, task rules</a:t>
            </a:r>
          </a:p>
        </p:txBody>
      </p:sp>
      <p:cxnSp>
        <p:nvCxnSpPr>
          <p:cNvPr id="20" name="Connector 19"/>
          <p:cNvCxnSpPr/>
          <p:nvPr/>
        </p:nvCxnSpPr>
        <p:spPr>
          <a:xfrm>
            <a:off x="7022592" y="2624328"/>
            <a:ext cx="31089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60920" y="1737360"/>
            <a:ext cx="1874519" cy="1828800"/>
          </a:xfrm>
          <a:prstGeom prst="roundRect">
            <a:avLst>
              <a:gd name="adj" fmla="val 8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52360" y="1920240"/>
            <a:ext cx="1691640" cy="365760"/>
          </a:xfrm>
          <a:prstGeom prst="rect">
            <a:avLst/>
          </a:prstGeom>
          <a:noFill/>
        </p:spPr>
        <p:txBody>
          <a:bodyPr wrap="square" anchor="t" lIns="73152" rIns="73152">
            <a:spAutoFit/>
          </a:bodyPr>
          <a:lstStyle/>
          <a:p>
            <a:pPr algn="ctr">
              <a:lnSpc>
                <a:spcPct val="110000"/>
              </a:lnSpc>
            </a:pPr>
            <a:r>
              <a:rPr sz="1600" b="1" i="0">
                <a:solidFill>
                  <a:srgbClr val="072140"/>
                </a:solidFill>
                <a:latin typeface="Arial"/>
              </a:rPr>
              <a:t>4  Act</a:t>
            </a:r>
          </a:p>
        </p:txBody>
      </p:sp>
      <p:sp>
        <p:nvSpPr>
          <p:cNvPr id="23" name="TextBox 22"/>
          <p:cNvSpPr txBox="1"/>
          <p:nvPr/>
        </p:nvSpPr>
        <p:spPr>
          <a:xfrm>
            <a:off x="7434072" y="2286000"/>
            <a:ext cx="1728216" cy="1234440"/>
          </a:xfrm>
          <a:prstGeom prst="rect">
            <a:avLst/>
          </a:prstGeom>
          <a:noFill/>
        </p:spPr>
        <p:txBody>
          <a:bodyPr wrap="square" anchor="t" lIns="73152" rIns="73152">
            <a:spAutoFit/>
          </a:bodyPr>
          <a:lstStyle/>
          <a:p>
            <a:pPr algn="ctr">
              <a:lnSpc>
                <a:spcPct val="110000"/>
              </a:lnSpc>
            </a:pPr>
            <a:r>
              <a:rPr sz="1400" b="0" i="0">
                <a:solidFill>
                  <a:srgbClr val="222A35"/>
                </a:solidFill>
                <a:latin typeface="Arial"/>
              </a:rPr>
              <a:t>Tap, type, swipe,</a:t>
            </a:r>
          </a:p>
          <a:p>
            <a:pPr algn="ctr">
              <a:lnSpc>
                <a:spcPct val="110000"/>
              </a:lnSpc>
            </a:pPr>
            <a:r>
              <a:rPr sz="1400" b="0" i="0">
                <a:solidFill>
                  <a:srgbClr val="222A35"/>
                </a:solidFill>
                <a:latin typeface="Arial"/>
              </a:rPr>
              <a:t>launch, back</a:t>
            </a:r>
          </a:p>
        </p:txBody>
      </p:sp>
      <p:cxnSp>
        <p:nvCxnSpPr>
          <p:cNvPr id="24" name="Connector 23"/>
          <p:cNvCxnSpPr/>
          <p:nvPr/>
        </p:nvCxnSpPr>
        <p:spPr>
          <a:xfrm>
            <a:off x="9262872" y="2624328"/>
            <a:ext cx="31089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01200" y="1737360"/>
            <a:ext cx="1874519" cy="1828800"/>
          </a:xfrm>
          <a:prstGeom prst="roundRect">
            <a:avLst>
              <a:gd name="adj" fmla="val 8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92640" y="1920240"/>
            <a:ext cx="1691640" cy="365760"/>
          </a:xfrm>
          <a:prstGeom prst="rect">
            <a:avLst/>
          </a:prstGeom>
          <a:noFill/>
        </p:spPr>
        <p:txBody>
          <a:bodyPr wrap="square" anchor="t" lIns="73152" rIns="73152">
            <a:spAutoFit/>
          </a:bodyPr>
          <a:lstStyle/>
          <a:p>
            <a:pPr algn="ctr">
              <a:lnSpc>
                <a:spcPct val="110000"/>
              </a:lnSpc>
            </a:pPr>
            <a:r>
              <a:rPr sz="1600" b="1" i="0">
                <a:solidFill>
                  <a:srgbClr val="072140"/>
                </a:solidFill>
                <a:latin typeface="Arial"/>
              </a:rPr>
              <a:t>5  Record</a:t>
            </a:r>
          </a:p>
        </p:txBody>
      </p:sp>
      <p:sp>
        <p:nvSpPr>
          <p:cNvPr id="27" name="TextBox 26"/>
          <p:cNvSpPr txBox="1"/>
          <p:nvPr/>
        </p:nvSpPr>
        <p:spPr>
          <a:xfrm>
            <a:off x="9674352" y="2286000"/>
            <a:ext cx="1728216" cy="1234440"/>
          </a:xfrm>
          <a:prstGeom prst="rect">
            <a:avLst/>
          </a:prstGeom>
          <a:noFill/>
        </p:spPr>
        <p:txBody>
          <a:bodyPr wrap="square" anchor="t" lIns="73152" rIns="73152">
            <a:spAutoFit/>
          </a:bodyPr>
          <a:lstStyle/>
          <a:p>
            <a:pPr algn="ctr">
              <a:lnSpc>
                <a:spcPct val="110000"/>
              </a:lnSpc>
            </a:pPr>
            <a:r>
              <a:rPr sz="1400" b="0" i="0">
                <a:solidFill>
                  <a:srgbClr val="222A35"/>
                </a:solidFill>
                <a:latin typeface="Arial"/>
              </a:rPr>
              <a:t>Trajectory log</a:t>
            </a:r>
          </a:p>
          <a:p>
            <a:pPr algn="ctr">
              <a:lnSpc>
                <a:spcPct val="110000"/>
              </a:lnSpc>
            </a:pPr>
            <a:r>
              <a:rPr sz="1400" b="0" i="0">
                <a:solidFill>
                  <a:srgbClr val="222A35"/>
                </a:solidFill>
                <a:latin typeface="Arial"/>
              </a:rPr>
              <a:t>+ screen video</a:t>
            </a:r>
          </a:p>
        </p:txBody>
      </p:sp>
      <p:sp>
        <p:nvSpPr>
          <p:cNvPr id="28" name="TextBox 27"/>
          <p:cNvSpPr txBox="1"/>
          <p:nvPr/>
        </p:nvSpPr>
        <p:spPr>
          <a:xfrm>
            <a:off x="640080" y="3931920"/>
            <a:ext cx="10881360" cy="411480"/>
          </a:xfrm>
          <a:prstGeom prst="rect">
            <a:avLst/>
          </a:prstGeom>
          <a:solidFill>
            <a:srgbClr val="F2F5F9"/>
          </a:solidFill>
        </p:spPr>
        <p:txBody>
          <a:bodyPr wrap="square" anchor="t" lIns="73152" rIns="73152">
            <a:spAutoFit/>
          </a:bodyPr>
          <a:lstStyle/>
          <a:p>
            <a:pPr algn="ctr">
              <a:lnSpc>
                <a:spcPct val="110000"/>
              </a:lnSpc>
            </a:pPr>
            <a:r>
              <a:rPr sz="1500" b="1" i="0">
                <a:solidFill>
                  <a:srgbClr val="0065BD"/>
                </a:solidFill>
                <a:latin typeface="Arial"/>
              </a:rPr>
              <a:t>repeat until the model says finish, or the step budget ends  →  official AndroidWorld verifier: PASS / FAIL</a:t>
            </a:r>
          </a:p>
        </p:txBody>
      </p:sp>
      <p:sp>
        <p:nvSpPr>
          <p:cNvPr id="29" name="Rectangle 28"/>
          <p:cNvSpPr/>
          <p:nvPr/>
        </p:nvSpPr>
        <p:spPr>
          <a:xfrm>
            <a:off x="640080" y="4617720"/>
            <a:ext cx="5303520" cy="16002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40080" y="4617720"/>
            <a:ext cx="54864" cy="1600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04671" y="4709159"/>
            <a:ext cx="504748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step() in AutoGLMAgent (autoglm_agent.py)</a:t>
            </a:r>
          </a:p>
        </p:txBody>
      </p:sp>
      <p:sp>
        <p:nvSpPr>
          <p:cNvPr id="32" name="TextBox 31"/>
          <p:cNvSpPr txBox="1"/>
          <p:nvPr/>
        </p:nvSpPr>
        <p:spPr>
          <a:xfrm>
            <a:off x="804671" y="5120640"/>
            <a:ext cx="5029200" cy="105156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Reads the screen and the task, chooses one action, checks it, executes it, and reports whether the model said it is done.</a:t>
            </a:r>
          </a:p>
        </p:txBody>
      </p:sp>
      <p:sp>
        <p:nvSpPr>
          <p:cNvPr id="33" name="Rectangle 32"/>
          <p:cNvSpPr/>
          <p:nvPr/>
        </p:nvSpPr>
        <p:spPr>
          <a:xfrm>
            <a:off x="6217920" y="4617720"/>
            <a:ext cx="5303520" cy="16002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217920" y="4617720"/>
            <a:ext cx="54864" cy="1600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82512" y="4709159"/>
            <a:ext cx="504748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Same agent for all seven tasks</a:t>
            </a:r>
          </a:p>
        </p:txBody>
      </p:sp>
      <p:sp>
        <p:nvSpPr>
          <p:cNvPr id="36" name="TextBox 35"/>
          <p:cNvSpPr txBox="1"/>
          <p:nvPr/>
        </p:nvSpPr>
        <p:spPr>
          <a:xfrm>
            <a:off x="6382512" y="5120640"/>
            <a:ext cx="5029200" cy="105156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Task-specific knowledge is loaded as data (completion rule, optional Skill). The model still decides every 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AGENT DESIGN</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Context and Skills: what goes into each model request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7</a:t>
            </a:r>
          </a:p>
        </p:txBody>
      </p:sp>
      <p:sp>
        <p:nvSpPr>
          <p:cNvPr id="9" name="Rectangle 8"/>
          <p:cNvSpPr/>
          <p:nvPr/>
        </p:nvSpPr>
        <p:spPr>
          <a:xfrm>
            <a:off x="640080" y="1554480"/>
            <a:ext cx="3520440" cy="36118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1554480"/>
            <a:ext cx="54864" cy="361188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 y="1645920"/>
            <a:ext cx="3264408" cy="365760"/>
          </a:xfrm>
          <a:prstGeom prst="rect">
            <a:avLst/>
          </a:prstGeom>
          <a:noFill/>
        </p:spPr>
        <p:txBody>
          <a:bodyPr wrap="square" anchor="t" lIns="73152" rIns="73152">
            <a:spAutoFit/>
          </a:bodyPr>
          <a:lstStyle/>
          <a:p>
            <a:pPr algn="l">
              <a:lnSpc>
                <a:spcPct val="110000"/>
              </a:lnSpc>
            </a:pPr>
            <a:r>
              <a:rPr sz="1800" b="1" i="0">
                <a:solidFill>
                  <a:srgbClr val="072140"/>
                </a:solidFill>
                <a:latin typeface="Arial"/>
              </a:rPr>
              <a:t>Every request</a:t>
            </a:r>
          </a:p>
        </p:txBody>
      </p:sp>
      <p:sp>
        <p:nvSpPr>
          <p:cNvPr id="12" name="TextBox 11"/>
          <p:cNvSpPr txBox="1"/>
          <p:nvPr/>
        </p:nvSpPr>
        <p:spPr>
          <a:xfrm>
            <a:off x="804671" y="2057400"/>
            <a:ext cx="3246120" cy="306324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System prompt: action rules</a:t>
            </a:r>
          </a:p>
          <a:p>
            <a:pPr>
              <a:lnSpc>
                <a:spcPct val="108000"/>
              </a:lnSpc>
              <a:spcAft>
                <a:spcPts val="300"/>
              </a:spcAft>
            </a:pPr>
            <a:r>
              <a:rPr sz="1500">
                <a:solidFill>
                  <a:srgbClr val="0065BD"/>
                </a:solidFill>
                <a:latin typeface="Arial"/>
              </a:rPr>
              <a:t>▪  </a:t>
            </a:r>
            <a:r>
              <a:rPr sz="1500" b="0">
                <a:solidFill>
                  <a:srgbClr val="222A35"/>
                </a:solidFill>
                <a:latin typeface="Arial"/>
              </a:rPr>
              <a:t>Completion rule: what “done” looks like</a:t>
            </a:r>
          </a:p>
          <a:p>
            <a:pPr>
              <a:lnSpc>
                <a:spcPct val="108000"/>
              </a:lnSpc>
              <a:spcAft>
                <a:spcPts val="300"/>
              </a:spcAft>
            </a:pPr>
            <a:r>
              <a:rPr sz="1500">
                <a:solidFill>
                  <a:srgbClr val="0065BD"/>
                </a:solidFill>
                <a:latin typeface="Arial"/>
              </a:rPr>
              <a:t>▪  </a:t>
            </a:r>
            <a:r>
              <a:rPr sz="1500" b="0">
                <a:solidFill>
                  <a:srgbClr val="222A35"/>
                </a:solidFill>
                <a:latin typeface="Arial"/>
              </a:rPr>
              <a:t>Last 20 steps of history</a:t>
            </a:r>
          </a:p>
          <a:p>
            <a:pPr>
              <a:lnSpc>
                <a:spcPct val="108000"/>
              </a:lnSpc>
              <a:spcAft>
                <a:spcPts val="300"/>
              </a:spcAft>
            </a:pPr>
            <a:r>
              <a:rPr sz="1500">
                <a:solidFill>
                  <a:srgbClr val="0065BD"/>
                </a:solidFill>
                <a:latin typeface="Arial"/>
              </a:rPr>
              <a:t>▪  </a:t>
            </a:r>
            <a:r>
              <a:rPr sz="1500" b="0">
                <a:solidFill>
                  <a:srgbClr val="222A35"/>
                </a:solidFill>
                <a:latin typeface="Arial"/>
              </a:rPr>
              <a:t>Newest screenshot</a:t>
            </a:r>
          </a:p>
          <a:p>
            <a:pPr>
              <a:lnSpc>
                <a:spcPct val="108000"/>
              </a:lnSpc>
              <a:spcAft>
                <a:spcPts val="300"/>
              </a:spcAft>
            </a:pPr>
            <a:r>
              <a:rPr sz="1500">
                <a:solidFill>
                  <a:srgbClr val="0065BD"/>
                </a:solidFill>
                <a:latin typeface="Arial"/>
              </a:rPr>
              <a:t>▪  </a:t>
            </a:r>
            <a:r>
              <a:rPr sz="1500" b="0">
                <a:solidFill>
                  <a:srgbClr val="222A35"/>
                </a:solidFill>
                <a:latin typeface="Arial"/>
              </a:rPr>
              <a:t>Status: step number, last result</a:t>
            </a:r>
          </a:p>
        </p:txBody>
      </p:sp>
      <p:sp>
        <p:nvSpPr>
          <p:cNvPr id="13" name="Rectangle 12"/>
          <p:cNvSpPr/>
          <p:nvPr/>
        </p:nvSpPr>
        <p:spPr>
          <a:xfrm>
            <a:off x="4343400" y="1554480"/>
            <a:ext cx="3520440" cy="36118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43400" y="1554480"/>
            <a:ext cx="54864" cy="361188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07992" y="1645920"/>
            <a:ext cx="3264408" cy="365760"/>
          </a:xfrm>
          <a:prstGeom prst="rect">
            <a:avLst/>
          </a:prstGeom>
          <a:noFill/>
        </p:spPr>
        <p:txBody>
          <a:bodyPr wrap="square" anchor="t" lIns="73152" rIns="73152">
            <a:spAutoFit/>
          </a:bodyPr>
          <a:lstStyle/>
          <a:p>
            <a:pPr algn="l">
              <a:lnSpc>
                <a:spcPct val="110000"/>
              </a:lnSpc>
            </a:pPr>
            <a:r>
              <a:rPr sz="1800" b="1" i="0">
                <a:solidFill>
                  <a:srgbClr val="072140"/>
                </a:solidFill>
                <a:latin typeface="Arial"/>
              </a:rPr>
              <a:t>Markor Skill (text)</a:t>
            </a:r>
          </a:p>
        </p:txBody>
      </p:sp>
      <p:sp>
        <p:nvSpPr>
          <p:cNvPr id="16" name="TextBox 15"/>
          <p:cNvSpPr txBox="1"/>
          <p:nvPr/>
        </p:nvSpPr>
        <p:spPr>
          <a:xfrm>
            <a:off x="4507992" y="2057400"/>
            <a:ext cx="3246120" cy="306324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Loaded only for this task</a:t>
            </a:r>
          </a:p>
          <a:p>
            <a:pPr>
              <a:lnSpc>
                <a:spcPct val="108000"/>
              </a:lnSpc>
              <a:spcAft>
                <a:spcPts val="300"/>
              </a:spcAft>
            </a:pPr>
            <a:r>
              <a:rPr sz="1500">
                <a:solidFill>
                  <a:srgbClr val="0065BD"/>
                </a:solidFill>
                <a:latin typeface="Arial"/>
              </a:rPr>
              <a:t>▪  </a:t>
            </a:r>
            <a:r>
              <a:rPr sz="1500" b="0">
                <a:solidFill>
                  <a:srgbClr val="222A35"/>
                </a:solidFill>
                <a:latin typeface="Arial"/>
              </a:rPr>
              <a:t>Fact: Share attaches the file and makes a failing MMS</a:t>
            </a:r>
          </a:p>
          <a:p>
            <a:pPr>
              <a:lnSpc>
                <a:spcPct val="108000"/>
              </a:lnSpc>
              <a:spcAft>
                <a:spcPts val="300"/>
              </a:spcAft>
            </a:pPr>
            <a:r>
              <a:rPr sz="1500">
                <a:solidFill>
                  <a:srgbClr val="0065BD"/>
                </a:solidFill>
                <a:latin typeface="Arial"/>
              </a:rPr>
              <a:t>▪  </a:t>
            </a:r>
            <a:r>
              <a:rPr sz="1500" b="0">
                <a:solidFill>
                  <a:srgbClr val="222A35"/>
                </a:solidFill>
                <a:latin typeface="Arial"/>
              </a:rPr>
              <a:t>Procedure: name + extension, Save, launch SMS, plain text, SMS button</a:t>
            </a:r>
          </a:p>
          <a:p>
            <a:pPr>
              <a:lnSpc>
                <a:spcPct val="108000"/>
              </a:lnSpc>
              <a:spcAft>
                <a:spcPts val="300"/>
              </a:spcAft>
            </a:pPr>
            <a:r>
              <a:rPr sz="1500">
                <a:solidFill>
                  <a:srgbClr val="0065BD"/>
                </a:solidFill>
                <a:latin typeface="Arial"/>
              </a:rPr>
              <a:t>▪  </a:t>
            </a:r>
            <a:r>
              <a:rPr sz="1500" b="0">
                <a:solidFill>
                  <a:srgbClr val="222A35"/>
                </a:solidFill>
                <a:latin typeface="Arial"/>
              </a:rPr>
              <a:t>Repeated each step as a reminder</a:t>
            </a:r>
          </a:p>
        </p:txBody>
      </p:sp>
      <p:sp>
        <p:nvSpPr>
          <p:cNvPr id="17" name="Rectangle 16"/>
          <p:cNvSpPr/>
          <p:nvPr/>
        </p:nvSpPr>
        <p:spPr>
          <a:xfrm>
            <a:off x="8046720" y="1554480"/>
            <a:ext cx="3520440" cy="36118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46720" y="1554480"/>
            <a:ext cx="54864" cy="361188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11312" y="1645920"/>
            <a:ext cx="3264408" cy="365760"/>
          </a:xfrm>
          <a:prstGeom prst="rect">
            <a:avLst/>
          </a:prstGeom>
          <a:noFill/>
        </p:spPr>
        <p:txBody>
          <a:bodyPr wrap="square" anchor="t" lIns="73152" rIns="73152">
            <a:spAutoFit/>
          </a:bodyPr>
          <a:lstStyle/>
          <a:p>
            <a:pPr algn="l">
              <a:lnSpc>
                <a:spcPct val="110000"/>
              </a:lnSpc>
            </a:pPr>
            <a:r>
              <a:rPr sz="1800" b="1" i="0">
                <a:solidFill>
                  <a:srgbClr val="072140"/>
                </a:solidFill>
                <a:latin typeface="Arial"/>
              </a:rPr>
              <a:t>OsmAnd Skill (code)</a:t>
            </a:r>
          </a:p>
        </p:txBody>
      </p:sp>
      <p:sp>
        <p:nvSpPr>
          <p:cNvPr id="20" name="TextBox 19"/>
          <p:cNvSpPr txBox="1"/>
          <p:nvPr/>
        </p:nvSpPr>
        <p:spPr>
          <a:xfrm>
            <a:off x="8211312" y="2057400"/>
            <a:ext cx="3246120" cy="306324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Recognises the screen from the GUI tree</a:t>
            </a:r>
          </a:p>
          <a:p>
            <a:pPr>
              <a:lnSpc>
                <a:spcPct val="108000"/>
              </a:lnSpc>
              <a:spcAft>
                <a:spcPts val="300"/>
              </a:spcAft>
            </a:pPr>
            <a:r>
              <a:rPr sz="1500">
                <a:solidFill>
                  <a:srgbClr val="0065BD"/>
                </a:solidFill>
                <a:latin typeface="Arial"/>
              </a:rPr>
              <a:t>▪  </a:t>
            </a:r>
            <a:r>
              <a:rPr sz="1500" b="0">
                <a:solidFill>
                  <a:srgbClr val="222A35"/>
                </a:solidFill>
                <a:latin typeface="Arial"/>
              </a:rPr>
              <a:t>States the next step and its tap centre</a:t>
            </a:r>
          </a:p>
          <a:p>
            <a:pPr>
              <a:lnSpc>
                <a:spcPct val="108000"/>
              </a:lnSpc>
              <a:spcAft>
                <a:spcPts val="300"/>
              </a:spcAft>
            </a:pPr>
            <a:r>
              <a:rPr sz="1500">
                <a:solidFill>
                  <a:srgbClr val="0065BD"/>
                </a:solidFill>
                <a:latin typeface="Arial"/>
              </a:rPr>
              <a:t>▪  </a:t>
            </a:r>
            <a:r>
              <a:rPr sz="1500" b="0">
                <a:solidFill>
                  <a:srgbClr val="222A35"/>
                </a:solidFill>
                <a:latin typeface="Arial"/>
              </a:rPr>
              <a:t>Refuses actions the screen shows to be wrong</a:t>
            </a:r>
          </a:p>
          <a:p>
            <a:pPr>
              <a:lnSpc>
                <a:spcPct val="108000"/>
              </a:lnSpc>
              <a:spcAft>
                <a:spcPts val="300"/>
              </a:spcAft>
            </a:pPr>
            <a:r>
              <a:rPr sz="1500">
                <a:solidFill>
                  <a:srgbClr val="0065BD"/>
                </a:solidFill>
                <a:latin typeface="Arial"/>
              </a:rPr>
              <a:t>▪  </a:t>
            </a:r>
            <a:r>
              <a:rPr sz="1500" b="0">
                <a:solidFill>
                  <a:srgbClr val="222A35"/>
                </a:solidFill>
                <a:latin typeface="Arial"/>
              </a:rPr>
              <a:t>Model still chooses every action</a:t>
            </a:r>
          </a:p>
        </p:txBody>
      </p:sp>
      <p:sp>
        <p:nvSpPr>
          <p:cNvPr id="21" name="TextBox 20"/>
          <p:cNvSpPr txBox="1"/>
          <p:nvPr/>
        </p:nvSpPr>
        <p:spPr>
          <a:xfrm>
            <a:off x="640080" y="5394960"/>
            <a:ext cx="10927080" cy="685800"/>
          </a:xfrm>
          <a:prstGeom prst="rect">
            <a:avLst/>
          </a:prstGeom>
          <a:solidFill>
            <a:srgbClr val="F2F5F9"/>
          </a:solidFill>
        </p:spPr>
        <p:txBody>
          <a:bodyPr wrap="square" anchor="ctr" lIns="73152" rIns="73152">
            <a:spAutoFit/>
          </a:bodyPr>
          <a:lstStyle/>
          <a:p>
            <a:pPr algn="ctr">
              <a:lnSpc>
                <a:spcPct val="110000"/>
              </a:lnSpc>
            </a:pPr>
            <a:r>
              <a:rPr sz="1700" b="1" i="0">
                <a:solidFill>
                  <a:srgbClr val="0065BD"/>
                </a:solidFill>
                <a:latin typeface="Arial"/>
              </a:rPr>
              <a:t>No fixed list of taps: Skills add app knowledge, the model makes every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AGENT DESIGN</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A safety net: actions are checked before they reach the phone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8</a:t>
            </a:r>
          </a:p>
        </p:txBody>
      </p:sp>
      <p:graphicFrame>
        <p:nvGraphicFramePr>
          <p:cNvPr id="9" name="Table 8"/>
          <p:cNvGraphicFramePr>
            <a:graphicFrameLocks noGrp="1"/>
          </p:cNvGraphicFramePr>
          <p:nvPr/>
        </p:nvGraphicFramePr>
        <p:xfrm>
          <a:off x="640080" y="1554480"/>
          <a:ext cx="6675120" cy="2468880"/>
        </p:xfrm>
        <a:graphic>
          <a:graphicData uri="http://schemas.openxmlformats.org/drawingml/2006/table">
            <a:tbl>
              <a:tblPr firstRow="1" bandRow="1">
                <a:tableStyleId>{5C22544A-7EE6-4342-B048-85BDC9FD1C3A}</a:tableStyleId>
              </a:tblPr>
              <a:tblGrid>
                <a:gridCol w="2377440"/>
                <a:gridCol w="3291840"/>
                <a:gridCol w="1005840"/>
              </a:tblGrid>
              <a:tr h="411480">
                <a:tc>
                  <a:txBody>
                    <a:bodyPr wrap="square"/>
                    <a:lstStyle/>
                    <a:p>
                      <a:r>
                        <a:rPr sz="1300" b="1">
                          <a:solidFill>
                            <a:srgbClr val="FFFFFF"/>
                          </a:solidFill>
                          <a:latin typeface="Arial"/>
                        </a:rPr>
                        <a:t>Check</a:t>
                      </a:r>
                    </a:p>
                  </a:txBody>
                  <a:tcPr marL="54864" marR="54864" marT="27432" marB="27432" anchor="ctr">
                    <a:solidFill>
                      <a:srgbClr val="072140"/>
                    </a:solidFill>
                  </a:tcPr>
                </a:tc>
                <a:tc>
                  <a:txBody>
                    <a:bodyPr wrap="square"/>
                    <a:lstStyle/>
                    <a:p>
                      <a:r>
                        <a:rPr sz="1300" b="1">
                          <a:solidFill>
                            <a:srgbClr val="FFFFFF"/>
                          </a:solidFill>
                          <a:latin typeface="Arial"/>
                        </a:rPr>
                        <a:t>Why</a:t>
                      </a:r>
                    </a:p>
                  </a:txBody>
                  <a:tcPr marL="54864" marR="54864" marT="27432" marB="27432" anchor="ctr">
                    <a:solidFill>
                      <a:srgbClr val="072140"/>
                    </a:solidFill>
                  </a:tcPr>
                </a:tc>
                <a:tc>
                  <a:txBody>
                    <a:bodyPr wrap="square"/>
                    <a:lstStyle/>
                    <a:p>
                      <a:pPr algn="ctr"/>
                      <a:r>
                        <a:rPr sz="1300" b="1">
                          <a:solidFill>
                            <a:srgbClr val="FFFFFF"/>
                          </a:solidFill>
                          <a:latin typeface="Arial"/>
                        </a:rPr>
                        <a:t>Final runs</a:t>
                      </a:r>
                    </a:p>
                  </a:txBody>
                  <a:tcPr marL="54864" marR="54864" marT="27432" marB="27432" anchor="ctr">
                    <a:solidFill>
                      <a:srgbClr val="072140"/>
                    </a:solidFill>
                  </a:tcPr>
                </a:tc>
              </a:tr>
              <a:tr h="411480">
                <a:tc>
                  <a:txBody>
                    <a:bodyPr wrap="square"/>
                    <a:lstStyle/>
                    <a:p>
                      <a:r>
                        <a:rPr sz="1300" b="1">
                          <a:solidFill>
                            <a:srgbClr val="222A35"/>
                          </a:solidFill>
                          <a:latin typeface="Arial"/>
                        </a:rPr>
                        <a:t>Type with no focused text field</a:t>
                      </a:r>
                    </a:p>
                  </a:txBody>
                  <a:tcPr marL="54864" marR="54864" marT="27432" marB="27432" anchor="ctr">
                    <a:solidFill>
                      <a:srgbClr val="FFFFFF"/>
                    </a:solidFill>
                  </a:tcPr>
                </a:tc>
                <a:tc>
                  <a:txBody>
                    <a:bodyPr wrap="square"/>
                    <a:lstStyle/>
                    <a:p>
                      <a:r>
                        <a:rPr sz="1300" b="0">
                          <a:solidFill>
                            <a:srgbClr val="222A35"/>
                          </a:solidFill>
                          <a:latin typeface="Arial"/>
                        </a:rPr>
                        <a:t>Text would go nowhere</a:t>
                      </a:r>
                    </a:p>
                  </a:txBody>
                  <a:tcPr marL="54864" marR="54864" marT="27432" marB="27432" anchor="ctr">
                    <a:solidFill>
                      <a:srgbClr val="FFFFFF"/>
                    </a:solidFill>
                  </a:tcPr>
                </a:tc>
                <a:tc>
                  <a:txBody>
                    <a:bodyPr wrap="square"/>
                    <a:lstStyle/>
                    <a:p>
                      <a:pPr algn="ctr"/>
                      <a:r>
                        <a:rPr sz="1300" b="0">
                          <a:solidFill>
                            <a:srgbClr val="222A35"/>
                          </a:solidFill>
                          <a:latin typeface="Arial"/>
                        </a:rPr>
                        <a:t>3</a:t>
                      </a:r>
                    </a:p>
                  </a:txBody>
                  <a:tcPr marL="54864" marR="54864" marT="27432" marB="27432" anchor="ctr">
                    <a:solidFill>
                      <a:srgbClr val="FFFFFF"/>
                    </a:solidFill>
                  </a:tcPr>
                </a:tc>
              </a:tr>
              <a:tr h="411480">
                <a:tc>
                  <a:txBody>
                    <a:bodyPr wrap="square"/>
                    <a:lstStyle/>
                    <a:p>
                      <a:r>
                        <a:rPr sz="1300" b="1">
                          <a:solidFill>
                            <a:srgbClr val="222A35"/>
                          </a:solidFill>
                          <a:latin typeface="Arial"/>
                        </a:rPr>
                        <a:t>Malformed reply</a:t>
                      </a:r>
                    </a:p>
                  </a:txBody>
                  <a:tcPr marL="54864" marR="54864" marT="27432" marB="27432" anchor="ctr">
                    <a:solidFill>
                      <a:srgbClr val="F2F5F9"/>
                    </a:solidFill>
                  </a:tcPr>
                </a:tc>
                <a:tc>
                  <a:txBody>
                    <a:bodyPr wrap="square"/>
                    <a:lstStyle/>
                    <a:p>
                      <a:r>
                        <a:rPr sz="1300" b="0">
                          <a:solidFill>
                            <a:srgbClr val="222A35"/>
                          </a:solidFill>
                          <a:latin typeface="Arial"/>
                        </a:rPr>
                        <a:t>Not exactly one action</a:t>
                      </a:r>
                    </a:p>
                  </a:txBody>
                  <a:tcPr marL="54864" marR="54864" marT="27432" marB="27432" anchor="ctr">
                    <a:solidFill>
                      <a:srgbClr val="F2F5F9"/>
                    </a:solidFill>
                  </a:tcPr>
                </a:tc>
                <a:tc>
                  <a:txBody>
                    <a:bodyPr wrap="square"/>
                    <a:lstStyle/>
                    <a:p>
                      <a:pPr algn="ctr"/>
                      <a:r>
                        <a:rPr sz="1300" b="0">
                          <a:solidFill>
                            <a:srgbClr val="222A35"/>
                          </a:solidFill>
                          <a:latin typeface="Arial"/>
                        </a:rPr>
                        <a:t>2</a:t>
                      </a:r>
                    </a:p>
                  </a:txBody>
                  <a:tcPr marL="54864" marR="54864" marT="27432" marB="27432" anchor="ctr">
                    <a:solidFill>
                      <a:srgbClr val="F2F5F9"/>
                    </a:solidFill>
                  </a:tcPr>
                </a:tc>
              </a:tr>
              <a:tr h="411480">
                <a:tc>
                  <a:txBody>
                    <a:bodyPr wrap="square"/>
                    <a:lstStyle/>
                    <a:p>
                      <a:r>
                        <a:rPr sz="1300" b="1">
                          <a:solidFill>
                            <a:srgbClr val="222A35"/>
                          </a:solidFill>
                          <a:latin typeface="Arial"/>
                        </a:rPr>
                        <a:t>Unsupported action</a:t>
                      </a:r>
                    </a:p>
                  </a:txBody>
                  <a:tcPr marL="54864" marR="54864" marT="27432" marB="27432" anchor="ctr">
                    <a:solidFill>
                      <a:srgbClr val="FFFFFF"/>
                    </a:solidFill>
                  </a:tcPr>
                </a:tc>
                <a:tc>
                  <a:txBody>
                    <a:bodyPr wrap="square"/>
                    <a:lstStyle/>
                    <a:p>
                      <a:r>
                        <a:rPr sz="1300" b="0">
                          <a:solidFill>
                            <a:srgbClr val="222A35"/>
                          </a:solidFill>
                          <a:latin typeface="Arial"/>
                        </a:rPr>
                        <a:t>Not in the action list</a:t>
                      </a:r>
                    </a:p>
                  </a:txBody>
                  <a:tcPr marL="54864" marR="54864" marT="27432" marB="27432" anchor="ctr">
                    <a:solidFill>
                      <a:srgbClr val="FFFFFF"/>
                    </a:solidFill>
                  </a:tcPr>
                </a:tc>
                <a:tc>
                  <a:txBody>
                    <a:bodyPr wrap="square"/>
                    <a:lstStyle/>
                    <a:p>
                      <a:pPr algn="ctr"/>
                      <a:r>
                        <a:rPr sz="1300" b="0">
                          <a:solidFill>
                            <a:srgbClr val="222A35"/>
                          </a:solidFill>
                          <a:latin typeface="Arial"/>
                        </a:rPr>
                        <a:t>1</a:t>
                      </a:r>
                    </a:p>
                  </a:txBody>
                  <a:tcPr marL="54864" marR="54864" marT="27432" marB="27432" anchor="ctr">
                    <a:solidFill>
                      <a:srgbClr val="FFFFFF"/>
                    </a:solidFill>
                  </a:tcPr>
                </a:tc>
              </a:tr>
              <a:tr h="411480">
                <a:tc>
                  <a:txBody>
                    <a:bodyPr wrap="square"/>
                    <a:lstStyle/>
                    <a:p>
                      <a:r>
                        <a:rPr sz="1300" b="1">
                          <a:solidFill>
                            <a:srgbClr val="222A35"/>
                          </a:solidFill>
                          <a:latin typeface="Arial"/>
                        </a:rPr>
                        <a:t>Truncated reply</a:t>
                      </a:r>
                    </a:p>
                  </a:txBody>
                  <a:tcPr marL="54864" marR="54864" marT="27432" marB="27432" anchor="ctr">
                    <a:solidFill>
                      <a:srgbClr val="F2F5F9"/>
                    </a:solidFill>
                  </a:tcPr>
                </a:tc>
                <a:tc>
                  <a:txBody>
                    <a:bodyPr wrap="square"/>
                    <a:lstStyle/>
                    <a:p>
                      <a:r>
                        <a:rPr sz="1300" b="0">
                          <a:solidFill>
                            <a:srgbClr val="222A35"/>
                          </a:solidFill>
                          <a:latin typeface="Arial"/>
                        </a:rPr>
                        <a:t>Answer cut off</a:t>
                      </a:r>
                    </a:p>
                  </a:txBody>
                  <a:tcPr marL="54864" marR="54864" marT="27432" marB="27432" anchor="ctr">
                    <a:solidFill>
                      <a:srgbClr val="F2F5F9"/>
                    </a:solidFill>
                  </a:tcPr>
                </a:tc>
                <a:tc>
                  <a:txBody>
                    <a:bodyPr wrap="square"/>
                    <a:lstStyle/>
                    <a:p>
                      <a:pPr algn="ctr"/>
                      <a:r>
                        <a:rPr sz="1300" b="0">
                          <a:solidFill>
                            <a:srgbClr val="222A35"/>
                          </a:solidFill>
                          <a:latin typeface="Arial"/>
                        </a:rPr>
                        <a:t>1</a:t>
                      </a:r>
                    </a:p>
                  </a:txBody>
                  <a:tcPr marL="54864" marR="54864" marT="27432" marB="27432" anchor="ctr">
                    <a:solidFill>
                      <a:srgbClr val="F2F5F9"/>
                    </a:solidFill>
                  </a:tcPr>
                </a:tc>
              </a:tr>
              <a:tr h="411480">
                <a:tc>
                  <a:txBody>
                    <a:bodyPr wrap="square"/>
                    <a:lstStyle/>
                    <a:p>
                      <a:r>
                        <a:rPr sz="1300" b="1">
                          <a:solidFill>
                            <a:srgbClr val="222A35"/>
                          </a:solidFill>
                          <a:latin typeface="Arial"/>
                        </a:rPr>
                        <a:t>OsmAnd Favorite button</a:t>
                      </a:r>
                    </a:p>
                  </a:txBody>
                  <a:tcPr marL="54864" marR="54864" marT="27432" marB="27432" anchor="ctr">
                    <a:solidFill>
                      <a:srgbClr val="FFFFFF"/>
                    </a:solidFill>
                  </a:tcPr>
                </a:tc>
                <a:tc>
                  <a:txBody>
                    <a:bodyPr wrap="square"/>
                    <a:lstStyle/>
                    <a:p>
                      <a:r>
                        <a:rPr sz="1300" b="0">
                          <a:solidFill>
                            <a:srgbClr val="222A35"/>
                          </a:solidFill>
                          <a:latin typeface="Arial"/>
                        </a:rPr>
                        <a:t>Saves a favourite, not a route point</a:t>
                      </a:r>
                    </a:p>
                  </a:txBody>
                  <a:tcPr marL="54864" marR="54864" marT="27432" marB="27432" anchor="ctr">
                    <a:solidFill>
                      <a:srgbClr val="FFFFFF"/>
                    </a:solidFill>
                  </a:tcPr>
                </a:tc>
                <a:tc>
                  <a:txBody>
                    <a:bodyPr wrap="square"/>
                    <a:lstStyle/>
                    <a:p>
                      <a:pPr algn="ctr"/>
                      <a:r>
                        <a:rPr sz="1300" b="0">
                          <a:solidFill>
                            <a:srgbClr val="222A35"/>
                          </a:solidFill>
                          <a:latin typeface="Arial"/>
                        </a:rPr>
                        <a:t>1</a:t>
                      </a:r>
                    </a:p>
                  </a:txBody>
                  <a:tcPr marL="54864" marR="54864" marT="27432" marB="27432" anchor="ctr">
                    <a:solidFill>
                      <a:srgbClr val="FFFFFF"/>
                    </a:solidFill>
                  </a:tcPr>
                </a:tc>
              </a:tr>
            </a:tbl>
          </a:graphicData>
        </a:graphic>
      </p:graphicFrame>
      <p:sp>
        <p:nvSpPr>
          <p:cNvPr id="10" name="Rectangle 9"/>
          <p:cNvSpPr/>
          <p:nvPr/>
        </p:nvSpPr>
        <p:spPr>
          <a:xfrm>
            <a:off x="7589520" y="1554480"/>
            <a:ext cx="3977639" cy="26974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589520" y="1554480"/>
            <a:ext cx="54864" cy="269748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54112" y="1645920"/>
            <a:ext cx="3721607"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How a refusal works</a:t>
            </a:r>
          </a:p>
        </p:txBody>
      </p:sp>
      <p:sp>
        <p:nvSpPr>
          <p:cNvPr id="13" name="TextBox 12"/>
          <p:cNvSpPr txBox="1"/>
          <p:nvPr/>
        </p:nvSpPr>
        <p:spPr>
          <a:xfrm>
            <a:off x="7754112" y="2057400"/>
            <a:ext cx="3703320" cy="2148840"/>
          </a:xfrm>
          <a:prstGeom prst="rect">
            <a:avLst/>
          </a:prstGeom>
          <a:noFill/>
        </p:spPr>
        <p:txBody>
          <a:bodyPr wrap="square">
            <a:spAutoFit/>
          </a:bodyPr>
          <a:lstStyle/>
          <a:p>
            <a:pPr>
              <a:lnSpc>
                <a:spcPct val="108000"/>
              </a:lnSpc>
              <a:spcAft>
                <a:spcPts val="300"/>
              </a:spcAft>
            </a:pPr>
            <a:r>
              <a:rPr sz="1400">
                <a:solidFill>
                  <a:srgbClr val="0065BD"/>
                </a:solidFill>
                <a:latin typeface="Arial"/>
              </a:rPr>
              <a:t>▪  </a:t>
            </a:r>
            <a:r>
              <a:rPr sz="1400" b="0">
                <a:solidFill>
                  <a:srgbClr val="222A35"/>
                </a:solidFill>
                <a:latin typeface="Arial"/>
              </a:rPr>
              <a:t>The action is not executed</a:t>
            </a:r>
          </a:p>
          <a:p>
            <a:pPr>
              <a:lnSpc>
                <a:spcPct val="108000"/>
              </a:lnSpc>
              <a:spcAft>
                <a:spcPts val="300"/>
              </a:spcAft>
            </a:pPr>
            <a:r>
              <a:rPr sz="1400">
                <a:solidFill>
                  <a:srgbClr val="0065BD"/>
                </a:solidFill>
                <a:latin typeface="Arial"/>
              </a:rPr>
              <a:t>▪  </a:t>
            </a:r>
            <a:r>
              <a:rPr sz="1400" b="0">
                <a:solidFill>
                  <a:srgbClr val="222A35"/>
                </a:solidFill>
                <a:latin typeface="Arial"/>
              </a:rPr>
              <a:t>The model gets the reason in the same step</a:t>
            </a:r>
          </a:p>
          <a:p>
            <a:pPr>
              <a:lnSpc>
                <a:spcPct val="108000"/>
              </a:lnSpc>
              <a:spcAft>
                <a:spcPts val="300"/>
              </a:spcAft>
            </a:pPr>
            <a:r>
              <a:rPr sz="1400">
                <a:solidFill>
                  <a:srgbClr val="0065BD"/>
                </a:solidFill>
                <a:latin typeface="Arial"/>
              </a:rPr>
              <a:t>▪  </a:t>
            </a:r>
            <a:r>
              <a:rPr sz="1400" b="0">
                <a:solidFill>
                  <a:srgbClr val="222A35"/>
                </a:solidFill>
                <a:latin typeface="Arial"/>
              </a:rPr>
              <a:t>One correction per step; a second invalid reply ends the run</a:t>
            </a:r>
          </a:p>
          <a:p>
            <a:pPr>
              <a:lnSpc>
                <a:spcPct val="108000"/>
              </a:lnSpc>
              <a:spcAft>
                <a:spcPts val="300"/>
              </a:spcAft>
            </a:pPr>
            <a:r>
              <a:rPr sz="1400">
                <a:solidFill>
                  <a:srgbClr val="0065BD"/>
                </a:solidFill>
                <a:latin typeface="Arial"/>
              </a:rPr>
              <a:t>▪  </a:t>
            </a:r>
            <a:r>
              <a:rPr sz="1400" b="0">
                <a:solidFill>
                  <a:srgbClr val="222A35"/>
                </a:solidFill>
                <a:latin typeface="Arial"/>
              </a:rPr>
              <a:t>All refusals are logged</a:t>
            </a:r>
          </a:p>
        </p:txBody>
      </p:sp>
      <p:sp>
        <p:nvSpPr>
          <p:cNvPr id="14" name="TextBox 13"/>
          <p:cNvSpPr txBox="1"/>
          <p:nvPr/>
        </p:nvSpPr>
        <p:spPr>
          <a:xfrm>
            <a:off x="640080" y="4526280"/>
            <a:ext cx="3200400" cy="685800"/>
          </a:xfrm>
          <a:prstGeom prst="rect">
            <a:avLst/>
          </a:prstGeom>
          <a:noFill/>
        </p:spPr>
        <p:txBody>
          <a:bodyPr wrap="square" anchor="t" lIns="73152" rIns="73152">
            <a:spAutoFit/>
          </a:bodyPr>
          <a:lstStyle/>
          <a:p>
            <a:pPr algn="l">
              <a:lnSpc>
                <a:spcPct val="110000"/>
              </a:lnSpc>
            </a:pPr>
            <a:r>
              <a:rPr sz="4000" b="1" i="0">
                <a:solidFill>
                  <a:srgbClr val="0065BD"/>
                </a:solidFill>
                <a:latin typeface="Arial"/>
              </a:rPr>
              <a:t>8</a:t>
            </a:r>
          </a:p>
        </p:txBody>
      </p:sp>
      <p:sp>
        <p:nvSpPr>
          <p:cNvPr id="15" name="TextBox 14"/>
          <p:cNvSpPr txBox="1"/>
          <p:nvPr/>
        </p:nvSpPr>
        <p:spPr>
          <a:xfrm>
            <a:off x="640080" y="5239512"/>
            <a:ext cx="320040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actions stopped in the final runs</a:t>
            </a:r>
          </a:p>
          <a:p>
            <a:pPr algn="l">
              <a:lnSpc>
                <a:spcPct val="110000"/>
              </a:lnSpc>
            </a:pPr>
            <a:r>
              <a:rPr sz="1400" b="0" i="0">
                <a:solidFill>
                  <a:srgbClr val="5E6773"/>
                </a:solidFill>
                <a:latin typeface="Arial"/>
              </a:rPr>
              <a:t>(7 of 21 runs had one or more)</a:t>
            </a:r>
          </a:p>
        </p:txBody>
      </p:sp>
      <p:sp>
        <p:nvSpPr>
          <p:cNvPr id="16" name="TextBox 15"/>
          <p:cNvSpPr txBox="1"/>
          <p:nvPr/>
        </p:nvSpPr>
        <p:spPr>
          <a:xfrm>
            <a:off x="4023360" y="4617720"/>
            <a:ext cx="7543800" cy="1371600"/>
          </a:xfrm>
          <a:prstGeom prst="rect">
            <a:avLst/>
          </a:prstGeom>
          <a:noFill/>
        </p:spPr>
        <p:txBody>
          <a:bodyPr wrap="square" anchor="t" lIns="73152" rIns="73152">
            <a:spAutoFit/>
          </a:bodyPr>
          <a:lstStyle/>
          <a:p>
            <a:pPr algn="l">
              <a:lnSpc>
                <a:spcPct val="110000"/>
              </a:lnSpc>
            </a:pPr>
            <a:r>
              <a:rPr sz="1500" b="0" i="0">
                <a:solidFill>
                  <a:srgbClr val="222A35"/>
                </a:solidFill>
                <a:latin typeface="Arial"/>
              </a:rPr>
              <a:t>Without these checks, the agent would have typed into nothing, saved a favourite instead of a route point, or acted on a broken reply. Six of the seven runs with a refusal still passed.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IMPLEMENTATION</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Implementation: four parts and how they talk</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9</a:t>
            </a:r>
          </a:p>
        </p:txBody>
      </p:sp>
      <p:sp>
        <p:nvSpPr>
          <p:cNvPr id="9" name="Rounded Rectangle 8"/>
          <p:cNvSpPr/>
          <p:nvPr/>
        </p:nvSpPr>
        <p:spPr>
          <a:xfrm>
            <a:off x="640080" y="1600200"/>
            <a:ext cx="2331720" cy="2057400"/>
          </a:xfrm>
          <a:prstGeom prst="roundRect">
            <a:avLst>
              <a:gd name="adj" fmla="val 6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19" y="1719072"/>
            <a:ext cx="2148840" cy="365760"/>
          </a:xfrm>
          <a:prstGeom prst="rect">
            <a:avLst/>
          </a:prstGeom>
          <a:noFill/>
        </p:spPr>
        <p:txBody>
          <a:bodyPr wrap="square" anchor="t" lIns="73152" rIns="73152">
            <a:spAutoFit/>
          </a:bodyPr>
          <a:lstStyle/>
          <a:p>
            <a:pPr algn="ctr">
              <a:lnSpc>
                <a:spcPct val="110000"/>
              </a:lnSpc>
            </a:pPr>
            <a:r>
              <a:rPr sz="1700" b="1" i="0">
                <a:solidFill>
                  <a:srgbClr val="072140"/>
                </a:solidFill>
                <a:latin typeface="Arial"/>
              </a:rPr>
              <a:t>AutoGLM model</a:t>
            </a:r>
          </a:p>
        </p:txBody>
      </p:sp>
      <p:sp>
        <p:nvSpPr>
          <p:cNvPr id="11" name="TextBox 10"/>
          <p:cNvSpPr txBox="1"/>
          <p:nvPr/>
        </p:nvSpPr>
        <p:spPr>
          <a:xfrm>
            <a:off x="731519" y="2176272"/>
            <a:ext cx="2148840" cy="1417320"/>
          </a:xfrm>
          <a:prstGeom prst="rect">
            <a:avLst/>
          </a:prstGeom>
          <a:noFill/>
        </p:spPr>
        <p:txBody>
          <a:bodyPr wrap="square" anchor="t" lIns="73152" rIns="73152">
            <a:spAutoFit/>
          </a:bodyPr>
          <a:lstStyle/>
          <a:p>
            <a:pPr algn="ctr">
              <a:lnSpc>
                <a:spcPct val="115000"/>
              </a:lnSpc>
            </a:pPr>
            <a:r>
              <a:rPr sz="1300" b="0" i="0">
                <a:solidFill>
                  <a:srgbClr val="222A35"/>
                </a:solidFill>
                <a:latin typeface="Arial"/>
              </a:rPr>
              <a:t>Z.ai API (HTTPS)</a:t>
            </a:r>
          </a:p>
          <a:p>
            <a:pPr algn="ctr">
              <a:lnSpc>
                <a:spcPct val="115000"/>
              </a:lnSpc>
            </a:pPr>
            <a:r>
              <a:rPr sz="1300" b="0" i="0">
                <a:solidFill>
                  <a:srgbClr val="222A35"/>
                </a:solidFill>
                <a:latin typeface="Arial"/>
              </a:rPr>
              <a:t>autoglm-phone-multilingual</a:t>
            </a:r>
          </a:p>
          <a:p>
            <a:pPr algn="ctr">
              <a:lnSpc>
                <a:spcPct val="115000"/>
              </a:lnSpc>
            </a:pPr>
            <a:r>
              <a:rPr sz="1300" b="0" i="0">
                <a:solidFill>
                  <a:srgbClr val="222A35"/>
                </a:solidFill>
                <a:latin typeface="Arial"/>
              </a:rPr>
              <a:t>key kept in .env, not in git</a:t>
            </a:r>
          </a:p>
        </p:txBody>
      </p:sp>
      <p:cxnSp>
        <p:nvCxnSpPr>
          <p:cNvPr id="12" name="Connector 11"/>
          <p:cNvCxnSpPr/>
          <p:nvPr/>
        </p:nvCxnSpPr>
        <p:spPr>
          <a:xfrm>
            <a:off x="2999232" y="2468880"/>
            <a:ext cx="448055"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999232" y="2834640"/>
            <a:ext cx="448055"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926080" y="2926080"/>
            <a:ext cx="594360" cy="548640"/>
          </a:xfrm>
          <a:prstGeom prst="rect">
            <a:avLst/>
          </a:prstGeom>
          <a:noFill/>
        </p:spPr>
        <p:txBody>
          <a:bodyPr wrap="square" anchor="t" lIns="73152" rIns="73152">
            <a:spAutoFit/>
          </a:bodyPr>
          <a:lstStyle/>
          <a:p>
            <a:pPr algn="ctr">
              <a:lnSpc>
                <a:spcPct val="110000"/>
              </a:lnSpc>
            </a:pPr>
            <a:r>
              <a:rPr sz="900" b="0" i="0">
                <a:solidFill>
                  <a:srgbClr val="5E6773"/>
                </a:solidFill>
                <a:latin typeface="Arial"/>
              </a:rPr>
              <a:t>request /</a:t>
            </a:r>
          </a:p>
          <a:p>
            <a:pPr algn="ctr">
              <a:lnSpc>
                <a:spcPct val="110000"/>
              </a:lnSpc>
            </a:pPr>
            <a:r>
              <a:rPr sz="900" b="0" i="0">
                <a:solidFill>
                  <a:srgbClr val="5E6773"/>
                </a:solidFill>
                <a:latin typeface="Arial"/>
              </a:rPr>
              <a:t>one action</a:t>
            </a:r>
          </a:p>
        </p:txBody>
      </p:sp>
      <p:sp>
        <p:nvSpPr>
          <p:cNvPr id="15" name="Rounded Rectangle 14"/>
          <p:cNvSpPr/>
          <p:nvPr/>
        </p:nvSpPr>
        <p:spPr>
          <a:xfrm>
            <a:off x="3474720" y="1600200"/>
            <a:ext cx="2331720" cy="2057400"/>
          </a:xfrm>
          <a:prstGeom prst="roundRect">
            <a:avLst>
              <a:gd name="adj" fmla="val 6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66160" y="1719072"/>
            <a:ext cx="2148840" cy="365760"/>
          </a:xfrm>
          <a:prstGeom prst="rect">
            <a:avLst/>
          </a:prstGeom>
          <a:noFill/>
        </p:spPr>
        <p:txBody>
          <a:bodyPr wrap="square" anchor="t" lIns="73152" rIns="73152">
            <a:spAutoFit/>
          </a:bodyPr>
          <a:lstStyle/>
          <a:p>
            <a:pPr algn="ctr">
              <a:lnSpc>
                <a:spcPct val="110000"/>
              </a:lnSpc>
            </a:pPr>
            <a:r>
              <a:rPr sz="1700" b="1" i="0">
                <a:solidFill>
                  <a:srgbClr val="072140"/>
                </a:solidFill>
                <a:latin typeface="Arial"/>
              </a:rPr>
              <a:t>Agent</a:t>
            </a:r>
          </a:p>
        </p:txBody>
      </p:sp>
      <p:sp>
        <p:nvSpPr>
          <p:cNvPr id="17" name="TextBox 16"/>
          <p:cNvSpPr txBox="1"/>
          <p:nvPr/>
        </p:nvSpPr>
        <p:spPr>
          <a:xfrm>
            <a:off x="3566160" y="2176272"/>
            <a:ext cx="2148840" cy="1417320"/>
          </a:xfrm>
          <a:prstGeom prst="rect">
            <a:avLst/>
          </a:prstGeom>
          <a:noFill/>
        </p:spPr>
        <p:txBody>
          <a:bodyPr wrap="square" anchor="t" lIns="73152" rIns="73152">
            <a:spAutoFit/>
          </a:bodyPr>
          <a:lstStyle/>
          <a:p>
            <a:pPr algn="ctr">
              <a:lnSpc>
                <a:spcPct val="115000"/>
              </a:lnSpc>
            </a:pPr>
            <a:r>
              <a:rPr sz="1300" b="0" i="0">
                <a:solidFill>
                  <a:srgbClr val="222A35"/>
                </a:solidFill>
                <a:latin typeface="Arial"/>
              </a:rPr>
              <a:t>AutoGLMAgent.step()</a:t>
            </a:r>
          </a:p>
          <a:p>
            <a:pPr algn="ctr">
              <a:lnSpc>
                <a:spcPct val="115000"/>
              </a:lnSpc>
            </a:pPr>
            <a:r>
              <a:rPr sz="1300" b="0" i="0">
                <a:solidFill>
                  <a:srgbClr val="222A35"/>
                </a:solidFill>
                <a:latin typeface="Arial"/>
              </a:rPr>
              <a:t>autoglm_agent.py</a:t>
            </a:r>
          </a:p>
          <a:p>
            <a:pPr algn="ctr">
              <a:lnSpc>
                <a:spcPct val="115000"/>
              </a:lnSpc>
            </a:pPr>
            <a:r>
              <a:rPr sz="1300" b="0" i="0">
                <a:solidFill>
                  <a:srgbClr val="222A35"/>
                </a:solidFill>
                <a:latin typeface="Arial"/>
              </a:rPr>
              <a:t>prompt, Skills, task config</a:t>
            </a:r>
          </a:p>
        </p:txBody>
      </p:sp>
      <p:cxnSp>
        <p:nvCxnSpPr>
          <p:cNvPr id="18" name="Connector 17"/>
          <p:cNvCxnSpPr/>
          <p:nvPr/>
        </p:nvCxnSpPr>
        <p:spPr>
          <a:xfrm>
            <a:off x="5833872" y="2468880"/>
            <a:ext cx="448055"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833872" y="2834640"/>
            <a:ext cx="448055"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60720" y="2926080"/>
            <a:ext cx="594360" cy="548640"/>
          </a:xfrm>
          <a:prstGeom prst="rect">
            <a:avLst/>
          </a:prstGeom>
          <a:noFill/>
        </p:spPr>
        <p:txBody>
          <a:bodyPr wrap="square" anchor="t" lIns="73152" rIns="73152">
            <a:spAutoFit/>
          </a:bodyPr>
          <a:lstStyle/>
          <a:p>
            <a:pPr algn="ctr">
              <a:lnSpc>
                <a:spcPct val="110000"/>
              </a:lnSpc>
            </a:pPr>
            <a:r>
              <a:rPr sz="900" b="0" i="0">
                <a:solidFill>
                  <a:srgbClr val="5E6773"/>
                </a:solidFill>
                <a:latin typeface="Arial"/>
              </a:rPr>
              <a:t>step() /</a:t>
            </a:r>
          </a:p>
          <a:p>
            <a:pPr algn="ctr">
              <a:lnSpc>
                <a:spcPct val="110000"/>
              </a:lnSpc>
            </a:pPr>
            <a:r>
              <a:rPr sz="900" b="0" i="0">
                <a:solidFill>
                  <a:srgbClr val="5E6773"/>
                </a:solidFill>
                <a:latin typeface="Arial"/>
              </a:rPr>
              <a:t>result</a:t>
            </a:r>
          </a:p>
        </p:txBody>
      </p:sp>
      <p:sp>
        <p:nvSpPr>
          <p:cNvPr id="21" name="Rounded Rectangle 20"/>
          <p:cNvSpPr/>
          <p:nvPr/>
        </p:nvSpPr>
        <p:spPr>
          <a:xfrm>
            <a:off x="6309360" y="1600200"/>
            <a:ext cx="2331720" cy="2057400"/>
          </a:xfrm>
          <a:prstGeom prst="roundRect">
            <a:avLst>
              <a:gd name="adj" fmla="val 6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0" y="1719072"/>
            <a:ext cx="2148840" cy="365760"/>
          </a:xfrm>
          <a:prstGeom prst="rect">
            <a:avLst/>
          </a:prstGeom>
          <a:noFill/>
        </p:spPr>
        <p:txBody>
          <a:bodyPr wrap="square" anchor="t" lIns="73152" rIns="73152">
            <a:spAutoFit/>
          </a:bodyPr>
          <a:lstStyle/>
          <a:p>
            <a:pPr algn="ctr">
              <a:lnSpc>
                <a:spcPct val="110000"/>
              </a:lnSpc>
            </a:pPr>
            <a:r>
              <a:rPr sz="1700" b="1" i="0">
                <a:solidFill>
                  <a:srgbClr val="072140"/>
                </a:solidFill>
                <a:latin typeface="Arial"/>
              </a:rPr>
              <a:t>Runner</a:t>
            </a:r>
          </a:p>
        </p:txBody>
      </p:sp>
      <p:sp>
        <p:nvSpPr>
          <p:cNvPr id="23" name="TextBox 22"/>
          <p:cNvSpPr txBox="1"/>
          <p:nvPr/>
        </p:nvSpPr>
        <p:spPr>
          <a:xfrm>
            <a:off x="6400800" y="2176272"/>
            <a:ext cx="2148840" cy="1417320"/>
          </a:xfrm>
          <a:prstGeom prst="rect">
            <a:avLst/>
          </a:prstGeom>
          <a:noFill/>
        </p:spPr>
        <p:txBody>
          <a:bodyPr wrap="square" anchor="t" lIns="73152" rIns="73152">
            <a:spAutoFit/>
          </a:bodyPr>
          <a:lstStyle/>
          <a:p>
            <a:pPr algn="ctr">
              <a:lnSpc>
                <a:spcPct val="115000"/>
              </a:lnSpc>
            </a:pPr>
            <a:r>
              <a:rPr sz="1300" b="0" i="0">
                <a:solidFill>
                  <a:srgbClr val="222A35"/>
                </a:solidFill>
                <a:latin typeface="Arial"/>
              </a:rPr>
              <a:t>run_task.py</a:t>
            </a:r>
          </a:p>
          <a:p>
            <a:pPr algn="ctr">
              <a:lnSpc>
                <a:spcPct val="115000"/>
              </a:lnSpc>
            </a:pPr>
            <a:r>
              <a:rPr sz="1300" b="0" i="0">
                <a:solidFill>
                  <a:srgbClr val="222A35"/>
                </a:solidFill>
                <a:latin typeface="Arial"/>
              </a:rPr>
              <a:t>task setup, recorder, loop,</a:t>
            </a:r>
          </a:p>
          <a:p>
            <a:pPr algn="ctr">
              <a:lnSpc>
                <a:spcPct val="115000"/>
              </a:lnSpc>
            </a:pPr>
            <a:r>
              <a:rPr sz="1300" b="0" i="0">
                <a:solidFill>
                  <a:srgbClr val="222A35"/>
                </a:solidFill>
                <a:latin typeface="Arial"/>
              </a:rPr>
              <a:t>verifier, logs</a:t>
            </a:r>
          </a:p>
        </p:txBody>
      </p:sp>
      <p:cxnSp>
        <p:nvCxnSpPr>
          <p:cNvPr id="24" name="Connector 23"/>
          <p:cNvCxnSpPr/>
          <p:nvPr/>
        </p:nvCxnSpPr>
        <p:spPr>
          <a:xfrm>
            <a:off x="8668512" y="2468880"/>
            <a:ext cx="44805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668512" y="2834640"/>
            <a:ext cx="44805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595360" y="2926080"/>
            <a:ext cx="594360" cy="548640"/>
          </a:xfrm>
          <a:prstGeom prst="rect">
            <a:avLst/>
          </a:prstGeom>
          <a:noFill/>
        </p:spPr>
        <p:txBody>
          <a:bodyPr wrap="square" anchor="t" lIns="73152" rIns="73152">
            <a:spAutoFit/>
          </a:bodyPr>
          <a:lstStyle/>
          <a:p>
            <a:pPr algn="ctr">
              <a:lnSpc>
                <a:spcPct val="110000"/>
              </a:lnSpc>
            </a:pPr>
            <a:r>
              <a:rPr sz="900" b="0" i="0">
                <a:solidFill>
                  <a:srgbClr val="5E6773"/>
                </a:solidFill>
                <a:latin typeface="Arial"/>
              </a:rPr>
              <a:t>adb: screen,</a:t>
            </a:r>
          </a:p>
          <a:p>
            <a:pPr algn="ctr">
              <a:lnSpc>
                <a:spcPct val="110000"/>
              </a:lnSpc>
            </a:pPr>
            <a:r>
              <a:rPr sz="900" b="0" i="0">
                <a:solidFill>
                  <a:srgbClr val="5E6773"/>
                </a:solidFill>
                <a:latin typeface="Arial"/>
              </a:rPr>
              <a:t>tap, type</a:t>
            </a:r>
          </a:p>
        </p:txBody>
      </p:sp>
      <p:sp>
        <p:nvSpPr>
          <p:cNvPr id="27" name="Rounded Rectangle 26"/>
          <p:cNvSpPr/>
          <p:nvPr/>
        </p:nvSpPr>
        <p:spPr>
          <a:xfrm>
            <a:off x="9144000" y="1600200"/>
            <a:ext cx="2331720" cy="205740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35440" y="1719072"/>
            <a:ext cx="2148840" cy="365760"/>
          </a:xfrm>
          <a:prstGeom prst="rect">
            <a:avLst/>
          </a:prstGeom>
          <a:noFill/>
        </p:spPr>
        <p:txBody>
          <a:bodyPr wrap="square" anchor="t" lIns="73152" rIns="73152">
            <a:spAutoFit/>
          </a:bodyPr>
          <a:lstStyle/>
          <a:p>
            <a:pPr algn="ctr">
              <a:lnSpc>
                <a:spcPct val="110000"/>
              </a:lnSpc>
            </a:pPr>
            <a:r>
              <a:rPr sz="1700" b="1" i="0">
                <a:solidFill>
                  <a:srgbClr val="072140"/>
                </a:solidFill>
                <a:latin typeface="Arial"/>
              </a:rPr>
              <a:t>Phone</a:t>
            </a:r>
          </a:p>
        </p:txBody>
      </p:sp>
      <p:sp>
        <p:nvSpPr>
          <p:cNvPr id="29" name="TextBox 28"/>
          <p:cNvSpPr txBox="1"/>
          <p:nvPr/>
        </p:nvSpPr>
        <p:spPr>
          <a:xfrm>
            <a:off x="9235440" y="2176272"/>
            <a:ext cx="2148840" cy="1417320"/>
          </a:xfrm>
          <a:prstGeom prst="rect">
            <a:avLst/>
          </a:prstGeom>
          <a:noFill/>
        </p:spPr>
        <p:txBody>
          <a:bodyPr wrap="square" anchor="t" lIns="73152" rIns="73152">
            <a:spAutoFit/>
          </a:bodyPr>
          <a:lstStyle/>
          <a:p>
            <a:pPr algn="ctr">
              <a:lnSpc>
                <a:spcPct val="115000"/>
              </a:lnSpc>
            </a:pPr>
            <a:r>
              <a:rPr sz="1300" b="0" i="0">
                <a:solidFill>
                  <a:srgbClr val="222A35"/>
                </a:solidFill>
                <a:latin typeface="Arial"/>
              </a:rPr>
              <a:t>Android emulator: Pixel 6,</a:t>
            </a:r>
          </a:p>
          <a:p>
            <a:pPr algn="ctr">
              <a:lnSpc>
                <a:spcPct val="115000"/>
              </a:lnSpc>
            </a:pPr>
            <a:r>
              <a:rPr sz="1300" b="0" i="0">
                <a:solidFill>
                  <a:srgbClr val="222A35"/>
                </a:solidFill>
                <a:latin typeface="Arial"/>
              </a:rPr>
              <a:t>Android 13, headless</a:t>
            </a:r>
          </a:p>
          <a:p>
            <a:pPr algn="ctr">
              <a:lnSpc>
                <a:spcPct val="115000"/>
              </a:lnSpc>
            </a:pPr>
            <a:r>
              <a:rPr sz="1300" b="0" i="0">
                <a:solidFill>
                  <a:srgbClr val="222A35"/>
                </a:solidFill>
                <a:latin typeface="Arial"/>
              </a:rPr>
              <a:t>AndroidWorld setup + verifier</a:t>
            </a:r>
          </a:p>
        </p:txBody>
      </p:sp>
      <p:sp>
        <p:nvSpPr>
          <p:cNvPr id="30" name="Rectangle 29"/>
          <p:cNvSpPr/>
          <p:nvPr/>
        </p:nvSpPr>
        <p:spPr>
          <a:xfrm>
            <a:off x="640080" y="4023360"/>
            <a:ext cx="3520440" cy="21031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40080" y="4023360"/>
            <a:ext cx="54864" cy="21031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4671" y="4114800"/>
            <a:ext cx="326440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Batch evaluation</a:t>
            </a:r>
          </a:p>
        </p:txBody>
      </p:sp>
      <p:sp>
        <p:nvSpPr>
          <p:cNvPr id="33" name="TextBox 32"/>
          <p:cNvSpPr txBox="1"/>
          <p:nvPr/>
        </p:nvSpPr>
        <p:spPr>
          <a:xfrm>
            <a:off x="804671" y="4526280"/>
            <a:ext cx="3246120" cy="1554479"/>
          </a:xfrm>
          <a:prstGeom prst="rect">
            <a:avLst/>
          </a:prstGeom>
          <a:noFill/>
        </p:spPr>
        <p:txBody>
          <a:bodyPr wrap="square">
            <a:spAutoFit/>
          </a:bodyPr>
          <a:lstStyle/>
          <a:p>
            <a:pPr>
              <a:lnSpc>
                <a:spcPct val="108000"/>
              </a:lnSpc>
              <a:spcAft>
                <a:spcPts val="300"/>
              </a:spcAft>
            </a:pPr>
            <a:r>
              <a:rPr sz="1400">
                <a:solidFill>
                  <a:srgbClr val="0065BD"/>
                </a:solidFill>
                <a:latin typeface="Arial"/>
              </a:rPr>
              <a:t>▪  </a:t>
            </a:r>
            <a:r>
              <a:rPr sz="1400" b="0">
                <a:solidFill>
                  <a:srgbClr val="222A35"/>
                </a:solidFill>
                <a:latin typeface="Arial"/>
              </a:rPr>
              <a:t>evaluate_tasks.py runs task x seed batches</a:t>
            </a:r>
          </a:p>
          <a:p>
            <a:pPr>
              <a:lnSpc>
                <a:spcPct val="108000"/>
              </a:lnSpc>
              <a:spcAft>
                <a:spcPts val="300"/>
              </a:spcAft>
            </a:pPr>
            <a:r>
              <a:rPr sz="1400">
                <a:solidFill>
                  <a:srgbClr val="0065BD"/>
                </a:solidFill>
                <a:latin typeface="Arial"/>
              </a:rPr>
              <a:t>▪  </a:t>
            </a:r>
            <a:r>
              <a:rPr sz="1400" b="0">
                <a:solidFill>
                  <a:srgbClr val="222A35"/>
                </a:solidFill>
                <a:latin typeface="Arial"/>
              </a:rPr>
              <a:t>Records a source fingerprint</a:t>
            </a:r>
          </a:p>
          <a:p>
            <a:pPr>
              <a:lnSpc>
                <a:spcPct val="108000"/>
              </a:lnSpc>
              <a:spcAft>
                <a:spcPts val="300"/>
              </a:spcAft>
            </a:pPr>
            <a:r>
              <a:rPr sz="1400">
                <a:solidFill>
                  <a:srgbClr val="0065BD"/>
                </a:solidFill>
                <a:latin typeface="Arial"/>
              </a:rPr>
              <a:t>▪  </a:t>
            </a:r>
            <a:r>
              <a:rPr sz="1400" b="0">
                <a:solidFill>
                  <a:srgbClr val="222A35"/>
                </a:solidFill>
                <a:latin typeface="Arial"/>
              </a:rPr>
              <a:t>Stops if the code changes mid-batch</a:t>
            </a:r>
          </a:p>
        </p:txBody>
      </p:sp>
      <p:sp>
        <p:nvSpPr>
          <p:cNvPr id="34" name="Rectangle 33"/>
          <p:cNvSpPr/>
          <p:nvPr/>
        </p:nvSpPr>
        <p:spPr>
          <a:xfrm>
            <a:off x="4343400" y="4023360"/>
            <a:ext cx="3520440" cy="21031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343400" y="4023360"/>
            <a:ext cx="54864" cy="21031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07992" y="4114800"/>
            <a:ext cx="326440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Quality</a:t>
            </a:r>
          </a:p>
        </p:txBody>
      </p:sp>
      <p:sp>
        <p:nvSpPr>
          <p:cNvPr id="37" name="TextBox 36"/>
          <p:cNvSpPr txBox="1"/>
          <p:nvPr/>
        </p:nvSpPr>
        <p:spPr>
          <a:xfrm>
            <a:off x="4507992" y="4526280"/>
            <a:ext cx="3246120" cy="1554479"/>
          </a:xfrm>
          <a:prstGeom prst="rect">
            <a:avLst/>
          </a:prstGeom>
          <a:noFill/>
        </p:spPr>
        <p:txBody>
          <a:bodyPr wrap="square">
            <a:spAutoFit/>
          </a:bodyPr>
          <a:lstStyle/>
          <a:p>
            <a:pPr>
              <a:lnSpc>
                <a:spcPct val="108000"/>
              </a:lnSpc>
              <a:spcAft>
                <a:spcPts val="300"/>
              </a:spcAft>
            </a:pPr>
            <a:r>
              <a:rPr sz="1400">
                <a:solidFill>
                  <a:srgbClr val="0065BD"/>
                </a:solidFill>
                <a:latin typeface="Arial"/>
              </a:rPr>
              <a:t>▪  </a:t>
            </a:r>
            <a:r>
              <a:rPr sz="1400" b="0">
                <a:solidFill>
                  <a:srgbClr val="222A35"/>
                </a:solidFill>
                <a:latin typeface="Arial"/>
              </a:rPr>
              <a:t>38 offline tests (no phone needed)</a:t>
            </a:r>
          </a:p>
          <a:p>
            <a:pPr>
              <a:lnSpc>
                <a:spcPct val="108000"/>
              </a:lnSpc>
              <a:spcAft>
                <a:spcPts val="300"/>
              </a:spcAft>
            </a:pPr>
            <a:r>
              <a:rPr sz="1400">
                <a:solidFill>
                  <a:srgbClr val="0065BD"/>
                </a:solidFill>
                <a:latin typeface="Arial"/>
              </a:rPr>
              <a:t>▪  </a:t>
            </a:r>
            <a:r>
              <a:rPr sz="1400" b="0">
                <a:solidFill>
                  <a:srgbClr val="222A35"/>
                </a:solidFill>
                <a:latin typeface="Arial"/>
              </a:rPr>
              <a:t>Frozen git tag for the evaluation</a:t>
            </a:r>
          </a:p>
          <a:p>
            <a:pPr>
              <a:lnSpc>
                <a:spcPct val="108000"/>
              </a:lnSpc>
              <a:spcAft>
                <a:spcPts val="300"/>
              </a:spcAft>
            </a:pPr>
            <a:r>
              <a:rPr sz="1400">
                <a:solidFill>
                  <a:srgbClr val="0065BD"/>
                </a:solidFill>
                <a:latin typeface="Arial"/>
              </a:rPr>
              <a:t>▪  </a:t>
            </a:r>
            <a:r>
              <a:rPr sz="1400" b="0">
                <a:solidFill>
                  <a:srgbClr val="222A35"/>
                </a:solidFill>
                <a:latin typeface="Arial"/>
              </a:rPr>
              <a:t>Every run: summary, log, video</a:t>
            </a:r>
          </a:p>
        </p:txBody>
      </p:sp>
      <p:sp>
        <p:nvSpPr>
          <p:cNvPr id="38" name="Rectangle 37"/>
          <p:cNvSpPr/>
          <p:nvPr/>
        </p:nvSpPr>
        <p:spPr>
          <a:xfrm>
            <a:off x="8046720" y="4023360"/>
            <a:ext cx="3520440" cy="21031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046720" y="4023360"/>
            <a:ext cx="54864" cy="21031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211312" y="4114800"/>
            <a:ext cx="326440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Reproduce</a:t>
            </a:r>
          </a:p>
        </p:txBody>
      </p:sp>
      <p:sp>
        <p:nvSpPr>
          <p:cNvPr id="41" name="TextBox 40"/>
          <p:cNvSpPr txBox="1"/>
          <p:nvPr/>
        </p:nvSpPr>
        <p:spPr>
          <a:xfrm>
            <a:off x="8211312" y="4526280"/>
            <a:ext cx="3246120" cy="1554479"/>
          </a:xfrm>
          <a:prstGeom prst="rect">
            <a:avLst/>
          </a:prstGeom>
          <a:noFill/>
        </p:spPr>
        <p:txBody>
          <a:bodyPr wrap="square">
            <a:spAutoFit/>
          </a:bodyPr>
          <a:lstStyle/>
          <a:p>
            <a:pPr>
              <a:lnSpc>
                <a:spcPct val="108000"/>
              </a:lnSpc>
              <a:spcAft>
                <a:spcPts val="300"/>
              </a:spcAft>
            </a:pPr>
            <a:r>
              <a:rPr sz="1300">
                <a:solidFill>
                  <a:srgbClr val="0065BD"/>
                </a:solidFill>
                <a:latin typeface="Arial"/>
              </a:rPr>
              <a:t>▪  </a:t>
            </a:r>
            <a:r>
              <a:rPr sz="1300" b="0">
                <a:solidFill>
                  <a:srgbClr val="222A35"/>
                </a:solidFill>
                <a:latin typeface="Arial"/>
              </a:rPr>
              <a:t>git checkout team-agent-final-v65</a:t>
            </a:r>
          </a:p>
          <a:p>
            <a:pPr>
              <a:lnSpc>
                <a:spcPct val="108000"/>
              </a:lnSpc>
              <a:spcAft>
                <a:spcPts val="300"/>
              </a:spcAft>
            </a:pPr>
            <a:r>
              <a:rPr sz="1300">
                <a:solidFill>
                  <a:srgbClr val="0065BD"/>
                </a:solidFill>
                <a:latin typeface="Arial"/>
              </a:rPr>
              <a:t>▪  </a:t>
            </a:r>
            <a:r>
              <a:rPr sz="1300" b="0">
                <a:solidFill>
                  <a:srgbClr val="222A35"/>
                </a:solidFill>
                <a:latin typeface="Arial"/>
              </a:rPr>
              <a:t>evaluate_tasks.py --tasks ... --seeds 42 43 44 --run-all-seeds</a:t>
            </a:r>
          </a:p>
          <a:p>
            <a:pPr>
              <a:lnSpc>
                <a:spcPct val="108000"/>
              </a:lnSpc>
              <a:spcAft>
                <a:spcPts val="300"/>
              </a:spcAft>
            </a:pPr>
            <a:r>
              <a:rPr sz="1300">
                <a:solidFill>
                  <a:srgbClr val="0065BD"/>
                </a:solidFill>
                <a:latin typeface="Arial"/>
              </a:rPr>
              <a:t>▪  </a:t>
            </a:r>
            <a:r>
              <a:rPr sz="1300" b="0">
                <a:solidFill>
                  <a:srgbClr val="222A35"/>
                </a:solidFill>
                <a:latin typeface="Arial"/>
              </a:rPr>
              <a:t>Python 3.11, Windows laptop, no GPU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TRAJECTORY</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One run, step by step: the OsmAnd track Ruggell to Bendern</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10</a:t>
            </a:r>
          </a:p>
        </p:txBody>
      </p:sp>
      <p:pic>
        <p:nvPicPr>
          <p:cNvPr id="9" name="Picture 8" descr="osm_traj_1.png"/>
          <p:cNvPicPr>
            <a:picLocks noChangeAspect="1"/>
          </p:cNvPicPr>
          <p:nvPr/>
        </p:nvPicPr>
        <p:blipFill>
          <a:blip r:embed="rId3"/>
          <a:srcRect t="8000"/>
          <a:stretch>
            <a:fillRect/>
          </a:stretch>
        </p:blipFill>
        <p:spPr>
          <a:xfrm>
            <a:off x="576072" y="1417320"/>
            <a:ext cx="1522476" cy="3112617"/>
          </a:xfrm>
          <a:prstGeom prst="roundRect">
            <a:avLst/>
          </a:prstGeom>
          <a:ln w="44450">
            <a:solidFill>
              <a:srgbClr val="1B1F2A"/>
            </a:solidFill>
          </a:ln>
        </p:spPr>
      </p:pic>
      <p:sp>
        <p:nvSpPr>
          <p:cNvPr id="10" name="Rectangle 9"/>
          <p:cNvSpPr/>
          <p:nvPr/>
        </p:nvSpPr>
        <p:spPr>
          <a:xfrm>
            <a:off x="466344"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9496" y="4754880"/>
            <a:ext cx="1645920" cy="274320"/>
          </a:xfrm>
          <a:prstGeom prst="rect">
            <a:avLst/>
          </a:prstGeom>
          <a:noFill/>
        </p:spPr>
        <p:txBody>
          <a:bodyPr wrap="square" anchor="t" lIns="73152" rIns="73152">
            <a:spAutoFit/>
          </a:bodyPr>
          <a:lstStyle/>
          <a:p>
            <a:pPr algn="l">
              <a:lnSpc>
                <a:spcPct val="110000"/>
              </a:lnSpc>
            </a:pPr>
            <a:r>
              <a:rPr sz="1300" b="1" i="0">
                <a:solidFill>
                  <a:srgbClr val="0065BD"/>
                </a:solidFill>
                <a:latin typeface="Arial"/>
              </a:rPr>
              <a:t>Step 5</a:t>
            </a:r>
          </a:p>
        </p:txBody>
      </p:sp>
      <p:sp>
        <p:nvSpPr>
          <p:cNvPr id="12" name="TextBox 11"/>
          <p:cNvSpPr txBox="1"/>
          <p:nvPr/>
        </p:nvSpPr>
        <p:spPr>
          <a:xfrm>
            <a:off x="539496" y="5029200"/>
            <a:ext cx="1664208" cy="1325880"/>
          </a:xfrm>
          <a:prstGeom prst="rect">
            <a:avLst/>
          </a:prstGeom>
          <a:noFill/>
        </p:spPr>
        <p:txBody>
          <a:bodyPr wrap="square" anchor="t" lIns="73152" rIns="73152">
            <a:spAutoFit/>
          </a:bodyPr>
          <a:lstStyle/>
          <a:p>
            <a:pPr algn="l">
              <a:lnSpc>
                <a:spcPct val="105000"/>
              </a:lnSpc>
            </a:pPr>
            <a:r>
              <a:rPr sz="1050" b="0" i="0">
                <a:solidFill>
                  <a:srgbClr val="222A35"/>
                </a:solidFill>
                <a:latin typeface="Arial"/>
              </a:rPr>
              <a:t>“I need to tap "INCREASE SEARCH RADIUS" to expand the search area and find the place.”</a:t>
            </a:r>
          </a:p>
        </p:txBody>
      </p:sp>
      <p:pic>
        <p:nvPicPr>
          <p:cNvPr id="13" name="Picture 12" descr="osm_traj_2.png"/>
          <p:cNvPicPr>
            <a:picLocks noChangeAspect="1"/>
          </p:cNvPicPr>
          <p:nvPr/>
        </p:nvPicPr>
        <p:blipFill>
          <a:blip r:embed="rId4"/>
          <a:srcRect t="8000"/>
          <a:stretch>
            <a:fillRect/>
          </a:stretch>
        </p:blipFill>
        <p:spPr>
          <a:xfrm>
            <a:off x="2478024" y="1417320"/>
            <a:ext cx="1522476" cy="3112617"/>
          </a:xfrm>
          <a:prstGeom prst="roundRect">
            <a:avLst/>
          </a:prstGeom>
          <a:ln w="44450">
            <a:solidFill>
              <a:srgbClr val="1B1F2A"/>
            </a:solidFill>
          </a:ln>
        </p:spPr>
      </p:pic>
      <p:sp>
        <p:nvSpPr>
          <p:cNvPr id="14" name="Rectangle 13"/>
          <p:cNvSpPr/>
          <p:nvPr/>
        </p:nvSpPr>
        <p:spPr>
          <a:xfrm>
            <a:off x="2368296"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441448" y="4754880"/>
            <a:ext cx="1645920" cy="274320"/>
          </a:xfrm>
          <a:prstGeom prst="rect">
            <a:avLst/>
          </a:prstGeom>
          <a:noFill/>
        </p:spPr>
        <p:txBody>
          <a:bodyPr wrap="square" anchor="t" lIns="73152" rIns="73152">
            <a:spAutoFit/>
          </a:bodyPr>
          <a:lstStyle/>
          <a:p>
            <a:pPr algn="l">
              <a:lnSpc>
                <a:spcPct val="110000"/>
              </a:lnSpc>
            </a:pPr>
            <a:r>
              <a:rPr sz="1300" b="1" i="0">
                <a:solidFill>
                  <a:srgbClr val="0065BD"/>
                </a:solidFill>
                <a:latin typeface="Arial"/>
              </a:rPr>
              <a:t>Step 9</a:t>
            </a:r>
          </a:p>
        </p:txBody>
      </p:sp>
      <p:sp>
        <p:nvSpPr>
          <p:cNvPr id="16" name="TextBox 15"/>
          <p:cNvSpPr txBox="1"/>
          <p:nvPr/>
        </p:nvSpPr>
        <p:spPr>
          <a:xfrm>
            <a:off x="2441448" y="5029200"/>
            <a:ext cx="1664208" cy="1325880"/>
          </a:xfrm>
          <a:prstGeom prst="rect">
            <a:avLst/>
          </a:prstGeom>
          <a:noFill/>
        </p:spPr>
        <p:txBody>
          <a:bodyPr wrap="square" anchor="t" lIns="73152" rIns="73152">
            <a:spAutoFit/>
          </a:bodyPr>
          <a:lstStyle/>
          <a:p>
            <a:pPr algn="l">
              <a:lnSpc>
                <a:spcPct val="105000"/>
              </a:lnSpc>
            </a:pPr>
            <a:r>
              <a:rPr sz="1050" b="0" i="0">
                <a:solidFill>
                  <a:srgbClr val="222A35"/>
                </a:solidFill>
                <a:latin typeface="Arial"/>
              </a:rPr>
              <a:t>“The "Ruggell" row labeled "Village" is visible and is the correct location.”</a:t>
            </a:r>
          </a:p>
        </p:txBody>
      </p:sp>
      <p:pic>
        <p:nvPicPr>
          <p:cNvPr id="17" name="Picture 16" descr="osm_traj_3.png"/>
          <p:cNvPicPr>
            <a:picLocks noChangeAspect="1"/>
          </p:cNvPicPr>
          <p:nvPr/>
        </p:nvPicPr>
        <p:blipFill>
          <a:blip r:embed="rId5"/>
          <a:srcRect t="8000"/>
          <a:stretch>
            <a:fillRect/>
          </a:stretch>
        </p:blipFill>
        <p:spPr>
          <a:xfrm>
            <a:off x="4379976" y="1417320"/>
            <a:ext cx="1522476" cy="3112617"/>
          </a:xfrm>
          <a:prstGeom prst="roundRect">
            <a:avLst/>
          </a:prstGeom>
          <a:ln w="44450">
            <a:solidFill>
              <a:srgbClr val="1B1F2A"/>
            </a:solidFill>
          </a:ln>
        </p:spPr>
      </p:pic>
      <p:sp>
        <p:nvSpPr>
          <p:cNvPr id="18" name="Rectangle 17"/>
          <p:cNvSpPr/>
          <p:nvPr/>
        </p:nvSpPr>
        <p:spPr>
          <a:xfrm>
            <a:off x="4270248"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43400" y="4754880"/>
            <a:ext cx="1645920" cy="274320"/>
          </a:xfrm>
          <a:prstGeom prst="rect">
            <a:avLst/>
          </a:prstGeom>
          <a:noFill/>
        </p:spPr>
        <p:txBody>
          <a:bodyPr wrap="square" anchor="t" lIns="73152" rIns="73152">
            <a:spAutoFit/>
          </a:bodyPr>
          <a:lstStyle/>
          <a:p>
            <a:pPr algn="l">
              <a:lnSpc>
                <a:spcPct val="110000"/>
              </a:lnSpc>
            </a:pPr>
            <a:r>
              <a:rPr sz="1300" b="1" i="0">
                <a:solidFill>
                  <a:srgbClr val="0065BD"/>
                </a:solidFill>
                <a:latin typeface="Arial"/>
              </a:rPr>
              <a:t>Step 11</a:t>
            </a:r>
          </a:p>
        </p:txBody>
      </p:sp>
      <p:sp>
        <p:nvSpPr>
          <p:cNvPr id="20" name="TextBox 19"/>
          <p:cNvSpPr txBox="1"/>
          <p:nvPr/>
        </p:nvSpPr>
        <p:spPr>
          <a:xfrm>
            <a:off x="4343400" y="5029200"/>
            <a:ext cx="1664208" cy="1325880"/>
          </a:xfrm>
          <a:prstGeom prst="rect">
            <a:avLst/>
          </a:prstGeom>
          <a:noFill/>
        </p:spPr>
        <p:txBody>
          <a:bodyPr wrap="square" anchor="t" lIns="73152" rIns="73152">
            <a:spAutoFit/>
          </a:bodyPr>
          <a:lstStyle/>
          <a:p>
            <a:pPr algn="l">
              <a:lnSpc>
                <a:spcPct val="105000"/>
              </a:lnSpc>
            </a:pPr>
            <a:r>
              <a:rPr sz="1050" b="0" i="0">
                <a:solidFill>
                  <a:srgbClr val="222A35"/>
                </a:solidFill>
                <a:latin typeface="Arial"/>
              </a:rPr>
              <a:t>“I should tap it to start creating the route, which will allow me to add the next waypoint "Bendern" in the correct order.”</a:t>
            </a:r>
          </a:p>
        </p:txBody>
      </p:sp>
      <p:pic>
        <p:nvPicPr>
          <p:cNvPr id="21" name="Picture 20" descr="osm_traj_4.png"/>
          <p:cNvPicPr>
            <a:picLocks noChangeAspect="1"/>
          </p:cNvPicPr>
          <p:nvPr/>
        </p:nvPicPr>
        <p:blipFill>
          <a:blip r:embed="rId6"/>
          <a:srcRect t="8000"/>
          <a:stretch>
            <a:fillRect/>
          </a:stretch>
        </p:blipFill>
        <p:spPr>
          <a:xfrm>
            <a:off x="6281928" y="1417320"/>
            <a:ext cx="1522476" cy="3112617"/>
          </a:xfrm>
          <a:prstGeom prst="roundRect">
            <a:avLst/>
          </a:prstGeom>
          <a:ln w="44450">
            <a:solidFill>
              <a:srgbClr val="1B1F2A"/>
            </a:solidFill>
          </a:ln>
        </p:spPr>
      </p:pic>
      <p:sp>
        <p:nvSpPr>
          <p:cNvPr id="22" name="Rectangle 21"/>
          <p:cNvSpPr/>
          <p:nvPr/>
        </p:nvSpPr>
        <p:spPr>
          <a:xfrm>
            <a:off x="6172200"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45352" y="4754880"/>
            <a:ext cx="1645920" cy="274320"/>
          </a:xfrm>
          <a:prstGeom prst="rect">
            <a:avLst/>
          </a:prstGeom>
          <a:noFill/>
        </p:spPr>
        <p:txBody>
          <a:bodyPr wrap="square" anchor="t" lIns="73152" rIns="73152">
            <a:spAutoFit/>
          </a:bodyPr>
          <a:lstStyle/>
          <a:p>
            <a:pPr algn="l">
              <a:lnSpc>
                <a:spcPct val="110000"/>
              </a:lnSpc>
            </a:pPr>
            <a:r>
              <a:rPr sz="1300" b="1" i="0">
                <a:solidFill>
                  <a:srgbClr val="0065BD"/>
                </a:solidFill>
                <a:latin typeface="Arial"/>
              </a:rPr>
              <a:t>Step 16</a:t>
            </a:r>
          </a:p>
        </p:txBody>
      </p:sp>
      <p:sp>
        <p:nvSpPr>
          <p:cNvPr id="24" name="TextBox 23"/>
          <p:cNvSpPr txBox="1"/>
          <p:nvPr/>
        </p:nvSpPr>
        <p:spPr>
          <a:xfrm>
            <a:off x="6245352" y="5029200"/>
            <a:ext cx="1664208" cy="1325880"/>
          </a:xfrm>
          <a:prstGeom prst="rect">
            <a:avLst/>
          </a:prstGeom>
          <a:noFill/>
        </p:spPr>
        <p:txBody>
          <a:bodyPr wrap="square" anchor="t" lIns="73152" rIns="73152">
            <a:spAutoFit/>
          </a:bodyPr>
          <a:lstStyle/>
          <a:p>
            <a:pPr algn="l">
              <a:lnSpc>
                <a:spcPct val="105000"/>
              </a:lnSpc>
            </a:pPr>
            <a:r>
              <a:rPr sz="1050" b="0" i="0">
                <a:solidFill>
                  <a:srgbClr val="222A35"/>
                </a:solidFill>
                <a:latin typeface="Arial"/>
              </a:rPr>
              <a:t>“I should tap this row to select it as the second waypoint for the track.”</a:t>
            </a:r>
          </a:p>
        </p:txBody>
      </p:sp>
      <p:pic>
        <p:nvPicPr>
          <p:cNvPr id="25" name="Picture 24" descr="osm_traj_5.png"/>
          <p:cNvPicPr>
            <a:picLocks noChangeAspect="1"/>
          </p:cNvPicPr>
          <p:nvPr/>
        </p:nvPicPr>
        <p:blipFill>
          <a:blip r:embed="rId7"/>
          <a:srcRect t="8000"/>
          <a:stretch>
            <a:fillRect/>
          </a:stretch>
        </p:blipFill>
        <p:spPr>
          <a:xfrm>
            <a:off x="8183880" y="1417320"/>
            <a:ext cx="1522476" cy="3112617"/>
          </a:xfrm>
          <a:prstGeom prst="roundRect">
            <a:avLst/>
          </a:prstGeom>
          <a:ln w="44450">
            <a:solidFill>
              <a:srgbClr val="1B1F2A"/>
            </a:solidFill>
          </a:ln>
        </p:spPr>
      </p:pic>
      <p:sp>
        <p:nvSpPr>
          <p:cNvPr id="26" name="Rectangle 25"/>
          <p:cNvSpPr/>
          <p:nvPr/>
        </p:nvSpPr>
        <p:spPr>
          <a:xfrm>
            <a:off x="8074152"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47304" y="4754880"/>
            <a:ext cx="1645920" cy="274320"/>
          </a:xfrm>
          <a:prstGeom prst="rect">
            <a:avLst/>
          </a:prstGeom>
          <a:noFill/>
        </p:spPr>
        <p:txBody>
          <a:bodyPr wrap="square" anchor="t" lIns="73152" rIns="73152">
            <a:spAutoFit/>
          </a:bodyPr>
          <a:lstStyle/>
          <a:p>
            <a:pPr algn="l">
              <a:lnSpc>
                <a:spcPct val="110000"/>
              </a:lnSpc>
            </a:pPr>
            <a:r>
              <a:rPr sz="1300" b="1" i="0">
                <a:solidFill>
                  <a:srgbClr val="0065BD"/>
                </a:solidFill>
                <a:latin typeface="Arial"/>
              </a:rPr>
              <a:t>Step 22</a:t>
            </a:r>
          </a:p>
        </p:txBody>
      </p:sp>
      <p:sp>
        <p:nvSpPr>
          <p:cNvPr id="28" name="TextBox 27"/>
          <p:cNvSpPr txBox="1"/>
          <p:nvPr/>
        </p:nvSpPr>
        <p:spPr>
          <a:xfrm>
            <a:off x="8147304" y="5029200"/>
            <a:ext cx="1664208" cy="1325880"/>
          </a:xfrm>
          <a:prstGeom prst="rect">
            <a:avLst/>
          </a:prstGeom>
          <a:noFill/>
        </p:spPr>
        <p:txBody>
          <a:bodyPr wrap="square" anchor="t" lIns="73152" rIns="73152">
            <a:spAutoFit/>
          </a:bodyPr>
          <a:lstStyle/>
          <a:p>
            <a:pPr algn="l">
              <a:lnSpc>
                <a:spcPct val="105000"/>
              </a:lnSpc>
            </a:pPr>
            <a:r>
              <a:rPr sz="1050" b="0" i="0">
                <a:solidFill>
                  <a:srgbClr val="222A35"/>
                </a:solidFill>
                <a:latin typeface="Arial"/>
              </a:rPr>
              <a:t>“To save the track with both waypoints in the correct order, I should tap "Done" to complete the route creation and save the track.”</a:t>
            </a:r>
          </a:p>
        </p:txBody>
      </p:sp>
      <p:pic>
        <p:nvPicPr>
          <p:cNvPr id="29" name="Picture 28" descr="osm_traj_6.png"/>
          <p:cNvPicPr>
            <a:picLocks noChangeAspect="1"/>
          </p:cNvPicPr>
          <p:nvPr/>
        </p:nvPicPr>
        <p:blipFill>
          <a:blip r:embed="rId8"/>
          <a:srcRect t="8000"/>
          <a:stretch>
            <a:fillRect/>
          </a:stretch>
        </p:blipFill>
        <p:spPr>
          <a:xfrm>
            <a:off x="10085832" y="1417320"/>
            <a:ext cx="1522476" cy="3112617"/>
          </a:xfrm>
          <a:prstGeom prst="roundRect">
            <a:avLst/>
          </a:prstGeom>
          <a:ln w="44450">
            <a:solidFill>
              <a:srgbClr val="1B1F2A"/>
            </a:solidFill>
          </a:ln>
        </p:spPr>
      </p:pic>
      <p:sp>
        <p:nvSpPr>
          <p:cNvPr id="30" name="Rectangle 29"/>
          <p:cNvSpPr/>
          <p:nvPr/>
        </p:nvSpPr>
        <p:spPr>
          <a:xfrm>
            <a:off x="9976104"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049256" y="4754880"/>
            <a:ext cx="1645920" cy="274320"/>
          </a:xfrm>
          <a:prstGeom prst="rect">
            <a:avLst/>
          </a:prstGeom>
          <a:noFill/>
        </p:spPr>
        <p:txBody>
          <a:bodyPr wrap="square" anchor="t" lIns="73152" rIns="73152">
            <a:spAutoFit/>
          </a:bodyPr>
          <a:lstStyle/>
          <a:p>
            <a:pPr algn="l">
              <a:lnSpc>
                <a:spcPct val="110000"/>
              </a:lnSpc>
            </a:pPr>
            <a:r>
              <a:rPr sz="1300" b="1" i="0">
                <a:solidFill>
                  <a:srgbClr val="0065BD"/>
                </a:solidFill>
                <a:latin typeface="Arial"/>
              </a:rPr>
              <a:t>Step 23</a:t>
            </a:r>
          </a:p>
        </p:txBody>
      </p:sp>
      <p:sp>
        <p:nvSpPr>
          <p:cNvPr id="32" name="TextBox 31"/>
          <p:cNvSpPr txBox="1"/>
          <p:nvPr/>
        </p:nvSpPr>
        <p:spPr>
          <a:xfrm>
            <a:off x="10049256" y="5029200"/>
            <a:ext cx="1664208" cy="1325880"/>
          </a:xfrm>
          <a:prstGeom prst="rect">
            <a:avLst/>
          </a:prstGeom>
          <a:noFill/>
        </p:spPr>
        <p:txBody>
          <a:bodyPr wrap="square" anchor="t" lIns="73152" rIns="73152">
            <a:spAutoFit/>
          </a:bodyPr>
          <a:lstStyle/>
          <a:p>
            <a:pPr algn="l">
              <a:lnSpc>
                <a:spcPct val="105000"/>
              </a:lnSpc>
            </a:pPr>
            <a:r>
              <a:rPr sz="1050" b="0" i="0">
                <a:solidFill>
                  <a:srgbClr val="222A35"/>
                </a:solidFill>
                <a:latin typeface="Arial"/>
              </a:rPr>
              <a:t>“The track has been created with both waypoints "Ruggell" and "Bendern" in the correct order and is now saved.”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EVALUATION</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How we tested: one frozen version, three runs per task</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11</a:t>
            </a:r>
          </a:p>
        </p:txBody>
      </p:sp>
      <p:sp>
        <p:nvSpPr>
          <p:cNvPr id="9" name="Rectangle 8"/>
          <p:cNvSpPr/>
          <p:nvPr/>
        </p:nvSpPr>
        <p:spPr>
          <a:xfrm>
            <a:off x="640080" y="1554480"/>
            <a:ext cx="3566160" cy="2148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1554480"/>
            <a:ext cx="54864" cy="2148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 y="1645920"/>
            <a:ext cx="331012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Frozen</a:t>
            </a:r>
          </a:p>
        </p:txBody>
      </p:sp>
      <p:sp>
        <p:nvSpPr>
          <p:cNvPr id="12" name="TextBox 11"/>
          <p:cNvSpPr txBox="1"/>
          <p:nvPr/>
        </p:nvSpPr>
        <p:spPr>
          <a:xfrm>
            <a:off x="804671" y="2057400"/>
            <a:ext cx="3291840" cy="160020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Git tag team-agent-final-v65</a:t>
            </a:r>
          </a:p>
          <a:p>
            <a:pPr>
              <a:lnSpc>
                <a:spcPct val="108000"/>
              </a:lnSpc>
              <a:spcAft>
                <a:spcPts val="300"/>
              </a:spcAft>
            </a:pPr>
            <a:r>
              <a:rPr sz="1500">
                <a:solidFill>
                  <a:srgbClr val="0065BD"/>
                </a:solidFill>
                <a:latin typeface="Arial"/>
              </a:rPr>
              <a:t>▪  </a:t>
            </a:r>
            <a:r>
              <a:rPr sz="1500" b="0">
                <a:solidFill>
                  <a:srgbClr val="222A35"/>
                </a:solidFill>
                <a:latin typeface="Arial"/>
              </a:rPr>
              <a:t>Same source fingerprint in both batches</a:t>
            </a:r>
          </a:p>
          <a:p>
            <a:pPr>
              <a:lnSpc>
                <a:spcPct val="108000"/>
              </a:lnSpc>
              <a:spcAft>
                <a:spcPts val="300"/>
              </a:spcAft>
            </a:pPr>
            <a:r>
              <a:rPr sz="1500">
                <a:solidFill>
                  <a:srgbClr val="0065BD"/>
                </a:solidFill>
                <a:latin typeface="Arial"/>
              </a:rPr>
              <a:t>▪  </a:t>
            </a:r>
            <a:r>
              <a:rPr sz="1500" b="0">
                <a:solidFill>
                  <a:srgbClr val="222A35"/>
                </a:solidFill>
                <a:latin typeface="Arial"/>
              </a:rPr>
              <a:t>No changes during the batch</a:t>
            </a:r>
          </a:p>
        </p:txBody>
      </p:sp>
      <p:sp>
        <p:nvSpPr>
          <p:cNvPr id="13" name="Rectangle 12"/>
          <p:cNvSpPr/>
          <p:nvPr/>
        </p:nvSpPr>
        <p:spPr>
          <a:xfrm>
            <a:off x="4343400" y="1554480"/>
            <a:ext cx="3566160" cy="2148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43400" y="1554480"/>
            <a:ext cx="54864" cy="2148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07992" y="1645920"/>
            <a:ext cx="331012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Three runs per task</a:t>
            </a:r>
          </a:p>
        </p:txBody>
      </p:sp>
      <p:sp>
        <p:nvSpPr>
          <p:cNvPr id="16" name="TextBox 15"/>
          <p:cNvSpPr txBox="1"/>
          <p:nvPr/>
        </p:nvSpPr>
        <p:spPr>
          <a:xfrm>
            <a:off x="4507992" y="2057400"/>
            <a:ext cx="3291840" cy="160020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Seeds 42, 43, 44</a:t>
            </a:r>
          </a:p>
          <a:p>
            <a:pPr>
              <a:lnSpc>
                <a:spcPct val="108000"/>
              </a:lnSpc>
              <a:spcAft>
                <a:spcPts val="300"/>
              </a:spcAft>
            </a:pPr>
            <a:r>
              <a:rPr sz="1500">
                <a:solidFill>
                  <a:srgbClr val="0065BD"/>
                </a:solidFill>
                <a:latin typeface="Arial"/>
              </a:rPr>
              <a:t>▪  </a:t>
            </a:r>
            <a:r>
              <a:rPr sz="1500" b="0">
                <a:solidFill>
                  <a:srgbClr val="222A35"/>
                </a:solidFill>
                <a:latin typeface="Arial"/>
              </a:rPr>
              <a:t>OsmAnd: 31, 314, 366 = the slide's route</a:t>
            </a:r>
          </a:p>
          <a:p>
            <a:pPr>
              <a:lnSpc>
                <a:spcPct val="108000"/>
              </a:lnSpc>
              <a:spcAft>
                <a:spcPts val="300"/>
              </a:spcAft>
            </a:pPr>
            <a:r>
              <a:rPr sz="1500">
                <a:solidFill>
                  <a:srgbClr val="0065BD"/>
                </a:solidFill>
                <a:latin typeface="Arial"/>
              </a:rPr>
              <a:t>▪  </a:t>
            </a:r>
            <a:r>
              <a:rPr sz="1500" b="0">
                <a:solidFill>
                  <a:srgbClr val="222A35"/>
                </a:solidFill>
                <a:latin typeface="Arial"/>
              </a:rPr>
              <a:t>Failures kept, never rerun</a:t>
            </a:r>
          </a:p>
        </p:txBody>
      </p:sp>
      <p:sp>
        <p:nvSpPr>
          <p:cNvPr id="17" name="Rectangle 16"/>
          <p:cNvSpPr/>
          <p:nvPr/>
        </p:nvSpPr>
        <p:spPr>
          <a:xfrm>
            <a:off x="8046720" y="1554480"/>
            <a:ext cx="3520440" cy="2148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46720" y="1554480"/>
            <a:ext cx="54864" cy="2148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11312" y="1645920"/>
            <a:ext cx="326440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Judged independently</a:t>
            </a:r>
          </a:p>
        </p:txBody>
      </p:sp>
      <p:sp>
        <p:nvSpPr>
          <p:cNvPr id="20" name="TextBox 19"/>
          <p:cNvSpPr txBox="1"/>
          <p:nvPr/>
        </p:nvSpPr>
        <p:spPr>
          <a:xfrm>
            <a:off x="8211312" y="2057400"/>
            <a:ext cx="3246120" cy="160020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Official AndroidWorld verifier</a:t>
            </a:r>
          </a:p>
          <a:p>
            <a:pPr>
              <a:lnSpc>
                <a:spcPct val="108000"/>
              </a:lnSpc>
              <a:spcAft>
                <a:spcPts val="300"/>
              </a:spcAft>
            </a:pPr>
            <a:r>
              <a:rPr sz="1500">
                <a:solidFill>
                  <a:srgbClr val="0065BD"/>
                </a:solidFill>
                <a:latin typeface="Arial"/>
              </a:rPr>
              <a:t>▪  </a:t>
            </a:r>
            <a:r>
              <a:rPr sz="1500" b="0">
                <a:solidFill>
                  <a:srgbClr val="222A35"/>
                </a:solidFill>
                <a:latin typeface="Arial"/>
              </a:rPr>
              <a:t>The model's “finish” never counts</a:t>
            </a:r>
          </a:p>
          <a:p>
            <a:pPr>
              <a:lnSpc>
                <a:spcPct val="108000"/>
              </a:lnSpc>
              <a:spcAft>
                <a:spcPts val="300"/>
              </a:spcAft>
            </a:pPr>
            <a:r>
              <a:rPr sz="1500">
                <a:solidFill>
                  <a:srgbClr val="0065BD"/>
                </a:solidFill>
                <a:latin typeface="Arial"/>
              </a:rPr>
              <a:t>▪  </a:t>
            </a:r>
            <a:r>
              <a:rPr sz="1500" b="0">
                <a:solidFill>
                  <a:srgbClr val="222A35"/>
                </a:solidFill>
                <a:latin typeface="Arial"/>
              </a:rPr>
              <a:t>Step budget about 2–4× reference</a:t>
            </a:r>
          </a:p>
        </p:txBody>
      </p:sp>
      <p:sp>
        <p:nvSpPr>
          <p:cNvPr id="21" name="Rectangle 20"/>
          <p:cNvSpPr/>
          <p:nvPr/>
        </p:nvSpPr>
        <p:spPr>
          <a:xfrm>
            <a:off x="640080" y="4069080"/>
            <a:ext cx="3474720" cy="1325880"/>
          </a:xfrm>
          <a:prstGeom prst="rect">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59" y="4160520"/>
            <a:ext cx="3108960"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Summary row</a:t>
            </a:r>
          </a:p>
        </p:txBody>
      </p:sp>
      <p:sp>
        <p:nvSpPr>
          <p:cNvPr id="23" name="TextBox 22"/>
          <p:cNvSpPr txBox="1"/>
          <p:nvPr/>
        </p:nvSpPr>
        <p:spPr>
          <a:xfrm>
            <a:off x="822959" y="4553712"/>
            <a:ext cx="3108960" cy="77724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Course fields (D1 p.49), written by the runner during the run</a:t>
            </a:r>
          </a:p>
        </p:txBody>
      </p:sp>
      <p:sp>
        <p:nvSpPr>
          <p:cNvPr id="24" name="Rectangle 23"/>
          <p:cNvSpPr/>
          <p:nvPr/>
        </p:nvSpPr>
        <p:spPr>
          <a:xfrm>
            <a:off x="4343400" y="4069080"/>
            <a:ext cx="3474720" cy="1325880"/>
          </a:xfrm>
          <a:prstGeom prst="rect">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26280" y="4160520"/>
            <a:ext cx="3108960"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Trajectory log</a:t>
            </a:r>
          </a:p>
        </p:txBody>
      </p:sp>
      <p:sp>
        <p:nvSpPr>
          <p:cNvPr id="26" name="TextBox 25"/>
          <p:cNvSpPr txBox="1"/>
          <p:nvPr/>
        </p:nvSpPr>
        <p:spPr>
          <a:xfrm>
            <a:off x="4526280" y="4553712"/>
            <a:ext cx="3108960" cy="77724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Every screenshot, model reply, check and result, step by step</a:t>
            </a:r>
          </a:p>
        </p:txBody>
      </p:sp>
      <p:sp>
        <p:nvSpPr>
          <p:cNvPr id="27" name="Rectangle 26"/>
          <p:cNvSpPr/>
          <p:nvPr/>
        </p:nvSpPr>
        <p:spPr>
          <a:xfrm>
            <a:off x="8046719" y="4069080"/>
            <a:ext cx="3474720" cy="1325880"/>
          </a:xfrm>
          <a:prstGeom prst="rect">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9" y="4160520"/>
            <a:ext cx="3108960"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Screen recording</a:t>
            </a:r>
          </a:p>
        </p:txBody>
      </p:sp>
      <p:sp>
        <p:nvSpPr>
          <p:cNvPr id="29" name="TextBox 28"/>
          <p:cNvSpPr txBox="1"/>
          <p:nvPr/>
        </p:nvSpPr>
        <p:spPr>
          <a:xfrm>
            <a:off x="8229599" y="4553712"/>
            <a:ext cx="3108960" cy="77724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The whole run on video, in one or more clips</a:t>
            </a:r>
          </a:p>
        </p:txBody>
      </p:sp>
      <p:sp>
        <p:nvSpPr>
          <p:cNvPr id="30" name="TextBox 29"/>
          <p:cNvSpPr txBox="1"/>
          <p:nvPr/>
        </p:nvSpPr>
        <p:spPr>
          <a:xfrm>
            <a:off x="640080" y="5577840"/>
            <a:ext cx="10927080" cy="548640"/>
          </a:xfrm>
          <a:prstGeom prst="rect">
            <a:avLst/>
          </a:prstGeom>
          <a:noFill/>
        </p:spPr>
        <p:txBody>
          <a:bodyPr wrap="square" anchor="t" lIns="73152" rIns="73152">
            <a:spAutoFit/>
          </a:bodyPr>
          <a:lstStyle/>
          <a:p>
            <a:pPr algn="l">
              <a:lnSpc>
                <a:spcPct val="110000"/>
              </a:lnSpc>
            </a:pPr>
            <a:r>
              <a:rPr sz="1500" b="1" i="0">
                <a:solidFill>
                  <a:srgbClr val="0065BD"/>
                </a:solidFill>
                <a:latin typeface="Arial"/>
              </a:rPr>
              <a:t>Kept for every one of the 21 runs. The full run log follows right after the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RESULTS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18 of 21 runs passed; every task passed at least twice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12</a:t>
            </a:r>
          </a:p>
        </p:txBody>
      </p:sp>
      <p:graphicFrame>
        <p:nvGraphicFramePr>
          <p:cNvPr id="9" name="Table 8"/>
          <p:cNvGraphicFramePr>
            <a:graphicFrameLocks noGrp="1"/>
          </p:cNvGraphicFramePr>
          <p:nvPr/>
        </p:nvGraphicFramePr>
        <p:xfrm>
          <a:off x="640080" y="1508760"/>
          <a:ext cx="10927080" cy="4526280"/>
        </p:xfrm>
        <a:graphic>
          <a:graphicData uri="http://schemas.openxmlformats.org/drawingml/2006/table">
            <a:tbl>
              <a:tblPr firstRow="1" bandRow="1">
                <a:tableStyleId>{5C22544A-7EE6-4342-B048-85BDC9FD1C3A}</a:tableStyleId>
              </a:tblPr>
              <a:tblGrid>
                <a:gridCol w="1188720"/>
                <a:gridCol w="3017520"/>
                <a:gridCol w="1920240"/>
                <a:gridCol w="1920240"/>
                <a:gridCol w="1920240"/>
                <a:gridCol w="960120"/>
              </a:tblGrid>
              <a:tr h="565785">
                <a:tc>
                  <a:txBody>
                    <a:bodyPr wrap="square"/>
                    <a:lstStyle/>
                    <a:p>
                      <a:r>
                        <a:rPr sz="1300" b="1">
                          <a:solidFill>
                            <a:srgbClr val="FFFFFF"/>
                          </a:solidFill>
                          <a:latin typeface="Arial"/>
                        </a:rPr>
                        <a:t>Row</a:t>
                      </a:r>
                    </a:p>
                  </a:txBody>
                  <a:tcPr marL="54864" marR="54864" marT="27432" marB="27432" anchor="ctr">
                    <a:solidFill>
                      <a:srgbClr val="072140"/>
                    </a:solidFill>
                  </a:tcPr>
                </a:tc>
                <a:tc>
                  <a:txBody>
                    <a:bodyPr wrap="square"/>
                    <a:lstStyle/>
                    <a:p>
                      <a:r>
                        <a:rPr sz="1300" b="1">
                          <a:solidFill>
                            <a:srgbClr val="FFFFFF"/>
                          </a:solidFill>
                          <a:latin typeface="Arial"/>
                        </a:rPr>
                        <a:t>Task</a:t>
                      </a:r>
                    </a:p>
                  </a:txBody>
                  <a:tcPr marL="54864" marR="54864" marT="27432" marB="27432" anchor="ctr">
                    <a:solidFill>
                      <a:srgbClr val="072140"/>
                    </a:solidFill>
                  </a:tcPr>
                </a:tc>
                <a:tc>
                  <a:txBody>
                    <a:bodyPr wrap="square"/>
                    <a:lstStyle/>
                    <a:p>
                      <a:pPr algn="ctr"/>
                      <a:r>
                        <a:rPr sz="1300" b="1">
                          <a:solidFill>
                            <a:srgbClr val="FFFFFF"/>
                          </a:solidFill>
                          <a:latin typeface="Arial"/>
                        </a:rPr>
                        <a:t>Run 1</a:t>
                      </a:r>
                    </a:p>
                  </a:txBody>
                  <a:tcPr marL="54864" marR="54864" marT="27432" marB="27432" anchor="ctr">
                    <a:solidFill>
                      <a:srgbClr val="072140"/>
                    </a:solidFill>
                  </a:tcPr>
                </a:tc>
                <a:tc>
                  <a:txBody>
                    <a:bodyPr wrap="square"/>
                    <a:lstStyle/>
                    <a:p>
                      <a:pPr algn="ctr"/>
                      <a:r>
                        <a:rPr sz="1300" b="1">
                          <a:solidFill>
                            <a:srgbClr val="FFFFFF"/>
                          </a:solidFill>
                          <a:latin typeface="Arial"/>
                        </a:rPr>
                        <a:t>Run 2</a:t>
                      </a:r>
                    </a:p>
                  </a:txBody>
                  <a:tcPr marL="54864" marR="54864" marT="27432" marB="27432" anchor="ctr">
                    <a:solidFill>
                      <a:srgbClr val="072140"/>
                    </a:solidFill>
                  </a:tcPr>
                </a:tc>
                <a:tc>
                  <a:txBody>
                    <a:bodyPr wrap="square"/>
                    <a:lstStyle/>
                    <a:p>
                      <a:pPr algn="ctr"/>
                      <a:r>
                        <a:rPr sz="1300" b="1">
                          <a:solidFill>
                            <a:srgbClr val="FFFFFF"/>
                          </a:solidFill>
                          <a:latin typeface="Arial"/>
                        </a:rPr>
                        <a:t>Run 3</a:t>
                      </a:r>
                    </a:p>
                  </a:txBody>
                  <a:tcPr marL="54864" marR="54864" marT="27432" marB="27432" anchor="ctr">
                    <a:solidFill>
                      <a:srgbClr val="072140"/>
                    </a:solidFill>
                  </a:tcPr>
                </a:tc>
                <a:tc>
                  <a:txBody>
                    <a:bodyPr wrap="square"/>
                    <a:lstStyle/>
                    <a:p>
                      <a:pPr algn="ctr"/>
                      <a:r>
                        <a:rPr sz="1300" b="1">
                          <a:solidFill>
                            <a:srgbClr val="FFFFFF"/>
                          </a:solidFill>
                          <a:latin typeface="Arial"/>
                        </a:rPr>
                        <a:t>Passed</a:t>
                      </a:r>
                    </a:p>
                  </a:txBody>
                  <a:tcPr marL="54864" marR="54864" marT="27432" marB="27432" anchor="ctr">
                    <a:solidFill>
                      <a:srgbClr val="072140"/>
                    </a:solidFill>
                  </a:tcPr>
                </a:tc>
              </a:tr>
              <a:tr h="565785">
                <a:tc>
                  <a:txBody>
                    <a:bodyPr wrap="square"/>
                    <a:lstStyle/>
                    <a:p>
                      <a:r>
                        <a:rPr sz="1300" b="0">
                          <a:solidFill>
                            <a:srgbClr val="222A35"/>
                          </a:solidFill>
                          <a:latin typeface="Arial"/>
                        </a:rPr>
                        <a:t>Warm-up</a:t>
                      </a:r>
                    </a:p>
                  </a:txBody>
                  <a:tcPr marL="54864" marR="54864" marT="27432" marB="27432" anchor="ctr">
                    <a:solidFill>
                      <a:srgbClr val="FFFFFF"/>
                    </a:solidFill>
                  </a:tcPr>
                </a:tc>
                <a:tc>
                  <a:txBody>
                    <a:bodyPr wrap="square"/>
                    <a:lstStyle/>
                    <a:p>
                      <a:r>
                        <a:rPr sz="1300" b="0">
                          <a:solidFill>
                            <a:srgbClr val="222A35"/>
                          </a:solidFill>
                          <a:latin typeface="Arial"/>
                        </a:rPr>
                        <a:t>SystemWifiTurnOn</a:t>
                      </a:r>
                    </a:p>
                  </a:txBody>
                  <a:tcPr marL="54864" marR="54864" marT="27432" marB="27432" anchor="ctr">
                    <a:solidFill>
                      <a:srgbClr val="FFFFFF"/>
                    </a:solidFill>
                  </a:tcPr>
                </a:tc>
                <a:tc>
                  <a:txBody>
                    <a:bodyPr wrap="square"/>
                    <a:lstStyle/>
                    <a:p>
                      <a:pPr algn="ctr"/>
                      <a:r>
                        <a:rPr sz="1300" b="1">
                          <a:solidFill>
                            <a:srgbClr val="FFFFFF"/>
                          </a:solidFill>
                          <a:latin typeface="Arial"/>
                        </a:rPr>
                        <a:t>PASS  s42</a:t>
                      </a:r>
                    </a:p>
                  </a:txBody>
                  <a:tcPr marL="54864" marR="54864" marT="27432" marB="27432" anchor="ctr">
                    <a:solidFill>
                      <a:srgbClr val="0065BD"/>
                    </a:solidFill>
                  </a:tcPr>
                </a:tc>
                <a:tc>
                  <a:txBody>
                    <a:bodyPr wrap="square"/>
                    <a:lstStyle/>
                    <a:p>
                      <a:pPr algn="ctr"/>
                      <a:r>
                        <a:rPr sz="1300" b="1">
                          <a:solidFill>
                            <a:srgbClr val="FFFFFF"/>
                          </a:solidFill>
                          <a:latin typeface="Arial"/>
                        </a:rPr>
                        <a:t>PASS  s43</a:t>
                      </a:r>
                    </a:p>
                  </a:txBody>
                  <a:tcPr marL="54864" marR="54864" marT="27432" marB="27432" anchor="ctr">
                    <a:solidFill>
                      <a:srgbClr val="0065BD"/>
                    </a:solidFill>
                  </a:tcPr>
                </a:tc>
                <a:tc>
                  <a:txBody>
                    <a:bodyPr wrap="square"/>
                    <a:lstStyle/>
                    <a:p>
                      <a:pPr algn="ctr"/>
                      <a:r>
                        <a:rPr sz="1300" b="1">
                          <a:solidFill>
                            <a:srgbClr val="FFFFFF"/>
                          </a:solidFill>
                          <a:latin typeface="Arial"/>
                        </a:rPr>
                        <a:t>PASS  s44</a:t>
                      </a:r>
                    </a:p>
                  </a:txBody>
                  <a:tcPr marL="54864" marR="54864" marT="27432" marB="27432" anchor="ctr">
                    <a:solidFill>
                      <a:srgbClr val="0065BD"/>
                    </a:solidFill>
                  </a:tcPr>
                </a:tc>
                <a:tc>
                  <a:txBody>
                    <a:bodyPr wrap="square"/>
                    <a:lstStyle/>
                    <a:p>
                      <a:pPr algn="ctr"/>
                      <a:r>
                        <a:rPr sz="1300" b="0">
                          <a:solidFill>
                            <a:srgbClr val="222A35"/>
                          </a:solidFill>
                          <a:latin typeface="Arial"/>
                        </a:rPr>
                        <a:t>3/3</a:t>
                      </a:r>
                    </a:p>
                  </a:txBody>
                  <a:tcPr marL="54864" marR="54864" marT="27432" marB="27432" anchor="ctr">
                    <a:solidFill>
                      <a:srgbClr val="FFFFFF"/>
                    </a:solidFill>
                  </a:tcPr>
                </a:tc>
              </a:tr>
              <a:tr h="565785">
                <a:tc>
                  <a:txBody>
                    <a:bodyPr wrap="square"/>
                    <a:lstStyle/>
                    <a:p>
                      <a:r>
                        <a:rPr sz="1300" b="0">
                          <a:solidFill>
                            <a:srgbClr val="222A35"/>
                          </a:solidFill>
                          <a:latin typeface="Arial"/>
                        </a:rPr>
                        <a:t>Warm-up</a:t>
                      </a:r>
                    </a:p>
                  </a:txBody>
                  <a:tcPr marL="54864" marR="54864" marT="27432" marB="27432" anchor="ctr">
                    <a:solidFill>
                      <a:srgbClr val="F2F5F9"/>
                    </a:solidFill>
                  </a:tcPr>
                </a:tc>
                <a:tc>
                  <a:txBody>
                    <a:bodyPr wrap="square"/>
                    <a:lstStyle/>
                    <a:p>
                      <a:r>
                        <a:rPr sz="1300" b="0">
                          <a:solidFill>
                            <a:srgbClr val="222A35"/>
                          </a:solidFill>
                          <a:latin typeface="Arial"/>
                        </a:rPr>
                        <a:t>ContactsAddContact</a:t>
                      </a:r>
                    </a:p>
                  </a:txBody>
                  <a:tcPr marL="54864" marR="54864" marT="27432" marB="27432" anchor="ctr">
                    <a:solidFill>
                      <a:srgbClr val="F2F5F9"/>
                    </a:solidFill>
                  </a:tcPr>
                </a:tc>
                <a:tc>
                  <a:txBody>
                    <a:bodyPr wrap="square"/>
                    <a:lstStyle/>
                    <a:p>
                      <a:pPr algn="ctr"/>
                      <a:r>
                        <a:rPr sz="1300" b="1">
                          <a:solidFill>
                            <a:srgbClr val="FFFFFF"/>
                          </a:solidFill>
                          <a:latin typeface="Arial"/>
                        </a:rPr>
                        <a:t>PASS  s42</a:t>
                      </a:r>
                    </a:p>
                  </a:txBody>
                  <a:tcPr marL="54864" marR="54864" marT="27432" marB="27432" anchor="ctr">
                    <a:solidFill>
                      <a:srgbClr val="0065BD"/>
                    </a:solidFill>
                  </a:tcPr>
                </a:tc>
                <a:tc>
                  <a:txBody>
                    <a:bodyPr wrap="square"/>
                    <a:lstStyle/>
                    <a:p>
                      <a:pPr algn="ctr"/>
                      <a:r>
                        <a:rPr sz="1300" b="1">
                          <a:solidFill>
                            <a:srgbClr val="FFFFFF"/>
                          </a:solidFill>
                          <a:latin typeface="Arial"/>
                        </a:rPr>
                        <a:t>FAIL  s43
other: navigation</a:t>
                      </a:r>
                    </a:p>
                  </a:txBody>
                  <a:tcPr marL="54864" marR="54864" marT="27432" marB="27432" anchor="ctr">
                    <a:solidFill>
                      <a:srgbClr val="E37222"/>
                    </a:solidFill>
                  </a:tcPr>
                </a:tc>
                <a:tc>
                  <a:txBody>
                    <a:bodyPr wrap="square"/>
                    <a:lstStyle/>
                    <a:p>
                      <a:pPr algn="ctr"/>
                      <a:r>
                        <a:rPr sz="1300" b="1">
                          <a:solidFill>
                            <a:srgbClr val="FFFFFF"/>
                          </a:solidFill>
                          <a:latin typeface="Arial"/>
                        </a:rPr>
                        <a:t>PASS  s44</a:t>
                      </a:r>
                    </a:p>
                  </a:txBody>
                  <a:tcPr marL="54864" marR="54864" marT="27432" marB="27432" anchor="ctr">
                    <a:solidFill>
                      <a:srgbClr val="0065BD"/>
                    </a:solidFill>
                  </a:tcPr>
                </a:tc>
                <a:tc>
                  <a:txBody>
                    <a:bodyPr wrap="square"/>
                    <a:lstStyle/>
                    <a:p>
                      <a:pPr algn="ctr"/>
                      <a:r>
                        <a:rPr sz="1300" b="0">
                          <a:solidFill>
                            <a:srgbClr val="222A35"/>
                          </a:solidFill>
                          <a:latin typeface="Arial"/>
                        </a:rPr>
                        <a:t>2/3</a:t>
                      </a:r>
                    </a:p>
                  </a:txBody>
                  <a:tcPr marL="54864" marR="54864" marT="27432" marB="27432" anchor="ctr">
                    <a:solidFill>
                      <a:srgbClr val="F2F5F9"/>
                    </a:solidFill>
                  </a:tcPr>
                </a:tc>
              </a:tr>
              <a:tr h="565785">
                <a:tc>
                  <a:txBody>
                    <a:bodyPr wrap="square"/>
                    <a:lstStyle/>
                    <a:p>
                      <a:r>
                        <a:rPr sz="1300" b="0">
                          <a:solidFill>
                            <a:srgbClr val="222A35"/>
                          </a:solidFill>
                          <a:latin typeface="Arial"/>
                        </a:rPr>
                        <a:t>Real work</a:t>
                      </a:r>
                    </a:p>
                  </a:txBody>
                  <a:tcPr marL="54864" marR="54864" marT="27432" marB="27432" anchor="ctr">
                    <a:solidFill>
                      <a:srgbClr val="FFFFFF"/>
                    </a:solidFill>
                  </a:tcPr>
                </a:tc>
                <a:tc>
                  <a:txBody>
                    <a:bodyPr wrap="square"/>
                    <a:lstStyle/>
                    <a:p>
                      <a:r>
                        <a:rPr sz="1300" b="0">
                          <a:solidFill>
                            <a:srgbClr val="222A35"/>
                          </a:solidFill>
                          <a:latin typeface="Arial"/>
                        </a:rPr>
                        <a:t>SimpleSmsSend</a:t>
                      </a:r>
                    </a:p>
                  </a:txBody>
                  <a:tcPr marL="54864" marR="54864" marT="27432" marB="27432" anchor="ctr">
                    <a:solidFill>
                      <a:srgbClr val="FFFFFF"/>
                    </a:solidFill>
                  </a:tcPr>
                </a:tc>
                <a:tc>
                  <a:txBody>
                    <a:bodyPr wrap="square"/>
                    <a:lstStyle/>
                    <a:p>
                      <a:pPr algn="ctr"/>
                      <a:r>
                        <a:rPr sz="1300" b="1">
                          <a:solidFill>
                            <a:srgbClr val="FFFFFF"/>
                          </a:solidFill>
                          <a:latin typeface="Arial"/>
                        </a:rPr>
                        <a:t>PASS  s42</a:t>
                      </a:r>
                    </a:p>
                  </a:txBody>
                  <a:tcPr marL="54864" marR="54864" marT="27432" marB="27432" anchor="ctr">
                    <a:solidFill>
                      <a:srgbClr val="0065BD"/>
                    </a:solidFill>
                  </a:tcPr>
                </a:tc>
                <a:tc>
                  <a:txBody>
                    <a:bodyPr wrap="square"/>
                    <a:lstStyle/>
                    <a:p>
                      <a:pPr algn="ctr"/>
                      <a:r>
                        <a:rPr sz="1300" b="1">
                          <a:solidFill>
                            <a:srgbClr val="FFFFFF"/>
                          </a:solidFill>
                          <a:latin typeface="Arial"/>
                        </a:rPr>
                        <a:t>PASS  s43</a:t>
                      </a:r>
                    </a:p>
                  </a:txBody>
                  <a:tcPr marL="54864" marR="54864" marT="27432" marB="27432" anchor="ctr">
                    <a:solidFill>
                      <a:srgbClr val="0065BD"/>
                    </a:solidFill>
                  </a:tcPr>
                </a:tc>
                <a:tc>
                  <a:txBody>
                    <a:bodyPr wrap="square"/>
                    <a:lstStyle/>
                    <a:p>
                      <a:pPr algn="ctr"/>
                      <a:r>
                        <a:rPr sz="1300" b="1">
                          <a:solidFill>
                            <a:srgbClr val="FFFFFF"/>
                          </a:solidFill>
                          <a:latin typeface="Arial"/>
                        </a:rPr>
                        <a:t>PASS  s44</a:t>
                      </a:r>
                    </a:p>
                  </a:txBody>
                  <a:tcPr marL="54864" marR="54864" marT="27432" marB="27432" anchor="ctr">
                    <a:solidFill>
                      <a:srgbClr val="0065BD"/>
                    </a:solidFill>
                  </a:tcPr>
                </a:tc>
                <a:tc>
                  <a:txBody>
                    <a:bodyPr wrap="square"/>
                    <a:lstStyle/>
                    <a:p>
                      <a:pPr algn="ctr"/>
                      <a:r>
                        <a:rPr sz="1300" b="0">
                          <a:solidFill>
                            <a:srgbClr val="222A35"/>
                          </a:solidFill>
                          <a:latin typeface="Arial"/>
                        </a:rPr>
                        <a:t>3/3</a:t>
                      </a:r>
                    </a:p>
                  </a:txBody>
                  <a:tcPr marL="54864" marR="54864" marT="27432" marB="27432" anchor="ctr">
                    <a:solidFill>
                      <a:srgbClr val="FFFFFF"/>
                    </a:solidFill>
                  </a:tcPr>
                </a:tc>
              </a:tr>
              <a:tr h="565785">
                <a:tc>
                  <a:txBody>
                    <a:bodyPr wrap="square"/>
                    <a:lstStyle/>
                    <a:p>
                      <a:r>
                        <a:rPr sz="1300" b="0">
                          <a:solidFill>
                            <a:srgbClr val="222A35"/>
                          </a:solidFill>
                          <a:latin typeface="Arial"/>
                        </a:rPr>
                        <a:t>Real work</a:t>
                      </a:r>
                    </a:p>
                  </a:txBody>
                  <a:tcPr marL="54864" marR="54864" marT="27432" marB="27432" anchor="ctr">
                    <a:solidFill>
                      <a:srgbClr val="F2F5F9"/>
                    </a:solidFill>
                  </a:tcPr>
                </a:tc>
                <a:tc>
                  <a:txBody>
                    <a:bodyPr wrap="square"/>
                    <a:lstStyle/>
                    <a:p>
                      <a:r>
                        <a:rPr sz="1300" b="0">
                          <a:solidFill>
                            <a:srgbClr val="222A35"/>
                          </a:solidFill>
                          <a:latin typeface="Arial"/>
                        </a:rPr>
                        <a:t>FilesMoveFile</a:t>
                      </a:r>
                    </a:p>
                  </a:txBody>
                  <a:tcPr marL="54864" marR="54864" marT="27432" marB="27432" anchor="ctr">
                    <a:solidFill>
                      <a:srgbClr val="F2F5F9"/>
                    </a:solidFill>
                  </a:tcPr>
                </a:tc>
                <a:tc>
                  <a:txBody>
                    <a:bodyPr wrap="square"/>
                    <a:lstStyle/>
                    <a:p>
                      <a:pPr algn="ctr"/>
                      <a:r>
                        <a:rPr sz="1300" b="1">
                          <a:solidFill>
                            <a:srgbClr val="FFFFFF"/>
                          </a:solidFill>
                          <a:latin typeface="Arial"/>
                        </a:rPr>
                        <a:t>PASS  s42</a:t>
                      </a:r>
                    </a:p>
                  </a:txBody>
                  <a:tcPr marL="54864" marR="54864" marT="27432" marB="27432" anchor="ctr">
                    <a:solidFill>
                      <a:srgbClr val="0065BD"/>
                    </a:solidFill>
                  </a:tcPr>
                </a:tc>
                <a:tc>
                  <a:txBody>
                    <a:bodyPr wrap="square"/>
                    <a:lstStyle/>
                    <a:p>
                      <a:pPr algn="ctr"/>
                      <a:r>
                        <a:rPr sz="1300" b="1">
                          <a:solidFill>
                            <a:srgbClr val="FFFFFF"/>
                          </a:solidFill>
                          <a:latin typeface="Arial"/>
                        </a:rPr>
                        <a:t>FAIL  s43
false_done</a:t>
                      </a:r>
                    </a:p>
                  </a:txBody>
                  <a:tcPr marL="54864" marR="54864" marT="27432" marB="27432" anchor="ctr">
                    <a:solidFill>
                      <a:srgbClr val="E37222"/>
                    </a:solidFill>
                  </a:tcPr>
                </a:tc>
                <a:tc>
                  <a:txBody>
                    <a:bodyPr wrap="square"/>
                    <a:lstStyle/>
                    <a:p>
                      <a:pPr algn="ctr"/>
                      <a:r>
                        <a:rPr sz="1300" b="1">
                          <a:solidFill>
                            <a:srgbClr val="FFFFFF"/>
                          </a:solidFill>
                          <a:latin typeface="Arial"/>
                        </a:rPr>
                        <a:t>PASS  s44</a:t>
                      </a:r>
                    </a:p>
                  </a:txBody>
                  <a:tcPr marL="54864" marR="54864" marT="27432" marB="27432" anchor="ctr">
                    <a:solidFill>
                      <a:srgbClr val="0065BD"/>
                    </a:solidFill>
                  </a:tcPr>
                </a:tc>
                <a:tc>
                  <a:txBody>
                    <a:bodyPr wrap="square"/>
                    <a:lstStyle/>
                    <a:p>
                      <a:pPr algn="ctr"/>
                      <a:r>
                        <a:rPr sz="1300" b="0">
                          <a:solidFill>
                            <a:srgbClr val="222A35"/>
                          </a:solidFill>
                          <a:latin typeface="Arial"/>
                        </a:rPr>
                        <a:t>2/3</a:t>
                      </a:r>
                    </a:p>
                  </a:txBody>
                  <a:tcPr marL="54864" marR="54864" marT="27432" marB="27432" anchor="ctr">
                    <a:solidFill>
                      <a:srgbClr val="F2F5F9"/>
                    </a:solidFill>
                  </a:tcPr>
                </a:tc>
              </a:tr>
              <a:tr h="565785">
                <a:tc>
                  <a:txBody>
                    <a:bodyPr wrap="square"/>
                    <a:lstStyle/>
                    <a:p>
                      <a:r>
                        <a:rPr sz="1300" b="0">
                          <a:solidFill>
                            <a:srgbClr val="222A35"/>
                          </a:solidFill>
                          <a:latin typeface="Arial"/>
                        </a:rPr>
                        <a:t>Real work</a:t>
                      </a:r>
                    </a:p>
                  </a:txBody>
                  <a:tcPr marL="54864" marR="54864" marT="27432" marB="27432" anchor="ctr">
                    <a:solidFill>
                      <a:srgbClr val="FFFFFF"/>
                    </a:solidFill>
                  </a:tcPr>
                </a:tc>
                <a:tc>
                  <a:txBody>
                    <a:bodyPr wrap="square"/>
                    <a:lstStyle/>
                    <a:p>
                      <a:r>
                        <a:rPr sz="1300" b="0">
                          <a:solidFill>
                            <a:srgbClr val="222A35"/>
                          </a:solidFill>
                          <a:latin typeface="Arial"/>
                        </a:rPr>
                        <a:t>SimpleCalendarAddOneEvent</a:t>
                      </a:r>
                    </a:p>
                  </a:txBody>
                  <a:tcPr marL="54864" marR="54864" marT="27432" marB="27432" anchor="ctr">
                    <a:solidFill>
                      <a:srgbClr val="FFFFFF"/>
                    </a:solidFill>
                  </a:tcPr>
                </a:tc>
                <a:tc>
                  <a:txBody>
                    <a:bodyPr wrap="square"/>
                    <a:lstStyle/>
                    <a:p>
                      <a:pPr algn="ctr"/>
                      <a:r>
                        <a:rPr sz="1300" b="1">
                          <a:solidFill>
                            <a:srgbClr val="FFFFFF"/>
                          </a:solidFill>
                          <a:latin typeface="Arial"/>
                        </a:rPr>
                        <a:t>PASS  s42</a:t>
                      </a:r>
                    </a:p>
                  </a:txBody>
                  <a:tcPr marL="54864" marR="54864" marT="27432" marB="27432" anchor="ctr">
                    <a:solidFill>
                      <a:srgbClr val="0065BD"/>
                    </a:solidFill>
                  </a:tcPr>
                </a:tc>
                <a:tc>
                  <a:txBody>
                    <a:bodyPr wrap="square"/>
                    <a:lstStyle/>
                    <a:p>
                      <a:pPr algn="ctr"/>
                      <a:r>
                        <a:rPr sz="1300" b="1">
                          <a:solidFill>
                            <a:srgbClr val="FFFFFF"/>
                          </a:solidFill>
                          <a:latin typeface="Arial"/>
                        </a:rPr>
                        <a:t>PASS  s43</a:t>
                      </a:r>
                    </a:p>
                  </a:txBody>
                  <a:tcPr marL="54864" marR="54864" marT="27432" marB="27432" anchor="ctr">
                    <a:solidFill>
                      <a:srgbClr val="0065BD"/>
                    </a:solidFill>
                  </a:tcPr>
                </a:tc>
                <a:tc>
                  <a:txBody>
                    <a:bodyPr wrap="square"/>
                    <a:lstStyle/>
                    <a:p>
                      <a:pPr algn="ctr"/>
                      <a:r>
                        <a:rPr sz="1300" b="1">
                          <a:solidFill>
                            <a:srgbClr val="FFFFFF"/>
                          </a:solidFill>
                          <a:latin typeface="Arial"/>
                        </a:rPr>
                        <a:t>PASS  s44</a:t>
                      </a:r>
                    </a:p>
                  </a:txBody>
                  <a:tcPr marL="54864" marR="54864" marT="27432" marB="27432" anchor="ctr">
                    <a:solidFill>
                      <a:srgbClr val="0065BD"/>
                    </a:solidFill>
                  </a:tcPr>
                </a:tc>
                <a:tc>
                  <a:txBody>
                    <a:bodyPr wrap="square"/>
                    <a:lstStyle/>
                    <a:p>
                      <a:pPr algn="ctr"/>
                      <a:r>
                        <a:rPr sz="1300" b="0">
                          <a:solidFill>
                            <a:srgbClr val="222A35"/>
                          </a:solidFill>
                          <a:latin typeface="Arial"/>
                        </a:rPr>
                        <a:t>3/3</a:t>
                      </a:r>
                    </a:p>
                  </a:txBody>
                  <a:tcPr marL="54864" marR="54864" marT="27432" marB="27432" anchor="ctr">
                    <a:solidFill>
                      <a:srgbClr val="FFFFFF"/>
                    </a:solidFill>
                  </a:tcPr>
                </a:tc>
              </a:tr>
              <a:tr h="565785">
                <a:tc>
                  <a:txBody>
                    <a:bodyPr wrap="square"/>
                    <a:lstStyle/>
                    <a:p>
                      <a:r>
                        <a:rPr sz="1300" b="0">
                          <a:solidFill>
                            <a:srgbClr val="222A35"/>
                          </a:solidFill>
                          <a:latin typeface="Arial"/>
                        </a:rPr>
                        <a:t>Multi-app</a:t>
                      </a:r>
                    </a:p>
                  </a:txBody>
                  <a:tcPr marL="54864" marR="54864" marT="27432" marB="27432" anchor="ctr">
                    <a:solidFill>
                      <a:srgbClr val="F2F5F9"/>
                    </a:solidFill>
                  </a:tcPr>
                </a:tc>
                <a:tc>
                  <a:txBody>
                    <a:bodyPr wrap="square"/>
                    <a:lstStyle/>
                    <a:p>
                      <a:r>
                        <a:rPr sz="1300" b="0">
                          <a:solidFill>
                            <a:srgbClr val="222A35"/>
                          </a:solidFill>
                          <a:latin typeface="Arial"/>
                        </a:rPr>
                        <a:t>MarkorCreateNoteAndSms</a:t>
                      </a:r>
                    </a:p>
                  </a:txBody>
                  <a:tcPr marL="54864" marR="54864" marT="27432" marB="27432" anchor="ctr">
                    <a:solidFill>
                      <a:srgbClr val="F2F5F9"/>
                    </a:solidFill>
                  </a:tcPr>
                </a:tc>
                <a:tc>
                  <a:txBody>
                    <a:bodyPr wrap="square"/>
                    <a:lstStyle/>
                    <a:p>
                      <a:pPr algn="ctr"/>
                      <a:r>
                        <a:rPr sz="1300" b="1">
                          <a:solidFill>
                            <a:srgbClr val="FFFFFF"/>
                          </a:solidFill>
                          <a:latin typeface="Arial"/>
                        </a:rPr>
                        <a:t>PASS  s42</a:t>
                      </a:r>
                    </a:p>
                  </a:txBody>
                  <a:tcPr marL="54864" marR="54864" marT="27432" marB="27432" anchor="ctr">
                    <a:solidFill>
                      <a:srgbClr val="0065BD"/>
                    </a:solidFill>
                  </a:tcPr>
                </a:tc>
                <a:tc>
                  <a:txBody>
                    <a:bodyPr wrap="square"/>
                    <a:lstStyle/>
                    <a:p>
                      <a:pPr algn="ctr"/>
                      <a:r>
                        <a:rPr sz="1300" b="1">
                          <a:solidFill>
                            <a:srgbClr val="FFFFFF"/>
                          </a:solidFill>
                          <a:latin typeface="Arial"/>
                        </a:rPr>
                        <a:t>PASS  s43</a:t>
                      </a:r>
                    </a:p>
                  </a:txBody>
                  <a:tcPr marL="54864" marR="54864" marT="27432" marB="27432" anchor="ctr">
                    <a:solidFill>
                      <a:srgbClr val="0065BD"/>
                    </a:solidFill>
                  </a:tcPr>
                </a:tc>
                <a:tc>
                  <a:txBody>
                    <a:bodyPr wrap="square"/>
                    <a:lstStyle/>
                    <a:p>
                      <a:pPr algn="ctr"/>
                      <a:r>
                        <a:rPr sz="1300" b="1">
                          <a:solidFill>
                            <a:srgbClr val="FFFFFF"/>
                          </a:solidFill>
                          <a:latin typeface="Arial"/>
                        </a:rPr>
                        <a:t>PASS  s44</a:t>
                      </a:r>
                    </a:p>
                  </a:txBody>
                  <a:tcPr marL="54864" marR="54864" marT="27432" marB="27432" anchor="ctr">
                    <a:solidFill>
                      <a:srgbClr val="0065BD"/>
                    </a:solidFill>
                  </a:tcPr>
                </a:tc>
                <a:tc>
                  <a:txBody>
                    <a:bodyPr wrap="square"/>
                    <a:lstStyle/>
                    <a:p>
                      <a:pPr algn="ctr"/>
                      <a:r>
                        <a:rPr sz="1300" b="0">
                          <a:solidFill>
                            <a:srgbClr val="222A35"/>
                          </a:solidFill>
                          <a:latin typeface="Arial"/>
                        </a:rPr>
                        <a:t>3/3</a:t>
                      </a:r>
                    </a:p>
                  </a:txBody>
                  <a:tcPr marL="54864" marR="54864" marT="27432" marB="27432" anchor="ctr">
                    <a:solidFill>
                      <a:srgbClr val="F2F5F9"/>
                    </a:solidFill>
                  </a:tcPr>
                </a:tc>
              </a:tr>
              <a:tr h="565785">
                <a:tc>
                  <a:txBody>
                    <a:bodyPr wrap="square"/>
                    <a:lstStyle/>
                    <a:p>
                      <a:r>
                        <a:rPr sz="1300" b="0">
                          <a:solidFill>
                            <a:srgbClr val="222A35"/>
                          </a:solidFill>
                          <a:latin typeface="Arial"/>
                        </a:rPr>
                        <a:t>Multi-app</a:t>
                      </a:r>
                    </a:p>
                  </a:txBody>
                  <a:tcPr marL="54864" marR="54864" marT="27432" marB="27432" anchor="ctr">
                    <a:solidFill>
                      <a:srgbClr val="FFFFFF"/>
                    </a:solidFill>
                  </a:tcPr>
                </a:tc>
                <a:tc>
                  <a:txBody>
                    <a:bodyPr wrap="square"/>
                    <a:lstStyle/>
                    <a:p>
                      <a:r>
                        <a:rPr sz="1300" b="0">
                          <a:solidFill>
                            <a:srgbClr val="222A35"/>
                          </a:solidFill>
                          <a:latin typeface="Arial"/>
                        </a:rPr>
                        <a:t>OsmAndTrack</a:t>
                      </a:r>
                    </a:p>
                  </a:txBody>
                  <a:tcPr marL="54864" marR="54864" marT="27432" marB="27432" anchor="ctr">
                    <a:solidFill>
                      <a:srgbClr val="FFFFFF"/>
                    </a:solidFill>
                  </a:tcPr>
                </a:tc>
                <a:tc>
                  <a:txBody>
                    <a:bodyPr wrap="square"/>
                    <a:lstStyle/>
                    <a:p>
                      <a:pPr algn="ctr"/>
                      <a:r>
                        <a:rPr sz="1300" b="1">
                          <a:solidFill>
                            <a:srgbClr val="FFFFFF"/>
                          </a:solidFill>
                          <a:latin typeface="Arial"/>
                        </a:rPr>
                        <a:t>PASS  s31</a:t>
                      </a:r>
                    </a:p>
                  </a:txBody>
                  <a:tcPr marL="54864" marR="54864" marT="27432" marB="27432" anchor="ctr">
                    <a:solidFill>
                      <a:srgbClr val="0065BD"/>
                    </a:solidFill>
                  </a:tcPr>
                </a:tc>
                <a:tc>
                  <a:txBody>
                    <a:bodyPr wrap="square"/>
                    <a:lstStyle/>
                    <a:p>
                      <a:pPr algn="ctr"/>
                      <a:r>
                        <a:rPr sz="1300" b="1">
                          <a:solidFill>
                            <a:srgbClr val="FFFFFF"/>
                          </a:solidFill>
                          <a:latin typeface="Arial"/>
                        </a:rPr>
                        <a:t>PASS  s314</a:t>
                      </a:r>
                    </a:p>
                  </a:txBody>
                  <a:tcPr marL="54864" marR="54864" marT="27432" marB="27432" anchor="ctr">
                    <a:solidFill>
                      <a:srgbClr val="0065BD"/>
                    </a:solidFill>
                  </a:tcPr>
                </a:tc>
                <a:tc>
                  <a:txBody>
                    <a:bodyPr wrap="square"/>
                    <a:lstStyle/>
                    <a:p>
                      <a:pPr algn="ctr"/>
                      <a:r>
                        <a:rPr sz="1300" b="1">
                          <a:solidFill>
                            <a:srgbClr val="FFFFFF"/>
                          </a:solidFill>
                          <a:latin typeface="Arial"/>
                        </a:rPr>
                        <a:t>FAIL  s366
grounding</a:t>
                      </a:r>
                    </a:p>
                  </a:txBody>
                  <a:tcPr marL="54864" marR="54864" marT="27432" marB="27432" anchor="ctr">
                    <a:solidFill>
                      <a:srgbClr val="E37222"/>
                    </a:solidFill>
                  </a:tcPr>
                </a:tc>
                <a:tc>
                  <a:txBody>
                    <a:bodyPr wrap="square"/>
                    <a:lstStyle/>
                    <a:p>
                      <a:pPr algn="ctr"/>
                      <a:r>
                        <a:rPr sz="1300" b="0">
                          <a:solidFill>
                            <a:srgbClr val="222A35"/>
                          </a:solidFill>
                          <a:latin typeface="Arial"/>
                        </a:rPr>
                        <a:t>2/3</a:t>
                      </a:r>
                    </a:p>
                  </a:txBody>
                  <a:tcPr marL="54864" marR="54864" marT="27432" marB="27432" anchor="ctr">
                    <a:solidFill>
                      <a:srgbClr val="FFFFFF"/>
                    </a:solidFill>
                  </a:tcPr>
                </a:tc>
              </a:tr>
            </a:tbl>
          </a:graphicData>
        </a:graphic>
      </p:graphicFrame>
      <p:sp>
        <p:nvSpPr>
          <p:cNvPr id="10" name="TextBox 9"/>
          <p:cNvSpPr txBox="1"/>
          <p:nvPr/>
        </p:nvSpPr>
        <p:spPr>
          <a:xfrm>
            <a:off x="640080" y="6080760"/>
            <a:ext cx="10927080" cy="320040"/>
          </a:xfrm>
          <a:prstGeom prst="rect">
            <a:avLst/>
          </a:prstGeom>
          <a:noFill/>
        </p:spPr>
        <p:txBody>
          <a:bodyPr wrap="square" anchor="t" lIns="73152" rIns="73152">
            <a:spAutoFit/>
          </a:bodyPr>
          <a:lstStyle/>
          <a:p>
            <a:pPr algn="l">
              <a:lnSpc>
                <a:spcPct val="110000"/>
              </a:lnSpc>
            </a:pPr>
            <a:r>
              <a:rPr sz="1100" b="0" i="0">
                <a:solidFill>
                  <a:srgbClr val="5E6773"/>
                </a:solidFill>
                <a:latin typeface="Arial"/>
              </a:rPr>
              <a:t>s = task seed. Official AndroidWorld verifier. One frozen version (tag team-agent-final-v65).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RESULTS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Run log (1/2): one row per run</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13</a:t>
            </a:r>
          </a:p>
        </p:txBody>
      </p:sp>
      <p:sp>
        <p:nvSpPr>
          <p:cNvPr id="9" name="TextBox 8"/>
          <p:cNvSpPr txBox="1"/>
          <p:nvPr/>
        </p:nvSpPr>
        <p:spPr>
          <a:xfrm>
            <a:off x="548640" y="1188720"/>
            <a:ext cx="11064240" cy="320040"/>
          </a:xfrm>
          <a:prstGeom prst="rect">
            <a:avLst/>
          </a:prstGeom>
          <a:noFill/>
        </p:spPr>
        <p:txBody>
          <a:bodyPr wrap="square" anchor="t" lIns="73152" rIns="73152">
            <a:spAutoFit/>
          </a:bodyPr>
          <a:lstStyle/>
          <a:p>
            <a:pPr algn="l">
              <a:lnSpc>
                <a:spcPct val="110000"/>
              </a:lnSpc>
            </a:pPr>
            <a:r>
              <a:rPr sz="1200" b="0" i="0">
                <a:solidFill>
                  <a:srgbClr val="5E6773"/>
                </a:solidFill>
                <a:latin typeface="Arial"/>
              </a:rPr>
              <a:t>Model AutoGLM-Phone-9B (Z.ai), version v65, grounding by coordinates. Rows written by the runner during each run; click a run to open its log.</a:t>
            </a:r>
          </a:p>
        </p:txBody>
      </p:sp>
      <p:graphicFrame>
        <p:nvGraphicFramePr>
          <p:cNvPr id="10" name="Table 9"/>
          <p:cNvGraphicFramePr>
            <a:graphicFrameLocks noGrp="1"/>
          </p:cNvGraphicFramePr>
          <p:nvPr/>
        </p:nvGraphicFramePr>
        <p:xfrm>
          <a:off x="548640" y="1572768"/>
          <a:ext cx="11064240" cy="4389120"/>
        </p:xfrm>
        <a:graphic>
          <a:graphicData uri="http://schemas.openxmlformats.org/drawingml/2006/table">
            <a:tbl>
              <a:tblPr firstRow="1" bandRow="1">
                <a:tableStyleId>{5C22544A-7EE6-4342-B048-85BDC9FD1C3A}</a:tableStyleId>
              </a:tblPr>
              <a:tblGrid>
                <a:gridCol w="2103120"/>
                <a:gridCol w="594360"/>
                <a:gridCol w="457200"/>
                <a:gridCol w="1325880"/>
                <a:gridCol w="868680"/>
                <a:gridCol w="685800"/>
                <a:gridCol w="1188720"/>
                <a:gridCol w="502920"/>
                <a:gridCol w="3337560"/>
              </a:tblGrid>
              <a:tr h="274320">
                <a:tc>
                  <a:txBody>
                    <a:bodyPr wrap="square"/>
                    <a:lstStyle/>
                    <a:p>
                      <a:r>
                        <a:rPr sz="1050" b="1">
                          <a:solidFill>
                            <a:srgbClr val="FFFFFF"/>
                          </a:solidFill>
                          <a:latin typeface="Arial"/>
                        </a:rPr>
                        <a:t>Task</a:t>
                      </a:r>
                    </a:p>
                  </a:txBody>
                  <a:tcPr marL="54864" marR="54864" marT="27432" marB="27432" anchor="ctr">
                    <a:solidFill>
                      <a:srgbClr val="072140"/>
                    </a:solidFill>
                  </a:tcPr>
                </a:tc>
                <a:tc>
                  <a:txBody>
                    <a:bodyPr wrap="square"/>
                    <a:lstStyle/>
                    <a:p>
                      <a:r>
                        <a:rPr sz="1050" b="1">
                          <a:solidFill>
                            <a:srgbClr val="FFFFFF"/>
                          </a:solidFill>
                          <a:latin typeface="Arial"/>
                        </a:rPr>
                        <a:t>Run</a:t>
                      </a:r>
                    </a:p>
                  </a:txBody>
                  <a:tcPr marL="54864" marR="54864" marT="27432" marB="27432" anchor="ctr">
                    <a:solidFill>
                      <a:srgbClr val="072140"/>
                    </a:solidFill>
                  </a:tcPr>
                </a:tc>
                <a:tc>
                  <a:txBody>
                    <a:bodyPr wrap="square"/>
                    <a:lstStyle/>
                    <a:p>
                      <a:r>
                        <a:rPr sz="1050" b="1">
                          <a:solidFill>
                            <a:srgbClr val="FFFFFF"/>
                          </a:solidFill>
                          <a:latin typeface="Arial"/>
                        </a:rPr>
                        <a:t>Seed</a:t>
                      </a:r>
                    </a:p>
                  </a:txBody>
                  <a:tcPr marL="54864" marR="54864" marT="27432" marB="27432" anchor="ctr">
                    <a:solidFill>
                      <a:srgbClr val="072140"/>
                    </a:solidFill>
                  </a:tcPr>
                </a:tc>
                <a:tc>
                  <a:txBody>
                    <a:bodyPr wrap="square"/>
                    <a:lstStyle/>
                    <a:p>
                      <a:r>
                        <a:rPr sz="1050" b="1">
                          <a:solidFill>
                            <a:srgbClr val="FFFFFF"/>
                          </a:solidFill>
                          <a:latin typeface="Arial"/>
                        </a:rPr>
                        <a:t>Observation</a:t>
                      </a:r>
                    </a:p>
                  </a:txBody>
                  <a:tcPr marL="54864" marR="54864" marT="27432" marB="27432" anchor="ctr">
                    <a:solidFill>
                      <a:srgbClr val="072140"/>
                    </a:solidFill>
                  </a:tcPr>
                </a:tc>
                <a:tc>
                  <a:txBody>
                    <a:bodyPr wrap="square"/>
                    <a:lstStyle/>
                    <a:p>
                      <a:r>
                        <a:rPr sz="1050" b="1">
                          <a:solidFill>
                            <a:srgbClr val="FFFFFF"/>
                          </a:solidFill>
                          <a:latin typeface="Arial"/>
                        </a:rPr>
                        <a:t>Steps / budget</a:t>
                      </a:r>
                    </a:p>
                  </a:txBody>
                  <a:tcPr marL="54864" marR="54864" marT="27432" marB="27432" anchor="ctr">
                    <a:solidFill>
                      <a:srgbClr val="072140"/>
                    </a:solidFill>
                  </a:tcPr>
                </a:tc>
                <a:tc>
                  <a:txBody>
                    <a:bodyPr wrap="square"/>
                    <a:lstStyle/>
                    <a:p>
                      <a:r>
                        <a:rPr sz="1050" b="1">
                          <a:solidFill>
                            <a:srgbClr val="FFFFFF"/>
                          </a:solidFill>
                          <a:latin typeface="Arial"/>
                        </a:rPr>
                        <a:t>Verifier</a:t>
                      </a:r>
                    </a:p>
                  </a:txBody>
                  <a:tcPr marL="54864" marR="54864" marT="27432" marB="27432" anchor="ctr">
                    <a:solidFill>
                      <a:srgbClr val="072140"/>
                    </a:solidFill>
                  </a:tcPr>
                </a:tc>
                <a:tc>
                  <a:txBody>
                    <a:bodyPr wrap="square"/>
                    <a:lstStyle/>
                    <a:p>
                      <a:r>
                        <a:rPr sz="1050" b="1">
                          <a:solidFill>
                            <a:srgbClr val="FFFFFF"/>
                          </a:solidFill>
                          <a:latin typeface="Arial"/>
                        </a:rPr>
                        <a:t>Failure class</a:t>
                      </a:r>
                    </a:p>
                  </a:txBody>
                  <a:tcPr marL="54864" marR="54864" marT="27432" marB="27432" anchor="ctr">
                    <a:solidFill>
                      <a:srgbClr val="072140"/>
                    </a:solidFill>
                  </a:tcPr>
                </a:tc>
                <a:tc>
                  <a:txBody>
                    <a:bodyPr wrap="square"/>
                    <a:lstStyle/>
                    <a:p>
                      <a:r>
                        <a:rPr sz="1050" b="1">
                          <a:solidFill>
                            <a:srgbClr val="FFFFFF"/>
                          </a:solidFill>
                          <a:latin typeface="Arial"/>
                        </a:rPr>
                        <a:t>Clips</a:t>
                      </a:r>
                    </a:p>
                  </a:txBody>
                  <a:tcPr marL="54864" marR="54864" marT="27432" marB="27432" anchor="ctr">
                    <a:solidFill>
                      <a:srgbClr val="072140"/>
                    </a:solidFill>
                  </a:tcPr>
                </a:tc>
                <a:tc>
                  <a:txBody>
                    <a:bodyPr wrap="square"/>
                    <a:lstStyle/>
                    <a:p>
                      <a:r>
                        <a:rPr sz="1050" b="1">
                          <a:solidFill>
                            <a:srgbClr val="FFFFFF"/>
                          </a:solidFill>
                          <a:latin typeface="Arial"/>
                        </a:rPr>
                        <a:t>Note</a:t>
                      </a:r>
                    </a:p>
                  </a:txBody>
                  <a:tcPr marL="54864" marR="54864" marT="27432" marB="27432" anchor="ctr">
                    <a:solidFill>
                      <a:srgbClr val="072140"/>
                    </a:solidFill>
                  </a:tcPr>
                </a:tc>
              </a:tr>
              <a:tr h="274320">
                <a:tc>
                  <a:txBody>
                    <a:bodyPr wrap="square"/>
                    <a:lstStyle/>
                    <a:p>
                      <a:r>
                        <a:rPr sz="1050" b="0">
                          <a:solidFill>
                            <a:srgbClr val="222A35"/>
                          </a:solidFill>
                          <a:latin typeface="Arial"/>
                        </a:rPr>
                        <a:t>SystemWifiTurnOn</a:t>
                      </a:r>
                    </a:p>
                  </a:txBody>
                  <a:tcPr marL="54864" marR="54864" marT="27432" marB="27432" anchor="ctr">
                    <a:solidFill>
                      <a:srgbClr val="FFFFFF"/>
                    </a:solidFill>
                  </a:tcPr>
                </a:tc>
                <a:tc>
                  <a:txBody>
                    <a:bodyPr wrap="square"/>
                    <a:lstStyle/>
                    <a:p>
                      <a:r>
                        <a:rPr sz="1050" b="0" u="sng">
                          <a:solidFill>
                            <a:srgbClr val="0065BD"/>
                          </a:solidFill>
                          <a:latin typeface="Arial"/>
                          <a:hlinkClick r:id="rId3"/>
                        </a:rPr>
                        <a:t>1 of 3</a:t>
                      </a:r>
                    </a:p>
                  </a:txBody>
                  <a:tcPr marL="54864" marR="54864" marT="27432" marB="27432" anchor="ctr">
                    <a:solidFill>
                      <a:srgbClr val="FFFFFF"/>
                    </a:solidFill>
                  </a:tcPr>
                </a:tc>
                <a:tc>
                  <a:txBody>
                    <a:bodyPr wrap="square"/>
                    <a:lstStyle/>
                    <a:p>
                      <a:r>
                        <a:rPr sz="1050" b="0">
                          <a:solidFill>
                            <a:srgbClr val="222A35"/>
                          </a:solidFill>
                          <a:latin typeface="Arial"/>
                        </a:rPr>
                        <a:t>42</a:t>
                      </a:r>
                    </a:p>
                  </a:txBody>
                  <a:tcPr marL="54864" marR="54864" marT="27432" marB="27432" anchor="ctr">
                    <a:solidFill>
                      <a:srgbClr val="FFFFFF"/>
                    </a:solidFill>
                  </a:tcPr>
                </a:tc>
                <a:tc>
                  <a:txBody>
                    <a:bodyPr wrap="square"/>
                    <a:lstStyle/>
                    <a:p>
                      <a:r>
                        <a:rPr sz="1050" b="0">
                          <a:solidFill>
                            <a:srgbClr val="222A35"/>
                          </a:solidFill>
                          <a:latin typeface="Arial"/>
                        </a:rPr>
                        <a:t>screenshot + labels</a:t>
                      </a:r>
                    </a:p>
                  </a:txBody>
                  <a:tcPr marL="54864" marR="54864" marT="27432" marB="27432" anchor="ctr">
                    <a:solidFill>
                      <a:srgbClr val="FFFFFF"/>
                    </a:solidFill>
                  </a:tcPr>
                </a:tc>
                <a:tc>
                  <a:txBody>
                    <a:bodyPr wrap="square"/>
                    <a:lstStyle/>
                    <a:p>
                      <a:r>
                        <a:rPr sz="1050" b="0">
                          <a:solidFill>
                            <a:srgbClr val="222A35"/>
                          </a:solidFill>
                          <a:latin typeface="Arial"/>
                        </a:rPr>
                        <a:t>5 / 12</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1</a:t>
                      </a:r>
                    </a:p>
                  </a:txBody>
                  <a:tcPr marL="54864" marR="54864" marT="27432" marB="27432" anchor="ctr">
                    <a:solidFill>
                      <a:srgbClr val="FFFFFF"/>
                    </a:solidFill>
                  </a:tcPr>
                </a:tc>
                <a:tc>
                  <a:txBody>
                    <a:bodyPr wrap="square"/>
                    <a:lstStyle/>
                    <a:p>
                      <a:r>
                        <a:rPr sz="1050" b="0">
                          <a:solidFill>
                            <a:srgbClr val="222A35"/>
                          </a:solidFill>
                          <a:latin typeface="Arial"/>
                        </a:rPr>
                        <a:t>Settings &gt; Internet &gt; Wi-Fi on; finished</a:t>
                      </a:r>
                    </a:p>
                  </a:txBody>
                  <a:tcPr marL="54864" marR="54864" marT="27432" marB="27432" anchor="ctr">
                    <a:solidFill>
                      <a:srgbClr val="FFFFFF"/>
                    </a:solidFill>
                  </a:tcPr>
                </a:tc>
              </a:tr>
              <a:tr h="274320">
                <a:tc>
                  <a:txBody>
                    <a:bodyPr wrap="square"/>
                    <a:lstStyle/>
                    <a:p>
                      <a:r>
                        <a:rPr sz="1050" b="0">
                          <a:solidFill>
                            <a:srgbClr val="222A35"/>
                          </a:solidFill>
                          <a:latin typeface="Arial"/>
                        </a:rPr>
                        <a:t>SystemWifiTurnOn</a:t>
                      </a:r>
                    </a:p>
                  </a:txBody>
                  <a:tcPr marL="54864" marR="54864" marT="27432" marB="27432" anchor="ctr">
                    <a:solidFill>
                      <a:srgbClr val="F2F5F9"/>
                    </a:solidFill>
                  </a:tcPr>
                </a:tc>
                <a:tc>
                  <a:txBody>
                    <a:bodyPr wrap="square"/>
                    <a:lstStyle/>
                    <a:p>
                      <a:r>
                        <a:rPr sz="1050" b="0" u="sng">
                          <a:solidFill>
                            <a:srgbClr val="0065BD"/>
                          </a:solidFill>
                          <a:latin typeface="Arial"/>
                          <a:hlinkClick r:id="rId4"/>
                        </a:rPr>
                        <a:t>2 of 3</a:t>
                      </a:r>
                    </a:p>
                  </a:txBody>
                  <a:tcPr marL="54864" marR="54864" marT="27432" marB="27432" anchor="ctr">
                    <a:solidFill>
                      <a:srgbClr val="F2F5F9"/>
                    </a:solidFill>
                  </a:tcPr>
                </a:tc>
                <a:tc>
                  <a:txBody>
                    <a:bodyPr wrap="square"/>
                    <a:lstStyle/>
                    <a:p>
                      <a:r>
                        <a:rPr sz="1050" b="0">
                          <a:solidFill>
                            <a:srgbClr val="222A35"/>
                          </a:solidFill>
                          <a:latin typeface="Arial"/>
                        </a:rPr>
                        <a:t>43</a:t>
                      </a:r>
                    </a:p>
                  </a:txBody>
                  <a:tcPr marL="54864" marR="54864" marT="27432" marB="27432" anchor="ctr">
                    <a:solidFill>
                      <a:srgbClr val="F2F5F9"/>
                    </a:solidFill>
                  </a:tcPr>
                </a:tc>
                <a:tc>
                  <a:txBody>
                    <a:bodyPr wrap="square"/>
                    <a:lstStyle/>
                    <a:p>
                      <a:r>
                        <a:rPr sz="1050" b="0">
                          <a:solidFill>
                            <a:srgbClr val="222A35"/>
                          </a:solidFill>
                          <a:latin typeface="Arial"/>
                        </a:rPr>
                        <a:t>screenshot + labels</a:t>
                      </a:r>
                    </a:p>
                  </a:txBody>
                  <a:tcPr marL="54864" marR="54864" marT="27432" marB="27432" anchor="ctr">
                    <a:solidFill>
                      <a:srgbClr val="F2F5F9"/>
                    </a:solidFill>
                  </a:tcPr>
                </a:tc>
                <a:tc>
                  <a:txBody>
                    <a:bodyPr wrap="square"/>
                    <a:lstStyle/>
                    <a:p>
                      <a:r>
                        <a:rPr sz="1050" b="0">
                          <a:solidFill>
                            <a:srgbClr val="222A35"/>
                          </a:solidFill>
                          <a:latin typeface="Arial"/>
                        </a:rPr>
                        <a:t>5 / 12</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1</a:t>
                      </a:r>
                    </a:p>
                  </a:txBody>
                  <a:tcPr marL="54864" marR="54864" marT="27432" marB="27432" anchor="ctr">
                    <a:solidFill>
                      <a:srgbClr val="F2F5F9"/>
                    </a:solidFill>
                  </a:tcPr>
                </a:tc>
                <a:tc>
                  <a:txBody>
                    <a:bodyPr wrap="square"/>
                    <a:lstStyle/>
                    <a:p>
                      <a:r>
                        <a:rPr sz="1050" b="0">
                          <a:solidFill>
                            <a:srgbClr val="222A35"/>
                          </a:solidFill>
                          <a:latin typeface="Arial"/>
                        </a:rPr>
                        <a:t>Same 5-step path; finished</a:t>
                      </a:r>
                    </a:p>
                  </a:txBody>
                  <a:tcPr marL="54864" marR="54864" marT="27432" marB="27432" anchor="ctr">
                    <a:solidFill>
                      <a:srgbClr val="F2F5F9"/>
                    </a:solidFill>
                  </a:tcPr>
                </a:tc>
              </a:tr>
              <a:tr h="274320">
                <a:tc>
                  <a:txBody>
                    <a:bodyPr wrap="square"/>
                    <a:lstStyle/>
                    <a:p>
                      <a:r>
                        <a:rPr sz="1050" b="0">
                          <a:solidFill>
                            <a:srgbClr val="222A35"/>
                          </a:solidFill>
                          <a:latin typeface="Arial"/>
                        </a:rPr>
                        <a:t>SystemWifiTurnOn</a:t>
                      </a:r>
                    </a:p>
                  </a:txBody>
                  <a:tcPr marL="54864" marR="54864" marT="27432" marB="27432" anchor="ctr">
                    <a:solidFill>
                      <a:srgbClr val="FFFFFF"/>
                    </a:solidFill>
                  </a:tcPr>
                </a:tc>
                <a:tc>
                  <a:txBody>
                    <a:bodyPr wrap="square"/>
                    <a:lstStyle/>
                    <a:p>
                      <a:r>
                        <a:rPr sz="1050" b="0" u="sng">
                          <a:solidFill>
                            <a:srgbClr val="0065BD"/>
                          </a:solidFill>
                          <a:latin typeface="Arial"/>
                          <a:hlinkClick r:id="rId5"/>
                        </a:rPr>
                        <a:t>3 of 3</a:t>
                      </a:r>
                    </a:p>
                  </a:txBody>
                  <a:tcPr marL="54864" marR="54864" marT="27432" marB="27432" anchor="ctr">
                    <a:solidFill>
                      <a:srgbClr val="FFFFFF"/>
                    </a:solidFill>
                  </a:tcPr>
                </a:tc>
                <a:tc>
                  <a:txBody>
                    <a:bodyPr wrap="square"/>
                    <a:lstStyle/>
                    <a:p>
                      <a:r>
                        <a:rPr sz="1050" b="0">
                          <a:solidFill>
                            <a:srgbClr val="222A35"/>
                          </a:solidFill>
                          <a:latin typeface="Arial"/>
                        </a:rPr>
                        <a:t>44</a:t>
                      </a:r>
                    </a:p>
                  </a:txBody>
                  <a:tcPr marL="54864" marR="54864" marT="27432" marB="27432" anchor="ctr">
                    <a:solidFill>
                      <a:srgbClr val="FFFFFF"/>
                    </a:solidFill>
                  </a:tcPr>
                </a:tc>
                <a:tc>
                  <a:txBody>
                    <a:bodyPr wrap="square"/>
                    <a:lstStyle/>
                    <a:p>
                      <a:r>
                        <a:rPr sz="1050" b="0">
                          <a:solidFill>
                            <a:srgbClr val="222A35"/>
                          </a:solidFill>
                          <a:latin typeface="Arial"/>
                        </a:rPr>
                        <a:t>screenshot + labels</a:t>
                      </a:r>
                    </a:p>
                  </a:txBody>
                  <a:tcPr marL="54864" marR="54864" marT="27432" marB="27432" anchor="ctr">
                    <a:solidFill>
                      <a:srgbClr val="FFFFFF"/>
                    </a:solidFill>
                  </a:tcPr>
                </a:tc>
                <a:tc>
                  <a:txBody>
                    <a:bodyPr wrap="square"/>
                    <a:lstStyle/>
                    <a:p>
                      <a:r>
                        <a:rPr sz="1050" b="0">
                          <a:solidFill>
                            <a:srgbClr val="222A35"/>
                          </a:solidFill>
                          <a:latin typeface="Arial"/>
                        </a:rPr>
                        <a:t>5 / 12</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1</a:t>
                      </a:r>
                    </a:p>
                  </a:txBody>
                  <a:tcPr marL="54864" marR="54864" marT="27432" marB="27432" anchor="ctr">
                    <a:solidFill>
                      <a:srgbClr val="FFFFFF"/>
                    </a:solidFill>
                  </a:tcPr>
                </a:tc>
                <a:tc>
                  <a:txBody>
                    <a:bodyPr wrap="square"/>
                    <a:lstStyle/>
                    <a:p>
                      <a:r>
                        <a:rPr sz="1050" b="0">
                          <a:solidFill>
                            <a:srgbClr val="222A35"/>
                          </a:solidFill>
                          <a:latin typeface="Arial"/>
                        </a:rPr>
                        <a:t>Same 5-step path; finished</a:t>
                      </a:r>
                    </a:p>
                  </a:txBody>
                  <a:tcPr marL="54864" marR="54864" marT="27432" marB="27432" anchor="ctr">
                    <a:solidFill>
                      <a:srgbClr val="FFFFFF"/>
                    </a:solidFill>
                  </a:tcPr>
                </a:tc>
              </a:tr>
              <a:tr h="274320">
                <a:tc>
                  <a:txBody>
                    <a:bodyPr wrap="square"/>
                    <a:lstStyle/>
                    <a:p>
                      <a:r>
                        <a:rPr sz="1050" b="0">
                          <a:solidFill>
                            <a:srgbClr val="222A35"/>
                          </a:solidFill>
                          <a:latin typeface="Arial"/>
                        </a:rPr>
                        <a:t>ContactsAddContact</a:t>
                      </a:r>
                    </a:p>
                  </a:txBody>
                  <a:tcPr marL="54864" marR="54864" marT="27432" marB="27432" anchor="ctr">
                    <a:solidFill>
                      <a:srgbClr val="F2F5F9"/>
                    </a:solidFill>
                  </a:tcPr>
                </a:tc>
                <a:tc>
                  <a:txBody>
                    <a:bodyPr wrap="square"/>
                    <a:lstStyle/>
                    <a:p>
                      <a:r>
                        <a:rPr sz="1050" b="0" u="sng">
                          <a:solidFill>
                            <a:srgbClr val="0065BD"/>
                          </a:solidFill>
                          <a:latin typeface="Arial"/>
                          <a:hlinkClick r:id="rId6"/>
                        </a:rPr>
                        <a:t>1 of 3</a:t>
                      </a:r>
                    </a:p>
                  </a:txBody>
                  <a:tcPr marL="54864" marR="54864" marT="27432" marB="27432" anchor="ctr">
                    <a:solidFill>
                      <a:srgbClr val="F2F5F9"/>
                    </a:solidFill>
                  </a:tcPr>
                </a:tc>
                <a:tc>
                  <a:txBody>
                    <a:bodyPr wrap="square"/>
                    <a:lstStyle/>
                    <a:p>
                      <a:r>
                        <a:rPr sz="1050" b="0">
                          <a:solidFill>
                            <a:srgbClr val="222A35"/>
                          </a:solidFill>
                          <a:latin typeface="Arial"/>
                        </a:rPr>
                        <a:t>42</a:t>
                      </a:r>
                    </a:p>
                  </a:txBody>
                  <a:tcPr marL="54864" marR="54864" marT="27432" marB="27432" anchor="ctr">
                    <a:solidFill>
                      <a:srgbClr val="F2F5F9"/>
                    </a:solidFill>
                  </a:tcPr>
                </a:tc>
                <a:tc>
                  <a:txBody>
                    <a:bodyPr wrap="square"/>
                    <a:lstStyle/>
                    <a:p>
                      <a:r>
                        <a:rPr sz="1050" b="0">
                          <a:solidFill>
                            <a:srgbClr val="222A35"/>
                          </a:solidFill>
                          <a:latin typeface="Arial"/>
                        </a:rPr>
                        <a:t>screenshot</a:t>
                      </a:r>
                    </a:p>
                  </a:txBody>
                  <a:tcPr marL="54864" marR="54864" marT="27432" marB="27432" anchor="ctr">
                    <a:solidFill>
                      <a:srgbClr val="F2F5F9"/>
                    </a:solidFill>
                  </a:tcPr>
                </a:tc>
                <a:tc>
                  <a:txBody>
                    <a:bodyPr wrap="square"/>
                    <a:lstStyle/>
                    <a:p>
                      <a:r>
                        <a:rPr sz="1050" b="0">
                          <a:solidFill>
                            <a:srgbClr val="222A35"/>
                          </a:solidFill>
                          <a:latin typeface="Arial"/>
                        </a:rPr>
                        <a:t>12 / 16</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1</a:t>
                      </a:r>
                    </a:p>
                  </a:txBody>
                  <a:tcPr marL="54864" marR="54864" marT="27432" marB="27432" anchor="ctr">
                    <a:solidFill>
                      <a:srgbClr val="F2F5F9"/>
                    </a:solidFill>
                  </a:tcPr>
                </a:tc>
                <a:tc>
                  <a:txBody>
                    <a:bodyPr wrap="square"/>
                    <a:lstStyle/>
                    <a:p>
                      <a:r>
                        <a:rPr sz="1050" b="0">
                          <a:solidFill>
                            <a:srgbClr val="222A35"/>
                          </a:solidFill>
                          <a:latin typeface="Arial"/>
                        </a:rPr>
                        <a:t>Name, scroll, number, Save; finished</a:t>
                      </a:r>
                    </a:p>
                  </a:txBody>
                  <a:tcPr marL="54864" marR="54864" marT="27432" marB="27432" anchor="ctr">
                    <a:solidFill>
                      <a:srgbClr val="F2F5F9"/>
                    </a:solidFill>
                  </a:tcPr>
                </a:tc>
              </a:tr>
              <a:tr h="274320">
                <a:tc>
                  <a:txBody>
                    <a:bodyPr wrap="square"/>
                    <a:lstStyle/>
                    <a:p>
                      <a:r>
                        <a:rPr sz="1050" b="0">
                          <a:solidFill>
                            <a:srgbClr val="222A35"/>
                          </a:solidFill>
                          <a:latin typeface="Arial"/>
                        </a:rPr>
                        <a:t>ContactsAddContact</a:t>
                      </a:r>
                    </a:p>
                  </a:txBody>
                  <a:tcPr marL="54864" marR="54864" marT="27432" marB="27432" anchor="ctr">
                    <a:solidFill>
                      <a:srgbClr val="FFFFFF"/>
                    </a:solidFill>
                  </a:tcPr>
                </a:tc>
                <a:tc>
                  <a:txBody>
                    <a:bodyPr wrap="square"/>
                    <a:lstStyle/>
                    <a:p>
                      <a:r>
                        <a:rPr sz="1050" b="0" u="sng">
                          <a:solidFill>
                            <a:srgbClr val="0065BD"/>
                          </a:solidFill>
                          <a:latin typeface="Arial"/>
                          <a:hlinkClick r:id="rId7"/>
                        </a:rPr>
                        <a:t>2 of 3</a:t>
                      </a:r>
                    </a:p>
                  </a:txBody>
                  <a:tcPr marL="54864" marR="54864" marT="27432" marB="27432" anchor="ctr">
                    <a:solidFill>
                      <a:srgbClr val="FFFFFF"/>
                    </a:solidFill>
                  </a:tcPr>
                </a:tc>
                <a:tc>
                  <a:txBody>
                    <a:bodyPr wrap="square"/>
                    <a:lstStyle/>
                    <a:p>
                      <a:r>
                        <a:rPr sz="1050" b="0">
                          <a:solidFill>
                            <a:srgbClr val="222A35"/>
                          </a:solidFill>
                          <a:latin typeface="Arial"/>
                        </a:rPr>
                        <a:t>43</a:t>
                      </a:r>
                    </a:p>
                  </a:txBody>
                  <a:tcPr marL="54864" marR="54864" marT="27432" marB="27432" anchor="ctr">
                    <a:solidFill>
                      <a:srgbClr val="FFFFFF"/>
                    </a:solidFill>
                  </a:tcPr>
                </a:tc>
                <a:tc>
                  <a:txBody>
                    <a:bodyPr wrap="square"/>
                    <a:lstStyle/>
                    <a:p>
                      <a:r>
                        <a:rPr sz="1050" b="0">
                          <a:solidFill>
                            <a:srgbClr val="222A35"/>
                          </a:solidFill>
                          <a:latin typeface="Arial"/>
                        </a:rPr>
                        <a:t>screenshot</a:t>
                      </a:r>
                    </a:p>
                  </a:txBody>
                  <a:tcPr marL="54864" marR="54864" marT="27432" marB="27432" anchor="ctr">
                    <a:solidFill>
                      <a:srgbClr val="FFFFFF"/>
                    </a:solidFill>
                  </a:tcPr>
                </a:tc>
                <a:tc>
                  <a:txBody>
                    <a:bodyPr wrap="square"/>
                    <a:lstStyle/>
                    <a:p>
                      <a:r>
                        <a:rPr sz="1050" b="0">
                          <a:solidFill>
                            <a:srgbClr val="222A35"/>
                          </a:solidFill>
                          <a:latin typeface="Arial"/>
                        </a:rPr>
                        <a:t>11 / 16</a:t>
                      </a:r>
                    </a:p>
                  </a:txBody>
                  <a:tcPr marL="54864" marR="54864" marT="27432" marB="27432" anchor="ctr">
                    <a:solidFill>
                      <a:srgbClr val="FFFFFF"/>
                    </a:solidFill>
                  </a:tcPr>
                </a:tc>
                <a:tc>
                  <a:txBody>
                    <a:bodyPr wrap="square"/>
                    <a:lstStyle/>
                    <a:p>
                      <a:r>
                        <a:rPr sz="1050" b="1">
                          <a:solidFill>
                            <a:srgbClr val="FFFFFF"/>
                          </a:solidFill>
                          <a:latin typeface="Arial"/>
                        </a:rPr>
                        <a:t>FAIL</a:t>
                      </a:r>
                    </a:p>
                  </a:txBody>
                  <a:tcPr marL="54864" marR="54864" marT="27432" marB="27432" anchor="ctr">
                    <a:solidFill>
                      <a:srgbClr val="E37222"/>
                    </a:solidFill>
                  </a:tcPr>
                </a:tc>
                <a:tc>
                  <a:txBody>
                    <a:bodyPr wrap="square"/>
                    <a:lstStyle/>
                    <a:p>
                      <a:r>
                        <a:rPr sz="1050" b="0">
                          <a:solidFill>
                            <a:srgbClr val="222A35"/>
                          </a:solidFill>
                          <a:latin typeface="Arial"/>
                        </a:rPr>
                        <a:t>other: navigation</a:t>
                      </a:r>
                    </a:p>
                  </a:txBody>
                  <a:tcPr marL="54864" marR="54864" marT="27432" marB="27432" anchor="ctr">
                    <a:solidFill>
                      <a:srgbClr val="FCECE0"/>
                    </a:solidFill>
                  </a:tcPr>
                </a:tc>
                <a:tc>
                  <a:txBody>
                    <a:bodyPr wrap="square"/>
                    <a:lstStyle/>
                    <a:p>
                      <a:r>
                        <a:rPr sz="1050" b="0">
                          <a:solidFill>
                            <a:srgbClr val="222A35"/>
                          </a:solidFill>
                          <a:latin typeface="Arial"/>
                        </a:rPr>
                        <a:t>1</a:t>
                      </a:r>
                    </a:p>
                  </a:txBody>
                  <a:tcPr marL="54864" marR="54864" marT="27432" marB="27432" anchor="ctr">
                    <a:solidFill>
                      <a:srgbClr val="FFFFFF"/>
                    </a:solidFill>
                  </a:tcPr>
                </a:tc>
                <a:tc>
                  <a:txBody>
                    <a:bodyPr wrap="square"/>
                    <a:lstStyle/>
                    <a:p>
                      <a:r>
                        <a:rPr sz="1050" b="0">
                          <a:solidFill>
                            <a:srgbClr val="222A35"/>
                          </a:solidFill>
                          <a:latin typeface="Arial"/>
                        </a:rPr>
                        <a:t>Swiped past Phone field; no-progress stop</a:t>
                      </a:r>
                    </a:p>
                  </a:txBody>
                  <a:tcPr marL="54864" marR="54864" marT="27432" marB="27432" anchor="ctr">
                    <a:solidFill>
                      <a:srgbClr val="FFFFFF"/>
                    </a:solidFill>
                  </a:tcPr>
                </a:tc>
              </a:tr>
              <a:tr h="274320">
                <a:tc>
                  <a:txBody>
                    <a:bodyPr wrap="square"/>
                    <a:lstStyle/>
                    <a:p>
                      <a:r>
                        <a:rPr sz="1050" b="0">
                          <a:solidFill>
                            <a:srgbClr val="222A35"/>
                          </a:solidFill>
                          <a:latin typeface="Arial"/>
                        </a:rPr>
                        <a:t>ContactsAddContact</a:t>
                      </a:r>
                    </a:p>
                  </a:txBody>
                  <a:tcPr marL="54864" marR="54864" marT="27432" marB="27432" anchor="ctr">
                    <a:solidFill>
                      <a:srgbClr val="F2F5F9"/>
                    </a:solidFill>
                  </a:tcPr>
                </a:tc>
                <a:tc>
                  <a:txBody>
                    <a:bodyPr wrap="square"/>
                    <a:lstStyle/>
                    <a:p>
                      <a:r>
                        <a:rPr sz="1050" b="0" u="sng">
                          <a:solidFill>
                            <a:srgbClr val="0065BD"/>
                          </a:solidFill>
                          <a:latin typeface="Arial"/>
                          <a:hlinkClick r:id="rId8"/>
                        </a:rPr>
                        <a:t>3 of 3</a:t>
                      </a:r>
                    </a:p>
                  </a:txBody>
                  <a:tcPr marL="54864" marR="54864" marT="27432" marB="27432" anchor="ctr">
                    <a:solidFill>
                      <a:srgbClr val="F2F5F9"/>
                    </a:solidFill>
                  </a:tcPr>
                </a:tc>
                <a:tc>
                  <a:txBody>
                    <a:bodyPr wrap="square"/>
                    <a:lstStyle/>
                    <a:p>
                      <a:r>
                        <a:rPr sz="1050" b="0">
                          <a:solidFill>
                            <a:srgbClr val="222A35"/>
                          </a:solidFill>
                          <a:latin typeface="Arial"/>
                        </a:rPr>
                        <a:t>44</a:t>
                      </a:r>
                    </a:p>
                  </a:txBody>
                  <a:tcPr marL="54864" marR="54864" marT="27432" marB="27432" anchor="ctr">
                    <a:solidFill>
                      <a:srgbClr val="F2F5F9"/>
                    </a:solidFill>
                  </a:tcPr>
                </a:tc>
                <a:tc>
                  <a:txBody>
                    <a:bodyPr wrap="square"/>
                    <a:lstStyle/>
                    <a:p>
                      <a:r>
                        <a:rPr sz="1050" b="0">
                          <a:solidFill>
                            <a:srgbClr val="222A35"/>
                          </a:solidFill>
                          <a:latin typeface="Arial"/>
                        </a:rPr>
                        <a:t>screenshot</a:t>
                      </a:r>
                    </a:p>
                  </a:txBody>
                  <a:tcPr marL="54864" marR="54864" marT="27432" marB="27432" anchor="ctr">
                    <a:solidFill>
                      <a:srgbClr val="F2F5F9"/>
                    </a:solidFill>
                  </a:tcPr>
                </a:tc>
                <a:tc>
                  <a:txBody>
                    <a:bodyPr wrap="square"/>
                    <a:lstStyle/>
                    <a:p>
                      <a:r>
                        <a:rPr sz="1050" b="0">
                          <a:solidFill>
                            <a:srgbClr val="222A35"/>
                          </a:solidFill>
                          <a:latin typeface="Arial"/>
                        </a:rPr>
                        <a:t>11 / 16</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1</a:t>
                      </a:r>
                    </a:p>
                  </a:txBody>
                  <a:tcPr marL="54864" marR="54864" marT="27432" marB="27432" anchor="ctr">
                    <a:solidFill>
                      <a:srgbClr val="F2F5F9"/>
                    </a:solidFill>
                  </a:tcPr>
                </a:tc>
                <a:tc>
                  <a:txBody>
                    <a:bodyPr wrap="square"/>
                    <a:lstStyle/>
                    <a:p>
                      <a:r>
                        <a:rPr sz="1050" b="0">
                          <a:solidFill>
                            <a:srgbClr val="222A35"/>
                          </a:solidFill>
                          <a:latin typeface="Arial"/>
                        </a:rPr>
                        <a:t>Name, scroll, number, Save; finished</a:t>
                      </a:r>
                    </a:p>
                  </a:txBody>
                  <a:tcPr marL="54864" marR="54864" marT="27432" marB="27432" anchor="ctr">
                    <a:solidFill>
                      <a:srgbClr val="F2F5F9"/>
                    </a:solidFill>
                  </a:tcPr>
                </a:tc>
              </a:tr>
              <a:tr h="274320">
                <a:tc>
                  <a:txBody>
                    <a:bodyPr wrap="square"/>
                    <a:lstStyle/>
                    <a:p>
                      <a:r>
                        <a:rPr sz="1050" b="0">
                          <a:solidFill>
                            <a:srgbClr val="222A35"/>
                          </a:solidFill>
                          <a:latin typeface="Arial"/>
                        </a:rPr>
                        <a:t>SimpleSmsSend</a:t>
                      </a:r>
                    </a:p>
                  </a:txBody>
                  <a:tcPr marL="54864" marR="54864" marT="27432" marB="27432" anchor="ctr">
                    <a:solidFill>
                      <a:srgbClr val="FFFFFF"/>
                    </a:solidFill>
                  </a:tcPr>
                </a:tc>
                <a:tc>
                  <a:txBody>
                    <a:bodyPr wrap="square"/>
                    <a:lstStyle/>
                    <a:p>
                      <a:r>
                        <a:rPr sz="1050" b="0" u="sng">
                          <a:solidFill>
                            <a:srgbClr val="0065BD"/>
                          </a:solidFill>
                          <a:latin typeface="Arial"/>
                          <a:hlinkClick r:id="rId9"/>
                        </a:rPr>
                        <a:t>1 of 3</a:t>
                      </a:r>
                    </a:p>
                  </a:txBody>
                  <a:tcPr marL="54864" marR="54864" marT="27432" marB="27432" anchor="ctr">
                    <a:solidFill>
                      <a:srgbClr val="FFFFFF"/>
                    </a:solidFill>
                  </a:tcPr>
                </a:tc>
                <a:tc>
                  <a:txBody>
                    <a:bodyPr wrap="square"/>
                    <a:lstStyle/>
                    <a:p>
                      <a:r>
                        <a:rPr sz="1050" b="0">
                          <a:solidFill>
                            <a:srgbClr val="222A35"/>
                          </a:solidFill>
                          <a:latin typeface="Arial"/>
                        </a:rPr>
                        <a:t>42</a:t>
                      </a:r>
                    </a:p>
                  </a:txBody>
                  <a:tcPr marL="54864" marR="54864" marT="27432" marB="27432" anchor="ctr">
                    <a:solidFill>
                      <a:srgbClr val="FFFFFF"/>
                    </a:solidFill>
                  </a:tcPr>
                </a:tc>
                <a:tc>
                  <a:txBody>
                    <a:bodyPr wrap="square"/>
                    <a:lstStyle/>
                    <a:p>
                      <a:r>
                        <a:rPr sz="1050" b="0">
                          <a:solidFill>
                            <a:srgbClr val="222A35"/>
                          </a:solidFill>
                          <a:latin typeface="Arial"/>
                        </a:rPr>
                        <a:t>screenshot</a:t>
                      </a:r>
                    </a:p>
                  </a:txBody>
                  <a:tcPr marL="54864" marR="54864" marT="27432" marB="27432" anchor="ctr">
                    <a:solidFill>
                      <a:srgbClr val="FFFFFF"/>
                    </a:solidFill>
                  </a:tcPr>
                </a:tc>
                <a:tc>
                  <a:txBody>
                    <a:bodyPr wrap="square"/>
                    <a:lstStyle/>
                    <a:p>
                      <a:r>
                        <a:rPr sz="1050" b="0">
                          <a:solidFill>
                            <a:srgbClr val="222A35"/>
                          </a:solidFill>
                          <a:latin typeface="Arial"/>
                        </a:rPr>
                        <a:t>9 / 20</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1</a:t>
                      </a:r>
                    </a:p>
                  </a:txBody>
                  <a:tcPr marL="54864" marR="54864" marT="27432" marB="27432" anchor="ctr">
                    <a:solidFill>
                      <a:srgbClr val="FFFFFF"/>
                    </a:solidFill>
                  </a:tcPr>
                </a:tc>
                <a:tc>
                  <a:txBody>
                    <a:bodyPr wrap="square"/>
                    <a:lstStyle/>
                    <a:p>
                      <a:r>
                        <a:rPr sz="1050" b="0">
                          <a:solidFill>
                            <a:srgbClr val="222A35"/>
                          </a:solidFill>
                          <a:latin typeface="Arial"/>
                        </a:rPr>
                        <a:t>New conversation, number, message, send</a:t>
                      </a:r>
                    </a:p>
                  </a:txBody>
                  <a:tcPr marL="54864" marR="54864" marT="27432" marB="27432" anchor="ctr">
                    <a:solidFill>
                      <a:srgbClr val="FFFFFF"/>
                    </a:solidFill>
                  </a:tcPr>
                </a:tc>
              </a:tr>
              <a:tr h="274320">
                <a:tc>
                  <a:txBody>
                    <a:bodyPr wrap="square"/>
                    <a:lstStyle/>
                    <a:p>
                      <a:r>
                        <a:rPr sz="1050" b="0">
                          <a:solidFill>
                            <a:srgbClr val="222A35"/>
                          </a:solidFill>
                          <a:latin typeface="Arial"/>
                        </a:rPr>
                        <a:t>SimpleSmsSend</a:t>
                      </a:r>
                    </a:p>
                  </a:txBody>
                  <a:tcPr marL="54864" marR="54864" marT="27432" marB="27432" anchor="ctr">
                    <a:solidFill>
                      <a:srgbClr val="F2F5F9"/>
                    </a:solidFill>
                  </a:tcPr>
                </a:tc>
                <a:tc>
                  <a:txBody>
                    <a:bodyPr wrap="square"/>
                    <a:lstStyle/>
                    <a:p>
                      <a:r>
                        <a:rPr sz="1050" b="0" u="sng">
                          <a:solidFill>
                            <a:srgbClr val="0065BD"/>
                          </a:solidFill>
                          <a:latin typeface="Arial"/>
                          <a:hlinkClick r:id="rId10"/>
                        </a:rPr>
                        <a:t>2 of 3</a:t>
                      </a:r>
                    </a:p>
                  </a:txBody>
                  <a:tcPr marL="54864" marR="54864" marT="27432" marB="27432" anchor="ctr">
                    <a:solidFill>
                      <a:srgbClr val="F2F5F9"/>
                    </a:solidFill>
                  </a:tcPr>
                </a:tc>
                <a:tc>
                  <a:txBody>
                    <a:bodyPr wrap="square"/>
                    <a:lstStyle/>
                    <a:p>
                      <a:r>
                        <a:rPr sz="1050" b="0">
                          <a:solidFill>
                            <a:srgbClr val="222A35"/>
                          </a:solidFill>
                          <a:latin typeface="Arial"/>
                        </a:rPr>
                        <a:t>43</a:t>
                      </a:r>
                    </a:p>
                  </a:txBody>
                  <a:tcPr marL="54864" marR="54864" marT="27432" marB="27432" anchor="ctr">
                    <a:solidFill>
                      <a:srgbClr val="F2F5F9"/>
                    </a:solidFill>
                  </a:tcPr>
                </a:tc>
                <a:tc>
                  <a:txBody>
                    <a:bodyPr wrap="square"/>
                    <a:lstStyle/>
                    <a:p>
                      <a:r>
                        <a:rPr sz="1050" b="0">
                          <a:solidFill>
                            <a:srgbClr val="222A35"/>
                          </a:solidFill>
                          <a:latin typeface="Arial"/>
                        </a:rPr>
                        <a:t>screenshot</a:t>
                      </a:r>
                    </a:p>
                  </a:txBody>
                  <a:tcPr marL="54864" marR="54864" marT="27432" marB="27432" anchor="ctr">
                    <a:solidFill>
                      <a:srgbClr val="F2F5F9"/>
                    </a:solidFill>
                  </a:tcPr>
                </a:tc>
                <a:tc>
                  <a:txBody>
                    <a:bodyPr wrap="square"/>
                    <a:lstStyle/>
                    <a:p>
                      <a:r>
                        <a:rPr sz="1050" b="0">
                          <a:solidFill>
                            <a:srgbClr val="222A35"/>
                          </a:solidFill>
                          <a:latin typeface="Arial"/>
                        </a:rPr>
                        <a:t>7 / 20</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1</a:t>
                      </a:r>
                    </a:p>
                  </a:txBody>
                  <a:tcPr marL="54864" marR="54864" marT="27432" marB="27432" anchor="ctr">
                    <a:solidFill>
                      <a:srgbClr val="F2F5F9"/>
                    </a:solidFill>
                  </a:tcPr>
                </a:tc>
                <a:tc>
                  <a:txBody>
                    <a:bodyPr wrap="square"/>
                    <a:lstStyle/>
                    <a:p>
                      <a:r>
                        <a:rPr sz="1050" b="0">
                          <a:solidFill>
                            <a:srgbClr val="222A35"/>
                          </a:solidFill>
                          <a:latin typeface="Arial"/>
                        </a:rPr>
                        <a:t>Chinese app name resolved; sent in 7 steps</a:t>
                      </a:r>
                    </a:p>
                  </a:txBody>
                  <a:tcPr marL="54864" marR="54864" marT="27432" marB="27432" anchor="ctr">
                    <a:solidFill>
                      <a:srgbClr val="F2F5F9"/>
                    </a:solidFill>
                  </a:tcPr>
                </a:tc>
              </a:tr>
              <a:tr h="274320">
                <a:tc>
                  <a:txBody>
                    <a:bodyPr wrap="square"/>
                    <a:lstStyle/>
                    <a:p>
                      <a:r>
                        <a:rPr sz="1050" b="0">
                          <a:solidFill>
                            <a:srgbClr val="222A35"/>
                          </a:solidFill>
                          <a:latin typeface="Arial"/>
                        </a:rPr>
                        <a:t>SimpleSmsSend</a:t>
                      </a:r>
                    </a:p>
                  </a:txBody>
                  <a:tcPr marL="54864" marR="54864" marT="27432" marB="27432" anchor="ctr">
                    <a:solidFill>
                      <a:srgbClr val="FFFFFF"/>
                    </a:solidFill>
                  </a:tcPr>
                </a:tc>
                <a:tc>
                  <a:txBody>
                    <a:bodyPr wrap="square"/>
                    <a:lstStyle/>
                    <a:p>
                      <a:r>
                        <a:rPr sz="1050" b="0" u="sng">
                          <a:solidFill>
                            <a:srgbClr val="0065BD"/>
                          </a:solidFill>
                          <a:latin typeface="Arial"/>
                          <a:hlinkClick r:id="rId11"/>
                        </a:rPr>
                        <a:t>3 of 3</a:t>
                      </a:r>
                    </a:p>
                  </a:txBody>
                  <a:tcPr marL="54864" marR="54864" marT="27432" marB="27432" anchor="ctr">
                    <a:solidFill>
                      <a:srgbClr val="FFFFFF"/>
                    </a:solidFill>
                  </a:tcPr>
                </a:tc>
                <a:tc>
                  <a:txBody>
                    <a:bodyPr wrap="square"/>
                    <a:lstStyle/>
                    <a:p>
                      <a:r>
                        <a:rPr sz="1050" b="0">
                          <a:solidFill>
                            <a:srgbClr val="222A35"/>
                          </a:solidFill>
                          <a:latin typeface="Arial"/>
                        </a:rPr>
                        <a:t>44</a:t>
                      </a:r>
                    </a:p>
                  </a:txBody>
                  <a:tcPr marL="54864" marR="54864" marT="27432" marB="27432" anchor="ctr">
                    <a:solidFill>
                      <a:srgbClr val="FFFFFF"/>
                    </a:solidFill>
                  </a:tcPr>
                </a:tc>
                <a:tc>
                  <a:txBody>
                    <a:bodyPr wrap="square"/>
                    <a:lstStyle/>
                    <a:p>
                      <a:r>
                        <a:rPr sz="1050" b="0">
                          <a:solidFill>
                            <a:srgbClr val="222A35"/>
                          </a:solidFill>
                          <a:latin typeface="Arial"/>
                        </a:rPr>
                        <a:t>screenshot</a:t>
                      </a:r>
                    </a:p>
                  </a:txBody>
                  <a:tcPr marL="54864" marR="54864" marT="27432" marB="27432" anchor="ctr">
                    <a:solidFill>
                      <a:srgbClr val="FFFFFF"/>
                    </a:solidFill>
                  </a:tcPr>
                </a:tc>
                <a:tc>
                  <a:txBody>
                    <a:bodyPr wrap="square"/>
                    <a:lstStyle/>
                    <a:p>
                      <a:r>
                        <a:rPr sz="1050" b="0">
                          <a:solidFill>
                            <a:srgbClr val="222A35"/>
                          </a:solidFill>
                          <a:latin typeface="Arial"/>
                        </a:rPr>
                        <a:t>7 / 20</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1</a:t>
                      </a:r>
                    </a:p>
                  </a:txBody>
                  <a:tcPr marL="54864" marR="54864" marT="27432" marB="27432" anchor="ctr">
                    <a:solidFill>
                      <a:srgbClr val="FFFFFF"/>
                    </a:solidFill>
                  </a:tcPr>
                </a:tc>
                <a:tc>
                  <a:txBody>
                    <a:bodyPr wrap="square"/>
                    <a:lstStyle/>
                    <a:p>
                      <a:r>
                        <a:rPr sz="1050" b="0">
                          <a:solidFill>
                            <a:srgbClr val="222A35"/>
                          </a:solidFill>
                          <a:latin typeface="Arial"/>
                        </a:rPr>
                        <a:t>Chinese app name resolved; sent in 7 steps</a:t>
                      </a:r>
                    </a:p>
                  </a:txBody>
                  <a:tcPr marL="54864" marR="54864" marT="27432" marB="27432" anchor="ctr">
                    <a:solidFill>
                      <a:srgbClr val="FFFFFF"/>
                    </a:solidFill>
                  </a:tcPr>
                </a:tc>
              </a:tr>
              <a:tr h="274320">
                <a:tc>
                  <a:txBody>
                    <a:bodyPr wrap="square"/>
                    <a:lstStyle/>
                    <a:p>
                      <a:r>
                        <a:rPr sz="1050" b="0">
                          <a:solidFill>
                            <a:srgbClr val="222A35"/>
                          </a:solidFill>
                          <a:latin typeface="Arial"/>
                        </a:rPr>
                        <a:t>FilesMoveFile</a:t>
                      </a:r>
                    </a:p>
                  </a:txBody>
                  <a:tcPr marL="54864" marR="54864" marT="27432" marB="27432" anchor="ctr">
                    <a:solidFill>
                      <a:srgbClr val="F2F5F9"/>
                    </a:solidFill>
                  </a:tcPr>
                </a:tc>
                <a:tc>
                  <a:txBody>
                    <a:bodyPr wrap="square"/>
                    <a:lstStyle/>
                    <a:p>
                      <a:r>
                        <a:rPr sz="1050" b="0" u="sng">
                          <a:solidFill>
                            <a:srgbClr val="0065BD"/>
                          </a:solidFill>
                          <a:latin typeface="Arial"/>
                          <a:hlinkClick r:id="rId12"/>
                        </a:rPr>
                        <a:t>1 of 3</a:t>
                      </a:r>
                    </a:p>
                  </a:txBody>
                  <a:tcPr marL="54864" marR="54864" marT="27432" marB="27432" anchor="ctr">
                    <a:solidFill>
                      <a:srgbClr val="F2F5F9"/>
                    </a:solidFill>
                  </a:tcPr>
                </a:tc>
                <a:tc>
                  <a:txBody>
                    <a:bodyPr wrap="square"/>
                    <a:lstStyle/>
                    <a:p>
                      <a:r>
                        <a:rPr sz="1050" b="0">
                          <a:solidFill>
                            <a:srgbClr val="222A35"/>
                          </a:solidFill>
                          <a:latin typeface="Arial"/>
                        </a:rPr>
                        <a:t>42</a:t>
                      </a:r>
                    </a:p>
                  </a:txBody>
                  <a:tcPr marL="54864" marR="54864" marT="27432" marB="27432" anchor="ctr">
                    <a:solidFill>
                      <a:srgbClr val="F2F5F9"/>
                    </a:solidFill>
                  </a:tcPr>
                </a:tc>
                <a:tc>
                  <a:txBody>
                    <a:bodyPr wrap="square"/>
                    <a:lstStyle/>
                    <a:p>
                      <a:r>
                        <a:rPr sz="1050" b="0">
                          <a:solidFill>
                            <a:srgbClr val="222A35"/>
                          </a:solidFill>
                          <a:latin typeface="Arial"/>
                        </a:rPr>
                        <a:t>screenshot</a:t>
                      </a:r>
                    </a:p>
                  </a:txBody>
                  <a:tcPr marL="54864" marR="54864" marT="27432" marB="27432" anchor="ctr">
                    <a:solidFill>
                      <a:srgbClr val="F2F5F9"/>
                    </a:solidFill>
                  </a:tcPr>
                </a:tc>
                <a:tc>
                  <a:txBody>
                    <a:bodyPr wrap="square"/>
                    <a:lstStyle/>
                    <a:p>
                      <a:r>
                        <a:rPr sz="1050" b="0">
                          <a:solidFill>
                            <a:srgbClr val="222A35"/>
                          </a:solidFill>
                          <a:latin typeface="Arial"/>
                        </a:rPr>
                        <a:t>17 / 25</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1</a:t>
                      </a:r>
                    </a:p>
                  </a:txBody>
                  <a:tcPr marL="54864" marR="54864" marT="27432" marB="27432" anchor="ctr">
                    <a:solidFill>
                      <a:srgbClr val="F2F5F9"/>
                    </a:solidFill>
                  </a:tcPr>
                </a:tc>
                <a:tc>
                  <a:txBody>
                    <a:bodyPr wrap="square"/>
                    <a:lstStyle/>
                    <a:p>
                      <a:r>
                        <a:rPr sz="1050" b="0">
                          <a:solidFill>
                            <a:srgbClr val="222A35"/>
                          </a:solidFill>
                          <a:latin typeface="Arial"/>
                        </a:rPr>
                        <a:t>Scrolled to file, Move to, MOVE; finished</a:t>
                      </a:r>
                    </a:p>
                  </a:txBody>
                  <a:tcPr marL="54864" marR="54864" marT="27432" marB="27432" anchor="ctr">
                    <a:solidFill>
                      <a:srgbClr val="F2F5F9"/>
                    </a:solidFill>
                  </a:tcPr>
                </a:tc>
              </a:tr>
              <a:tr h="274320">
                <a:tc>
                  <a:txBody>
                    <a:bodyPr wrap="square"/>
                    <a:lstStyle/>
                    <a:p>
                      <a:r>
                        <a:rPr sz="1050" b="0">
                          <a:solidFill>
                            <a:srgbClr val="222A35"/>
                          </a:solidFill>
                          <a:latin typeface="Arial"/>
                        </a:rPr>
                        <a:t>FilesMoveFile</a:t>
                      </a:r>
                    </a:p>
                  </a:txBody>
                  <a:tcPr marL="54864" marR="54864" marT="27432" marB="27432" anchor="ctr">
                    <a:solidFill>
                      <a:srgbClr val="FFFFFF"/>
                    </a:solidFill>
                  </a:tcPr>
                </a:tc>
                <a:tc>
                  <a:txBody>
                    <a:bodyPr wrap="square"/>
                    <a:lstStyle/>
                    <a:p>
                      <a:r>
                        <a:rPr sz="1050" b="0" u="sng">
                          <a:solidFill>
                            <a:srgbClr val="0065BD"/>
                          </a:solidFill>
                          <a:latin typeface="Arial"/>
                          <a:hlinkClick r:id="rId13"/>
                        </a:rPr>
                        <a:t>2 of 3</a:t>
                      </a:r>
                    </a:p>
                  </a:txBody>
                  <a:tcPr marL="54864" marR="54864" marT="27432" marB="27432" anchor="ctr">
                    <a:solidFill>
                      <a:srgbClr val="FFFFFF"/>
                    </a:solidFill>
                  </a:tcPr>
                </a:tc>
                <a:tc>
                  <a:txBody>
                    <a:bodyPr wrap="square"/>
                    <a:lstStyle/>
                    <a:p>
                      <a:r>
                        <a:rPr sz="1050" b="0">
                          <a:solidFill>
                            <a:srgbClr val="222A35"/>
                          </a:solidFill>
                          <a:latin typeface="Arial"/>
                        </a:rPr>
                        <a:t>43</a:t>
                      </a:r>
                    </a:p>
                  </a:txBody>
                  <a:tcPr marL="54864" marR="54864" marT="27432" marB="27432" anchor="ctr">
                    <a:solidFill>
                      <a:srgbClr val="FFFFFF"/>
                    </a:solidFill>
                  </a:tcPr>
                </a:tc>
                <a:tc>
                  <a:txBody>
                    <a:bodyPr wrap="square"/>
                    <a:lstStyle/>
                    <a:p>
                      <a:r>
                        <a:rPr sz="1050" b="0">
                          <a:solidFill>
                            <a:srgbClr val="222A35"/>
                          </a:solidFill>
                          <a:latin typeface="Arial"/>
                        </a:rPr>
                        <a:t>screenshot</a:t>
                      </a:r>
                    </a:p>
                  </a:txBody>
                  <a:tcPr marL="54864" marR="54864" marT="27432" marB="27432" anchor="ctr">
                    <a:solidFill>
                      <a:srgbClr val="FFFFFF"/>
                    </a:solidFill>
                  </a:tcPr>
                </a:tc>
                <a:tc>
                  <a:txBody>
                    <a:bodyPr wrap="square"/>
                    <a:lstStyle/>
                    <a:p>
                      <a:r>
                        <a:rPr sz="1050" b="0">
                          <a:solidFill>
                            <a:srgbClr val="222A35"/>
                          </a:solidFill>
                          <a:latin typeface="Arial"/>
                        </a:rPr>
                        <a:t>13 / 25</a:t>
                      </a:r>
                    </a:p>
                  </a:txBody>
                  <a:tcPr marL="54864" marR="54864" marT="27432" marB="27432" anchor="ctr">
                    <a:solidFill>
                      <a:srgbClr val="FFFFFF"/>
                    </a:solidFill>
                  </a:tcPr>
                </a:tc>
                <a:tc>
                  <a:txBody>
                    <a:bodyPr wrap="square"/>
                    <a:lstStyle/>
                    <a:p>
                      <a:r>
                        <a:rPr sz="1050" b="1">
                          <a:solidFill>
                            <a:srgbClr val="FFFFFF"/>
                          </a:solidFill>
                          <a:latin typeface="Arial"/>
                        </a:rPr>
                        <a:t>FAIL</a:t>
                      </a:r>
                    </a:p>
                  </a:txBody>
                  <a:tcPr marL="54864" marR="54864" marT="27432" marB="27432" anchor="ctr">
                    <a:solidFill>
                      <a:srgbClr val="E37222"/>
                    </a:solidFill>
                  </a:tcPr>
                </a:tc>
                <a:tc>
                  <a:txBody>
                    <a:bodyPr wrap="square"/>
                    <a:lstStyle/>
                    <a:p>
                      <a:r>
                        <a:rPr sz="1050" b="0">
                          <a:solidFill>
                            <a:srgbClr val="222A35"/>
                          </a:solidFill>
                          <a:latin typeface="Arial"/>
                        </a:rPr>
                        <a:t>false_done</a:t>
                      </a:r>
                    </a:p>
                  </a:txBody>
                  <a:tcPr marL="54864" marR="54864" marT="27432" marB="27432" anchor="ctr">
                    <a:solidFill>
                      <a:srgbClr val="FCECE0"/>
                    </a:solidFill>
                  </a:tcPr>
                </a:tc>
                <a:tc>
                  <a:txBody>
                    <a:bodyPr wrap="square"/>
                    <a:lstStyle/>
                    <a:p>
                      <a:r>
                        <a:rPr sz="1050" b="0">
                          <a:solidFill>
                            <a:srgbClr val="222A35"/>
                          </a:solidFill>
                          <a:latin typeface="Arial"/>
                        </a:rPr>
                        <a:t>1</a:t>
                      </a:r>
                    </a:p>
                  </a:txBody>
                  <a:tcPr marL="54864" marR="54864" marT="27432" marB="27432" anchor="ctr">
                    <a:solidFill>
                      <a:srgbClr val="FFFFFF"/>
                    </a:solidFill>
                  </a:tcPr>
                </a:tc>
                <a:tc>
                  <a:txBody>
                    <a:bodyPr wrap="square"/>
                    <a:lstStyle/>
                    <a:p>
                      <a:r>
                        <a:rPr sz="1050" b="0">
                          <a:solidFill>
                            <a:srgbClr val="222A35"/>
                          </a:solidFill>
                          <a:latin typeface="Arial"/>
                        </a:rPr>
                        <a:t>Moved look-alike file, then finished</a:t>
                      </a:r>
                    </a:p>
                  </a:txBody>
                  <a:tcPr marL="54864" marR="54864" marT="27432" marB="27432" anchor="ctr">
                    <a:solidFill>
                      <a:srgbClr val="FFFFFF"/>
                    </a:solidFill>
                  </a:tcPr>
                </a:tc>
              </a:tr>
              <a:tr h="274320">
                <a:tc>
                  <a:txBody>
                    <a:bodyPr wrap="square"/>
                    <a:lstStyle/>
                    <a:p>
                      <a:r>
                        <a:rPr sz="1050" b="0">
                          <a:solidFill>
                            <a:srgbClr val="222A35"/>
                          </a:solidFill>
                          <a:latin typeface="Arial"/>
                        </a:rPr>
                        <a:t>FilesMoveFile</a:t>
                      </a:r>
                    </a:p>
                  </a:txBody>
                  <a:tcPr marL="54864" marR="54864" marT="27432" marB="27432" anchor="ctr">
                    <a:solidFill>
                      <a:srgbClr val="F2F5F9"/>
                    </a:solidFill>
                  </a:tcPr>
                </a:tc>
                <a:tc>
                  <a:txBody>
                    <a:bodyPr wrap="square"/>
                    <a:lstStyle/>
                    <a:p>
                      <a:r>
                        <a:rPr sz="1050" b="0" u="sng">
                          <a:solidFill>
                            <a:srgbClr val="0065BD"/>
                          </a:solidFill>
                          <a:latin typeface="Arial"/>
                          <a:hlinkClick r:id="rId14"/>
                        </a:rPr>
                        <a:t>3 of 3</a:t>
                      </a:r>
                    </a:p>
                  </a:txBody>
                  <a:tcPr marL="54864" marR="54864" marT="27432" marB="27432" anchor="ctr">
                    <a:solidFill>
                      <a:srgbClr val="F2F5F9"/>
                    </a:solidFill>
                  </a:tcPr>
                </a:tc>
                <a:tc>
                  <a:txBody>
                    <a:bodyPr wrap="square"/>
                    <a:lstStyle/>
                    <a:p>
                      <a:r>
                        <a:rPr sz="1050" b="0">
                          <a:solidFill>
                            <a:srgbClr val="222A35"/>
                          </a:solidFill>
                          <a:latin typeface="Arial"/>
                        </a:rPr>
                        <a:t>44</a:t>
                      </a:r>
                    </a:p>
                  </a:txBody>
                  <a:tcPr marL="54864" marR="54864" marT="27432" marB="27432" anchor="ctr">
                    <a:solidFill>
                      <a:srgbClr val="F2F5F9"/>
                    </a:solidFill>
                  </a:tcPr>
                </a:tc>
                <a:tc>
                  <a:txBody>
                    <a:bodyPr wrap="square"/>
                    <a:lstStyle/>
                    <a:p>
                      <a:r>
                        <a:rPr sz="1050" b="0">
                          <a:solidFill>
                            <a:srgbClr val="222A35"/>
                          </a:solidFill>
                          <a:latin typeface="Arial"/>
                        </a:rPr>
                        <a:t>screenshot</a:t>
                      </a:r>
                    </a:p>
                  </a:txBody>
                  <a:tcPr marL="54864" marR="54864" marT="27432" marB="27432" anchor="ctr">
                    <a:solidFill>
                      <a:srgbClr val="F2F5F9"/>
                    </a:solidFill>
                  </a:tcPr>
                </a:tc>
                <a:tc>
                  <a:txBody>
                    <a:bodyPr wrap="square"/>
                    <a:lstStyle/>
                    <a:p>
                      <a:r>
                        <a:rPr sz="1050" b="0">
                          <a:solidFill>
                            <a:srgbClr val="222A35"/>
                          </a:solidFill>
                          <a:latin typeface="Arial"/>
                        </a:rPr>
                        <a:t>13 / 25</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1</a:t>
                      </a:r>
                    </a:p>
                  </a:txBody>
                  <a:tcPr marL="54864" marR="54864" marT="27432" marB="27432" anchor="ctr">
                    <a:solidFill>
                      <a:srgbClr val="F2F5F9"/>
                    </a:solidFill>
                  </a:tcPr>
                </a:tc>
                <a:tc>
                  <a:txBody>
                    <a:bodyPr wrap="square"/>
                    <a:lstStyle/>
                    <a:p>
                      <a:r>
                        <a:rPr sz="1050" b="0">
                          <a:solidFill>
                            <a:srgbClr val="222A35"/>
                          </a:solidFill>
                          <a:latin typeface="Arial"/>
                        </a:rPr>
                        <a:t>Same procedure; 1 malformed reply corrected</a:t>
                      </a:r>
                    </a:p>
                  </a:txBody>
                  <a:tcPr marL="54864" marR="54864" marT="27432" marB="27432" anchor="ctr">
                    <a:solidFill>
                      <a:srgbClr val="F2F5F9"/>
                    </a:solidFill>
                  </a:tcPr>
                </a:tc>
              </a:tr>
              <a:tr h="274320">
                <a:tc>
                  <a:txBody>
                    <a:bodyPr wrap="square"/>
                    <a:lstStyle/>
                    <a:p>
                      <a:r>
                        <a:rPr sz="1050" b="0">
                          <a:solidFill>
                            <a:srgbClr val="222A35"/>
                          </a:solidFill>
                          <a:latin typeface="Arial"/>
                        </a:rPr>
                        <a:t>SimpleCalendarAddOneEvent</a:t>
                      </a:r>
                    </a:p>
                  </a:txBody>
                  <a:tcPr marL="54864" marR="54864" marT="27432" marB="27432" anchor="ctr">
                    <a:solidFill>
                      <a:srgbClr val="FFFFFF"/>
                    </a:solidFill>
                  </a:tcPr>
                </a:tc>
                <a:tc>
                  <a:txBody>
                    <a:bodyPr wrap="square"/>
                    <a:lstStyle/>
                    <a:p>
                      <a:r>
                        <a:rPr sz="1050" b="0" u="sng">
                          <a:solidFill>
                            <a:srgbClr val="0065BD"/>
                          </a:solidFill>
                          <a:latin typeface="Arial"/>
                          <a:hlinkClick r:id="rId15"/>
                        </a:rPr>
                        <a:t>1 of 3</a:t>
                      </a:r>
                    </a:p>
                  </a:txBody>
                  <a:tcPr marL="54864" marR="54864" marT="27432" marB="27432" anchor="ctr">
                    <a:solidFill>
                      <a:srgbClr val="FFFFFF"/>
                    </a:solidFill>
                  </a:tcPr>
                </a:tc>
                <a:tc>
                  <a:txBody>
                    <a:bodyPr wrap="square"/>
                    <a:lstStyle/>
                    <a:p>
                      <a:r>
                        <a:rPr sz="1050" b="0">
                          <a:solidFill>
                            <a:srgbClr val="222A35"/>
                          </a:solidFill>
                          <a:latin typeface="Arial"/>
                        </a:rPr>
                        <a:t>42</a:t>
                      </a:r>
                    </a:p>
                  </a:txBody>
                  <a:tcPr marL="54864" marR="54864" marT="27432" marB="27432" anchor="ctr">
                    <a:solidFill>
                      <a:srgbClr val="FFFFFF"/>
                    </a:solidFill>
                  </a:tcPr>
                </a:tc>
                <a:tc>
                  <a:txBody>
                    <a:bodyPr wrap="square"/>
                    <a:lstStyle/>
                    <a:p>
                      <a:r>
                        <a:rPr sz="1050" b="0">
                          <a:solidFill>
                            <a:srgbClr val="222A35"/>
                          </a:solidFill>
                          <a:latin typeface="Arial"/>
                        </a:rPr>
                        <a:t>screenshot</a:t>
                      </a:r>
                    </a:p>
                  </a:txBody>
                  <a:tcPr marL="54864" marR="54864" marT="27432" marB="27432" anchor="ctr">
                    <a:solidFill>
                      <a:srgbClr val="FFFFFF"/>
                    </a:solidFill>
                  </a:tcPr>
                </a:tc>
                <a:tc>
                  <a:txBody>
                    <a:bodyPr wrap="square"/>
                    <a:lstStyle/>
                    <a:p>
                      <a:r>
                        <a:rPr sz="1050" b="0">
                          <a:solidFill>
                            <a:srgbClr val="222A35"/>
                          </a:solidFill>
                          <a:latin typeface="Arial"/>
                        </a:rPr>
                        <a:t>20 / 35</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1</a:t>
                      </a:r>
                    </a:p>
                  </a:txBody>
                  <a:tcPr marL="54864" marR="54864" marT="27432" marB="27432" anchor="ctr">
                    <a:solidFill>
                      <a:srgbClr val="FFFFFF"/>
                    </a:solidFill>
                  </a:tcPr>
                </a:tc>
                <a:tc>
                  <a:txBody>
                    <a:bodyPr wrap="square"/>
                    <a:lstStyle/>
                    <a:p>
                      <a:r>
                        <a:rPr sz="1050" b="0">
                          <a:solidFill>
                            <a:srgbClr val="222A35"/>
                          </a:solidFill>
                          <a:latin typeface="Arial"/>
                        </a:rPr>
                        <a:t>Title, text, date, time, length; 1 fix</a:t>
                      </a:r>
                    </a:p>
                  </a:txBody>
                  <a:tcPr marL="54864" marR="54864" marT="27432" marB="27432" anchor="ctr">
                    <a:solidFill>
                      <a:srgbClr val="FFFFFF"/>
                    </a:solidFill>
                  </a:tcPr>
                </a:tc>
              </a:tr>
              <a:tr h="274320">
                <a:tc>
                  <a:txBody>
                    <a:bodyPr wrap="square"/>
                    <a:lstStyle/>
                    <a:p>
                      <a:r>
                        <a:rPr sz="1050" b="0">
                          <a:solidFill>
                            <a:srgbClr val="222A35"/>
                          </a:solidFill>
                          <a:latin typeface="Arial"/>
                        </a:rPr>
                        <a:t>SimpleCalendarAddOneEvent</a:t>
                      </a:r>
                    </a:p>
                  </a:txBody>
                  <a:tcPr marL="54864" marR="54864" marT="27432" marB="27432" anchor="ctr">
                    <a:solidFill>
                      <a:srgbClr val="F2F5F9"/>
                    </a:solidFill>
                  </a:tcPr>
                </a:tc>
                <a:tc>
                  <a:txBody>
                    <a:bodyPr wrap="square"/>
                    <a:lstStyle/>
                    <a:p>
                      <a:r>
                        <a:rPr sz="1050" b="0" u="sng">
                          <a:solidFill>
                            <a:srgbClr val="0065BD"/>
                          </a:solidFill>
                          <a:latin typeface="Arial"/>
                          <a:hlinkClick r:id="rId16"/>
                        </a:rPr>
                        <a:t>2 of 3</a:t>
                      </a:r>
                    </a:p>
                  </a:txBody>
                  <a:tcPr marL="54864" marR="54864" marT="27432" marB="27432" anchor="ctr">
                    <a:solidFill>
                      <a:srgbClr val="F2F5F9"/>
                    </a:solidFill>
                  </a:tcPr>
                </a:tc>
                <a:tc>
                  <a:txBody>
                    <a:bodyPr wrap="square"/>
                    <a:lstStyle/>
                    <a:p>
                      <a:r>
                        <a:rPr sz="1050" b="0">
                          <a:solidFill>
                            <a:srgbClr val="222A35"/>
                          </a:solidFill>
                          <a:latin typeface="Arial"/>
                        </a:rPr>
                        <a:t>43</a:t>
                      </a:r>
                    </a:p>
                  </a:txBody>
                  <a:tcPr marL="54864" marR="54864" marT="27432" marB="27432" anchor="ctr">
                    <a:solidFill>
                      <a:srgbClr val="F2F5F9"/>
                    </a:solidFill>
                  </a:tcPr>
                </a:tc>
                <a:tc>
                  <a:txBody>
                    <a:bodyPr wrap="square"/>
                    <a:lstStyle/>
                    <a:p>
                      <a:r>
                        <a:rPr sz="1050" b="0">
                          <a:solidFill>
                            <a:srgbClr val="222A35"/>
                          </a:solidFill>
                          <a:latin typeface="Arial"/>
                        </a:rPr>
                        <a:t>screenshot</a:t>
                      </a:r>
                    </a:p>
                  </a:txBody>
                  <a:tcPr marL="54864" marR="54864" marT="27432" marB="27432" anchor="ctr">
                    <a:solidFill>
                      <a:srgbClr val="F2F5F9"/>
                    </a:solidFill>
                  </a:tcPr>
                </a:tc>
                <a:tc>
                  <a:txBody>
                    <a:bodyPr wrap="square"/>
                    <a:lstStyle/>
                    <a:p>
                      <a:r>
                        <a:rPr sz="1050" b="0">
                          <a:solidFill>
                            <a:srgbClr val="222A35"/>
                          </a:solidFill>
                          <a:latin typeface="Arial"/>
                        </a:rPr>
                        <a:t>21 / 35</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1</a:t>
                      </a:r>
                    </a:p>
                  </a:txBody>
                  <a:tcPr marL="54864" marR="54864" marT="27432" marB="27432" anchor="ctr">
                    <a:solidFill>
                      <a:srgbClr val="F2F5F9"/>
                    </a:solidFill>
                  </a:tcPr>
                </a:tc>
                <a:tc>
                  <a:txBody>
                    <a:bodyPr wrap="square"/>
                    <a:lstStyle/>
                    <a:p>
                      <a:r>
                        <a:rPr sz="1050" b="0">
                          <a:solidFill>
                            <a:srgbClr val="222A35"/>
                          </a:solidFill>
                          <a:latin typeface="Arial"/>
                        </a:rPr>
                        <a:t>Saved event; 1 unsupported action fixed</a:t>
                      </a:r>
                    </a:p>
                  </a:txBody>
                  <a:tcPr marL="54864" marR="54864" marT="27432" marB="27432" anchor="ctr">
                    <a:solidFill>
                      <a:srgbClr val="F2F5F9"/>
                    </a:solidFill>
                  </a:tcPr>
                </a:tc>
              </a:tr>
              <a:tr h="274320">
                <a:tc>
                  <a:txBody>
                    <a:bodyPr wrap="square"/>
                    <a:lstStyle/>
                    <a:p>
                      <a:r>
                        <a:rPr sz="1050" b="0">
                          <a:solidFill>
                            <a:srgbClr val="222A35"/>
                          </a:solidFill>
                          <a:latin typeface="Arial"/>
                        </a:rPr>
                        <a:t>SimpleCalendarAddOneEvent</a:t>
                      </a:r>
                    </a:p>
                  </a:txBody>
                  <a:tcPr marL="54864" marR="54864" marT="27432" marB="27432" anchor="ctr">
                    <a:solidFill>
                      <a:srgbClr val="FFFFFF"/>
                    </a:solidFill>
                  </a:tcPr>
                </a:tc>
                <a:tc>
                  <a:txBody>
                    <a:bodyPr wrap="square"/>
                    <a:lstStyle/>
                    <a:p>
                      <a:r>
                        <a:rPr sz="1050" b="0" u="sng">
                          <a:solidFill>
                            <a:srgbClr val="0065BD"/>
                          </a:solidFill>
                          <a:latin typeface="Arial"/>
                          <a:hlinkClick r:id="rId17"/>
                        </a:rPr>
                        <a:t>3 of 3</a:t>
                      </a:r>
                    </a:p>
                  </a:txBody>
                  <a:tcPr marL="54864" marR="54864" marT="27432" marB="27432" anchor="ctr">
                    <a:solidFill>
                      <a:srgbClr val="FFFFFF"/>
                    </a:solidFill>
                  </a:tcPr>
                </a:tc>
                <a:tc>
                  <a:txBody>
                    <a:bodyPr wrap="square"/>
                    <a:lstStyle/>
                    <a:p>
                      <a:r>
                        <a:rPr sz="1050" b="0">
                          <a:solidFill>
                            <a:srgbClr val="222A35"/>
                          </a:solidFill>
                          <a:latin typeface="Arial"/>
                        </a:rPr>
                        <a:t>44</a:t>
                      </a:r>
                    </a:p>
                  </a:txBody>
                  <a:tcPr marL="54864" marR="54864" marT="27432" marB="27432" anchor="ctr">
                    <a:solidFill>
                      <a:srgbClr val="FFFFFF"/>
                    </a:solidFill>
                  </a:tcPr>
                </a:tc>
                <a:tc>
                  <a:txBody>
                    <a:bodyPr wrap="square"/>
                    <a:lstStyle/>
                    <a:p>
                      <a:r>
                        <a:rPr sz="1050" b="0">
                          <a:solidFill>
                            <a:srgbClr val="222A35"/>
                          </a:solidFill>
                          <a:latin typeface="Arial"/>
                        </a:rPr>
                        <a:t>screenshot</a:t>
                      </a:r>
                    </a:p>
                  </a:txBody>
                  <a:tcPr marL="54864" marR="54864" marT="27432" marB="27432" anchor="ctr">
                    <a:solidFill>
                      <a:srgbClr val="FFFFFF"/>
                    </a:solidFill>
                  </a:tcPr>
                </a:tc>
                <a:tc>
                  <a:txBody>
                    <a:bodyPr wrap="square"/>
                    <a:lstStyle/>
                    <a:p>
                      <a:r>
                        <a:rPr sz="1050" b="0">
                          <a:solidFill>
                            <a:srgbClr val="222A35"/>
                          </a:solidFill>
                          <a:latin typeface="Arial"/>
                        </a:rPr>
                        <a:t>16 / 35</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1</a:t>
                      </a:r>
                    </a:p>
                  </a:txBody>
                  <a:tcPr marL="54864" marR="54864" marT="27432" marB="27432" anchor="ctr">
                    <a:solidFill>
                      <a:srgbClr val="FFFFFF"/>
                    </a:solidFill>
                  </a:tcPr>
                </a:tc>
                <a:tc>
                  <a:txBody>
                    <a:bodyPr wrap="square"/>
                    <a:lstStyle/>
                    <a:p>
                      <a:r>
                        <a:rPr sz="1050" b="0">
                          <a:solidFill>
                            <a:srgbClr val="222A35"/>
                          </a:solidFill>
                          <a:latin typeface="Arial"/>
                        </a:rPr>
                        <a:t>Saved event in 16 steps; no refusals</a:t>
                      </a:r>
                    </a:p>
                  </a:txBody>
                  <a:tcPr marL="54864" marR="54864" marT="27432" marB="27432"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RESULTS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Run log (2/2): the two multi-app tasks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14</a:t>
            </a:r>
          </a:p>
        </p:txBody>
      </p:sp>
      <p:sp>
        <p:nvSpPr>
          <p:cNvPr id="9" name="TextBox 8"/>
          <p:cNvSpPr txBox="1"/>
          <p:nvPr/>
        </p:nvSpPr>
        <p:spPr>
          <a:xfrm>
            <a:off x="548640" y="1188720"/>
            <a:ext cx="11064240" cy="320040"/>
          </a:xfrm>
          <a:prstGeom prst="rect">
            <a:avLst/>
          </a:prstGeom>
          <a:noFill/>
        </p:spPr>
        <p:txBody>
          <a:bodyPr wrap="square" anchor="t" lIns="73152" rIns="73152">
            <a:spAutoFit/>
          </a:bodyPr>
          <a:lstStyle/>
          <a:p>
            <a:pPr algn="l">
              <a:lnSpc>
                <a:spcPct val="110000"/>
              </a:lnSpc>
            </a:pPr>
            <a:r>
              <a:rPr sz="1200" b="0" i="0">
                <a:solidFill>
                  <a:srgbClr val="5E6773"/>
                </a:solidFill>
                <a:latin typeface="Arial"/>
              </a:rPr>
              <a:t>Model AutoGLM-Phone-9B (Z.ai), version v65, grounding by coordinates. Rows written by the runner during each run; click a run to open its log.</a:t>
            </a:r>
          </a:p>
        </p:txBody>
      </p:sp>
      <p:graphicFrame>
        <p:nvGraphicFramePr>
          <p:cNvPr id="10" name="Table 9"/>
          <p:cNvGraphicFramePr>
            <a:graphicFrameLocks noGrp="1"/>
          </p:cNvGraphicFramePr>
          <p:nvPr/>
        </p:nvGraphicFramePr>
        <p:xfrm>
          <a:off x="548640" y="1572768"/>
          <a:ext cx="11064240" cy="1920240"/>
        </p:xfrm>
        <a:graphic>
          <a:graphicData uri="http://schemas.openxmlformats.org/drawingml/2006/table">
            <a:tbl>
              <a:tblPr firstRow="1" bandRow="1">
                <a:tableStyleId>{5C22544A-7EE6-4342-B048-85BDC9FD1C3A}</a:tableStyleId>
              </a:tblPr>
              <a:tblGrid>
                <a:gridCol w="1965960"/>
                <a:gridCol w="594360"/>
                <a:gridCol w="457200"/>
                <a:gridCol w="1371600"/>
                <a:gridCol w="822960"/>
                <a:gridCol w="685800"/>
                <a:gridCol w="960120"/>
                <a:gridCol w="502920"/>
                <a:gridCol w="3703320"/>
              </a:tblGrid>
              <a:tr h="274320">
                <a:tc>
                  <a:txBody>
                    <a:bodyPr wrap="square"/>
                    <a:lstStyle/>
                    <a:p>
                      <a:r>
                        <a:rPr sz="1050" b="1">
                          <a:solidFill>
                            <a:srgbClr val="FFFFFF"/>
                          </a:solidFill>
                          <a:latin typeface="Arial"/>
                        </a:rPr>
                        <a:t>Task</a:t>
                      </a:r>
                    </a:p>
                  </a:txBody>
                  <a:tcPr marL="54864" marR="54864" marT="27432" marB="27432" anchor="ctr">
                    <a:solidFill>
                      <a:srgbClr val="072140"/>
                    </a:solidFill>
                  </a:tcPr>
                </a:tc>
                <a:tc>
                  <a:txBody>
                    <a:bodyPr wrap="square"/>
                    <a:lstStyle/>
                    <a:p>
                      <a:r>
                        <a:rPr sz="1050" b="1">
                          <a:solidFill>
                            <a:srgbClr val="FFFFFF"/>
                          </a:solidFill>
                          <a:latin typeface="Arial"/>
                        </a:rPr>
                        <a:t>Run</a:t>
                      </a:r>
                    </a:p>
                  </a:txBody>
                  <a:tcPr marL="54864" marR="54864" marT="27432" marB="27432" anchor="ctr">
                    <a:solidFill>
                      <a:srgbClr val="072140"/>
                    </a:solidFill>
                  </a:tcPr>
                </a:tc>
                <a:tc>
                  <a:txBody>
                    <a:bodyPr wrap="square"/>
                    <a:lstStyle/>
                    <a:p>
                      <a:r>
                        <a:rPr sz="1050" b="1">
                          <a:solidFill>
                            <a:srgbClr val="FFFFFF"/>
                          </a:solidFill>
                          <a:latin typeface="Arial"/>
                        </a:rPr>
                        <a:t>Seed</a:t>
                      </a:r>
                    </a:p>
                  </a:txBody>
                  <a:tcPr marL="54864" marR="54864" marT="27432" marB="27432" anchor="ctr">
                    <a:solidFill>
                      <a:srgbClr val="072140"/>
                    </a:solidFill>
                  </a:tcPr>
                </a:tc>
                <a:tc>
                  <a:txBody>
                    <a:bodyPr wrap="square"/>
                    <a:lstStyle/>
                    <a:p>
                      <a:r>
                        <a:rPr sz="1050" b="1">
                          <a:solidFill>
                            <a:srgbClr val="FFFFFF"/>
                          </a:solidFill>
                          <a:latin typeface="Arial"/>
                        </a:rPr>
                        <a:t>Observation</a:t>
                      </a:r>
                    </a:p>
                  </a:txBody>
                  <a:tcPr marL="54864" marR="54864" marT="27432" marB="27432" anchor="ctr">
                    <a:solidFill>
                      <a:srgbClr val="072140"/>
                    </a:solidFill>
                  </a:tcPr>
                </a:tc>
                <a:tc>
                  <a:txBody>
                    <a:bodyPr wrap="square"/>
                    <a:lstStyle/>
                    <a:p>
                      <a:r>
                        <a:rPr sz="1050" b="1">
                          <a:solidFill>
                            <a:srgbClr val="FFFFFF"/>
                          </a:solidFill>
                          <a:latin typeface="Arial"/>
                        </a:rPr>
                        <a:t>Steps / budget</a:t>
                      </a:r>
                    </a:p>
                  </a:txBody>
                  <a:tcPr marL="54864" marR="54864" marT="27432" marB="27432" anchor="ctr">
                    <a:solidFill>
                      <a:srgbClr val="072140"/>
                    </a:solidFill>
                  </a:tcPr>
                </a:tc>
                <a:tc>
                  <a:txBody>
                    <a:bodyPr wrap="square"/>
                    <a:lstStyle/>
                    <a:p>
                      <a:r>
                        <a:rPr sz="1050" b="1">
                          <a:solidFill>
                            <a:srgbClr val="FFFFFF"/>
                          </a:solidFill>
                          <a:latin typeface="Arial"/>
                        </a:rPr>
                        <a:t>Verifier</a:t>
                      </a:r>
                    </a:p>
                  </a:txBody>
                  <a:tcPr marL="54864" marR="54864" marT="27432" marB="27432" anchor="ctr">
                    <a:solidFill>
                      <a:srgbClr val="072140"/>
                    </a:solidFill>
                  </a:tcPr>
                </a:tc>
                <a:tc>
                  <a:txBody>
                    <a:bodyPr wrap="square"/>
                    <a:lstStyle/>
                    <a:p>
                      <a:r>
                        <a:rPr sz="1050" b="1">
                          <a:solidFill>
                            <a:srgbClr val="FFFFFF"/>
                          </a:solidFill>
                          <a:latin typeface="Arial"/>
                        </a:rPr>
                        <a:t>Failure class</a:t>
                      </a:r>
                    </a:p>
                  </a:txBody>
                  <a:tcPr marL="54864" marR="54864" marT="27432" marB="27432" anchor="ctr">
                    <a:solidFill>
                      <a:srgbClr val="072140"/>
                    </a:solidFill>
                  </a:tcPr>
                </a:tc>
                <a:tc>
                  <a:txBody>
                    <a:bodyPr wrap="square"/>
                    <a:lstStyle/>
                    <a:p>
                      <a:r>
                        <a:rPr sz="1050" b="1">
                          <a:solidFill>
                            <a:srgbClr val="FFFFFF"/>
                          </a:solidFill>
                          <a:latin typeface="Arial"/>
                        </a:rPr>
                        <a:t>Clips</a:t>
                      </a:r>
                    </a:p>
                  </a:txBody>
                  <a:tcPr marL="54864" marR="54864" marT="27432" marB="27432" anchor="ctr">
                    <a:solidFill>
                      <a:srgbClr val="072140"/>
                    </a:solidFill>
                  </a:tcPr>
                </a:tc>
                <a:tc>
                  <a:txBody>
                    <a:bodyPr wrap="square"/>
                    <a:lstStyle/>
                    <a:p>
                      <a:r>
                        <a:rPr sz="1050" b="1">
                          <a:solidFill>
                            <a:srgbClr val="FFFFFF"/>
                          </a:solidFill>
                          <a:latin typeface="Arial"/>
                        </a:rPr>
                        <a:t>Note</a:t>
                      </a:r>
                    </a:p>
                  </a:txBody>
                  <a:tcPr marL="54864" marR="54864" marT="27432" marB="27432" anchor="ctr">
                    <a:solidFill>
                      <a:srgbClr val="072140"/>
                    </a:solidFill>
                  </a:tcPr>
                </a:tc>
              </a:tr>
              <a:tr h="274320">
                <a:tc>
                  <a:txBody>
                    <a:bodyPr wrap="square"/>
                    <a:lstStyle/>
                    <a:p>
                      <a:r>
                        <a:rPr sz="1050" b="0">
                          <a:solidFill>
                            <a:srgbClr val="222A35"/>
                          </a:solidFill>
                          <a:latin typeface="Arial"/>
                        </a:rPr>
                        <a:t>MarkorCreateNoteAndSms</a:t>
                      </a:r>
                    </a:p>
                  </a:txBody>
                  <a:tcPr marL="54864" marR="54864" marT="27432" marB="27432" anchor="ctr">
                    <a:solidFill>
                      <a:srgbClr val="FFFFFF"/>
                    </a:solidFill>
                  </a:tcPr>
                </a:tc>
                <a:tc>
                  <a:txBody>
                    <a:bodyPr wrap="square"/>
                    <a:lstStyle/>
                    <a:p>
                      <a:r>
                        <a:rPr sz="1050" b="0" u="sng">
                          <a:solidFill>
                            <a:srgbClr val="0065BD"/>
                          </a:solidFill>
                          <a:latin typeface="Arial"/>
                          <a:hlinkClick r:id="rId3"/>
                        </a:rPr>
                        <a:t>1 of 3</a:t>
                      </a:r>
                    </a:p>
                  </a:txBody>
                  <a:tcPr marL="54864" marR="54864" marT="27432" marB="27432" anchor="ctr">
                    <a:solidFill>
                      <a:srgbClr val="FFFFFF"/>
                    </a:solidFill>
                  </a:tcPr>
                </a:tc>
                <a:tc>
                  <a:txBody>
                    <a:bodyPr wrap="square"/>
                    <a:lstStyle/>
                    <a:p>
                      <a:r>
                        <a:rPr sz="1050" b="0">
                          <a:solidFill>
                            <a:srgbClr val="222A35"/>
                          </a:solidFill>
                          <a:latin typeface="Arial"/>
                        </a:rPr>
                        <a:t>42</a:t>
                      </a:r>
                    </a:p>
                  </a:txBody>
                  <a:tcPr marL="54864" marR="54864" marT="27432" marB="27432" anchor="ctr">
                    <a:solidFill>
                      <a:srgbClr val="FFFFFF"/>
                    </a:solidFill>
                  </a:tcPr>
                </a:tc>
                <a:tc>
                  <a:txBody>
                    <a:bodyPr wrap="square"/>
                    <a:lstStyle/>
                    <a:p>
                      <a:r>
                        <a:rPr sz="1050" b="0">
                          <a:solidFill>
                            <a:srgbClr val="222A35"/>
                          </a:solidFill>
                          <a:latin typeface="Arial"/>
                        </a:rPr>
                        <a:t>screenshot + Skill</a:t>
                      </a:r>
                    </a:p>
                  </a:txBody>
                  <a:tcPr marL="54864" marR="54864" marT="27432" marB="27432" anchor="ctr">
                    <a:solidFill>
                      <a:srgbClr val="FFFFFF"/>
                    </a:solidFill>
                  </a:tcPr>
                </a:tc>
                <a:tc>
                  <a:txBody>
                    <a:bodyPr wrap="square"/>
                    <a:lstStyle/>
                    <a:p>
                      <a:r>
                        <a:rPr sz="1050" b="0">
                          <a:solidFill>
                            <a:srgbClr val="222A35"/>
                          </a:solidFill>
                          <a:latin typeface="Arial"/>
                        </a:rPr>
                        <a:t>18 / 40</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2</a:t>
                      </a:r>
                    </a:p>
                  </a:txBody>
                  <a:tcPr marL="54864" marR="54864" marT="27432" marB="27432" anchor="ctr">
                    <a:solidFill>
                      <a:srgbClr val="FFFFFF"/>
                    </a:solidFill>
                  </a:tcPr>
                </a:tc>
                <a:tc>
                  <a:txBody>
                    <a:bodyPr wrap="square"/>
                    <a:lstStyle/>
                    <a:p>
                      <a:r>
                        <a:rPr sz="1050" b="0">
                          <a:solidFill>
                            <a:srgbClr val="222A35"/>
                          </a:solidFill>
                          <a:latin typeface="Arial"/>
                        </a:rPr>
                        <a:t>Created the note with the right name and text and saved it; launched Simple SMS Messenger by a Chinese name (resolved by the alias table); typed the same text into a new plain SMS and sent it.</a:t>
                      </a:r>
                    </a:p>
                  </a:txBody>
                  <a:tcPr marL="54864" marR="54864" marT="27432" marB="27432" anchor="ctr">
                    <a:solidFill>
                      <a:srgbClr val="FFFFFF"/>
                    </a:solidFill>
                  </a:tcPr>
                </a:tc>
              </a:tr>
              <a:tr h="274320">
                <a:tc>
                  <a:txBody>
                    <a:bodyPr wrap="square"/>
                    <a:lstStyle/>
                    <a:p>
                      <a:r>
                        <a:rPr sz="1050" b="0">
                          <a:solidFill>
                            <a:srgbClr val="222A35"/>
                          </a:solidFill>
                          <a:latin typeface="Arial"/>
                        </a:rPr>
                        <a:t>MarkorCreateNoteAndSms</a:t>
                      </a:r>
                    </a:p>
                  </a:txBody>
                  <a:tcPr marL="54864" marR="54864" marT="27432" marB="27432" anchor="ctr">
                    <a:solidFill>
                      <a:srgbClr val="F2F5F9"/>
                    </a:solidFill>
                  </a:tcPr>
                </a:tc>
                <a:tc>
                  <a:txBody>
                    <a:bodyPr wrap="square"/>
                    <a:lstStyle/>
                    <a:p>
                      <a:r>
                        <a:rPr sz="1050" b="0" u="sng">
                          <a:solidFill>
                            <a:srgbClr val="0065BD"/>
                          </a:solidFill>
                          <a:latin typeface="Arial"/>
                          <a:hlinkClick r:id="rId4"/>
                        </a:rPr>
                        <a:t>2 of 3</a:t>
                      </a:r>
                    </a:p>
                  </a:txBody>
                  <a:tcPr marL="54864" marR="54864" marT="27432" marB="27432" anchor="ctr">
                    <a:solidFill>
                      <a:srgbClr val="F2F5F9"/>
                    </a:solidFill>
                  </a:tcPr>
                </a:tc>
                <a:tc>
                  <a:txBody>
                    <a:bodyPr wrap="square"/>
                    <a:lstStyle/>
                    <a:p>
                      <a:r>
                        <a:rPr sz="1050" b="0">
                          <a:solidFill>
                            <a:srgbClr val="222A35"/>
                          </a:solidFill>
                          <a:latin typeface="Arial"/>
                        </a:rPr>
                        <a:t>43</a:t>
                      </a:r>
                    </a:p>
                  </a:txBody>
                  <a:tcPr marL="54864" marR="54864" marT="27432" marB="27432" anchor="ctr">
                    <a:solidFill>
                      <a:srgbClr val="F2F5F9"/>
                    </a:solidFill>
                  </a:tcPr>
                </a:tc>
                <a:tc>
                  <a:txBody>
                    <a:bodyPr wrap="square"/>
                    <a:lstStyle/>
                    <a:p>
                      <a:r>
                        <a:rPr sz="1050" b="0">
                          <a:solidFill>
                            <a:srgbClr val="222A35"/>
                          </a:solidFill>
                          <a:latin typeface="Arial"/>
                        </a:rPr>
                        <a:t>screenshot + Skill</a:t>
                      </a:r>
                    </a:p>
                  </a:txBody>
                  <a:tcPr marL="54864" marR="54864" marT="27432" marB="27432" anchor="ctr">
                    <a:solidFill>
                      <a:srgbClr val="F2F5F9"/>
                    </a:solidFill>
                  </a:tcPr>
                </a:tc>
                <a:tc>
                  <a:txBody>
                    <a:bodyPr wrap="square"/>
                    <a:lstStyle/>
                    <a:p>
                      <a:r>
                        <a:rPr sz="1050" b="0">
                          <a:solidFill>
                            <a:srgbClr val="222A35"/>
                          </a:solidFill>
                          <a:latin typeface="Arial"/>
                        </a:rPr>
                        <a:t>18 / 40</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2</a:t>
                      </a:r>
                    </a:p>
                  </a:txBody>
                  <a:tcPr marL="54864" marR="54864" marT="27432" marB="27432" anchor="ctr">
                    <a:solidFill>
                      <a:srgbClr val="F2F5F9"/>
                    </a:solidFill>
                  </a:tcPr>
                </a:tc>
                <a:tc>
                  <a:txBody>
                    <a:bodyPr wrap="square"/>
                    <a:lstStyle/>
                    <a:p>
                      <a:r>
                        <a:rPr sz="1050" b="0">
                          <a:solidFill>
                            <a:srgbClr val="222A35"/>
                          </a:solidFill>
                          <a:latin typeface="Arial"/>
                        </a:rPr>
                        <a:t>Typed the name, replaced the extension with .txt, typed and saved the text, then sent it as a plain SMS. One truncated model reply was retried.</a:t>
                      </a:r>
                    </a:p>
                  </a:txBody>
                  <a:tcPr marL="54864" marR="54864" marT="27432" marB="27432" anchor="ctr">
                    <a:solidFill>
                      <a:srgbClr val="F2F5F9"/>
                    </a:solidFill>
                  </a:tcPr>
                </a:tc>
              </a:tr>
              <a:tr h="274320">
                <a:tc>
                  <a:txBody>
                    <a:bodyPr wrap="square"/>
                    <a:lstStyle/>
                    <a:p>
                      <a:r>
                        <a:rPr sz="1050" b="0">
                          <a:solidFill>
                            <a:srgbClr val="222A35"/>
                          </a:solidFill>
                          <a:latin typeface="Arial"/>
                        </a:rPr>
                        <a:t>MarkorCreateNoteAndSms</a:t>
                      </a:r>
                    </a:p>
                  </a:txBody>
                  <a:tcPr marL="54864" marR="54864" marT="27432" marB="27432" anchor="ctr">
                    <a:solidFill>
                      <a:srgbClr val="FFFFFF"/>
                    </a:solidFill>
                  </a:tcPr>
                </a:tc>
                <a:tc>
                  <a:txBody>
                    <a:bodyPr wrap="square"/>
                    <a:lstStyle/>
                    <a:p>
                      <a:r>
                        <a:rPr sz="1050" b="0" u="sng">
                          <a:solidFill>
                            <a:srgbClr val="0065BD"/>
                          </a:solidFill>
                          <a:latin typeface="Arial"/>
                          <a:hlinkClick r:id="rId5"/>
                        </a:rPr>
                        <a:t>3 of 3</a:t>
                      </a:r>
                    </a:p>
                  </a:txBody>
                  <a:tcPr marL="54864" marR="54864" marT="27432" marB="27432" anchor="ctr">
                    <a:solidFill>
                      <a:srgbClr val="FFFFFF"/>
                    </a:solidFill>
                  </a:tcPr>
                </a:tc>
                <a:tc>
                  <a:txBody>
                    <a:bodyPr wrap="square"/>
                    <a:lstStyle/>
                    <a:p>
                      <a:r>
                        <a:rPr sz="1050" b="0">
                          <a:solidFill>
                            <a:srgbClr val="222A35"/>
                          </a:solidFill>
                          <a:latin typeface="Arial"/>
                        </a:rPr>
                        <a:t>44</a:t>
                      </a:r>
                    </a:p>
                  </a:txBody>
                  <a:tcPr marL="54864" marR="54864" marT="27432" marB="27432" anchor="ctr">
                    <a:solidFill>
                      <a:srgbClr val="FFFFFF"/>
                    </a:solidFill>
                  </a:tcPr>
                </a:tc>
                <a:tc>
                  <a:txBody>
                    <a:bodyPr wrap="square"/>
                    <a:lstStyle/>
                    <a:p>
                      <a:r>
                        <a:rPr sz="1050" b="0">
                          <a:solidFill>
                            <a:srgbClr val="222A35"/>
                          </a:solidFill>
                          <a:latin typeface="Arial"/>
                        </a:rPr>
                        <a:t>screenshot + Skill</a:t>
                      </a:r>
                    </a:p>
                  </a:txBody>
                  <a:tcPr marL="54864" marR="54864" marT="27432" marB="27432" anchor="ctr">
                    <a:solidFill>
                      <a:srgbClr val="FFFFFF"/>
                    </a:solidFill>
                  </a:tcPr>
                </a:tc>
                <a:tc>
                  <a:txBody>
                    <a:bodyPr wrap="square"/>
                    <a:lstStyle/>
                    <a:p>
                      <a:r>
                        <a:rPr sz="1050" b="0">
                          <a:solidFill>
                            <a:srgbClr val="222A35"/>
                          </a:solidFill>
                          <a:latin typeface="Arial"/>
                        </a:rPr>
                        <a:t>15 / 40</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2</a:t>
                      </a:r>
                    </a:p>
                  </a:txBody>
                  <a:tcPr marL="54864" marR="54864" marT="27432" marB="27432" anchor="ctr">
                    <a:solidFill>
                      <a:srgbClr val="FFFFFF"/>
                    </a:solidFill>
                  </a:tcPr>
                </a:tc>
                <a:tc>
                  <a:txBody>
                    <a:bodyPr wrap="square"/>
                    <a:lstStyle/>
                    <a:p>
                      <a:r>
                        <a:rPr sz="1050" b="0">
                          <a:solidFill>
                            <a:srgbClr val="222A35"/>
                          </a:solidFill>
                          <a:latin typeface="Arial"/>
                        </a:rPr>
                        <a:t>New file, name and extension, text, Save; then Simple SMS Messenger, number, the text, SMS button. 15 steps.</a:t>
                      </a:r>
                    </a:p>
                  </a:txBody>
                  <a:tcPr marL="54864" marR="54864" marT="27432" marB="27432" anchor="ctr">
                    <a:solidFill>
                      <a:srgbClr val="FFFFFF"/>
                    </a:solidFill>
                  </a:tcPr>
                </a:tc>
              </a:tr>
              <a:tr h="274320">
                <a:tc>
                  <a:txBody>
                    <a:bodyPr wrap="square"/>
                    <a:lstStyle/>
                    <a:p>
                      <a:r>
                        <a:rPr sz="1050" b="0">
                          <a:solidFill>
                            <a:srgbClr val="222A35"/>
                          </a:solidFill>
                          <a:latin typeface="Arial"/>
                        </a:rPr>
                        <a:t>OsmAndTrack</a:t>
                      </a:r>
                    </a:p>
                  </a:txBody>
                  <a:tcPr marL="54864" marR="54864" marT="27432" marB="27432" anchor="ctr">
                    <a:solidFill>
                      <a:srgbClr val="F2F5F9"/>
                    </a:solidFill>
                  </a:tcPr>
                </a:tc>
                <a:tc>
                  <a:txBody>
                    <a:bodyPr wrap="square"/>
                    <a:lstStyle/>
                    <a:p>
                      <a:r>
                        <a:rPr sz="1050" b="0" u="sng">
                          <a:solidFill>
                            <a:srgbClr val="0065BD"/>
                          </a:solidFill>
                          <a:latin typeface="Arial"/>
                          <a:hlinkClick r:id="rId6"/>
                        </a:rPr>
                        <a:t>1 of 3</a:t>
                      </a:r>
                    </a:p>
                  </a:txBody>
                  <a:tcPr marL="54864" marR="54864" marT="27432" marB="27432" anchor="ctr">
                    <a:solidFill>
                      <a:srgbClr val="F2F5F9"/>
                    </a:solidFill>
                  </a:tcPr>
                </a:tc>
                <a:tc>
                  <a:txBody>
                    <a:bodyPr wrap="square"/>
                    <a:lstStyle/>
                    <a:p>
                      <a:r>
                        <a:rPr sz="1050" b="0">
                          <a:solidFill>
                            <a:srgbClr val="222A35"/>
                          </a:solidFill>
                          <a:latin typeface="Arial"/>
                        </a:rPr>
                        <a:t>31</a:t>
                      </a:r>
                    </a:p>
                  </a:txBody>
                  <a:tcPr marL="54864" marR="54864" marT="27432" marB="27432" anchor="ctr">
                    <a:solidFill>
                      <a:srgbClr val="F2F5F9"/>
                    </a:solidFill>
                  </a:tcPr>
                </a:tc>
                <a:tc>
                  <a:txBody>
                    <a:bodyPr wrap="square"/>
                    <a:lstStyle/>
                    <a:p>
                      <a:r>
                        <a:rPr sz="1050" b="0">
                          <a:solidFill>
                            <a:srgbClr val="222A35"/>
                          </a:solidFill>
                          <a:latin typeface="Arial"/>
                        </a:rPr>
                        <a:t>screenshot + tree + Skill</a:t>
                      </a:r>
                    </a:p>
                  </a:txBody>
                  <a:tcPr marL="54864" marR="54864" marT="27432" marB="27432" anchor="ctr">
                    <a:solidFill>
                      <a:srgbClr val="F2F5F9"/>
                    </a:solidFill>
                  </a:tcPr>
                </a:tc>
                <a:tc>
                  <a:txBody>
                    <a:bodyPr wrap="square"/>
                    <a:lstStyle/>
                    <a:p>
                      <a:r>
                        <a:rPr sz="1050" b="0">
                          <a:solidFill>
                            <a:srgbClr val="222A35"/>
                          </a:solidFill>
                          <a:latin typeface="Arial"/>
                        </a:rPr>
                        <a:t>22 / 90</a:t>
                      </a:r>
                    </a:p>
                  </a:txBody>
                  <a:tcPr marL="54864" marR="54864" marT="27432" marB="27432" anchor="ctr">
                    <a:solidFill>
                      <a:srgbClr val="F2F5F9"/>
                    </a:solidFill>
                  </a:tcPr>
                </a:tc>
                <a:tc>
                  <a:txBody>
                    <a:bodyPr wrap="square"/>
                    <a:lstStyle/>
                    <a:p>
                      <a:r>
                        <a:rPr sz="1050" b="0">
                          <a:solidFill>
                            <a:srgbClr val="222A35"/>
                          </a:solidFill>
                          <a:latin typeface="Arial"/>
                        </a:rPr>
                        <a:t>PASS</a:t>
                      </a:r>
                    </a:p>
                  </a:txBody>
                  <a:tcPr marL="54864" marR="54864" marT="27432" marB="27432" anchor="ctr">
                    <a:solidFill>
                      <a:srgbClr val="F2F5F9"/>
                    </a:solidFill>
                  </a:tcPr>
                </a:tc>
                <a:tc>
                  <a:txBody>
                    <a:bodyPr wrap="square"/>
                    <a:lstStyle/>
                    <a:p>
                      <a:r>
                        <a:rPr sz="1050" b="0">
                          <a:solidFill>
                            <a:srgbClr val="222A35"/>
                          </a:solidFill>
                          <a:latin typeface="Arial"/>
                        </a:rPr>
                        <a:t>—</a:t>
                      </a:r>
                    </a:p>
                  </a:txBody>
                  <a:tcPr marL="54864" marR="54864" marT="27432" marB="27432" anchor="ctr">
                    <a:solidFill>
                      <a:srgbClr val="F2F5F9"/>
                    </a:solidFill>
                  </a:tcPr>
                </a:tc>
                <a:tc>
                  <a:txBody>
                    <a:bodyPr wrap="square"/>
                    <a:lstStyle/>
                    <a:p>
                      <a:r>
                        <a:rPr sz="1050" b="0">
                          <a:solidFill>
                            <a:srgbClr val="222A35"/>
                          </a:solidFill>
                          <a:latin typeface="Arial"/>
                        </a:rPr>
                        <a:t>4</a:t>
                      </a:r>
                    </a:p>
                  </a:txBody>
                  <a:tcPr marL="54864" marR="54864" marT="27432" marB="27432" anchor="ctr">
                    <a:solidFill>
                      <a:srgbClr val="F2F5F9"/>
                    </a:solidFill>
                  </a:tcPr>
                </a:tc>
                <a:tc>
                  <a:txBody>
                    <a:bodyPr wrap="square"/>
                    <a:lstStyle/>
                    <a:p>
                      <a:r>
                        <a:rPr sz="1050" b="0">
                          <a:solidFill>
                            <a:srgbClr val="222A35"/>
                          </a:solidFill>
                          <a:latin typeface="Arial"/>
                        </a:rPr>
                        <a:t>Before the run the runner restored OsmAnd's map (the Files runs had cleared storage). Three radius increases and one scroll found the Ruggell village; Actions &gt; Plan a route; searched Bendern, SHOW ON THE MAP, Back x3, Add, Done. The Favorite button and one unfocused Type were refused.</a:t>
                      </a:r>
                    </a:p>
                  </a:txBody>
                  <a:tcPr marL="54864" marR="54864" marT="27432" marB="27432" anchor="ctr">
                    <a:solidFill>
                      <a:srgbClr val="F2F5F9"/>
                    </a:solidFill>
                  </a:tcPr>
                </a:tc>
              </a:tr>
              <a:tr h="274320">
                <a:tc>
                  <a:txBody>
                    <a:bodyPr wrap="square"/>
                    <a:lstStyle/>
                    <a:p>
                      <a:r>
                        <a:rPr sz="1050" b="0">
                          <a:solidFill>
                            <a:srgbClr val="222A35"/>
                          </a:solidFill>
                          <a:latin typeface="Arial"/>
                        </a:rPr>
                        <a:t>OsmAndTrack</a:t>
                      </a:r>
                    </a:p>
                  </a:txBody>
                  <a:tcPr marL="54864" marR="54864" marT="27432" marB="27432" anchor="ctr">
                    <a:solidFill>
                      <a:srgbClr val="FFFFFF"/>
                    </a:solidFill>
                  </a:tcPr>
                </a:tc>
                <a:tc>
                  <a:txBody>
                    <a:bodyPr wrap="square"/>
                    <a:lstStyle/>
                    <a:p>
                      <a:r>
                        <a:rPr sz="1050" b="0" u="sng">
                          <a:solidFill>
                            <a:srgbClr val="0065BD"/>
                          </a:solidFill>
                          <a:latin typeface="Arial"/>
                          <a:hlinkClick r:id="rId7"/>
                        </a:rPr>
                        <a:t>2 of 3</a:t>
                      </a:r>
                    </a:p>
                  </a:txBody>
                  <a:tcPr marL="54864" marR="54864" marT="27432" marB="27432" anchor="ctr">
                    <a:solidFill>
                      <a:srgbClr val="FFFFFF"/>
                    </a:solidFill>
                  </a:tcPr>
                </a:tc>
                <a:tc>
                  <a:txBody>
                    <a:bodyPr wrap="square"/>
                    <a:lstStyle/>
                    <a:p>
                      <a:r>
                        <a:rPr sz="1050" b="0">
                          <a:solidFill>
                            <a:srgbClr val="222A35"/>
                          </a:solidFill>
                          <a:latin typeface="Arial"/>
                        </a:rPr>
                        <a:t>314</a:t>
                      </a:r>
                    </a:p>
                  </a:txBody>
                  <a:tcPr marL="54864" marR="54864" marT="27432" marB="27432" anchor="ctr">
                    <a:solidFill>
                      <a:srgbClr val="FFFFFF"/>
                    </a:solidFill>
                  </a:tcPr>
                </a:tc>
                <a:tc>
                  <a:txBody>
                    <a:bodyPr wrap="square"/>
                    <a:lstStyle/>
                    <a:p>
                      <a:r>
                        <a:rPr sz="1050" b="0">
                          <a:solidFill>
                            <a:srgbClr val="222A35"/>
                          </a:solidFill>
                          <a:latin typeface="Arial"/>
                        </a:rPr>
                        <a:t>screenshot + tree + Skill</a:t>
                      </a:r>
                    </a:p>
                  </a:txBody>
                  <a:tcPr marL="54864" marR="54864" marT="27432" marB="27432" anchor="ctr">
                    <a:solidFill>
                      <a:srgbClr val="FFFFFF"/>
                    </a:solidFill>
                  </a:tcPr>
                </a:tc>
                <a:tc>
                  <a:txBody>
                    <a:bodyPr wrap="square"/>
                    <a:lstStyle/>
                    <a:p>
                      <a:r>
                        <a:rPr sz="1050" b="0">
                          <a:solidFill>
                            <a:srgbClr val="222A35"/>
                          </a:solidFill>
                          <a:latin typeface="Arial"/>
                        </a:rPr>
                        <a:t>23 / 90</a:t>
                      </a:r>
                    </a:p>
                  </a:txBody>
                  <a:tcPr marL="54864" marR="54864" marT="27432" marB="27432" anchor="ctr">
                    <a:solidFill>
                      <a:srgbClr val="FFFFFF"/>
                    </a:solidFill>
                  </a:tcPr>
                </a:tc>
                <a:tc>
                  <a:txBody>
                    <a:bodyPr wrap="square"/>
                    <a:lstStyle/>
                    <a:p>
                      <a:r>
                        <a:rPr sz="1050" b="0">
                          <a:solidFill>
                            <a:srgbClr val="222A35"/>
                          </a:solidFill>
                          <a:latin typeface="Arial"/>
                        </a:rPr>
                        <a:t>PASS</a:t>
                      </a:r>
                    </a:p>
                  </a:txBody>
                  <a:tcPr marL="54864" marR="54864" marT="27432" marB="27432" anchor="ctr">
                    <a:solidFill>
                      <a:srgbClr val="FFFFFF"/>
                    </a:solidFill>
                  </a:tcPr>
                </a:tc>
                <a:tc>
                  <a:txBody>
                    <a:bodyPr wrap="square"/>
                    <a:lstStyle/>
                    <a:p>
                      <a:r>
                        <a:rPr sz="1050" b="0">
                          <a:solidFill>
                            <a:srgbClr val="222A35"/>
                          </a:solidFill>
                          <a:latin typeface="Arial"/>
                        </a:rPr>
                        <a:t>—</a:t>
                      </a:r>
                    </a:p>
                  </a:txBody>
                  <a:tcPr marL="54864" marR="54864" marT="27432" marB="27432" anchor="ctr">
                    <a:solidFill>
                      <a:srgbClr val="FFFFFF"/>
                    </a:solidFill>
                  </a:tcPr>
                </a:tc>
                <a:tc>
                  <a:txBody>
                    <a:bodyPr wrap="square"/>
                    <a:lstStyle/>
                    <a:p>
                      <a:r>
                        <a:rPr sz="1050" b="0">
                          <a:solidFill>
                            <a:srgbClr val="222A35"/>
                          </a:solidFill>
                          <a:latin typeface="Arial"/>
                        </a:rPr>
                        <a:t>3</a:t>
                      </a:r>
                    </a:p>
                  </a:txBody>
                  <a:tcPr marL="54864" marR="54864" marT="27432" marB="27432" anchor="ctr">
                    <a:solidFill>
                      <a:srgbClr val="FFFFFF"/>
                    </a:solidFill>
                  </a:tcPr>
                </a:tc>
                <a:tc>
                  <a:txBody>
                    <a:bodyPr wrap="square"/>
                    <a:lstStyle/>
                    <a:p>
                      <a:r>
                        <a:rPr sz="1050" b="0">
                          <a:solidFill>
                            <a:srgbClr val="222A35"/>
                          </a:solidFill>
                          <a:latin typeface="Arial"/>
                        </a:rPr>
                        <a:t>Same procedure as run 1; the accessibility service's “keeps stopping” dialog appeared and the model closed it; one unfocused Type was refused. Shown on slide 10.</a:t>
                      </a:r>
                    </a:p>
                  </a:txBody>
                  <a:tcPr marL="54864" marR="54864" marT="27432" marB="27432" anchor="ctr">
                    <a:solidFill>
                      <a:srgbClr val="FFFFFF"/>
                    </a:solidFill>
                  </a:tcPr>
                </a:tc>
              </a:tr>
              <a:tr h="274320">
                <a:tc>
                  <a:txBody>
                    <a:bodyPr wrap="square"/>
                    <a:lstStyle/>
                    <a:p>
                      <a:r>
                        <a:rPr sz="1050" b="0">
                          <a:solidFill>
                            <a:srgbClr val="222A35"/>
                          </a:solidFill>
                          <a:latin typeface="Arial"/>
                        </a:rPr>
                        <a:t>OsmAndTrack</a:t>
                      </a:r>
                    </a:p>
                  </a:txBody>
                  <a:tcPr marL="54864" marR="54864" marT="27432" marB="27432" anchor="ctr">
                    <a:solidFill>
                      <a:srgbClr val="F2F5F9"/>
                    </a:solidFill>
                  </a:tcPr>
                </a:tc>
                <a:tc>
                  <a:txBody>
                    <a:bodyPr wrap="square"/>
                    <a:lstStyle/>
                    <a:p>
                      <a:r>
                        <a:rPr sz="1050" b="0" u="sng">
                          <a:solidFill>
                            <a:srgbClr val="0065BD"/>
                          </a:solidFill>
                          <a:latin typeface="Arial"/>
                          <a:hlinkClick r:id="rId8"/>
                        </a:rPr>
                        <a:t>3 of 3</a:t>
                      </a:r>
                    </a:p>
                  </a:txBody>
                  <a:tcPr marL="54864" marR="54864" marT="27432" marB="27432" anchor="ctr">
                    <a:solidFill>
                      <a:srgbClr val="F2F5F9"/>
                    </a:solidFill>
                  </a:tcPr>
                </a:tc>
                <a:tc>
                  <a:txBody>
                    <a:bodyPr wrap="square"/>
                    <a:lstStyle/>
                    <a:p>
                      <a:r>
                        <a:rPr sz="1050" b="0">
                          <a:solidFill>
                            <a:srgbClr val="222A35"/>
                          </a:solidFill>
                          <a:latin typeface="Arial"/>
                        </a:rPr>
                        <a:t>366</a:t>
                      </a:r>
                    </a:p>
                  </a:txBody>
                  <a:tcPr marL="54864" marR="54864" marT="27432" marB="27432" anchor="ctr">
                    <a:solidFill>
                      <a:srgbClr val="F2F5F9"/>
                    </a:solidFill>
                  </a:tcPr>
                </a:tc>
                <a:tc>
                  <a:txBody>
                    <a:bodyPr wrap="square"/>
                    <a:lstStyle/>
                    <a:p>
                      <a:r>
                        <a:rPr sz="1050" b="0">
                          <a:solidFill>
                            <a:srgbClr val="222A35"/>
                          </a:solidFill>
                          <a:latin typeface="Arial"/>
                        </a:rPr>
                        <a:t>screenshot + tree + Skill</a:t>
                      </a:r>
                    </a:p>
                  </a:txBody>
                  <a:tcPr marL="54864" marR="54864" marT="27432" marB="27432" anchor="ctr">
                    <a:solidFill>
                      <a:srgbClr val="F2F5F9"/>
                    </a:solidFill>
                  </a:tcPr>
                </a:tc>
                <a:tc>
                  <a:txBody>
                    <a:bodyPr wrap="square"/>
                    <a:lstStyle/>
                    <a:p>
                      <a:r>
                        <a:rPr sz="1050" b="0">
                          <a:solidFill>
                            <a:srgbClr val="222A35"/>
                          </a:solidFill>
                          <a:latin typeface="Arial"/>
                        </a:rPr>
                        <a:t>16 / 90</a:t>
                      </a:r>
                    </a:p>
                  </a:txBody>
                  <a:tcPr marL="54864" marR="54864" marT="27432" marB="27432" anchor="ctr">
                    <a:solidFill>
                      <a:srgbClr val="F2F5F9"/>
                    </a:solidFill>
                  </a:tcPr>
                </a:tc>
                <a:tc>
                  <a:txBody>
                    <a:bodyPr wrap="square"/>
                    <a:lstStyle/>
                    <a:p>
                      <a:r>
                        <a:rPr sz="1050" b="1">
                          <a:solidFill>
                            <a:srgbClr val="FFFFFF"/>
                          </a:solidFill>
                          <a:latin typeface="Arial"/>
                        </a:rPr>
                        <a:t>FAIL</a:t>
                      </a:r>
                    </a:p>
                  </a:txBody>
                  <a:tcPr marL="54864" marR="54864" marT="27432" marB="27432" anchor="ctr">
                    <a:solidFill>
                      <a:srgbClr val="E37222"/>
                    </a:solidFill>
                  </a:tcPr>
                </a:tc>
                <a:tc>
                  <a:txBody>
                    <a:bodyPr wrap="square"/>
                    <a:lstStyle/>
                    <a:p>
                      <a:r>
                        <a:rPr sz="1050" b="0">
                          <a:solidFill>
                            <a:srgbClr val="222A35"/>
                          </a:solidFill>
                          <a:latin typeface="Arial"/>
                        </a:rPr>
                        <a:t>grounding</a:t>
                      </a:r>
                    </a:p>
                  </a:txBody>
                  <a:tcPr marL="54864" marR="54864" marT="27432" marB="27432" anchor="ctr">
                    <a:solidFill>
                      <a:srgbClr val="FCECE0"/>
                    </a:solidFill>
                  </a:tcPr>
                </a:tc>
                <a:tc>
                  <a:txBody>
                    <a:bodyPr wrap="square"/>
                    <a:lstStyle/>
                    <a:p>
                      <a:r>
                        <a:rPr sz="1050" b="0">
                          <a:solidFill>
                            <a:srgbClr val="222A35"/>
                          </a:solidFill>
                          <a:latin typeface="Arial"/>
                        </a:rPr>
                        <a:t>2</a:t>
                      </a:r>
                    </a:p>
                  </a:txBody>
                  <a:tcPr marL="54864" marR="54864" marT="27432" marB="27432" anchor="ctr">
                    <a:solidFill>
                      <a:srgbClr val="F2F5F9"/>
                    </a:solidFill>
                  </a:tcPr>
                </a:tc>
                <a:tc>
                  <a:txBody>
                    <a:bodyPr wrap="square"/>
                    <a:lstStyle/>
                    <a:p>
                      <a:r>
                        <a:rPr sz="1050" b="0">
                          <a:solidFill>
                            <a:srgbClr val="222A35"/>
                          </a:solidFill>
                          <a:latin typeface="Arial"/>
                        </a:rPr>
                        <a:t>Ruggell became route point 1 and the crash dialog was closed; in the second search the code stated “Tap Clear at [941, 83]” but the model tapped [941, 57], the top edge of the button, three times with no effect. No-progress stop.</a:t>
                      </a:r>
                    </a:p>
                  </a:txBody>
                  <a:tcPr marL="54864" marR="54864" marT="27432" marB="27432" anchor="ctr">
                    <a:solidFill>
                      <a:srgbClr val="F2F5F9"/>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All 21 evaluation runs at once (sped up)</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15</a:t>
            </a:r>
          </a:p>
        </p:txBody>
      </p:sp>
      <p:pic>
        <p:nvPicPr>
          <p:cNvPr id="9" name="wall_21_run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40080" y="1371600"/>
            <a:ext cx="5232654" cy="4983480"/>
          </a:xfrm>
          <a:prstGeom prst="rect">
            <a:avLst/>
          </a:prstGeom>
        </p:spPr>
      </p:pic>
      <p:sp>
        <p:nvSpPr>
          <p:cNvPr id="10" name="Rectangle 9"/>
          <p:cNvSpPr/>
          <p:nvPr/>
        </p:nvSpPr>
        <p:spPr>
          <a:xfrm>
            <a:off x="6263640" y="1371600"/>
            <a:ext cx="5303520" cy="49834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263640" y="1371600"/>
            <a:ext cx="54864" cy="498348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28231" y="1463040"/>
            <a:ext cx="5047488" cy="365760"/>
          </a:xfrm>
          <a:prstGeom prst="rect">
            <a:avLst/>
          </a:prstGeom>
          <a:noFill/>
        </p:spPr>
        <p:txBody>
          <a:bodyPr wrap="square" anchor="t" lIns="73152" rIns="73152">
            <a:spAutoFit/>
          </a:bodyPr>
          <a:lstStyle/>
          <a:p>
            <a:pPr algn="l">
              <a:lnSpc>
                <a:spcPct val="110000"/>
              </a:lnSpc>
            </a:pPr>
            <a:r>
              <a:rPr sz="2000" b="1" i="0">
                <a:solidFill>
                  <a:srgbClr val="072140"/>
                </a:solidFill>
                <a:latin typeface="Arial"/>
              </a:rPr>
              <a:t>How to read it</a:t>
            </a:r>
          </a:p>
        </p:txBody>
      </p:sp>
      <p:sp>
        <p:nvSpPr>
          <p:cNvPr id="13" name="TextBox 12"/>
          <p:cNvSpPr txBox="1"/>
          <p:nvPr/>
        </p:nvSpPr>
        <p:spPr>
          <a:xfrm>
            <a:off x="6428231" y="1874519"/>
            <a:ext cx="5029200" cy="4434840"/>
          </a:xfrm>
          <a:prstGeom prst="rect">
            <a:avLst/>
          </a:prstGeom>
          <a:noFill/>
        </p:spPr>
        <p:txBody>
          <a:bodyPr wrap="square">
            <a:spAutoFit/>
          </a:bodyPr>
          <a:lstStyle/>
          <a:p>
            <a:pPr>
              <a:lnSpc>
                <a:spcPct val="108000"/>
              </a:lnSpc>
              <a:spcAft>
                <a:spcPts val="300"/>
              </a:spcAft>
            </a:pPr>
            <a:r>
              <a:rPr sz="1700">
                <a:solidFill>
                  <a:srgbClr val="0065BD"/>
                </a:solidFill>
                <a:latin typeface="Arial"/>
              </a:rPr>
              <a:t>▪  </a:t>
            </a:r>
            <a:r>
              <a:rPr sz="1700" b="0">
                <a:solidFill>
                  <a:srgbClr val="222A35"/>
                </a:solidFill>
                <a:latin typeface="Arial"/>
              </a:rPr>
              <a:t>Columns: Wi-Fi, Contacts, SMS, Files, Calendar, Markor + SMS, OsmAnd</a:t>
            </a:r>
          </a:p>
          <a:p>
            <a:pPr>
              <a:lnSpc>
                <a:spcPct val="108000"/>
              </a:lnSpc>
              <a:spcAft>
                <a:spcPts val="300"/>
              </a:spcAft>
            </a:pPr>
            <a:r>
              <a:rPr sz="1700">
                <a:solidFill>
                  <a:srgbClr val="0065BD"/>
                </a:solidFill>
                <a:latin typeface="Arial"/>
              </a:rPr>
              <a:t>▪  </a:t>
            </a:r>
            <a:r>
              <a:rPr sz="1700" b="0">
                <a:solidFill>
                  <a:srgbClr val="222A35"/>
                </a:solidFill>
                <a:latin typeface="Arial"/>
              </a:rPr>
              <a:t>Rows: run 1, 2, 3 (seeds 42 / 43 / 44; OsmAnd 31 / 314 / 366)</a:t>
            </a:r>
          </a:p>
          <a:p>
            <a:pPr>
              <a:lnSpc>
                <a:spcPct val="108000"/>
              </a:lnSpc>
              <a:spcAft>
                <a:spcPts val="300"/>
              </a:spcAft>
            </a:pPr>
            <a:r>
              <a:rPr sz="1700">
                <a:solidFill>
                  <a:srgbClr val="0065BD"/>
                </a:solidFill>
                <a:latin typeface="Arial"/>
              </a:rPr>
              <a:t>▪  </a:t>
            </a:r>
            <a:r>
              <a:rPr sz="1700" b="0">
                <a:solidFill>
                  <a:srgbClr val="222A35"/>
                </a:solidFill>
                <a:latin typeface="Arial"/>
              </a:rPr>
              <a:t>Label: verdict and speed-up (x2 = twice as fast)</a:t>
            </a:r>
          </a:p>
          <a:p>
            <a:pPr>
              <a:lnSpc>
                <a:spcPct val="108000"/>
              </a:lnSpc>
              <a:spcAft>
                <a:spcPts val="300"/>
              </a:spcAft>
            </a:pPr>
            <a:r>
              <a:rPr sz="1700">
                <a:solidFill>
                  <a:srgbClr val="0065BD"/>
                </a:solidFill>
                <a:latin typeface="Arial"/>
              </a:rPr>
              <a:t>▪  </a:t>
            </a:r>
            <a:r>
              <a:rPr sz="1700" b="0">
                <a:solidFill>
                  <a:srgbClr val="222A35"/>
                </a:solidFill>
                <a:latin typeface="Arial"/>
              </a:rPr>
              <a:t>Each clip stops on its final screen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Same task, two seeds: one success, one failure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16</a:t>
            </a:r>
          </a:p>
        </p:txBody>
      </p:sp>
      <p:pic>
        <p:nvPicPr>
          <p:cNvPr id="9" name="featured_files_pas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88720" y="1417320"/>
            <a:ext cx="2240280" cy="4983480"/>
          </a:xfrm>
          <a:prstGeom prst="rect">
            <a:avLst/>
          </a:prstGeom>
        </p:spPr>
      </p:pic>
      <p:pic>
        <p:nvPicPr>
          <p:cNvPr id="10" name="featured_files_fail.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6355080" y="1417320"/>
            <a:ext cx="2240280" cy="4983480"/>
          </a:xfrm>
          <a:prstGeom prst="rect">
            <a:avLst/>
          </a:prstGeom>
        </p:spPr>
      </p:pic>
      <p:sp>
        <p:nvSpPr>
          <p:cNvPr id="11" name="Rectangle 10"/>
          <p:cNvSpPr/>
          <p:nvPr/>
        </p:nvSpPr>
        <p:spPr>
          <a:xfrm>
            <a:off x="3611880" y="1417320"/>
            <a:ext cx="251460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11880" y="1417320"/>
            <a:ext cx="54864" cy="3291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76472" y="1508760"/>
            <a:ext cx="2258568" cy="365760"/>
          </a:xfrm>
          <a:prstGeom prst="rect">
            <a:avLst/>
          </a:prstGeom>
          <a:noFill/>
        </p:spPr>
        <p:txBody>
          <a:bodyPr wrap="square" anchor="t" lIns="73152" rIns="73152">
            <a:spAutoFit/>
          </a:bodyPr>
          <a:lstStyle/>
          <a:p>
            <a:pPr algn="l">
              <a:lnSpc>
                <a:spcPct val="110000"/>
              </a:lnSpc>
            </a:pPr>
            <a:r>
              <a:rPr sz="2000" b="1" i="0">
                <a:solidFill>
                  <a:srgbClr val="072140"/>
                </a:solidFill>
                <a:latin typeface="Arial"/>
              </a:rPr>
              <a:t>Success</a:t>
            </a:r>
          </a:p>
        </p:txBody>
      </p:sp>
      <p:sp>
        <p:nvSpPr>
          <p:cNvPr id="14" name="TextBox 13"/>
          <p:cNvSpPr txBox="1"/>
          <p:nvPr/>
        </p:nvSpPr>
        <p:spPr>
          <a:xfrm>
            <a:off x="3776472" y="1920240"/>
            <a:ext cx="2240280" cy="274320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Files, seed 42</a:t>
            </a:r>
          </a:p>
          <a:p>
            <a:pPr>
              <a:lnSpc>
                <a:spcPct val="108000"/>
              </a:lnSpc>
              <a:spcAft>
                <a:spcPts val="300"/>
              </a:spcAft>
            </a:pPr>
            <a:r>
              <a:rPr sz="1500">
                <a:solidFill>
                  <a:srgbClr val="0065BD"/>
                </a:solidFill>
                <a:latin typeface="Arial"/>
              </a:rPr>
              <a:t>▪  </a:t>
            </a:r>
            <a:r>
              <a:rPr sz="1500" b="0">
                <a:solidFill>
                  <a:srgbClr val="222A35"/>
                </a:solidFill>
                <a:latin typeface="Arial"/>
              </a:rPr>
              <a:t>17 steps, PASS</a:t>
            </a:r>
          </a:p>
          <a:p>
            <a:pPr>
              <a:lnSpc>
                <a:spcPct val="108000"/>
              </a:lnSpc>
              <a:spcAft>
                <a:spcPts val="300"/>
              </a:spcAft>
            </a:pPr>
            <a:r>
              <a:rPr sz="1500">
                <a:solidFill>
                  <a:srgbClr val="0065BD"/>
                </a:solidFill>
                <a:latin typeface="Arial"/>
              </a:rPr>
              <a:t>▪  </a:t>
            </a:r>
            <a:r>
              <a:rPr sz="1500" b="0">
                <a:solidFill>
                  <a:srgbClr val="222A35"/>
                </a:solidFill>
                <a:latin typeface="Arial"/>
              </a:rPr>
              <a:t>Chose the file whose full name was visible</a:t>
            </a:r>
          </a:p>
          <a:p>
            <a:pPr>
              <a:lnSpc>
                <a:spcPct val="108000"/>
              </a:lnSpc>
              <a:spcAft>
                <a:spcPts val="300"/>
              </a:spcAft>
            </a:pPr>
            <a:r>
              <a:rPr sz="1500">
                <a:solidFill>
                  <a:srgbClr val="0065BD"/>
                </a:solidFill>
                <a:latin typeface="Arial"/>
              </a:rPr>
              <a:t>▪  </a:t>
            </a:r>
            <a:r>
              <a:rPr sz="1500" b="0">
                <a:solidFill>
                  <a:srgbClr val="222A35"/>
                </a:solidFill>
                <a:latin typeface="Arial"/>
              </a:rPr>
              <a:t>x3 speed</a:t>
            </a:r>
          </a:p>
        </p:txBody>
      </p:sp>
      <p:sp>
        <p:nvSpPr>
          <p:cNvPr id="15" name="Rectangle 14"/>
          <p:cNvSpPr/>
          <p:nvPr/>
        </p:nvSpPr>
        <p:spPr>
          <a:xfrm>
            <a:off x="8778240" y="1417320"/>
            <a:ext cx="278892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778240" y="1417320"/>
            <a:ext cx="54864" cy="329184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42832" y="1508760"/>
            <a:ext cx="2532887" cy="365760"/>
          </a:xfrm>
          <a:prstGeom prst="rect">
            <a:avLst/>
          </a:prstGeom>
          <a:noFill/>
        </p:spPr>
        <p:txBody>
          <a:bodyPr wrap="square" anchor="t" lIns="73152" rIns="73152">
            <a:spAutoFit/>
          </a:bodyPr>
          <a:lstStyle/>
          <a:p>
            <a:pPr algn="l">
              <a:lnSpc>
                <a:spcPct val="110000"/>
              </a:lnSpc>
            </a:pPr>
            <a:r>
              <a:rPr sz="2000" b="1" i="0">
                <a:solidFill>
                  <a:srgbClr val="072140"/>
                </a:solidFill>
                <a:latin typeface="Arial"/>
              </a:rPr>
              <a:t>Failure</a:t>
            </a:r>
          </a:p>
        </p:txBody>
      </p:sp>
      <p:sp>
        <p:nvSpPr>
          <p:cNvPr id="18" name="TextBox 17"/>
          <p:cNvSpPr txBox="1"/>
          <p:nvPr/>
        </p:nvSpPr>
        <p:spPr>
          <a:xfrm>
            <a:off x="8942832" y="1920240"/>
            <a:ext cx="2514600" cy="274320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Files, seed 43</a:t>
            </a:r>
          </a:p>
          <a:p>
            <a:pPr>
              <a:lnSpc>
                <a:spcPct val="108000"/>
              </a:lnSpc>
              <a:spcAft>
                <a:spcPts val="300"/>
              </a:spcAft>
            </a:pPr>
            <a:r>
              <a:rPr sz="1500">
                <a:solidFill>
                  <a:srgbClr val="0065BD"/>
                </a:solidFill>
                <a:latin typeface="Arial"/>
              </a:rPr>
              <a:t>▪  </a:t>
            </a:r>
            <a:r>
              <a:rPr sz="1500" b="0">
                <a:solidFill>
                  <a:srgbClr val="222A35"/>
                </a:solidFill>
                <a:latin typeface="Arial"/>
              </a:rPr>
              <a:t>13 steps, FAIL</a:t>
            </a:r>
          </a:p>
          <a:p>
            <a:pPr>
              <a:lnSpc>
                <a:spcPct val="108000"/>
              </a:lnSpc>
              <a:spcAft>
                <a:spcPts val="300"/>
              </a:spcAft>
            </a:pPr>
            <a:r>
              <a:rPr sz="1500">
                <a:solidFill>
                  <a:srgbClr val="0065BD"/>
                </a:solidFill>
                <a:latin typeface="Arial"/>
              </a:rPr>
              <a:t>▪  </a:t>
            </a:r>
            <a:r>
              <a:rPr sz="1500" b="0">
                <a:solidFill>
                  <a:srgbClr val="222A35"/>
                </a:solidFill>
                <a:latin typeface="Arial"/>
              </a:rPr>
              <a:t>Moved a look-alike file, then said done</a:t>
            </a:r>
          </a:p>
          <a:p>
            <a:pPr>
              <a:lnSpc>
                <a:spcPct val="108000"/>
              </a:lnSpc>
              <a:spcAft>
                <a:spcPts val="300"/>
              </a:spcAft>
            </a:pPr>
            <a:r>
              <a:rPr sz="1500">
                <a:solidFill>
                  <a:srgbClr val="0065BD"/>
                </a:solidFill>
                <a:latin typeface="Arial"/>
              </a:rPr>
              <a:t>▪  </a:t>
            </a:r>
            <a:r>
              <a:rPr sz="1500" b="0">
                <a:solidFill>
                  <a:srgbClr val="222A35"/>
                </a:solidFill>
                <a:latin typeface="Arial"/>
              </a:rPr>
              <a:t>x3 speed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video>
              <p:cMediaNode vol="80000">
                <p:cTn id="3" fill="hold" display="0">
                  <p:stCondLst>
                    <p:cond delay="indefinite"/>
                  </p:stCondLst>
                </p:cTn>
                <p:tgtEl>
                  <p:spTgt spid="10"/>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E37222"/>
                </a:solidFill>
                <a:latin typeface="Arial"/>
              </a:rPr>
              <a:t>FAILURE ANALYSIS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How 275 project runs ended: the setup failed most often</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17</a:t>
            </a:r>
          </a:p>
        </p:txBody>
      </p:sp>
      <p:graphicFrame>
        <p:nvGraphicFramePr>
          <p:cNvPr id="9" name="Chart 8"/>
          <p:cNvGraphicFramePr>
            <a:graphicFrameLocks noGrp="1"/>
          </p:cNvGraphicFramePr>
          <p:nvPr/>
        </p:nvGraphicFramePr>
        <p:xfrm>
          <a:off x="640080" y="1463040"/>
          <a:ext cx="6766560" cy="4846320"/>
        </p:xfrm>
        <a:graphic>
          <a:graphicData uri="http://schemas.openxmlformats.org/drawingml/2006/chart">
            <c:chart xmlns:c="http://schemas.openxmlformats.org/drawingml/2006/chart" r:id="rId3"/>
          </a:graphicData>
        </a:graphic>
      </p:graphicFrame>
      <p:sp>
        <p:nvSpPr>
          <p:cNvPr id="10" name="Rectangle 9"/>
          <p:cNvSpPr/>
          <p:nvPr/>
        </p:nvSpPr>
        <p:spPr>
          <a:xfrm>
            <a:off x="7726679" y="1554480"/>
            <a:ext cx="3840480" cy="44805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726679" y="1554480"/>
            <a:ext cx="54864" cy="448056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91271" y="1645920"/>
            <a:ext cx="358444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The five failure classes (D1 p.50)</a:t>
            </a:r>
          </a:p>
        </p:txBody>
      </p:sp>
      <p:sp>
        <p:nvSpPr>
          <p:cNvPr id="13" name="TextBox 12"/>
          <p:cNvSpPr txBox="1"/>
          <p:nvPr/>
        </p:nvSpPr>
        <p:spPr>
          <a:xfrm>
            <a:off x="7891271" y="2057400"/>
            <a:ext cx="3566160" cy="393192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1">
                <a:solidFill>
                  <a:srgbClr val="222A35"/>
                </a:solidFill>
                <a:latin typeface="Arial"/>
              </a:rPr>
              <a:t>grounding</a:t>
            </a:r>
            <a:r>
              <a:rPr sz="1500" b="0">
                <a:solidFill>
                  <a:srgbClr val="222A35"/>
                </a:solidFill>
                <a:latin typeface="Arial"/>
              </a:rPr>
              <a:t>: the tap lands on nothing</a:t>
            </a:r>
          </a:p>
          <a:p>
            <a:pPr>
              <a:lnSpc>
                <a:spcPct val="108000"/>
              </a:lnSpc>
              <a:spcAft>
                <a:spcPts val="300"/>
              </a:spcAft>
            </a:pPr>
            <a:r>
              <a:rPr sz="1500">
                <a:solidFill>
                  <a:srgbClr val="0065BD"/>
                </a:solidFill>
                <a:latin typeface="Arial"/>
              </a:rPr>
              <a:t>▪  </a:t>
            </a:r>
            <a:r>
              <a:rPr sz="1500" b="1">
                <a:solidFill>
                  <a:srgbClr val="222A35"/>
                </a:solidFill>
                <a:latin typeface="Arial"/>
              </a:rPr>
              <a:t>too_early</a:t>
            </a:r>
            <a:r>
              <a:rPr sz="1500" b="0">
                <a:solidFill>
                  <a:srgbClr val="222A35"/>
                </a:solidFill>
                <a:latin typeface="Arial"/>
              </a:rPr>
              <a:t>: acting on a loading screen</a:t>
            </a:r>
          </a:p>
          <a:p>
            <a:pPr>
              <a:lnSpc>
                <a:spcPct val="108000"/>
              </a:lnSpc>
              <a:spcAft>
                <a:spcPts val="300"/>
              </a:spcAft>
            </a:pPr>
            <a:r>
              <a:rPr sz="1500">
                <a:solidFill>
                  <a:srgbClr val="0065BD"/>
                </a:solidFill>
                <a:latin typeface="Arial"/>
              </a:rPr>
              <a:t>▪  </a:t>
            </a:r>
            <a:r>
              <a:rPr sz="1500" b="1">
                <a:solidFill>
                  <a:srgbClr val="222A35"/>
                </a:solidFill>
                <a:latin typeface="Arial"/>
              </a:rPr>
              <a:t>lost_value</a:t>
            </a:r>
            <a:r>
              <a:rPr sz="1500" b="0">
                <a:solidFill>
                  <a:srgbClr val="222A35"/>
                </a:solidFill>
                <a:latin typeface="Arial"/>
              </a:rPr>
              <a:t>: a value is lost or invented</a:t>
            </a:r>
          </a:p>
          <a:p>
            <a:pPr>
              <a:lnSpc>
                <a:spcPct val="108000"/>
              </a:lnSpc>
              <a:spcAft>
                <a:spcPts val="300"/>
              </a:spcAft>
            </a:pPr>
            <a:r>
              <a:rPr sz="1500">
                <a:solidFill>
                  <a:srgbClr val="0065BD"/>
                </a:solidFill>
                <a:latin typeface="Arial"/>
              </a:rPr>
              <a:t>▪  </a:t>
            </a:r>
            <a:r>
              <a:rPr sz="1500" b="1">
                <a:solidFill>
                  <a:srgbClr val="222A35"/>
                </a:solidFill>
                <a:latin typeface="Arial"/>
              </a:rPr>
              <a:t>wrong_app</a:t>
            </a:r>
            <a:r>
              <a:rPr sz="1500" b="0">
                <a:solidFill>
                  <a:srgbClr val="222A35"/>
                </a:solidFill>
                <a:latin typeface="Arial"/>
              </a:rPr>
              <a:t>: the wrong app is used</a:t>
            </a:r>
          </a:p>
          <a:p>
            <a:pPr>
              <a:lnSpc>
                <a:spcPct val="108000"/>
              </a:lnSpc>
              <a:spcAft>
                <a:spcPts val="300"/>
              </a:spcAft>
            </a:pPr>
            <a:r>
              <a:rPr sz="1500">
                <a:solidFill>
                  <a:srgbClr val="0065BD"/>
                </a:solidFill>
                <a:latin typeface="Arial"/>
              </a:rPr>
              <a:t>▪  </a:t>
            </a:r>
            <a:r>
              <a:rPr sz="1500" b="1">
                <a:solidFill>
                  <a:srgbClr val="222A35"/>
                </a:solidFill>
                <a:latin typeface="Arial"/>
              </a:rPr>
              <a:t>false_done</a:t>
            </a:r>
            <a:r>
              <a:rPr sz="1500" b="0">
                <a:solidFill>
                  <a:srgbClr val="222A35"/>
                </a:solidFill>
                <a:latin typeface="Arial"/>
              </a:rPr>
              <a:t>: says done, verifier fails</a:t>
            </a:r>
          </a:p>
          <a:p>
            <a:pPr>
              <a:lnSpc>
                <a:spcPct val="108000"/>
              </a:lnSpc>
              <a:spcAft>
                <a:spcPts val="300"/>
              </a:spcAft>
            </a:pPr>
            <a:r>
              <a:rPr sz="1500">
                <a:solidFill>
                  <a:srgbClr val="0065BD"/>
                </a:solidFill>
                <a:latin typeface="Arial"/>
              </a:rPr>
              <a:t>▪  </a:t>
            </a:r>
            <a:r>
              <a:rPr sz="1500" b="0">
                <a:solidFill>
                  <a:srgbClr val="222A35"/>
                </a:solidFill>
                <a:latin typeface="Arial"/>
              </a:rPr>
              <a:t>Final evaluation: false_done 1, grounding 1, other 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E37222"/>
                </a:solidFill>
                <a:latin typeface="Arial"/>
              </a:rPr>
              <a:t>FAILURE ANALYSIS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Deep dive: a false finish caused by a look-alike file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18</a:t>
            </a:r>
          </a:p>
        </p:txBody>
      </p:sp>
      <p:pic>
        <p:nvPicPr>
          <p:cNvPr id="9" name="Picture 8" descr="files43_step5.png"/>
          <p:cNvPicPr>
            <a:picLocks noChangeAspect="1"/>
          </p:cNvPicPr>
          <p:nvPr/>
        </p:nvPicPr>
        <p:blipFill>
          <a:blip r:embed="rId3"/>
          <a:srcRect t="8000"/>
          <a:stretch>
            <a:fillRect/>
          </a:stretch>
        </p:blipFill>
        <p:spPr>
          <a:xfrm>
            <a:off x="640080" y="1463040"/>
            <a:ext cx="2180844" cy="4458614"/>
          </a:xfrm>
          <a:prstGeom prst="roundRect">
            <a:avLst/>
          </a:prstGeom>
          <a:ln w="44450">
            <a:solidFill>
              <a:srgbClr val="1B1F2A"/>
            </a:solidFill>
          </a:ln>
        </p:spPr>
      </p:pic>
      <p:pic>
        <p:nvPicPr>
          <p:cNvPr id="10" name="Picture 9" descr="files43_final.png"/>
          <p:cNvPicPr>
            <a:picLocks noChangeAspect="1"/>
          </p:cNvPicPr>
          <p:nvPr/>
        </p:nvPicPr>
        <p:blipFill>
          <a:blip r:embed="rId4"/>
          <a:srcRect t="8000"/>
          <a:stretch>
            <a:fillRect/>
          </a:stretch>
        </p:blipFill>
        <p:spPr>
          <a:xfrm>
            <a:off x="2971800" y="1463040"/>
            <a:ext cx="2180844" cy="4458614"/>
          </a:xfrm>
          <a:prstGeom prst="roundRect">
            <a:avLst/>
          </a:prstGeom>
          <a:ln w="44450">
            <a:solidFill>
              <a:srgbClr val="1B1F2A"/>
            </a:solidFill>
          </a:ln>
        </p:spPr>
      </p:pic>
      <p:graphicFrame>
        <p:nvGraphicFramePr>
          <p:cNvPr id="11" name="Table 10"/>
          <p:cNvGraphicFramePr>
            <a:graphicFrameLocks noGrp="1"/>
          </p:cNvGraphicFramePr>
          <p:nvPr/>
        </p:nvGraphicFramePr>
        <p:xfrm>
          <a:off x="5440680" y="1463040"/>
          <a:ext cx="6126479" cy="2286000"/>
        </p:xfrm>
        <a:graphic>
          <a:graphicData uri="http://schemas.openxmlformats.org/drawingml/2006/table">
            <a:tbl>
              <a:tblPr firstRow="1" bandRow="1">
                <a:tableStyleId>{5C22544A-7EE6-4342-B048-85BDC9FD1C3A}</a:tableStyleId>
              </a:tblPr>
              <a:tblGrid>
                <a:gridCol w="822960"/>
                <a:gridCol w="3749039"/>
                <a:gridCol w="1554480"/>
              </a:tblGrid>
              <a:tr h="457200">
                <a:tc>
                  <a:txBody>
                    <a:bodyPr wrap="square"/>
                    <a:lstStyle/>
                    <a:p>
                      <a:r>
                        <a:rPr sz="1300" b="1">
                          <a:solidFill>
                            <a:srgbClr val="FFFFFF"/>
                          </a:solidFill>
                          <a:latin typeface="Arial"/>
                        </a:rPr>
                        <a:t>Steps</a:t>
                      </a:r>
                    </a:p>
                  </a:txBody>
                  <a:tcPr marL="54864" marR="54864" marT="27432" marB="27432" anchor="ctr">
                    <a:solidFill>
                      <a:srgbClr val="072140"/>
                    </a:solidFill>
                  </a:tcPr>
                </a:tc>
                <a:tc>
                  <a:txBody>
                    <a:bodyPr wrap="square"/>
                    <a:lstStyle/>
                    <a:p>
                      <a:r>
                        <a:rPr sz="1300" b="1">
                          <a:solidFill>
                            <a:srgbClr val="FFFFFF"/>
                          </a:solidFill>
                          <a:latin typeface="Arial"/>
                        </a:rPr>
                        <a:t>What happened</a:t>
                      </a:r>
                    </a:p>
                  </a:txBody>
                  <a:tcPr marL="54864" marR="54864" marT="27432" marB="27432" anchor="ctr">
                    <a:solidFill>
                      <a:srgbClr val="072140"/>
                    </a:solidFill>
                  </a:tcPr>
                </a:tc>
                <a:tc>
                  <a:txBody>
                    <a:bodyPr wrap="square"/>
                    <a:lstStyle/>
                    <a:p>
                      <a:r>
                        <a:rPr sz="1300" b="1">
                          <a:solidFill>
                            <a:srgbClr val="FFFFFF"/>
                          </a:solidFill>
                          <a:latin typeface="Arial"/>
                        </a:rPr>
                        <a:t>Assessment</a:t>
                      </a:r>
                    </a:p>
                  </a:txBody>
                  <a:tcPr marL="54864" marR="54864" marT="27432" marB="27432" anchor="ctr">
                    <a:solidFill>
                      <a:srgbClr val="072140"/>
                    </a:solidFill>
                  </a:tcPr>
                </a:tc>
              </a:tr>
              <a:tr h="457200">
                <a:tc>
                  <a:txBody>
                    <a:bodyPr wrap="square"/>
                    <a:lstStyle/>
                    <a:p>
                      <a:r>
                        <a:rPr sz="1300" b="0">
                          <a:solidFill>
                            <a:srgbClr val="222A35"/>
                          </a:solidFill>
                          <a:latin typeface="Arial"/>
                        </a:rPr>
                        <a:t>1–4</a:t>
                      </a:r>
                    </a:p>
                  </a:txBody>
                  <a:tcPr marL="54864" marR="54864" marT="27432" marB="27432" anchor="ctr">
                    <a:solidFill>
                      <a:srgbClr val="FFFFFF"/>
                    </a:solidFill>
                  </a:tcPr>
                </a:tc>
                <a:tc>
                  <a:txBody>
                    <a:bodyPr wrap="square"/>
                    <a:lstStyle/>
                    <a:p>
                      <a:r>
                        <a:rPr sz="1300" b="0">
                          <a:solidFill>
                            <a:srgbClr val="222A35"/>
                          </a:solidFill>
                          <a:latin typeface="Arial"/>
                        </a:rPr>
                        <a:t>Opened Files, the storage root, then Alarms</a:t>
                      </a:r>
                    </a:p>
                  </a:txBody>
                  <a:tcPr marL="54864" marR="54864" marT="27432" marB="27432" anchor="ctr">
                    <a:solidFill>
                      <a:srgbClr val="FFFFFF"/>
                    </a:solidFill>
                  </a:tcPr>
                </a:tc>
                <a:tc>
                  <a:txBody>
                    <a:bodyPr wrap="square"/>
                    <a:lstStyle/>
                    <a:p>
                      <a:r>
                        <a:rPr sz="1300" b="0">
                          <a:solidFill>
                            <a:srgbClr val="222A35"/>
                          </a:solidFill>
                          <a:latin typeface="Arial"/>
                        </a:rPr>
                        <a:t>Correct</a:t>
                      </a:r>
                    </a:p>
                  </a:txBody>
                  <a:tcPr marL="54864" marR="54864" marT="27432" marB="27432" anchor="ctr">
                    <a:solidFill>
                      <a:srgbClr val="FFFFFF"/>
                    </a:solidFill>
                  </a:tcPr>
                </a:tc>
              </a:tr>
              <a:tr h="457200">
                <a:tc>
                  <a:txBody>
                    <a:bodyPr wrap="square"/>
                    <a:lstStyle/>
                    <a:p>
                      <a:r>
                        <a:rPr sz="1300" b="0">
                          <a:solidFill>
                            <a:srgbClr val="222A35"/>
                          </a:solidFill>
                          <a:latin typeface="Arial"/>
                        </a:rPr>
                        <a:t>5</a:t>
                      </a:r>
                    </a:p>
                  </a:txBody>
                  <a:tcPr marL="54864" marR="54864" marT="27432" marB="27432" anchor="ctr">
                    <a:solidFill>
                      <a:srgbClr val="F2F5F9"/>
                    </a:solidFill>
                  </a:tcPr>
                </a:tc>
                <a:tc>
                  <a:txBody>
                    <a:bodyPr wrap="square"/>
                    <a:lstStyle/>
                    <a:p>
                      <a:r>
                        <a:rPr sz="1300" b="0">
                          <a:solidFill>
                            <a:srgbClr val="222A35"/>
                          </a:solidFill>
                          <a:latin typeface="Arial"/>
                        </a:rPr>
                        <a:t>Grid with cut-off names; long-pressed “documentary_20…”</a:t>
                      </a:r>
                    </a:p>
                  </a:txBody>
                  <a:tcPr marL="54864" marR="54864" marT="27432" marB="27432" anchor="ctr">
                    <a:solidFill>
                      <a:srgbClr val="F2F5F9"/>
                    </a:solidFill>
                  </a:tcPr>
                </a:tc>
                <a:tc>
                  <a:txBody>
                    <a:bodyPr wrap="square"/>
                    <a:lstStyle/>
                    <a:p>
                      <a:r>
                        <a:rPr sz="1300" b="0">
                          <a:solidFill>
                            <a:srgbClr val="222A35"/>
                          </a:solidFill>
                          <a:latin typeface="Arial"/>
                        </a:rPr>
                        <a:t>Wrong object</a:t>
                      </a:r>
                    </a:p>
                  </a:txBody>
                  <a:tcPr marL="54864" marR="54864" marT="27432" marB="27432" anchor="ctr">
                    <a:solidFill>
                      <a:srgbClr val="F2F5F9"/>
                    </a:solidFill>
                  </a:tcPr>
                </a:tc>
              </a:tr>
              <a:tr h="457200">
                <a:tc>
                  <a:txBody>
                    <a:bodyPr wrap="square"/>
                    <a:lstStyle/>
                    <a:p>
                      <a:r>
                        <a:rPr sz="1300" b="0">
                          <a:solidFill>
                            <a:srgbClr val="222A35"/>
                          </a:solidFill>
                          <a:latin typeface="Arial"/>
                        </a:rPr>
                        <a:t>6–11</a:t>
                      </a:r>
                    </a:p>
                  </a:txBody>
                  <a:tcPr marL="54864" marR="54864" marT="27432" marB="27432" anchor="ctr">
                    <a:solidFill>
                      <a:srgbClr val="FFFFFF"/>
                    </a:solidFill>
                  </a:tcPr>
                </a:tc>
                <a:tc>
                  <a:txBody>
                    <a:bodyPr wrap="square"/>
                    <a:lstStyle/>
                    <a:p>
                      <a:r>
                        <a:rPr sz="1300" b="0">
                          <a:solidFill>
                            <a:srgbClr val="222A35"/>
                          </a:solidFill>
                          <a:latin typeface="Arial"/>
                        </a:rPr>
                        <a:t>More options &gt; Move to &gt; Movies &gt; MOVE</a:t>
                      </a:r>
                    </a:p>
                  </a:txBody>
                  <a:tcPr marL="54864" marR="54864" marT="27432" marB="27432" anchor="ctr">
                    <a:solidFill>
                      <a:srgbClr val="FFFFFF"/>
                    </a:solidFill>
                  </a:tcPr>
                </a:tc>
                <a:tc>
                  <a:txBody>
                    <a:bodyPr wrap="square"/>
                    <a:lstStyle/>
                    <a:p>
                      <a:r>
                        <a:rPr sz="1300" b="0">
                          <a:solidFill>
                            <a:srgbClr val="222A35"/>
                          </a:solidFill>
                          <a:latin typeface="Arial"/>
                        </a:rPr>
                        <a:t>Correct steps, wrong file</a:t>
                      </a:r>
                    </a:p>
                  </a:txBody>
                  <a:tcPr marL="54864" marR="54864" marT="27432" marB="27432" anchor="ctr">
                    <a:solidFill>
                      <a:srgbClr val="FFFFFF"/>
                    </a:solidFill>
                  </a:tcPr>
                </a:tc>
              </a:tr>
              <a:tr h="457200">
                <a:tc>
                  <a:txBody>
                    <a:bodyPr wrap="square"/>
                    <a:lstStyle/>
                    <a:p>
                      <a:r>
                        <a:rPr sz="1300" b="0">
                          <a:solidFill>
                            <a:srgbClr val="222A35"/>
                          </a:solidFill>
                          <a:latin typeface="Arial"/>
                        </a:rPr>
                        <a:t>12–13</a:t>
                      </a:r>
                    </a:p>
                  </a:txBody>
                  <a:tcPr marL="54864" marR="54864" marT="27432" marB="27432" anchor="ctr">
                    <a:solidFill>
                      <a:srgbClr val="F2F5F9"/>
                    </a:solidFill>
                  </a:tcPr>
                </a:tc>
                <a:tc>
                  <a:txBody>
                    <a:bodyPr wrap="square"/>
                    <a:lstStyle/>
                    <a:p>
                      <a:r>
                        <a:rPr sz="1300" b="0">
                          <a:solidFill>
                            <a:srgbClr val="222A35"/>
                          </a:solidFill>
                          <a:latin typeface="Arial"/>
                        </a:rPr>
                        <a:t>Waited for “Moving 1 item”, then finish</a:t>
                      </a:r>
                    </a:p>
                  </a:txBody>
                  <a:tcPr marL="54864" marR="54864" marT="27432" marB="27432" anchor="ctr">
                    <a:solidFill>
                      <a:srgbClr val="F2F5F9"/>
                    </a:solidFill>
                  </a:tcPr>
                </a:tc>
                <a:tc>
                  <a:txBody>
                    <a:bodyPr wrap="square"/>
                    <a:lstStyle/>
                    <a:p>
                      <a:r>
                        <a:rPr sz="1300" b="1">
                          <a:solidFill>
                            <a:srgbClr val="FFFFFF"/>
                          </a:solidFill>
                          <a:latin typeface="Arial"/>
                        </a:rPr>
                        <a:t>false_done</a:t>
                      </a:r>
                    </a:p>
                  </a:txBody>
                  <a:tcPr marL="54864" marR="54864" marT="27432" marB="27432" anchor="ctr">
                    <a:solidFill>
                      <a:srgbClr val="E37222"/>
                    </a:solidFill>
                  </a:tcPr>
                </a:tc>
              </a:tr>
            </a:tbl>
          </a:graphicData>
        </a:graphic>
      </p:graphicFrame>
      <p:sp>
        <p:nvSpPr>
          <p:cNvPr id="12" name="TextBox 11"/>
          <p:cNvSpPr txBox="1"/>
          <p:nvPr/>
        </p:nvSpPr>
        <p:spPr>
          <a:xfrm>
            <a:off x="5440680" y="3886200"/>
            <a:ext cx="6126480" cy="685800"/>
          </a:xfrm>
          <a:prstGeom prst="rect">
            <a:avLst/>
          </a:prstGeom>
          <a:noFill/>
        </p:spPr>
        <p:txBody>
          <a:bodyPr wrap="square" anchor="t" lIns="73152" rIns="73152">
            <a:spAutoFit/>
          </a:bodyPr>
          <a:lstStyle/>
          <a:p>
            <a:pPr algn="l">
              <a:lnSpc>
                <a:spcPct val="110000"/>
              </a:lnSpc>
            </a:pPr>
            <a:r>
              <a:rPr sz="1300" b="1" i="0">
                <a:solidFill>
                  <a:srgbClr val="072140"/>
                </a:solidFill>
                <a:latin typeface="Arial"/>
              </a:rPr>
              <a:t>Model: </a:t>
            </a:r>
            <a:r>
              <a:rPr sz="1300" b="0" i="1">
                <a:solidFill>
                  <a:srgbClr val="222A35"/>
                </a:solidFill>
                <a:latin typeface="Arial"/>
              </a:rPr>
              <a:t>“I see the "documentary_2023_03_14.mp4" file in the Alarms folder, which matches the required file "documentary.mp4" (assuming it is named differently here).”</a:t>
            </a:r>
          </a:p>
        </p:txBody>
      </p:sp>
      <p:sp>
        <p:nvSpPr>
          <p:cNvPr id="13" name="Rectangle 12"/>
          <p:cNvSpPr/>
          <p:nvPr/>
        </p:nvSpPr>
        <p:spPr>
          <a:xfrm>
            <a:off x="5440680" y="4663440"/>
            <a:ext cx="2971800" cy="16002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40680" y="4663440"/>
            <a:ext cx="54864" cy="160020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05272" y="4754879"/>
            <a:ext cx="271576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Class</a:t>
            </a:r>
          </a:p>
        </p:txBody>
      </p:sp>
      <p:sp>
        <p:nvSpPr>
          <p:cNvPr id="16" name="TextBox 15"/>
          <p:cNvSpPr txBox="1"/>
          <p:nvPr/>
        </p:nvSpPr>
        <p:spPr>
          <a:xfrm>
            <a:off x="5605272" y="5166359"/>
            <a:ext cx="2697480" cy="1051560"/>
          </a:xfrm>
          <a:prstGeom prst="rect">
            <a:avLst/>
          </a:prstGeom>
          <a:noFill/>
        </p:spPr>
        <p:txBody>
          <a:bodyPr wrap="square" anchor="t" lIns="73152" rIns="73152">
            <a:spAutoFit/>
          </a:bodyPr>
          <a:lstStyle/>
          <a:p>
            <a:pPr algn="l">
              <a:lnSpc>
                <a:spcPct val="110000"/>
              </a:lnSpc>
            </a:pPr>
            <a:r>
              <a:rPr sz="1300" b="0" i="0">
                <a:solidFill>
                  <a:srgbClr val="222A35"/>
                </a:solidFill>
                <a:latin typeface="Arial"/>
              </a:rPr>
              <a:t>false_done (D1 p.50); root cause: a look-alike chosen from a truncated name</a:t>
            </a:r>
          </a:p>
        </p:txBody>
      </p:sp>
      <p:sp>
        <p:nvSpPr>
          <p:cNvPr id="17" name="Rectangle 16"/>
          <p:cNvSpPr/>
          <p:nvPr/>
        </p:nvSpPr>
        <p:spPr>
          <a:xfrm>
            <a:off x="8595360" y="4663440"/>
            <a:ext cx="2971800" cy="16002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595360" y="4663440"/>
            <a:ext cx="54864" cy="1600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59952" y="4754879"/>
            <a:ext cx="271576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Fix layer</a:t>
            </a:r>
          </a:p>
        </p:txBody>
      </p:sp>
      <p:sp>
        <p:nvSpPr>
          <p:cNvPr id="20" name="TextBox 19"/>
          <p:cNvSpPr txBox="1"/>
          <p:nvPr/>
        </p:nvSpPr>
        <p:spPr>
          <a:xfrm>
            <a:off x="8759952" y="5166359"/>
            <a:ext cx="2697480" cy="1051560"/>
          </a:xfrm>
          <a:prstGeom prst="rect">
            <a:avLst/>
          </a:prstGeom>
          <a:noFill/>
        </p:spPr>
        <p:txBody>
          <a:bodyPr wrap="square" anchor="t" lIns="73152" rIns="73152">
            <a:spAutoFit/>
          </a:bodyPr>
          <a:lstStyle/>
          <a:p>
            <a:pPr algn="l">
              <a:lnSpc>
                <a:spcPct val="110000"/>
              </a:lnSpc>
            </a:pPr>
            <a:r>
              <a:rPr sz="1300" b="0" i="0">
                <a:solidFill>
                  <a:srgbClr val="222A35"/>
                </a:solidFill>
                <a:latin typeface="Arial"/>
              </a:rPr>
              <a:t>Instruction: list view or exact search. Program: check the full name before Move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E37222"/>
                </a:solidFill>
                <a:latin typeface="Arial"/>
              </a:rPr>
              <a:t>FAILURE ANALYSIS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Two more failures, and why runs of one task differ</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19</a:t>
            </a:r>
          </a:p>
        </p:txBody>
      </p:sp>
      <p:pic>
        <p:nvPicPr>
          <p:cNvPr id="9" name="Picture 8" descr="contacts43_step9.png"/>
          <p:cNvPicPr>
            <a:picLocks noChangeAspect="1"/>
          </p:cNvPicPr>
          <p:nvPr/>
        </p:nvPicPr>
        <p:blipFill>
          <a:blip r:embed="rId3"/>
          <a:srcRect t="8000"/>
          <a:stretch>
            <a:fillRect/>
          </a:stretch>
        </p:blipFill>
        <p:spPr>
          <a:xfrm>
            <a:off x="640080" y="1463040"/>
            <a:ext cx="1769364" cy="3617366"/>
          </a:xfrm>
          <a:prstGeom prst="roundRect">
            <a:avLst/>
          </a:prstGeom>
          <a:ln w="44450">
            <a:solidFill>
              <a:srgbClr val="1B1F2A"/>
            </a:solidFill>
          </a:ln>
        </p:spPr>
      </p:pic>
      <p:pic>
        <p:nvPicPr>
          <p:cNvPr id="10" name="Picture 9" descr="osmand366_step15.png"/>
          <p:cNvPicPr>
            <a:picLocks noChangeAspect="1"/>
          </p:cNvPicPr>
          <p:nvPr/>
        </p:nvPicPr>
        <p:blipFill>
          <a:blip r:embed="rId4"/>
          <a:srcRect t="8000"/>
          <a:stretch>
            <a:fillRect/>
          </a:stretch>
        </p:blipFill>
        <p:spPr>
          <a:xfrm>
            <a:off x="2514600" y="1463040"/>
            <a:ext cx="1769364" cy="3617366"/>
          </a:xfrm>
          <a:prstGeom prst="roundRect">
            <a:avLst/>
          </a:prstGeom>
          <a:ln w="44450">
            <a:solidFill>
              <a:srgbClr val="1B1F2A"/>
            </a:solidFill>
          </a:ln>
        </p:spPr>
      </p:pic>
      <p:sp>
        <p:nvSpPr>
          <p:cNvPr id="11" name="TextBox 10"/>
          <p:cNvSpPr txBox="1"/>
          <p:nvPr/>
        </p:nvSpPr>
        <p:spPr>
          <a:xfrm>
            <a:off x="640080" y="5440680"/>
            <a:ext cx="3657600" cy="822960"/>
          </a:xfrm>
          <a:prstGeom prst="rect">
            <a:avLst/>
          </a:prstGeom>
          <a:noFill/>
        </p:spPr>
        <p:txBody>
          <a:bodyPr wrap="square" anchor="t" lIns="73152" rIns="73152">
            <a:spAutoFit/>
          </a:bodyPr>
          <a:lstStyle/>
          <a:p>
            <a:pPr algn="l">
              <a:lnSpc>
                <a:spcPct val="110000"/>
              </a:lnSpc>
            </a:pPr>
            <a:r>
              <a:rPr sz="1100" b="0" i="0">
                <a:solidFill>
                  <a:srgbClr val="5E6773"/>
                </a:solidFill>
                <a:latin typeface="Arial"/>
              </a:rPr>
              <a:t>Left: Contacts s43, Phone field cut off at the top.  Right: OsmAnd s366, Clear button at the top right.</a:t>
            </a:r>
          </a:p>
        </p:txBody>
      </p:sp>
      <p:sp>
        <p:nvSpPr>
          <p:cNvPr id="12" name="Rectangle 11"/>
          <p:cNvSpPr/>
          <p:nvPr/>
        </p:nvSpPr>
        <p:spPr>
          <a:xfrm>
            <a:off x="4572000" y="1463040"/>
            <a:ext cx="3383280" cy="22402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572000" y="1463040"/>
            <a:ext cx="54864" cy="224028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36592" y="1554480"/>
            <a:ext cx="312724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Contacts s43: other</a:t>
            </a:r>
          </a:p>
        </p:txBody>
      </p:sp>
      <p:sp>
        <p:nvSpPr>
          <p:cNvPr id="15" name="TextBox 14"/>
          <p:cNvSpPr txBox="1"/>
          <p:nvPr/>
        </p:nvSpPr>
        <p:spPr>
          <a:xfrm>
            <a:off x="4736592" y="1965960"/>
            <a:ext cx="3108960" cy="169164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Two swipes went past the Phone field; four more changed only the blinking cursor, which our check counted as a change.</a:t>
            </a:r>
          </a:p>
        </p:txBody>
      </p:sp>
      <p:sp>
        <p:nvSpPr>
          <p:cNvPr id="16" name="Rectangle 15"/>
          <p:cNvSpPr/>
          <p:nvPr/>
        </p:nvSpPr>
        <p:spPr>
          <a:xfrm>
            <a:off x="8183879" y="1463040"/>
            <a:ext cx="3383280" cy="22402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183879" y="1463040"/>
            <a:ext cx="54864" cy="224028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48471" y="1554480"/>
            <a:ext cx="312724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OsmAnd s366: grounding</a:t>
            </a:r>
          </a:p>
        </p:txBody>
      </p:sp>
      <p:sp>
        <p:nvSpPr>
          <p:cNvPr id="19" name="TextBox 18"/>
          <p:cNvSpPr txBox="1"/>
          <p:nvPr/>
        </p:nvSpPr>
        <p:spPr>
          <a:xfrm>
            <a:off x="8348471" y="1965960"/>
            <a:ext cx="3108960" cy="1691640"/>
          </a:xfrm>
          <a:prstGeom prst="rect">
            <a:avLst/>
          </a:prstGeom>
          <a:noFill/>
        </p:spPr>
        <p:txBody>
          <a:bodyPr wrap="square" anchor="t" lIns="73152" rIns="73152">
            <a:spAutoFit/>
          </a:bodyPr>
          <a:lstStyle/>
          <a:p>
            <a:pPr algn="l">
              <a:lnSpc>
                <a:spcPct val="110000"/>
              </a:lnSpc>
            </a:pPr>
            <a:r>
              <a:rPr sz="1400" b="0" i="0">
                <a:solidFill>
                  <a:srgbClr val="222A35"/>
                </a:solidFill>
                <a:latin typeface="Arial"/>
              </a:rPr>
              <a:t>Code: “Tap Clear at [941, 83]”. Model tapped [941, 57], the top edge of the button, three times: no effect.</a:t>
            </a:r>
          </a:p>
        </p:txBody>
      </p:sp>
      <p:graphicFrame>
        <p:nvGraphicFramePr>
          <p:cNvPr id="20" name="Table 19"/>
          <p:cNvGraphicFramePr>
            <a:graphicFrameLocks noGrp="1"/>
          </p:cNvGraphicFramePr>
          <p:nvPr/>
        </p:nvGraphicFramePr>
        <p:xfrm>
          <a:off x="4572000" y="3931920"/>
          <a:ext cx="6995160" cy="2011680"/>
        </p:xfrm>
        <a:graphic>
          <a:graphicData uri="http://schemas.openxmlformats.org/drawingml/2006/table">
            <a:tbl>
              <a:tblPr firstRow="1" bandRow="1">
                <a:tableStyleId>{5C22544A-7EE6-4342-B048-85BDC9FD1C3A}</a:tableStyleId>
              </a:tblPr>
              <a:tblGrid>
                <a:gridCol w="3154680"/>
                <a:gridCol w="1280160"/>
                <a:gridCol w="1280160"/>
                <a:gridCol w="1280160"/>
              </a:tblGrid>
              <a:tr h="402336">
                <a:tc>
                  <a:txBody>
                    <a:bodyPr wrap="square"/>
                    <a:lstStyle/>
                    <a:p>
                      <a:r>
                        <a:rPr sz="1300" b="1">
                          <a:solidFill>
                            <a:srgbClr val="FFFFFF"/>
                          </a:solidFill>
                          <a:latin typeface="Arial"/>
                        </a:rPr>
                        <a:t>Same task, two frozen evaluations</a:t>
                      </a:r>
                    </a:p>
                  </a:txBody>
                  <a:tcPr marL="54864" marR="54864" marT="27432" marB="27432" anchor="ctr">
                    <a:solidFill>
                      <a:srgbClr val="072140"/>
                    </a:solidFill>
                  </a:tcPr>
                </a:tc>
                <a:tc>
                  <a:txBody>
                    <a:bodyPr wrap="square"/>
                    <a:lstStyle/>
                    <a:p>
                      <a:pPr algn="ctr"/>
                      <a:r>
                        <a:rPr sz="1300" b="1">
                          <a:solidFill>
                            <a:srgbClr val="FFFFFF"/>
                          </a:solidFill>
                          <a:latin typeface="Arial"/>
                        </a:rPr>
                        <a:t>Run 1</a:t>
                      </a:r>
                    </a:p>
                  </a:txBody>
                  <a:tcPr marL="54864" marR="54864" marT="27432" marB="27432" anchor="ctr">
                    <a:solidFill>
                      <a:srgbClr val="072140"/>
                    </a:solidFill>
                  </a:tcPr>
                </a:tc>
                <a:tc>
                  <a:txBody>
                    <a:bodyPr wrap="square"/>
                    <a:lstStyle/>
                    <a:p>
                      <a:pPr algn="ctr"/>
                      <a:r>
                        <a:rPr sz="1300" b="1">
                          <a:solidFill>
                            <a:srgbClr val="FFFFFF"/>
                          </a:solidFill>
                          <a:latin typeface="Arial"/>
                        </a:rPr>
                        <a:t>Run 2</a:t>
                      </a:r>
                    </a:p>
                  </a:txBody>
                  <a:tcPr marL="54864" marR="54864" marT="27432" marB="27432" anchor="ctr">
                    <a:solidFill>
                      <a:srgbClr val="072140"/>
                    </a:solidFill>
                  </a:tcPr>
                </a:tc>
                <a:tc>
                  <a:txBody>
                    <a:bodyPr wrap="square"/>
                    <a:lstStyle/>
                    <a:p>
                      <a:pPr algn="ctr"/>
                      <a:r>
                        <a:rPr sz="1300" b="1">
                          <a:solidFill>
                            <a:srgbClr val="FFFFFF"/>
                          </a:solidFill>
                          <a:latin typeface="Arial"/>
                        </a:rPr>
                        <a:t>Run 3</a:t>
                      </a:r>
                    </a:p>
                  </a:txBody>
                  <a:tcPr marL="54864" marR="54864" marT="27432" marB="27432" anchor="ctr">
                    <a:solidFill>
                      <a:srgbClr val="072140"/>
                    </a:solidFill>
                  </a:tcPr>
                </a:tc>
              </a:tr>
              <a:tr h="402336">
                <a:tc>
                  <a:txBody>
                    <a:bodyPr wrap="square"/>
                    <a:lstStyle/>
                    <a:p>
                      <a:r>
                        <a:rPr sz="1300" b="0">
                          <a:solidFill>
                            <a:srgbClr val="222A35"/>
                          </a:solidFill>
                          <a:latin typeface="Arial"/>
                        </a:rPr>
                        <a:t>OsmAnd v61 (Skill experiment)</a:t>
                      </a:r>
                    </a:p>
                  </a:txBody>
                  <a:tcPr marL="54864" marR="54864" marT="27432" marB="27432" anchor="ctr">
                    <a:solidFill>
                      <a:srgbClr val="FFFFFF"/>
                    </a:solidFill>
                  </a:tcPr>
                </a:tc>
                <a:tc>
                  <a:txBody>
                    <a:bodyPr wrap="square"/>
                    <a:lstStyle/>
                    <a:p>
                      <a:pPr algn="ctr"/>
                      <a:r>
                        <a:rPr sz="1300" b="1">
                          <a:solidFill>
                            <a:srgbClr val="FFFFFF"/>
                          </a:solidFill>
                          <a:latin typeface="Arial"/>
                        </a:rPr>
                        <a:t>FAIL</a:t>
                      </a:r>
                    </a:p>
                  </a:txBody>
                  <a:tcPr marL="54864" marR="54864" marT="27432" marB="27432" anchor="ctr">
                    <a:solidFill>
                      <a:srgbClr val="E37222"/>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r>
              <a:tr h="402336">
                <a:tc>
                  <a:txBody>
                    <a:bodyPr wrap="square"/>
                    <a:lstStyle/>
                    <a:p>
                      <a:r>
                        <a:rPr sz="1300" b="0">
                          <a:solidFill>
                            <a:srgbClr val="222A35"/>
                          </a:solidFill>
                          <a:latin typeface="Arial"/>
                        </a:rPr>
                        <a:t>OsmAnd v65 (final)</a:t>
                      </a:r>
                    </a:p>
                  </a:txBody>
                  <a:tcPr marL="54864" marR="54864" marT="27432" marB="27432" anchor="ctr">
                    <a:solidFill>
                      <a:srgbClr val="F2F5F9"/>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c>
                  <a:txBody>
                    <a:bodyPr wrap="square"/>
                    <a:lstStyle/>
                    <a:p>
                      <a:pPr algn="ctr"/>
                      <a:r>
                        <a:rPr sz="1300" b="1">
                          <a:solidFill>
                            <a:srgbClr val="FFFFFF"/>
                          </a:solidFill>
                          <a:latin typeface="Arial"/>
                        </a:rPr>
                        <a:t>FAIL</a:t>
                      </a:r>
                    </a:p>
                  </a:txBody>
                  <a:tcPr marL="54864" marR="54864" marT="27432" marB="27432" anchor="ctr">
                    <a:solidFill>
                      <a:srgbClr val="E37222"/>
                    </a:solidFill>
                  </a:tcPr>
                </a:tc>
              </a:tr>
              <a:tr h="402336">
                <a:tc>
                  <a:txBody>
                    <a:bodyPr wrap="square"/>
                    <a:lstStyle/>
                    <a:p>
                      <a:r>
                        <a:rPr sz="1300" b="0">
                          <a:solidFill>
                            <a:srgbClr val="222A35"/>
                          </a:solidFill>
                          <a:latin typeface="Arial"/>
                        </a:rPr>
                        <a:t>Contacts v42 (earlier)</a:t>
                      </a:r>
                    </a:p>
                  </a:txBody>
                  <a:tcPr marL="54864" marR="54864" marT="27432" marB="27432" anchor="ctr">
                    <a:solidFill>
                      <a:srgbClr val="FFFFFF"/>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r>
              <a:tr h="402336">
                <a:tc>
                  <a:txBody>
                    <a:bodyPr wrap="square"/>
                    <a:lstStyle/>
                    <a:p>
                      <a:r>
                        <a:rPr sz="1300" b="0">
                          <a:solidFill>
                            <a:srgbClr val="222A35"/>
                          </a:solidFill>
                          <a:latin typeface="Arial"/>
                        </a:rPr>
                        <a:t>Contacts v65 (final)</a:t>
                      </a:r>
                    </a:p>
                  </a:txBody>
                  <a:tcPr marL="54864" marR="54864" marT="27432" marB="27432" anchor="ctr">
                    <a:solidFill>
                      <a:srgbClr val="F2F5F9"/>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c>
                  <a:txBody>
                    <a:bodyPr wrap="square"/>
                    <a:lstStyle/>
                    <a:p>
                      <a:pPr algn="ctr"/>
                      <a:r>
                        <a:rPr sz="1300" b="1">
                          <a:solidFill>
                            <a:srgbClr val="FFFFFF"/>
                          </a:solidFill>
                          <a:latin typeface="Arial"/>
                        </a:rPr>
                        <a:t>FAIL</a:t>
                      </a:r>
                    </a:p>
                  </a:txBody>
                  <a:tcPr marL="54864" marR="54864" marT="27432" marB="27432" anchor="ctr">
                    <a:solidFill>
                      <a:srgbClr val="E37222"/>
                    </a:solidFill>
                  </a:tcPr>
                </a:tc>
                <a:tc>
                  <a:txBody>
                    <a:bodyPr wrap="square"/>
                    <a:lstStyle/>
                    <a:p>
                      <a:pPr algn="ctr"/>
                      <a:r>
                        <a:rPr sz="1300" b="1">
                          <a:solidFill>
                            <a:srgbClr val="FFFFFF"/>
                          </a:solidFill>
                          <a:latin typeface="Arial"/>
                        </a:rPr>
                        <a:t>PASS</a:t>
                      </a:r>
                    </a:p>
                  </a:txBody>
                  <a:tcPr marL="54864" marR="54864" marT="27432" marB="27432" anchor="ctr">
                    <a:solidFill>
                      <a:srgbClr val="0065BD"/>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E37222"/>
                </a:solidFill>
                <a:latin typeface="Arial"/>
              </a:rPr>
              <a:t>FAILURE ANALYSIS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Not every failure is the model: test-setup problems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20</a:t>
            </a:r>
          </a:p>
        </p:txBody>
      </p:sp>
      <p:graphicFrame>
        <p:nvGraphicFramePr>
          <p:cNvPr id="9" name="Table 8"/>
          <p:cNvGraphicFramePr>
            <a:graphicFrameLocks noGrp="1"/>
          </p:cNvGraphicFramePr>
          <p:nvPr/>
        </p:nvGraphicFramePr>
        <p:xfrm>
          <a:off x="640080" y="1508760"/>
          <a:ext cx="7863840" cy="4206240"/>
        </p:xfrm>
        <a:graphic>
          <a:graphicData uri="http://schemas.openxmlformats.org/drawingml/2006/table">
            <a:tbl>
              <a:tblPr firstRow="1" bandRow="1">
                <a:tableStyleId>{5C22544A-7EE6-4342-B048-85BDC9FD1C3A}</a:tableStyleId>
              </a:tblPr>
              <a:tblGrid>
                <a:gridCol w="2377440"/>
                <a:gridCol w="2743200"/>
                <a:gridCol w="2743200"/>
              </a:tblGrid>
              <a:tr h="701040">
                <a:tc>
                  <a:txBody>
                    <a:bodyPr wrap="square"/>
                    <a:lstStyle/>
                    <a:p>
                      <a:r>
                        <a:rPr sz="1300" b="1">
                          <a:solidFill>
                            <a:srgbClr val="FFFFFF"/>
                          </a:solidFill>
                          <a:latin typeface="Arial"/>
                        </a:rPr>
                        <a:t>Symptom</a:t>
                      </a:r>
                    </a:p>
                  </a:txBody>
                  <a:tcPr marL="54864" marR="54864" marT="27432" marB="27432" anchor="ctr">
                    <a:solidFill>
                      <a:srgbClr val="072140"/>
                    </a:solidFill>
                  </a:tcPr>
                </a:tc>
                <a:tc>
                  <a:txBody>
                    <a:bodyPr wrap="square"/>
                    <a:lstStyle/>
                    <a:p>
                      <a:r>
                        <a:rPr sz="1300" b="1">
                          <a:solidFill>
                            <a:srgbClr val="FFFFFF"/>
                          </a:solidFill>
                          <a:latin typeface="Arial"/>
                        </a:rPr>
                        <a:t>Root cause</a:t>
                      </a:r>
                    </a:p>
                  </a:txBody>
                  <a:tcPr marL="54864" marR="54864" marT="27432" marB="27432" anchor="ctr">
                    <a:solidFill>
                      <a:srgbClr val="072140"/>
                    </a:solidFill>
                  </a:tcPr>
                </a:tc>
                <a:tc>
                  <a:txBody>
                    <a:bodyPr wrap="square"/>
                    <a:lstStyle/>
                    <a:p>
                      <a:r>
                        <a:rPr sz="1300" b="1">
                          <a:solidFill>
                            <a:srgbClr val="FFFFFF"/>
                          </a:solidFill>
                          <a:latin typeface="Arial"/>
                        </a:rPr>
                        <a:t>Fix</a:t>
                      </a:r>
                    </a:p>
                  </a:txBody>
                  <a:tcPr marL="54864" marR="54864" marT="27432" marB="27432" anchor="ctr">
                    <a:solidFill>
                      <a:srgbClr val="072140"/>
                    </a:solidFill>
                  </a:tcPr>
                </a:tc>
              </a:tr>
              <a:tr h="701040">
                <a:tc>
                  <a:txBody>
                    <a:bodyPr wrap="square"/>
                    <a:lstStyle/>
                    <a:p>
                      <a:r>
                        <a:rPr sz="1300" b="1">
                          <a:solidFill>
                            <a:srgbClr val="222A35"/>
                          </a:solidFill>
                          <a:latin typeface="Arial"/>
                        </a:rPr>
                        <a:t>Model “waited” on a black screen</a:t>
                      </a:r>
                    </a:p>
                  </a:txBody>
                  <a:tcPr marL="54864" marR="54864" marT="27432" marB="27432" anchor="ctr">
                    <a:solidFill>
                      <a:srgbClr val="FFFFFF"/>
                    </a:solidFill>
                  </a:tcPr>
                </a:tc>
                <a:tc>
                  <a:txBody>
                    <a:bodyPr wrap="square"/>
                    <a:lstStyle/>
                    <a:p>
                      <a:r>
                        <a:rPr sz="1300" b="0">
                          <a:solidFill>
                            <a:srgbClr val="222A35"/>
                          </a:solidFill>
                          <a:latin typeface="Arial"/>
                        </a:rPr>
                        <a:t>Emulator GPU mode returned all-black frames</a:t>
                      </a:r>
                    </a:p>
                  </a:txBody>
                  <a:tcPr marL="54864" marR="54864" marT="27432" marB="27432" anchor="ctr">
                    <a:solidFill>
                      <a:srgbClr val="FFFFFF"/>
                    </a:solidFill>
                  </a:tcPr>
                </a:tc>
                <a:tc>
                  <a:txBody>
                    <a:bodyPr wrap="square"/>
                    <a:lstStyle/>
                    <a:p>
                      <a:r>
                        <a:rPr sz="1300" b="0">
                          <a:solidFill>
                            <a:srgbClr val="222A35"/>
                          </a:solidFill>
                          <a:latin typeface="Arial"/>
                        </a:rPr>
                        <a:t>Headless host-GPU emulator; black frames stop the run</a:t>
                      </a:r>
                    </a:p>
                  </a:txBody>
                  <a:tcPr marL="54864" marR="54864" marT="27432" marB="27432" anchor="ctr">
                    <a:solidFill>
                      <a:srgbClr val="FFFFFF"/>
                    </a:solidFill>
                  </a:tcPr>
                </a:tc>
              </a:tr>
              <a:tr h="701040">
                <a:tc>
                  <a:txBody>
                    <a:bodyPr wrap="square"/>
                    <a:lstStyle/>
                    <a:p>
                      <a:r>
                        <a:rPr sz="1300" b="1">
                          <a:solidFill>
                            <a:srgbClr val="222A35"/>
                          </a:solidFill>
                          <a:latin typeface="Arial"/>
                        </a:rPr>
                        <a:t>Screen recording stopped</a:t>
                      </a:r>
                    </a:p>
                  </a:txBody>
                  <a:tcPr marL="54864" marR="54864" marT="27432" marB="27432" anchor="ctr">
                    <a:solidFill>
                      <a:srgbClr val="F2F5F9"/>
                    </a:solidFill>
                  </a:tcPr>
                </a:tc>
                <a:tc>
                  <a:txBody>
                    <a:bodyPr wrap="square"/>
                    <a:lstStyle/>
                    <a:p>
                      <a:r>
                        <a:rPr sz="1300" b="0">
                          <a:solidFill>
                            <a:srgbClr val="222A35"/>
                          </a:solidFill>
                          <a:latin typeface="Arial"/>
                        </a:rPr>
                        <a:t>Android tools restarted their server on a timeout</a:t>
                      </a:r>
                    </a:p>
                  </a:txBody>
                  <a:tcPr marL="54864" marR="54864" marT="27432" marB="27432" anchor="ctr">
                    <a:solidFill>
                      <a:srgbClr val="F2F5F9"/>
                    </a:solidFill>
                  </a:tcPr>
                </a:tc>
                <a:tc>
                  <a:txBody>
                    <a:bodyPr wrap="square"/>
                    <a:lstStyle/>
                    <a:p>
                      <a:r>
                        <a:rPr sz="1300" b="0">
                          <a:solidFill>
                            <a:srgbClr val="222A35"/>
                          </a:solidFill>
                          <a:latin typeface="Arial"/>
                        </a:rPr>
                        <a:t>Keep the server; longer app-start timeout</a:t>
                      </a:r>
                    </a:p>
                  </a:txBody>
                  <a:tcPr marL="54864" marR="54864" marT="27432" marB="27432" anchor="ctr">
                    <a:solidFill>
                      <a:srgbClr val="F2F5F9"/>
                    </a:solidFill>
                  </a:tcPr>
                </a:tc>
              </a:tr>
              <a:tr h="701040">
                <a:tc>
                  <a:txBody>
                    <a:bodyPr wrap="square"/>
                    <a:lstStyle/>
                    <a:p>
                      <a:r>
                        <a:rPr sz="1300" b="1">
                          <a:solidFill>
                            <a:srgbClr val="222A35"/>
                          </a:solidFill>
                          <a:latin typeface="Arial"/>
                        </a:rPr>
                        <a:t>App start timed out</a:t>
                      </a:r>
                    </a:p>
                  </a:txBody>
                  <a:tcPr marL="54864" marR="54864" marT="27432" marB="27432" anchor="ctr">
                    <a:solidFill>
                      <a:srgbClr val="FFFFFF"/>
                    </a:solidFill>
                  </a:tcPr>
                </a:tc>
                <a:tc>
                  <a:txBody>
                    <a:bodyPr wrap="square"/>
                    <a:lstStyle/>
                    <a:p>
                      <a:r>
                        <a:rPr sz="1300" b="0">
                          <a:solidFill>
                            <a:srgbClr val="222A35"/>
                          </a:solidFill>
                          <a:latin typeface="Arial"/>
                        </a:rPr>
                        <a:t>Cold start longer than 5 s</a:t>
                      </a:r>
                    </a:p>
                  </a:txBody>
                  <a:tcPr marL="54864" marR="54864" marT="27432" marB="27432" anchor="ctr">
                    <a:solidFill>
                      <a:srgbClr val="FFFFFF"/>
                    </a:solidFill>
                  </a:tcPr>
                </a:tc>
                <a:tc>
                  <a:txBody>
                    <a:bodyPr wrap="square"/>
                    <a:lstStyle/>
                    <a:p>
                      <a:r>
                        <a:rPr sz="1300" b="0">
                          <a:solidFill>
                            <a:srgbClr val="222A35"/>
                          </a:solidFill>
                          <a:latin typeface="Arial"/>
                        </a:rPr>
                        <a:t>30 s launch timeout</a:t>
                      </a:r>
                    </a:p>
                  </a:txBody>
                  <a:tcPr marL="54864" marR="54864" marT="27432" marB="27432" anchor="ctr">
                    <a:solidFill>
                      <a:srgbClr val="FFFFFF"/>
                    </a:solidFill>
                  </a:tcPr>
                </a:tc>
              </a:tr>
              <a:tr h="701040">
                <a:tc>
                  <a:txBody>
                    <a:bodyPr wrap="square"/>
                    <a:lstStyle/>
                    <a:p>
                      <a:r>
                        <a:rPr sz="1300" b="1">
                          <a:solidFill>
                            <a:srgbClr val="222A35"/>
                          </a:solidFill>
                          <a:latin typeface="Arial"/>
                        </a:rPr>
                        <a:t>“keeps stopping” dialog</a:t>
                      </a:r>
                    </a:p>
                  </a:txBody>
                  <a:tcPr marL="54864" marR="54864" marT="27432" marB="27432" anchor="ctr">
                    <a:solidFill>
                      <a:srgbClr val="F2F5F9"/>
                    </a:solidFill>
                  </a:tcPr>
                </a:tc>
                <a:tc>
                  <a:txBody>
                    <a:bodyPr wrap="square"/>
                    <a:lstStyle/>
                    <a:p>
                      <a:r>
                        <a:rPr sz="1300" b="0">
                          <a:solidFill>
                            <a:srgbClr val="222A35"/>
                          </a:solidFill>
                          <a:latin typeface="Arial"/>
                        </a:rPr>
                        <a:t>Accessibility service crash (11 of 25 OsmAnd runs)</a:t>
                      </a:r>
                    </a:p>
                  </a:txBody>
                  <a:tcPr marL="54864" marR="54864" marT="27432" marB="27432" anchor="ctr">
                    <a:solidFill>
                      <a:srgbClr val="F2F5F9"/>
                    </a:solidFill>
                  </a:tcPr>
                </a:tc>
                <a:tc>
                  <a:txBody>
                    <a:bodyPr wrap="square"/>
                    <a:lstStyle/>
                    <a:p>
                      <a:r>
                        <a:rPr sz="1300" b="0">
                          <a:solidFill>
                            <a:srgbClr val="222A35"/>
                          </a:solidFill>
                          <a:latin typeface="Arial"/>
                        </a:rPr>
                        <a:t>Model closes it; empty tree read again</a:t>
                      </a:r>
                    </a:p>
                  </a:txBody>
                  <a:tcPr marL="54864" marR="54864" marT="27432" marB="27432" anchor="ctr">
                    <a:solidFill>
                      <a:srgbClr val="F2F5F9"/>
                    </a:solidFill>
                  </a:tcPr>
                </a:tc>
              </a:tr>
              <a:tr h="701040">
                <a:tc>
                  <a:txBody>
                    <a:bodyPr wrap="square"/>
                    <a:lstStyle/>
                    <a:p>
                      <a:r>
                        <a:rPr sz="1300" b="1">
                          <a:solidFill>
                            <a:srgbClr val="222A35"/>
                          </a:solidFill>
                          <a:latin typeface="Arial"/>
                        </a:rPr>
                        <a:t>OsmAnd map missing</a:t>
                      </a:r>
                    </a:p>
                  </a:txBody>
                  <a:tcPr marL="54864" marR="54864" marT="27432" marB="27432" anchor="ctr">
                    <a:solidFill>
                      <a:srgbClr val="FFFFFF"/>
                    </a:solidFill>
                  </a:tcPr>
                </a:tc>
                <a:tc>
                  <a:txBody>
                    <a:bodyPr wrap="square"/>
                    <a:lstStyle/>
                    <a:p>
                      <a:r>
                        <a:rPr sz="1300" b="0">
                          <a:solidFill>
                            <a:srgbClr val="222A35"/>
                          </a:solidFill>
                          <a:latin typeface="Arial"/>
                        </a:rPr>
                        <a:t>Files task initialization deletes shared storage</a:t>
                      </a:r>
                    </a:p>
                  </a:txBody>
                  <a:tcPr marL="54864" marR="54864" marT="27432" marB="27432" anchor="ctr">
                    <a:solidFill>
                      <a:srgbClr val="FFFFFF"/>
                    </a:solidFill>
                  </a:tcPr>
                </a:tc>
                <a:tc>
                  <a:txBody>
                    <a:bodyPr wrap="square"/>
                    <a:lstStyle/>
                    <a:p>
                      <a:r>
                        <a:rPr sz="1300" b="0">
                          <a:solidFill>
                            <a:srgbClr val="222A35"/>
                          </a:solidFill>
                          <a:latin typeface="Arial"/>
                        </a:rPr>
                        <a:t>Check the map before OsmAnd; rerun official setup</a:t>
                      </a:r>
                    </a:p>
                  </a:txBody>
                  <a:tcPr marL="54864" marR="54864" marT="27432" marB="27432" anchor="ctr">
                    <a:solidFill>
                      <a:srgbClr val="FFFFFF"/>
                    </a:solidFill>
                  </a:tcPr>
                </a:tc>
              </a:tr>
            </a:tbl>
          </a:graphicData>
        </a:graphic>
      </p:graphicFrame>
      <p:pic>
        <p:nvPicPr>
          <p:cNvPr id="10" name="Picture 9" descr="forwarder_crash.png"/>
          <p:cNvPicPr>
            <a:picLocks noChangeAspect="1"/>
          </p:cNvPicPr>
          <p:nvPr/>
        </p:nvPicPr>
        <p:blipFill>
          <a:blip r:embed="rId3"/>
          <a:srcRect t="8000"/>
          <a:stretch>
            <a:fillRect/>
          </a:stretch>
        </p:blipFill>
        <p:spPr>
          <a:xfrm>
            <a:off x="8869680" y="1508760"/>
            <a:ext cx="1892808" cy="3869740"/>
          </a:xfrm>
          <a:prstGeom prst="roundRect">
            <a:avLst/>
          </a:prstGeom>
          <a:ln w="44450">
            <a:solidFill>
              <a:srgbClr val="1B1F2A"/>
            </a:solidFill>
          </a:ln>
        </p:spPr>
      </p:pic>
      <p:sp>
        <p:nvSpPr>
          <p:cNvPr id="11" name="TextBox 10"/>
          <p:cNvSpPr txBox="1"/>
          <p:nvPr/>
        </p:nvSpPr>
        <p:spPr>
          <a:xfrm>
            <a:off x="640080" y="5852160"/>
            <a:ext cx="10881360" cy="457200"/>
          </a:xfrm>
          <a:prstGeom prst="rect">
            <a:avLst/>
          </a:prstGeom>
          <a:noFill/>
        </p:spPr>
        <p:txBody>
          <a:bodyPr wrap="square" anchor="t" lIns="73152" rIns="73152">
            <a:spAutoFit/>
          </a:bodyPr>
          <a:lstStyle/>
          <a:p>
            <a:pPr algn="l">
              <a:lnSpc>
                <a:spcPct val="110000"/>
              </a:lnSpc>
            </a:pPr>
            <a:r>
              <a:rPr sz="1400" b="1" i="0">
                <a:solidFill>
                  <a:srgbClr val="0065BD"/>
                </a:solidFill>
                <a:latin typeface="Arial"/>
              </a:rPr>
              <a:t>Trust the harness before judging the model: without these fixes, setup faults would look like agent failures.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2E7D4F"/>
                </a:solidFill>
                <a:latin typeface="Arial"/>
              </a:rPr>
              <a:t>IMPROVEMENT</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The hardest task: from zero passes to two of three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21</a:t>
            </a:r>
          </a:p>
        </p:txBody>
      </p:sp>
      <p:graphicFrame>
        <p:nvGraphicFramePr>
          <p:cNvPr id="9" name="Chart 8"/>
          <p:cNvGraphicFramePr>
            <a:graphicFrameLocks noGrp="1"/>
          </p:cNvGraphicFramePr>
          <p:nvPr/>
        </p:nvGraphicFramePr>
        <p:xfrm>
          <a:off x="640080" y="1463040"/>
          <a:ext cx="7315200" cy="4846320"/>
        </p:xfrm>
        <a:graphic>
          <a:graphicData uri="http://schemas.openxmlformats.org/drawingml/2006/chart">
            <c:chart xmlns:c="http://schemas.openxmlformats.org/drawingml/2006/chart" r:id="rId3"/>
          </a:graphicData>
        </a:graphic>
      </p:graphicFrame>
      <p:sp>
        <p:nvSpPr>
          <p:cNvPr id="10" name="Rectangle 9"/>
          <p:cNvSpPr/>
          <p:nvPr/>
        </p:nvSpPr>
        <p:spPr>
          <a:xfrm>
            <a:off x="8229600" y="1554480"/>
            <a:ext cx="3337560" cy="44805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229600" y="1554480"/>
            <a:ext cx="54864" cy="448056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94192" y="1645920"/>
            <a:ext cx="3081528" cy="365760"/>
          </a:xfrm>
          <a:prstGeom prst="rect">
            <a:avLst/>
          </a:prstGeom>
          <a:noFill/>
        </p:spPr>
        <p:txBody>
          <a:bodyPr wrap="square" anchor="t" lIns="73152" rIns="73152">
            <a:spAutoFit/>
          </a:bodyPr>
          <a:lstStyle/>
          <a:p>
            <a:pPr algn="l">
              <a:lnSpc>
                <a:spcPct val="110000"/>
              </a:lnSpc>
            </a:pPr>
            <a:r>
              <a:rPr sz="1700" b="1" i="0">
                <a:solidFill>
                  <a:srgbClr val="072140"/>
                </a:solidFill>
                <a:latin typeface="Arial"/>
              </a:rPr>
              <a:t>What changed</a:t>
            </a:r>
          </a:p>
        </p:txBody>
      </p:sp>
      <p:sp>
        <p:nvSpPr>
          <p:cNvPr id="13" name="TextBox 12"/>
          <p:cNvSpPr txBox="1"/>
          <p:nvPr/>
        </p:nvSpPr>
        <p:spPr>
          <a:xfrm>
            <a:off x="8394192" y="2057400"/>
            <a:ext cx="3063240" cy="3931920"/>
          </a:xfrm>
          <a:prstGeom prst="rect">
            <a:avLst/>
          </a:prstGeom>
          <a:noFill/>
        </p:spPr>
        <p:txBody>
          <a:bodyPr wrap="square">
            <a:spAutoFit/>
          </a:bodyPr>
          <a:lstStyle/>
          <a:p>
            <a:pPr>
              <a:lnSpc>
                <a:spcPct val="108000"/>
              </a:lnSpc>
              <a:spcAft>
                <a:spcPts val="300"/>
              </a:spcAft>
            </a:pPr>
            <a:r>
              <a:rPr sz="1400">
                <a:solidFill>
                  <a:srgbClr val="0065BD"/>
                </a:solidFill>
                <a:latin typeface="Arial"/>
              </a:rPr>
              <a:t>▪  </a:t>
            </a:r>
            <a:r>
              <a:rPr sz="1400" b="0">
                <a:solidFill>
                  <a:srgbClr val="222A35"/>
                </a:solidFill>
                <a:latin typeface="Arial"/>
              </a:rPr>
              <a:t>Skill as text: the model often ignored it</a:t>
            </a:r>
          </a:p>
          <a:p>
            <a:pPr>
              <a:lnSpc>
                <a:spcPct val="108000"/>
              </a:lnSpc>
              <a:spcAft>
                <a:spcPts val="300"/>
              </a:spcAft>
            </a:pPr>
            <a:r>
              <a:rPr sz="1400">
                <a:solidFill>
                  <a:srgbClr val="0065BD"/>
                </a:solidFill>
                <a:latin typeface="Arial"/>
              </a:rPr>
              <a:t>▪  </a:t>
            </a:r>
            <a:r>
              <a:rPr sz="1400" b="0">
                <a:solidFill>
                  <a:srgbClr val="222A35"/>
                </a:solidFill>
                <a:latin typeface="Arial"/>
              </a:rPr>
              <a:t>Rules on the model’s words: bypassed</a:t>
            </a:r>
          </a:p>
          <a:p>
            <a:pPr>
              <a:lnSpc>
                <a:spcPct val="108000"/>
              </a:lnSpc>
              <a:spcAft>
                <a:spcPts val="300"/>
              </a:spcAft>
            </a:pPr>
            <a:r>
              <a:rPr sz="1400">
                <a:solidFill>
                  <a:srgbClr val="0065BD"/>
                </a:solidFill>
                <a:latin typeface="Arial"/>
              </a:rPr>
              <a:t>▪  </a:t>
            </a:r>
            <a:r>
              <a:rPr sz="1400" b="1">
                <a:solidFill>
                  <a:srgbClr val="222A35"/>
                </a:solidFill>
                <a:latin typeface="Arial"/>
              </a:rPr>
              <a:t>Program reads the screen</a:t>
            </a:r>
            <a:r>
              <a:rPr sz="1400" b="0">
                <a:solidFill>
                  <a:srgbClr val="222A35"/>
                </a:solidFill>
                <a:latin typeface="Arial"/>
              </a:rPr>
              <a:t> (accessibility tree)</a:t>
            </a:r>
          </a:p>
          <a:p>
            <a:pPr>
              <a:lnSpc>
                <a:spcPct val="108000"/>
              </a:lnSpc>
              <a:spcAft>
                <a:spcPts val="300"/>
              </a:spcAft>
            </a:pPr>
            <a:r>
              <a:rPr sz="1400">
                <a:solidFill>
                  <a:srgbClr val="0065BD"/>
                </a:solidFill>
                <a:latin typeface="Arial"/>
              </a:rPr>
              <a:t>▪  </a:t>
            </a:r>
            <a:r>
              <a:rPr sz="1400" b="1">
                <a:solidFill>
                  <a:srgbClr val="222A35"/>
                </a:solidFill>
                <a:latin typeface="Arial"/>
              </a:rPr>
              <a:t>Skill as code</a:t>
            </a:r>
            <a:r>
              <a:rPr sz="1400" b="0">
                <a:solidFill>
                  <a:srgbClr val="222A35"/>
                </a:solidFill>
                <a:latin typeface="Arial"/>
              </a:rPr>
              <a:t>: next step + tap centre</a:t>
            </a:r>
          </a:p>
          <a:p>
            <a:pPr>
              <a:lnSpc>
                <a:spcPct val="108000"/>
              </a:lnSpc>
              <a:spcAft>
                <a:spcPts val="300"/>
              </a:spcAft>
            </a:pPr>
            <a:r>
              <a:rPr sz="1400">
                <a:solidFill>
                  <a:srgbClr val="0065BD"/>
                </a:solidFill>
                <a:latin typeface="Arial"/>
              </a:rPr>
              <a:t>▪  </a:t>
            </a:r>
            <a:r>
              <a:rPr sz="1400" b="0">
                <a:solidFill>
                  <a:srgbClr val="222A35"/>
                </a:solidFill>
                <a:latin typeface="Arial"/>
              </a:rPr>
              <a:t>Each fix tested on practice seeds, never on the evaluation seeds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2E7D4F"/>
                </a:solidFill>
                <a:latin typeface="Arial"/>
              </a:rPr>
              <a:t>IMPROVEMENT</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Before and after: only the Skill changed</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22</a:t>
            </a:r>
          </a:p>
        </p:txBody>
      </p:sp>
      <p:graphicFrame>
        <p:nvGraphicFramePr>
          <p:cNvPr id="9" name="Table 8"/>
          <p:cNvGraphicFramePr>
            <a:graphicFrameLocks noGrp="1"/>
          </p:cNvGraphicFramePr>
          <p:nvPr/>
        </p:nvGraphicFramePr>
        <p:xfrm>
          <a:off x="640080" y="1554480"/>
          <a:ext cx="5669280" cy="3017520"/>
        </p:xfrm>
        <a:graphic>
          <a:graphicData uri="http://schemas.openxmlformats.org/drawingml/2006/table">
            <a:tbl>
              <a:tblPr firstRow="1" bandRow="1">
                <a:tableStyleId>{5C22544A-7EE6-4342-B048-85BDC9FD1C3A}</a:tableStyleId>
              </a:tblPr>
              <a:tblGrid>
                <a:gridCol w="3291840"/>
                <a:gridCol w="1188720"/>
                <a:gridCol w="1188720"/>
              </a:tblGrid>
              <a:tr h="502920">
                <a:tc>
                  <a:txBody>
                    <a:bodyPr wrap="square"/>
                    <a:lstStyle/>
                    <a:p>
                      <a:r>
                        <a:rPr sz="1400" b="1">
                          <a:solidFill>
                            <a:srgbClr val="FFFFFF"/>
                          </a:solidFill>
                          <a:latin typeface="Arial"/>
                        </a:rPr>
                        <a:t>OsmAnd, seeds 31 / 314 / 366</a:t>
                      </a:r>
                    </a:p>
                  </a:txBody>
                  <a:tcPr marL="54864" marR="54864" marT="27432" marB="27432" anchor="ctr">
                    <a:solidFill>
                      <a:srgbClr val="072140"/>
                    </a:solidFill>
                  </a:tcPr>
                </a:tc>
                <a:tc>
                  <a:txBody>
                    <a:bodyPr wrap="square"/>
                    <a:lstStyle/>
                    <a:p>
                      <a:pPr algn="ctr"/>
                      <a:r>
                        <a:rPr sz="1400" b="1">
                          <a:solidFill>
                            <a:srgbClr val="FFFFFF"/>
                          </a:solidFill>
                          <a:latin typeface="Arial"/>
                        </a:rPr>
                        <a:t>No Skill</a:t>
                      </a:r>
                    </a:p>
                  </a:txBody>
                  <a:tcPr marL="54864" marR="54864" marT="27432" marB="27432" anchor="ctr">
                    <a:solidFill>
                      <a:srgbClr val="072140"/>
                    </a:solidFill>
                  </a:tcPr>
                </a:tc>
                <a:tc>
                  <a:txBody>
                    <a:bodyPr wrap="square"/>
                    <a:lstStyle/>
                    <a:p>
                      <a:pPr algn="ctr"/>
                      <a:r>
                        <a:rPr sz="1400" b="1">
                          <a:solidFill>
                            <a:srgbClr val="FFFFFF"/>
                          </a:solidFill>
                          <a:latin typeface="Arial"/>
                        </a:rPr>
                        <a:t>Skill</a:t>
                      </a:r>
                    </a:p>
                  </a:txBody>
                  <a:tcPr marL="54864" marR="54864" marT="27432" marB="27432" anchor="ctr">
                    <a:solidFill>
                      <a:srgbClr val="072140"/>
                    </a:solidFill>
                  </a:tcPr>
                </a:tc>
              </a:tr>
              <a:tr h="502920">
                <a:tc>
                  <a:txBody>
                    <a:bodyPr wrap="square"/>
                    <a:lstStyle/>
                    <a:p>
                      <a:r>
                        <a:rPr sz="1400" b="1">
                          <a:solidFill>
                            <a:srgbClr val="222A35"/>
                          </a:solidFill>
                          <a:latin typeface="Arial"/>
                        </a:rPr>
                        <a:t>Official verifier PASS</a:t>
                      </a:r>
                    </a:p>
                  </a:txBody>
                  <a:tcPr marL="54864" marR="54864" marT="27432" marB="27432" anchor="ctr">
                    <a:solidFill>
                      <a:srgbClr val="FFFFFF"/>
                    </a:solidFill>
                  </a:tcPr>
                </a:tc>
                <a:tc>
                  <a:txBody>
                    <a:bodyPr wrap="square"/>
                    <a:lstStyle/>
                    <a:p>
                      <a:pPr algn="ctr"/>
                      <a:r>
                        <a:rPr sz="1400" b="1">
                          <a:solidFill>
                            <a:srgbClr val="FFFFFF"/>
                          </a:solidFill>
                          <a:latin typeface="Arial"/>
                        </a:rPr>
                        <a:t>0 / 3</a:t>
                      </a:r>
                    </a:p>
                  </a:txBody>
                  <a:tcPr marL="54864" marR="54864" marT="27432" marB="27432" anchor="ctr">
                    <a:solidFill>
                      <a:srgbClr val="E37222"/>
                    </a:solidFill>
                  </a:tcPr>
                </a:tc>
                <a:tc>
                  <a:txBody>
                    <a:bodyPr wrap="square"/>
                    <a:lstStyle/>
                    <a:p>
                      <a:pPr algn="ctr"/>
                      <a:r>
                        <a:rPr sz="1400" b="1">
                          <a:solidFill>
                            <a:srgbClr val="FFFFFF"/>
                          </a:solidFill>
                          <a:latin typeface="Arial"/>
                        </a:rPr>
                        <a:t>2 / 3</a:t>
                      </a:r>
                    </a:p>
                  </a:txBody>
                  <a:tcPr marL="54864" marR="54864" marT="27432" marB="27432" anchor="ctr">
                    <a:solidFill>
                      <a:srgbClr val="0065BD"/>
                    </a:solidFill>
                  </a:tcPr>
                </a:tc>
              </a:tr>
              <a:tr h="502920">
                <a:tc>
                  <a:txBody>
                    <a:bodyPr wrap="square"/>
                    <a:lstStyle/>
                    <a:p>
                      <a:r>
                        <a:rPr sz="1400" b="1">
                          <a:solidFill>
                            <a:srgbClr val="222A35"/>
                          </a:solidFill>
                          <a:latin typeface="Arial"/>
                        </a:rPr>
                        <a:t>Searched the place name only</a:t>
                      </a:r>
                    </a:p>
                  </a:txBody>
                  <a:tcPr marL="54864" marR="54864" marT="27432" marB="27432" anchor="ctr">
                    <a:solidFill>
                      <a:srgbClr val="F2F5F9"/>
                    </a:solidFill>
                  </a:tcPr>
                </a:tc>
                <a:tc>
                  <a:txBody>
                    <a:bodyPr wrap="square"/>
                    <a:lstStyle/>
                    <a:p>
                      <a:pPr algn="ctr"/>
                      <a:r>
                        <a:rPr sz="1400" b="0">
                          <a:solidFill>
                            <a:srgbClr val="222A35"/>
                          </a:solidFill>
                          <a:latin typeface="Arial"/>
                        </a:rPr>
                        <a:t>0 / 3</a:t>
                      </a:r>
                    </a:p>
                  </a:txBody>
                  <a:tcPr marL="54864" marR="54864" marT="27432" marB="27432" anchor="ctr">
                    <a:solidFill>
                      <a:srgbClr val="F2F5F9"/>
                    </a:solidFill>
                  </a:tcPr>
                </a:tc>
                <a:tc>
                  <a:txBody>
                    <a:bodyPr wrap="square"/>
                    <a:lstStyle/>
                    <a:p>
                      <a:pPr algn="ctr"/>
                      <a:r>
                        <a:rPr sz="1400" b="0">
                          <a:solidFill>
                            <a:srgbClr val="222A35"/>
                          </a:solidFill>
                          <a:latin typeface="Arial"/>
                        </a:rPr>
                        <a:t>3 / 3</a:t>
                      </a:r>
                    </a:p>
                  </a:txBody>
                  <a:tcPr marL="54864" marR="54864" marT="27432" marB="27432" anchor="ctr">
                    <a:solidFill>
                      <a:srgbClr val="F2F5F9"/>
                    </a:solidFill>
                  </a:tcPr>
                </a:tc>
              </a:tr>
              <a:tr h="502920">
                <a:tc>
                  <a:txBody>
                    <a:bodyPr wrap="square"/>
                    <a:lstStyle/>
                    <a:p>
                      <a:r>
                        <a:rPr sz="1400" b="1">
                          <a:solidFill>
                            <a:srgbClr val="222A35"/>
                          </a:solidFill>
                          <a:latin typeface="Arial"/>
                        </a:rPr>
                        <a:t>Route started with a searched place</a:t>
                      </a:r>
                    </a:p>
                  </a:txBody>
                  <a:tcPr marL="54864" marR="54864" marT="27432" marB="27432" anchor="ctr">
                    <a:solidFill>
                      <a:srgbClr val="FFFFFF"/>
                    </a:solidFill>
                  </a:tcPr>
                </a:tc>
                <a:tc>
                  <a:txBody>
                    <a:bodyPr wrap="square"/>
                    <a:lstStyle/>
                    <a:p>
                      <a:pPr algn="ctr"/>
                      <a:r>
                        <a:rPr sz="1400" b="0">
                          <a:solidFill>
                            <a:srgbClr val="222A35"/>
                          </a:solidFill>
                          <a:latin typeface="Arial"/>
                        </a:rPr>
                        <a:t>0 / 3</a:t>
                      </a:r>
                    </a:p>
                  </a:txBody>
                  <a:tcPr marL="54864" marR="54864" marT="27432" marB="27432" anchor="ctr">
                    <a:solidFill>
                      <a:srgbClr val="FFFFFF"/>
                    </a:solidFill>
                  </a:tcPr>
                </a:tc>
                <a:tc>
                  <a:txBody>
                    <a:bodyPr wrap="square"/>
                    <a:lstStyle/>
                    <a:p>
                      <a:pPr algn="ctr"/>
                      <a:r>
                        <a:rPr sz="1400" b="0">
                          <a:solidFill>
                            <a:srgbClr val="222A35"/>
                          </a:solidFill>
                          <a:latin typeface="Arial"/>
                        </a:rPr>
                        <a:t>2 / 3</a:t>
                      </a:r>
                    </a:p>
                  </a:txBody>
                  <a:tcPr marL="54864" marR="54864" marT="27432" marB="27432" anchor="ctr">
                    <a:solidFill>
                      <a:srgbClr val="FFFFFF"/>
                    </a:solidFill>
                  </a:tcPr>
                </a:tc>
              </a:tr>
              <a:tr h="502920">
                <a:tc>
                  <a:txBody>
                    <a:bodyPr wrap="square"/>
                    <a:lstStyle/>
                    <a:p>
                      <a:r>
                        <a:rPr sz="1400" b="1">
                          <a:solidFill>
                            <a:srgbClr val="222A35"/>
                          </a:solidFill>
                          <a:latin typeface="Arial"/>
                        </a:rPr>
                        <a:t>Saved a track</a:t>
                      </a:r>
                    </a:p>
                  </a:txBody>
                  <a:tcPr marL="54864" marR="54864" marT="27432" marB="27432" anchor="ctr">
                    <a:solidFill>
                      <a:srgbClr val="F2F5F9"/>
                    </a:solidFill>
                  </a:tcPr>
                </a:tc>
                <a:tc>
                  <a:txBody>
                    <a:bodyPr wrap="square"/>
                    <a:lstStyle/>
                    <a:p>
                      <a:pPr algn="ctr"/>
                      <a:r>
                        <a:rPr sz="1400" b="0">
                          <a:solidFill>
                            <a:srgbClr val="222A35"/>
                          </a:solidFill>
                          <a:latin typeface="Arial"/>
                        </a:rPr>
                        <a:t>0 / 3</a:t>
                      </a:r>
                    </a:p>
                  </a:txBody>
                  <a:tcPr marL="54864" marR="54864" marT="27432" marB="27432" anchor="ctr">
                    <a:solidFill>
                      <a:srgbClr val="F2F5F9"/>
                    </a:solidFill>
                  </a:tcPr>
                </a:tc>
                <a:tc>
                  <a:txBody>
                    <a:bodyPr wrap="square"/>
                    <a:lstStyle/>
                    <a:p>
                      <a:pPr algn="ctr"/>
                      <a:r>
                        <a:rPr sz="1400" b="0">
                          <a:solidFill>
                            <a:srgbClr val="222A35"/>
                          </a:solidFill>
                          <a:latin typeface="Arial"/>
                        </a:rPr>
                        <a:t>2 / 3</a:t>
                      </a:r>
                    </a:p>
                  </a:txBody>
                  <a:tcPr marL="54864" marR="54864" marT="27432" marB="27432" anchor="ctr">
                    <a:solidFill>
                      <a:srgbClr val="F2F5F9"/>
                    </a:solidFill>
                  </a:tcPr>
                </a:tc>
              </a:tr>
              <a:tr h="502920">
                <a:tc>
                  <a:txBody>
                    <a:bodyPr wrap="square"/>
                    <a:lstStyle/>
                    <a:p>
                      <a:r>
                        <a:rPr sz="1400" b="1">
                          <a:solidFill>
                            <a:srgbClr val="222A35"/>
                          </a:solidFill>
                          <a:latin typeface="Arial"/>
                        </a:rPr>
                        <a:t>Mean steps</a:t>
                      </a:r>
                    </a:p>
                  </a:txBody>
                  <a:tcPr marL="54864" marR="54864" marT="27432" marB="27432" anchor="ctr">
                    <a:solidFill>
                      <a:srgbClr val="FFFFFF"/>
                    </a:solidFill>
                  </a:tcPr>
                </a:tc>
                <a:tc>
                  <a:txBody>
                    <a:bodyPr wrap="square"/>
                    <a:lstStyle/>
                    <a:p>
                      <a:pPr algn="ctr"/>
                      <a:r>
                        <a:rPr sz="1400" b="0">
                          <a:solidFill>
                            <a:srgbClr val="222A35"/>
                          </a:solidFill>
                          <a:latin typeface="Arial"/>
                        </a:rPr>
                        <a:t>23.3</a:t>
                      </a:r>
                    </a:p>
                  </a:txBody>
                  <a:tcPr marL="54864" marR="54864" marT="27432" marB="27432" anchor="ctr">
                    <a:solidFill>
                      <a:srgbClr val="FFFFFF"/>
                    </a:solidFill>
                  </a:tcPr>
                </a:tc>
                <a:tc>
                  <a:txBody>
                    <a:bodyPr wrap="square"/>
                    <a:lstStyle/>
                    <a:p>
                      <a:pPr algn="ctr"/>
                      <a:r>
                        <a:rPr sz="1400" b="0">
                          <a:solidFill>
                            <a:srgbClr val="222A35"/>
                          </a:solidFill>
                          <a:latin typeface="Arial"/>
                        </a:rPr>
                        <a:t>18.7</a:t>
                      </a:r>
                    </a:p>
                  </a:txBody>
                  <a:tcPr marL="54864" marR="54864" marT="27432" marB="27432" anchor="ctr">
                    <a:solidFill>
                      <a:srgbClr val="FFFFFF"/>
                    </a:solidFill>
                  </a:tcPr>
                </a:tc>
              </a:tr>
            </a:tbl>
          </a:graphicData>
        </a:graphic>
      </p:graphicFrame>
      <p:sp>
        <p:nvSpPr>
          <p:cNvPr id="10" name="TextBox 9"/>
          <p:cNvSpPr txBox="1"/>
          <p:nvPr/>
        </p:nvSpPr>
        <p:spPr>
          <a:xfrm>
            <a:off x="640080" y="4754880"/>
            <a:ext cx="5669280" cy="1463040"/>
          </a:xfrm>
          <a:prstGeom prst="rect">
            <a:avLst/>
          </a:prstGeom>
          <a:noFill/>
        </p:spPr>
        <p:txBody>
          <a:bodyPr wrap="square" anchor="t" lIns="73152" rIns="73152">
            <a:spAutoFit/>
          </a:bodyPr>
          <a:lstStyle/>
          <a:p>
            <a:pPr algn="l">
              <a:lnSpc>
                <a:spcPct val="110000"/>
              </a:lnSpc>
            </a:pPr>
            <a:r>
              <a:rPr sz="1200" b="0" i="0">
                <a:solidFill>
                  <a:srgbClr val="5E6773"/>
                </a:solidFill>
                <a:latin typeface="Arial"/>
              </a:rPr>
              <a:t>Frozen v61 (tag osmand-extra-v61); identical source hashes in both batches; only task_skills differs. Three runs per side is a small sample.</a:t>
            </a:r>
          </a:p>
        </p:txBody>
      </p:sp>
      <p:graphicFrame>
        <p:nvGraphicFramePr>
          <p:cNvPr id="11" name="Chart 10"/>
          <p:cNvGraphicFramePr>
            <a:graphicFrameLocks noGrp="1"/>
          </p:cNvGraphicFramePr>
          <p:nvPr/>
        </p:nvGraphicFramePr>
        <p:xfrm>
          <a:off x="6583680" y="1463040"/>
          <a:ext cx="4983480" cy="4846320"/>
        </p:xfrm>
        <a:graphic>
          <a:graphicData uri="http://schemas.openxmlformats.org/drawingml/2006/chart">
            <c:chart xmlns:c="http://schemas.openxmlformats.org/drawingml/2006/chart" r:id="rId3"/>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2E7D4F"/>
                </a:solidFill>
                <a:latin typeface="Arial"/>
              </a:rPr>
              <a:t>IMPROVEMENT</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Every failure taught us something we built into the final agent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23</a:t>
            </a:r>
          </a:p>
        </p:txBody>
      </p:sp>
      <p:graphicFrame>
        <p:nvGraphicFramePr>
          <p:cNvPr id="9" name="Table 8"/>
          <p:cNvGraphicFramePr>
            <a:graphicFrameLocks noGrp="1"/>
          </p:cNvGraphicFramePr>
          <p:nvPr/>
        </p:nvGraphicFramePr>
        <p:xfrm>
          <a:off x="640080" y="1554480"/>
          <a:ext cx="10927080" cy="3749039"/>
        </p:xfrm>
        <a:graphic>
          <a:graphicData uri="http://schemas.openxmlformats.org/drawingml/2006/table">
            <a:tbl>
              <a:tblPr firstRow="1" bandRow="1">
                <a:tableStyleId>{5C22544A-7EE6-4342-B048-85BDC9FD1C3A}</a:tableStyleId>
              </a:tblPr>
              <a:tblGrid>
                <a:gridCol w="2651760"/>
                <a:gridCol w="2926080"/>
                <a:gridCol w="3291840"/>
                <a:gridCol w="2057400"/>
              </a:tblGrid>
              <a:tr h="624839">
                <a:tc>
                  <a:txBody>
                    <a:bodyPr wrap="square"/>
                    <a:lstStyle/>
                    <a:p>
                      <a:r>
                        <a:rPr sz="1300" b="1">
                          <a:solidFill>
                            <a:srgbClr val="FFFFFF"/>
                          </a:solidFill>
                          <a:latin typeface="Arial"/>
                        </a:rPr>
                        <a:t>Failure we saw</a:t>
                      </a:r>
                    </a:p>
                  </a:txBody>
                  <a:tcPr marL="54864" marR="54864" marT="27432" marB="27432" anchor="ctr">
                    <a:solidFill>
                      <a:srgbClr val="072140"/>
                    </a:solidFill>
                  </a:tcPr>
                </a:tc>
                <a:tc>
                  <a:txBody>
                    <a:bodyPr wrap="square"/>
                    <a:lstStyle/>
                    <a:p>
                      <a:r>
                        <a:rPr sz="1300" b="1">
                          <a:solidFill>
                            <a:srgbClr val="FFFFFF"/>
                          </a:solidFill>
                          <a:latin typeface="Arial"/>
                        </a:rPr>
                        <a:t>Cause</a:t>
                      </a:r>
                    </a:p>
                  </a:txBody>
                  <a:tcPr marL="54864" marR="54864" marT="27432" marB="27432" anchor="ctr">
                    <a:solidFill>
                      <a:srgbClr val="072140"/>
                    </a:solidFill>
                  </a:tcPr>
                </a:tc>
                <a:tc>
                  <a:txBody>
                    <a:bodyPr wrap="square"/>
                    <a:lstStyle/>
                    <a:p>
                      <a:r>
                        <a:rPr sz="1300" b="1">
                          <a:solidFill>
                            <a:srgbClr val="FFFFFF"/>
                          </a:solidFill>
                          <a:latin typeface="Arial"/>
                        </a:rPr>
                        <a:t>Change</a:t>
                      </a:r>
                    </a:p>
                  </a:txBody>
                  <a:tcPr marL="54864" marR="54864" marT="27432" marB="27432" anchor="ctr">
                    <a:solidFill>
                      <a:srgbClr val="072140"/>
                    </a:solidFill>
                  </a:tcPr>
                </a:tc>
                <a:tc>
                  <a:txBody>
                    <a:bodyPr wrap="square"/>
                    <a:lstStyle/>
                    <a:p>
                      <a:r>
                        <a:rPr sz="1300" b="1">
                          <a:solidFill>
                            <a:srgbClr val="FFFFFF"/>
                          </a:solidFill>
                          <a:latin typeface="Arial"/>
                        </a:rPr>
                        <a:t>Final result</a:t>
                      </a:r>
                    </a:p>
                  </a:txBody>
                  <a:tcPr marL="54864" marR="54864" marT="27432" marB="27432" anchor="ctr">
                    <a:solidFill>
                      <a:srgbClr val="072140"/>
                    </a:solidFill>
                  </a:tcPr>
                </a:tc>
              </a:tr>
              <a:tr h="624839">
                <a:tc>
                  <a:txBody>
                    <a:bodyPr wrap="square"/>
                    <a:lstStyle/>
                    <a:p>
                      <a:r>
                        <a:rPr sz="1300" b="1">
                          <a:solidFill>
                            <a:srgbClr val="222A35"/>
                          </a:solidFill>
                          <a:latin typeface="Arial"/>
                        </a:rPr>
                        <a:t>Markor: message “Not sent”</a:t>
                      </a:r>
                    </a:p>
                  </a:txBody>
                  <a:tcPr marL="54864" marR="54864" marT="27432" marB="27432" anchor="ctr">
                    <a:solidFill>
                      <a:srgbClr val="FFFFFF"/>
                    </a:solidFill>
                  </a:tcPr>
                </a:tc>
                <a:tc>
                  <a:txBody>
                    <a:bodyPr wrap="square"/>
                    <a:lstStyle/>
                    <a:p>
                      <a:r>
                        <a:rPr sz="1300" b="0">
                          <a:solidFill>
                            <a:srgbClr val="222A35"/>
                          </a:solidFill>
                          <a:latin typeface="Arial"/>
                        </a:rPr>
                        <a:t>Markor’s Share menu makes an MMS</a:t>
                      </a:r>
                    </a:p>
                  </a:txBody>
                  <a:tcPr marL="54864" marR="54864" marT="27432" marB="27432" anchor="ctr">
                    <a:solidFill>
                      <a:srgbClr val="FFFFFF"/>
                    </a:solidFill>
                  </a:tcPr>
                </a:tc>
                <a:tc>
                  <a:txBody>
                    <a:bodyPr wrap="square"/>
                    <a:lstStyle/>
                    <a:p>
                      <a:r>
                        <a:rPr sz="1300" b="0">
                          <a:solidFill>
                            <a:srgbClr val="222A35"/>
                          </a:solidFill>
                          <a:latin typeface="Arial"/>
                        </a:rPr>
                        <a:t>Markor Skill: plain SMS, SMS button</a:t>
                      </a:r>
                    </a:p>
                  </a:txBody>
                  <a:tcPr marL="54864" marR="54864" marT="27432" marB="27432" anchor="ctr">
                    <a:solidFill>
                      <a:srgbClr val="FFFFFF"/>
                    </a:solidFill>
                  </a:tcPr>
                </a:tc>
                <a:tc>
                  <a:txBody>
                    <a:bodyPr wrap="square"/>
                    <a:lstStyle/>
                    <a:p>
                      <a:r>
                        <a:rPr sz="1300" b="0">
                          <a:solidFill>
                            <a:srgbClr val="222A35"/>
                          </a:solidFill>
                          <a:latin typeface="Arial"/>
                        </a:rPr>
                        <a:t>Markor 3 / 3</a:t>
                      </a:r>
                    </a:p>
                  </a:txBody>
                  <a:tcPr marL="54864" marR="54864" marT="27432" marB="27432" anchor="ctr">
                    <a:solidFill>
                      <a:srgbClr val="FFFFFF"/>
                    </a:solidFill>
                  </a:tcPr>
                </a:tc>
              </a:tr>
              <a:tr h="624839">
                <a:tc>
                  <a:txBody>
                    <a:bodyPr wrap="square"/>
                    <a:lstStyle/>
                    <a:p>
                      <a:r>
                        <a:rPr sz="1300" b="1">
                          <a:solidFill>
                            <a:srgbClr val="222A35"/>
                          </a:solidFill>
                          <a:latin typeface="Arial"/>
                        </a:rPr>
                        <a:t>Markor: typing refused</a:t>
                      </a:r>
                    </a:p>
                  </a:txBody>
                  <a:tcPr marL="54864" marR="54864" marT="27432" marB="27432" anchor="ctr">
                    <a:solidFill>
                      <a:srgbClr val="F2F5F9"/>
                    </a:solidFill>
                  </a:tcPr>
                </a:tc>
                <a:tc>
                  <a:txBody>
                    <a:bodyPr wrap="square"/>
                    <a:lstStyle/>
                    <a:p>
                      <a:r>
                        <a:rPr sz="1300" b="0">
                          <a:solidFill>
                            <a:srgbClr val="222A35"/>
                          </a:solidFill>
                          <a:latin typeface="Arial"/>
                        </a:rPr>
                        <a:t>Custom editor not seen as a text field</a:t>
                      </a:r>
                    </a:p>
                  </a:txBody>
                  <a:tcPr marL="54864" marR="54864" marT="27432" marB="27432" anchor="ctr">
                    <a:solidFill>
                      <a:srgbClr val="F2F5F9"/>
                    </a:solidFill>
                  </a:tcPr>
                </a:tc>
                <a:tc>
                  <a:txBody>
                    <a:bodyPr wrap="square"/>
                    <a:lstStyle/>
                    <a:p>
                      <a:r>
                        <a:rPr sz="1300" b="0">
                          <a:solidFill>
                            <a:srgbClr val="222A35"/>
                          </a:solidFill>
                          <a:latin typeface="Arial"/>
                        </a:rPr>
                        <a:t>Focus check accepts the editor</a:t>
                      </a:r>
                    </a:p>
                  </a:txBody>
                  <a:tcPr marL="54864" marR="54864" marT="27432" marB="27432" anchor="ctr">
                    <a:solidFill>
                      <a:srgbClr val="F2F5F9"/>
                    </a:solidFill>
                  </a:tcPr>
                </a:tc>
                <a:tc>
                  <a:txBody>
                    <a:bodyPr wrap="square"/>
                    <a:lstStyle/>
                    <a:p>
                      <a:r>
                        <a:rPr sz="1300" b="0">
                          <a:solidFill>
                            <a:srgbClr val="222A35"/>
                          </a:solidFill>
                          <a:latin typeface="Arial"/>
                        </a:rPr>
                        <a:t>Markor 3 / 3</a:t>
                      </a:r>
                    </a:p>
                  </a:txBody>
                  <a:tcPr marL="54864" marR="54864" marT="27432" marB="27432" anchor="ctr">
                    <a:solidFill>
                      <a:srgbClr val="F2F5F9"/>
                    </a:solidFill>
                  </a:tcPr>
                </a:tc>
              </a:tr>
              <a:tr h="624839">
                <a:tc>
                  <a:txBody>
                    <a:bodyPr wrap="square"/>
                    <a:lstStyle/>
                    <a:p>
                      <a:r>
                        <a:rPr sz="1300" b="1">
                          <a:solidFill>
                            <a:srgbClr val="222A35"/>
                          </a:solidFill>
                          <a:latin typeface="Arial"/>
                        </a:rPr>
                        <a:t>SMS app name in Chinese</a:t>
                      </a:r>
                    </a:p>
                  </a:txBody>
                  <a:tcPr marL="54864" marR="54864" marT="27432" marB="27432" anchor="ctr">
                    <a:solidFill>
                      <a:srgbClr val="FFFFFF"/>
                    </a:solidFill>
                  </a:tcPr>
                </a:tc>
                <a:tc>
                  <a:txBody>
                    <a:bodyPr wrap="square"/>
                    <a:lstStyle/>
                    <a:p>
                      <a:r>
                        <a:rPr sz="1300" b="0">
                          <a:solidFill>
                            <a:srgbClr val="222A35"/>
                          </a:solidFill>
                          <a:latin typeface="Arial"/>
                        </a:rPr>
                        <a:t>Two apps allowed, name unclear</a:t>
                      </a:r>
                    </a:p>
                  </a:txBody>
                  <a:tcPr marL="54864" marR="54864" marT="27432" marB="27432" anchor="ctr">
                    <a:solidFill>
                      <a:srgbClr val="FFFFFF"/>
                    </a:solidFill>
                  </a:tcPr>
                </a:tc>
                <a:tc>
                  <a:txBody>
                    <a:bodyPr wrap="square"/>
                    <a:lstStyle/>
                    <a:p>
                      <a:r>
                        <a:rPr sz="1300" b="0">
                          <a:solidFill>
                            <a:srgbClr val="222A35"/>
                          </a:solidFill>
                          <a:latin typeface="Arial"/>
                        </a:rPr>
                        <a:t>Alias table for known translations</a:t>
                      </a:r>
                    </a:p>
                  </a:txBody>
                  <a:tcPr marL="54864" marR="54864" marT="27432" marB="27432" anchor="ctr">
                    <a:solidFill>
                      <a:srgbClr val="FFFFFF"/>
                    </a:solidFill>
                  </a:tcPr>
                </a:tc>
                <a:tc>
                  <a:txBody>
                    <a:bodyPr wrap="square"/>
                    <a:lstStyle/>
                    <a:p>
                      <a:r>
                        <a:rPr sz="1300" b="0">
                          <a:solidFill>
                            <a:srgbClr val="222A35"/>
                          </a:solidFill>
                          <a:latin typeface="Arial"/>
                        </a:rPr>
                        <a:t>Markor 3 / 3</a:t>
                      </a:r>
                    </a:p>
                  </a:txBody>
                  <a:tcPr marL="54864" marR="54864" marT="27432" marB="27432" anchor="ctr">
                    <a:solidFill>
                      <a:srgbClr val="FFFFFF"/>
                    </a:solidFill>
                  </a:tcPr>
                </a:tc>
              </a:tr>
              <a:tr h="624839">
                <a:tc>
                  <a:txBody>
                    <a:bodyPr wrap="square"/>
                    <a:lstStyle/>
                    <a:p>
                      <a:r>
                        <a:rPr sz="1300" b="1">
                          <a:solidFill>
                            <a:srgbClr val="222A35"/>
                          </a:solidFill>
                          <a:latin typeface="Arial"/>
                        </a:rPr>
                        <a:t>OsmAnd map missing</a:t>
                      </a:r>
                    </a:p>
                  </a:txBody>
                  <a:tcPr marL="54864" marR="54864" marT="27432" marB="27432" anchor="ctr">
                    <a:solidFill>
                      <a:srgbClr val="F2F5F9"/>
                    </a:solidFill>
                  </a:tcPr>
                </a:tc>
                <a:tc>
                  <a:txBody>
                    <a:bodyPr wrap="square"/>
                    <a:lstStyle/>
                    <a:p>
                      <a:r>
                        <a:rPr sz="1300" b="0">
                          <a:solidFill>
                            <a:srgbClr val="222A35"/>
                          </a:solidFill>
                          <a:latin typeface="Arial"/>
                        </a:rPr>
                        <a:t>Files initialization clears storage</a:t>
                      </a:r>
                    </a:p>
                  </a:txBody>
                  <a:tcPr marL="54864" marR="54864" marT="27432" marB="27432" anchor="ctr">
                    <a:solidFill>
                      <a:srgbClr val="F2F5F9"/>
                    </a:solidFill>
                  </a:tcPr>
                </a:tc>
                <a:tc>
                  <a:txBody>
                    <a:bodyPr wrap="square"/>
                    <a:lstStyle/>
                    <a:p>
                      <a:r>
                        <a:rPr sz="1300" b="0">
                          <a:solidFill>
                            <a:srgbClr val="222A35"/>
                          </a:solidFill>
                          <a:latin typeface="Arial"/>
                        </a:rPr>
                        <a:t>Map check + official setup</a:t>
                      </a:r>
                    </a:p>
                  </a:txBody>
                  <a:tcPr marL="54864" marR="54864" marT="27432" marB="27432" anchor="ctr">
                    <a:solidFill>
                      <a:srgbClr val="F2F5F9"/>
                    </a:solidFill>
                  </a:tcPr>
                </a:tc>
                <a:tc>
                  <a:txBody>
                    <a:bodyPr wrap="square"/>
                    <a:lstStyle/>
                    <a:p>
                      <a:r>
                        <a:rPr sz="1300" b="0">
                          <a:solidFill>
                            <a:srgbClr val="222A35"/>
                          </a:solidFill>
                          <a:latin typeface="Arial"/>
                        </a:rPr>
                        <a:t>OsmAnd 2 / 3</a:t>
                      </a:r>
                    </a:p>
                  </a:txBody>
                  <a:tcPr marL="54864" marR="54864" marT="27432" marB="27432" anchor="ctr">
                    <a:solidFill>
                      <a:srgbClr val="F2F5F9"/>
                    </a:solidFill>
                  </a:tcPr>
                </a:tc>
              </a:tr>
              <a:tr h="624844">
                <a:tc>
                  <a:txBody>
                    <a:bodyPr wrap="square"/>
                    <a:lstStyle/>
                    <a:p>
                      <a:r>
                        <a:rPr sz="1300" b="1">
                          <a:solidFill>
                            <a:srgbClr val="222A35"/>
                          </a:solidFill>
                          <a:latin typeface="Arial"/>
                        </a:rPr>
                        <a:t>OsmAnd 0 / 3</a:t>
                      </a:r>
                    </a:p>
                  </a:txBody>
                  <a:tcPr marL="54864" marR="54864" marT="27432" marB="27432" anchor="ctr">
                    <a:solidFill>
                      <a:srgbClr val="FFFFFF"/>
                    </a:solidFill>
                  </a:tcPr>
                </a:tc>
                <a:tc>
                  <a:txBody>
                    <a:bodyPr wrap="square"/>
                    <a:lstStyle/>
                    <a:p>
                      <a:r>
                        <a:rPr sz="1300" b="0">
                          <a:solidFill>
                            <a:srgbClr val="222A35"/>
                          </a:solidFill>
                          <a:latin typeface="Arial"/>
                        </a:rPr>
                        <a:t>Long procedure, model loses its place</a:t>
                      </a:r>
                    </a:p>
                  </a:txBody>
                  <a:tcPr marL="54864" marR="54864" marT="27432" marB="27432" anchor="ctr">
                    <a:solidFill>
                      <a:srgbClr val="FFFFFF"/>
                    </a:solidFill>
                  </a:tcPr>
                </a:tc>
                <a:tc>
                  <a:txBody>
                    <a:bodyPr wrap="square"/>
                    <a:lstStyle/>
                    <a:p>
                      <a:r>
                        <a:rPr sz="1300" b="0">
                          <a:solidFill>
                            <a:srgbClr val="222A35"/>
                          </a:solidFill>
                          <a:latin typeface="Arial"/>
                        </a:rPr>
                        <a:t>Skill as code + GUI tree</a:t>
                      </a:r>
                    </a:p>
                  </a:txBody>
                  <a:tcPr marL="54864" marR="54864" marT="27432" marB="27432" anchor="ctr">
                    <a:solidFill>
                      <a:srgbClr val="FFFFFF"/>
                    </a:solidFill>
                  </a:tcPr>
                </a:tc>
                <a:tc>
                  <a:txBody>
                    <a:bodyPr wrap="square"/>
                    <a:lstStyle/>
                    <a:p>
                      <a:r>
                        <a:rPr sz="1300" b="0">
                          <a:solidFill>
                            <a:srgbClr val="222A35"/>
                          </a:solidFill>
                          <a:latin typeface="Arial"/>
                        </a:rPr>
                        <a:t>OsmAnd 2 / 3</a:t>
                      </a:r>
                    </a:p>
                  </a:txBody>
                  <a:tcPr marL="54864" marR="54864" marT="27432" marB="27432" anchor="ctr">
                    <a:solidFill>
                      <a:srgbClr val="FFFFFF"/>
                    </a:solidFill>
                  </a:tcPr>
                </a:tc>
              </a:tr>
            </a:tbl>
          </a:graphicData>
        </a:graphic>
      </p:graphicFrame>
      <p:sp>
        <p:nvSpPr>
          <p:cNvPr id="10" name="TextBox 9"/>
          <p:cNvSpPr txBox="1"/>
          <p:nvPr/>
        </p:nvSpPr>
        <p:spPr>
          <a:xfrm>
            <a:off x="640080" y="5486400"/>
            <a:ext cx="10927080" cy="731520"/>
          </a:xfrm>
          <a:prstGeom prst="rect">
            <a:avLst/>
          </a:prstGeom>
          <a:noFill/>
        </p:spPr>
        <p:txBody>
          <a:bodyPr wrap="square" anchor="t" lIns="73152" rIns="73152">
            <a:spAutoFit/>
          </a:bodyPr>
          <a:lstStyle/>
          <a:p>
            <a:pPr algn="l">
              <a:lnSpc>
                <a:spcPct val="110000"/>
              </a:lnSpc>
            </a:pPr>
            <a:r>
              <a:rPr sz="1400" b="1" i="0">
                <a:solidFill>
                  <a:srgbClr val="0065BD"/>
                </a:solidFill>
                <a:latin typeface="Arial"/>
              </a:rPr>
              <a:t>Every change has an automatic offline test (38 tests in total) that fails on the old code and passes on the new code.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72140"/>
                </a:solidFill>
                <a:latin typeface="Arial"/>
              </a:rPr>
              <a:t>OUR WORK IN NUMBERS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Behind the final result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24</a:t>
            </a:r>
          </a:p>
        </p:txBody>
      </p:sp>
      <p:sp>
        <p:nvSpPr>
          <p:cNvPr id="9" name="Rectangle 8"/>
          <p:cNvSpPr/>
          <p:nvPr/>
        </p:nvSpPr>
        <p:spPr>
          <a:xfrm>
            <a:off x="640080" y="164592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164592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1965960"/>
            <a:ext cx="3108960" cy="685800"/>
          </a:xfrm>
          <a:prstGeom prst="rect">
            <a:avLst/>
          </a:prstGeom>
          <a:noFill/>
        </p:spPr>
        <p:txBody>
          <a:bodyPr wrap="square" anchor="t" lIns="73152" rIns="73152">
            <a:spAutoFit/>
          </a:bodyPr>
          <a:lstStyle/>
          <a:p>
            <a:pPr algn="l">
              <a:lnSpc>
                <a:spcPct val="110000"/>
              </a:lnSpc>
            </a:pPr>
            <a:r>
              <a:rPr sz="4000" b="1" i="0">
                <a:solidFill>
                  <a:srgbClr val="0065BD"/>
                </a:solidFill>
                <a:latin typeface="Arial"/>
              </a:rPr>
              <a:t>~300</a:t>
            </a:r>
          </a:p>
        </p:txBody>
      </p:sp>
      <p:sp>
        <p:nvSpPr>
          <p:cNvPr id="12" name="TextBox 11"/>
          <p:cNvSpPr txBox="1"/>
          <p:nvPr/>
        </p:nvSpPr>
        <p:spPr>
          <a:xfrm>
            <a:off x="868680" y="2679191"/>
            <a:ext cx="31089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recorded runs across the project</a:t>
            </a:r>
          </a:p>
        </p:txBody>
      </p:sp>
      <p:sp>
        <p:nvSpPr>
          <p:cNvPr id="13" name="Rectangle 12"/>
          <p:cNvSpPr/>
          <p:nvPr/>
        </p:nvSpPr>
        <p:spPr>
          <a:xfrm>
            <a:off x="4343400" y="164592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43400" y="164592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2000" y="1965960"/>
            <a:ext cx="3108960" cy="685800"/>
          </a:xfrm>
          <a:prstGeom prst="rect">
            <a:avLst/>
          </a:prstGeom>
          <a:noFill/>
        </p:spPr>
        <p:txBody>
          <a:bodyPr wrap="square" anchor="t" lIns="73152" rIns="73152">
            <a:spAutoFit/>
          </a:bodyPr>
          <a:lstStyle/>
          <a:p>
            <a:pPr algn="l">
              <a:lnSpc>
                <a:spcPct val="110000"/>
              </a:lnSpc>
            </a:pPr>
            <a:r>
              <a:rPr sz="4000" b="1" i="0">
                <a:solidFill>
                  <a:srgbClr val="0065BD"/>
                </a:solidFill>
                <a:latin typeface="Arial"/>
              </a:rPr>
              <a:t>65</a:t>
            </a:r>
          </a:p>
        </p:txBody>
      </p:sp>
      <p:sp>
        <p:nvSpPr>
          <p:cNvPr id="16" name="TextBox 15"/>
          <p:cNvSpPr txBox="1"/>
          <p:nvPr/>
        </p:nvSpPr>
        <p:spPr>
          <a:xfrm>
            <a:off x="4572000" y="2679191"/>
            <a:ext cx="31089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agent versions with a written reason</a:t>
            </a:r>
          </a:p>
        </p:txBody>
      </p:sp>
      <p:sp>
        <p:nvSpPr>
          <p:cNvPr id="17" name="Rectangle 16"/>
          <p:cNvSpPr/>
          <p:nvPr/>
        </p:nvSpPr>
        <p:spPr>
          <a:xfrm>
            <a:off x="8046719" y="164592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46719" y="164592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75319" y="1965960"/>
            <a:ext cx="3108960" cy="685800"/>
          </a:xfrm>
          <a:prstGeom prst="rect">
            <a:avLst/>
          </a:prstGeom>
          <a:noFill/>
        </p:spPr>
        <p:txBody>
          <a:bodyPr wrap="square" anchor="t" lIns="73152" rIns="73152">
            <a:spAutoFit/>
          </a:bodyPr>
          <a:lstStyle/>
          <a:p>
            <a:pPr algn="l">
              <a:lnSpc>
                <a:spcPct val="110000"/>
              </a:lnSpc>
            </a:pPr>
            <a:r>
              <a:rPr sz="4000" b="1" i="0">
                <a:solidFill>
                  <a:srgbClr val="0065BD"/>
                </a:solidFill>
                <a:latin typeface="Arial"/>
              </a:rPr>
              <a:t>1,453</a:t>
            </a:r>
          </a:p>
        </p:txBody>
      </p:sp>
      <p:sp>
        <p:nvSpPr>
          <p:cNvPr id="20" name="TextBox 19"/>
          <p:cNvSpPr txBox="1"/>
          <p:nvPr/>
        </p:nvSpPr>
        <p:spPr>
          <a:xfrm>
            <a:off x="8275319" y="2679191"/>
            <a:ext cx="31089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steps executed in this agent's runs</a:t>
            </a:r>
          </a:p>
        </p:txBody>
      </p:sp>
      <p:sp>
        <p:nvSpPr>
          <p:cNvPr id="21" name="Rectangle 20"/>
          <p:cNvSpPr/>
          <p:nvPr/>
        </p:nvSpPr>
        <p:spPr>
          <a:xfrm>
            <a:off x="640080" y="388620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40080" y="388620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 y="4206240"/>
            <a:ext cx="3108960" cy="685800"/>
          </a:xfrm>
          <a:prstGeom prst="rect">
            <a:avLst/>
          </a:prstGeom>
          <a:noFill/>
        </p:spPr>
        <p:txBody>
          <a:bodyPr wrap="square" anchor="t" lIns="73152" rIns="73152">
            <a:spAutoFit/>
          </a:bodyPr>
          <a:lstStyle/>
          <a:p>
            <a:pPr algn="l">
              <a:lnSpc>
                <a:spcPct val="110000"/>
              </a:lnSpc>
            </a:pPr>
            <a:r>
              <a:rPr sz="4000" b="1" i="0">
                <a:solidFill>
                  <a:srgbClr val="0065BD"/>
                </a:solidFill>
                <a:latin typeface="Arial"/>
              </a:rPr>
              <a:t>1,642</a:t>
            </a:r>
          </a:p>
        </p:txBody>
      </p:sp>
      <p:sp>
        <p:nvSpPr>
          <p:cNvPr id="24" name="TextBox 23"/>
          <p:cNvSpPr txBox="1"/>
          <p:nvPr/>
        </p:nvSpPr>
        <p:spPr>
          <a:xfrm>
            <a:off x="868680" y="4919472"/>
            <a:ext cx="31089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model calls in this agent's runs</a:t>
            </a:r>
          </a:p>
        </p:txBody>
      </p:sp>
      <p:sp>
        <p:nvSpPr>
          <p:cNvPr id="25" name="Rectangle 24"/>
          <p:cNvSpPr/>
          <p:nvPr/>
        </p:nvSpPr>
        <p:spPr>
          <a:xfrm>
            <a:off x="4343400" y="388620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343400" y="388620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0" y="4206240"/>
            <a:ext cx="3108960" cy="685800"/>
          </a:xfrm>
          <a:prstGeom prst="rect">
            <a:avLst/>
          </a:prstGeom>
          <a:noFill/>
        </p:spPr>
        <p:txBody>
          <a:bodyPr wrap="square" anchor="t" lIns="73152" rIns="73152">
            <a:spAutoFit/>
          </a:bodyPr>
          <a:lstStyle/>
          <a:p>
            <a:pPr algn="l">
              <a:lnSpc>
                <a:spcPct val="110000"/>
              </a:lnSpc>
            </a:pPr>
            <a:r>
              <a:rPr sz="4000" b="1" i="0">
                <a:solidFill>
                  <a:srgbClr val="0065BD"/>
                </a:solidFill>
                <a:latin typeface="Arial"/>
              </a:rPr>
              <a:t>38</a:t>
            </a:r>
          </a:p>
        </p:txBody>
      </p:sp>
      <p:sp>
        <p:nvSpPr>
          <p:cNvPr id="28" name="TextBox 27"/>
          <p:cNvSpPr txBox="1"/>
          <p:nvPr/>
        </p:nvSpPr>
        <p:spPr>
          <a:xfrm>
            <a:off x="4572000" y="4919472"/>
            <a:ext cx="31089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automatic offline tests</a:t>
            </a:r>
          </a:p>
        </p:txBody>
      </p:sp>
      <p:sp>
        <p:nvSpPr>
          <p:cNvPr id="29" name="Rectangle 28"/>
          <p:cNvSpPr/>
          <p:nvPr/>
        </p:nvSpPr>
        <p:spPr>
          <a:xfrm>
            <a:off x="8046719" y="388620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046719" y="388620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75319" y="4206240"/>
            <a:ext cx="3108960" cy="685800"/>
          </a:xfrm>
          <a:prstGeom prst="rect">
            <a:avLst/>
          </a:prstGeom>
          <a:noFill/>
        </p:spPr>
        <p:txBody>
          <a:bodyPr wrap="square" anchor="t" lIns="73152" rIns="73152">
            <a:spAutoFit/>
          </a:bodyPr>
          <a:lstStyle/>
          <a:p>
            <a:pPr algn="l">
              <a:lnSpc>
                <a:spcPct val="110000"/>
              </a:lnSpc>
            </a:pPr>
            <a:r>
              <a:rPr sz="4000" b="1" i="0">
                <a:solidFill>
                  <a:srgbClr val="0065BD"/>
                </a:solidFill>
                <a:latin typeface="Arial"/>
              </a:rPr>
              <a:t>€0.48</a:t>
            </a:r>
          </a:p>
        </p:txBody>
      </p:sp>
      <p:sp>
        <p:nvSpPr>
          <p:cNvPr id="32" name="TextBox 31"/>
          <p:cNvSpPr txBox="1"/>
          <p:nvPr/>
        </p:nvSpPr>
        <p:spPr>
          <a:xfrm>
            <a:off x="8275319" y="4919472"/>
            <a:ext cx="31089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model cost of all local runs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072140"/>
                </a:solidFill>
                <a:latin typeface="Arial"/>
              </a:rPr>
              <a:t>FINDINGS</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What we learned, and what is still limited</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25</a:t>
            </a:r>
          </a:p>
        </p:txBody>
      </p:sp>
      <p:sp>
        <p:nvSpPr>
          <p:cNvPr id="9" name="Rectangle 8"/>
          <p:cNvSpPr/>
          <p:nvPr/>
        </p:nvSpPr>
        <p:spPr>
          <a:xfrm>
            <a:off x="640080" y="1554480"/>
            <a:ext cx="6309360" cy="4572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1554480"/>
            <a:ext cx="54864" cy="45720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 y="1645920"/>
            <a:ext cx="6053328" cy="365760"/>
          </a:xfrm>
          <a:prstGeom prst="rect">
            <a:avLst/>
          </a:prstGeom>
          <a:noFill/>
        </p:spPr>
        <p:txBody>
          <a:bodyPr wrap="square" anchor="t" lIns="73152" rIns="73152">
            <a:spAutoFit/>
          </a:bodyPr>
          <a:lstStyle/>
          <a:p>
            <a:pPr algn="l">
              <a:lnSpc>
                <a:spcPct val="110000"/>
              </a:lnSpc>
            </a:pPr>
            <a:r>
              <a:rPr sz="2100" b="1" i="0">
                <a:solidFill>
                  <a:srgbClr val="072140"/>
                </a:solidFill>
                <a:latin typeface="Arial"/>
              </a:rPr>
              <a:t>Findings</a:t>
            </a:r>
          </a:p>
        </p:txBody>
      </p:sp>
      <p:sp>
        <p:nvSpPr>
          <p:cNvPr id="12" name="TextBox 11"/>
          <p:cNvSpPr txBox="1"/>
          <p:nvPr/>
        </p:nvSpPr>
        <p:spPr>
          <a:xfrm>
            <a:off x="804671" y="2057400"/>
            <a:ext cx="6035040" cy="4023360"/>
          </a:xfrm>
          <a:prstGeom prst="rect">
            <a:avLst/>
          </a:prstGeom>
          <a:noFill/>
        </p:spPr>
        <p:txBody>
          <a:bodyPr wrap="square">
            <a:spAutoFit/>
          </a:bodyPr>
          <a:lstStyle/>
          <a:p>
            <a:pPr>
              <a:lnSpc>
                <a:spcPct val="108000"/>
              </a:lnSpc>
              <a:spcAft>
                <a:spcPts val="300"/>
              </a:spcAft>
            </a:pPr>
            <a:r>
              <a:rPr sz="1900">
                <a:solidFill>
                  <a:srgbClr val="0065BD"/>
                </a:solidFill>
                <a:latin typeface="Arial"/>
              </a:rPr>
              <a:t>▪  </a:t>
            </a:r>
            <a:r>
              <a:rPr sz="1900" b="1">
                <a:solidFill>
                  <a:srgbClr val="222A35"/>
                </a:solidFill>
                <a:latin typeface="Arial"/>
              </a:rPr>
              <a:t>Trust the harness first</a:t>
            </a:r>
            <a:r>
              <a:rPr sz="1900" b="0">
                <a:solidFill>
                  <a:srgbClr val="222A35"/>
                </a:solidFill>
                <a:latin typeface="Arial"/>
              </a:rPr>
              <a:t>: setup faults looked like agent failures</a:t>
            </a:r>
          </a:p>
          <a:p>
            <a:pPr>
              <a:lnSpc>
                <a:spcPct val="108000"/>
              </a:lnSpc>
              <a:spcAft>
                <a:spcPts val="300"/>
              </a:spcAft>
            </a:pPr>
            <a:r>
              <a:rPr sz="1900">
                <a:solidFill>
                  <a:srgbClr val="0065BD"/>
                </a:solidFill>
                <a:latin typeface="Arial"/>
              </a:rPr>
              <a:t>▪  </a:t>
            </a:r>
            <a:r>
              <a:rPr sz="1900" b="1">
                <a:solidFill>
                  <a:srgbClr val="222A35"/>
                </a:solidFill>
                <a:latin typeface="Arial"/>
              </a:rPr>
              <a:t>The verifier decides</a:t>
            </a:r>
            <a:r>
              <a:rPr sz="1900" b="0">
                <a:solidFill>
                  <a:srgbClr val="222A35"/>
                </a:solidFill>
                <a:latin typeface="Arial"/>
              </a:rPr>
              <a:t>: false completions are real and dangerous</a:t>
            </a:r>
          </a:p>
          <a:p>
            <a:pPr>
              <a:lnSpc>
                <a:spcPct val="108000"/>
              </a:lnSpc>
              <a:spcAft>
                <a:spcPts val="300"/>
              </a:spcAft>
            </a:pPr>
            <a:r>
              <a:rPr sz="1900">
                <a:solidFill>
                  <a:srgbClr val="0065BD"/>
                </a:solidFill>
                <a:latin typeface="Arial"/>
              </a:rPr>
              <a:t>▪  </a:t>
            </a:r>
            <a:r>
              <a:rPr sz="1900" b="1">
                <a:solidFill>
                  <a:srgbClr val="222A35"/>
                </a:solidFill>
                <a:latin typeface="Arial"/>
              </a:rPr>
              <a:t>Where knowledge lives matters</a:t>
            </a:r>
            <a:r>
              <a:rPr sz="1900" b="0">
                <a:solidFill>
                  <a:srgbClr val="222A35"/>
                </a:solidFill>
                <a:latin typeface="Arial"/>
              </a:rPr>
              <a:t>: prompt &lt; reminder each step &lt; code</a:t>
            </a:r>
          </a:p>
          <a:p>
            <a:pPr>
              <a:lnSpc>
                <a:spcPct val="108000"/>
              </a:lnSpc>
              <a:spcAft>
                <a:spcPts val="300"/>
              </a:spcAft>
            </a:pPr>
            <a:r>
              <a:rPr sz="1900">
                <a:solidFill>
                  <a:srgbClr val="0065BD"/>
                </a:solidFill>
                <a:latin typeface="Arial"/>
              </a:rPr>
              <a:t>▪  </a:t>
            </a:r>
            <a:r>
              <a:rPr sz="1900" b="1">
                <a:solidFill>
                  <a:srgbClr val="222A35"/>
                </a:solidFill>
                <a:latin typeface="Arial"/>
              </a:rPr>
              <a:t>Long tasks fail by small errors</a:t>
            </a:r>
            <a:r>
              <a:rPr sz="1900" b="0">
                <a:solidFill>
                  <a:srgbClr val="222A35"/>
                </a:solidFill>
                <a:latin typeface="Arial"/>
              </a:rPr>
              <a:t>: one missed tap is enough</a:t>
            </a:r>
          </a:p>
          <a:p>
            <a:pPr>
              <a:lnSpc>
                <a:spcPct val="108000"/>
              </a:lnSpc>
              <a:spcAft>
                <a:spcPts val="300"/>
              </a:spcAft>
            </a:pPr>
            <a:r>
              <a:rPr sz="1900">
                <a:solidFill>
                  <a:srgbClr val="0065BD"/>
                </a:solidFill>
                <a:latin typeface="Arial"/>
              </a:rPr>
              <a:t>▪  </a:t>
            </a:r>
            <a:r>
              <a:rPr sz="1900" b="1">
                <a:solidFill>
                  <a:srgbClr val="222A35"/>
                </a:solidFill>
                <a:latin typeface="Arial"/>
              </a:rPr>
              <a:t>Checks catch traps</a:t>
            </a:r>
            <a:r>
              <a:rPr sz="1900" b="0">
                <a:solidFill>
                  <a:srgbClr val="222A35"/>
                </a:solidFill>
                <a:latin typeface="Arial"/>
              </a:rPr>
              <a:t>: 8 actions stopped in the final runs</a:t>
            </a:r>
          </a:p>
        </p:txBody>
      </p:sp>
      <p:sp>
        <p:nvSpPr>
          <p:cNvPr id="13" name="Rectangle 12"/>
          <p:cNvSpPr/>
          <p:nvPr/>
        </p:nvSpPr>
        <p:spPr>
          <a:xfrm>
            <a:off x="7178040" y="1554480"/>
            <a:ext cx="4389120" cy="4572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178040" y="1554480"/>
            <a:ext cx="54864" cy="457200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42631" y="1645920"/>
            <a:ext cx="4133087" cy="365760"/>
          </a:xfrm>
          <a:prstGeom prst="rect">
            <a:avLst/>
          </a:prstGeom>
          <a:noFill/>
        </p:spPr>
        <p:txBody>
          <a:bodyPr wrap="square" anchor="t" lIns="73152" rIns="73152">
            <a:spAutoFit/>
          </a:bodyPr>
          <a:lstStyle/>
          <a:p>
            <a:pPr algn="l">
              <a:lnSpc>
                <a:spcPct val="110000"/>
              </a:lnSpc>
            </a:pPr>
            <a:r>
              <a:rPr sz="2100" b="1" i="0">
                <a:solidFill>
                  <a:srgbClr val="072140"/>
                </a:solidFill>
                <a:latin typeface="Arial"/>
              </a:rPr>
              <a:t>Limitations</a:t>
            </a:r>
          </a:p>
        </p:txBody>
      </p:sp>
      <p:sp>
        <p:nvSpPr>
          <p:cNvPr id="16" name="TextBox 15"/>
          <p:cNvSpPr txBox="1"/>
          <p:nvPr/>
        </p:nvSpPr>
        <p:spPr>
          <a:xfrm>
            <a:off x="7342631" y="2057400"/>
            <a:ext cx="4114800" cy="4023360"/>
          </a:xfrm>
          <a:prstGeom prst="rect">
            <a:avLst/>
          </a:prstGeom>
          <a:noFill/>
        </p:spPr>
        <p:txBody>
          <a:bodyPr wrap="square">
            <a:spAutoFit/>
          </a:bodyPr>
          <a:lstStyle/>
          <a:p>
            <a:pPr>
              <a:lnSpc>
                <a:spcPct val="108000"/>
              </a:lnSpc>
              <a:spcAft>
                <a:spcPts val="300"/>
              </a:spcAft>
            </a:pPr>
            <a:r>
              <a:rPr sz="1900">
                <a:solidFill>
                  <a:srgbClr val="0065BD"/>
                </a:solidFill>
                <a:latin typeface="Arial"/>
              </a:rPr>
              <a:t>▪  </a:t>
            </a:r>
            <a:r>
              <a:rPr sz="1900" b="0">
                <a:solidFill>
                  <a:srgbClr val="222A35"/>
                </a:solidFill>
                <a:latin typeface="Arial"/>
              </a:rPr>
              <a:t>Three runs per task: small sample</a:t>
            </a:r>
          </a:p>
          <a:p>
            <a:pPr>
              <a:lnSpc>
                <a:spcPct val="108000"/>
              </a:lnSpc>
              <a:spcAft>
                <a:spcPts val="300"/>
              </a:spcAft>
            </a:pPr>
            <a:r>
              <a:rPr sz="1900">
                <a:solidFill>
                  <a:srgbClr val="0065BD"/>
                </a:solidFill>
                <a:latin typeface="Arial"/>
              </a:rPr>
              <a:t>▪  </a:t>
            </a:r>
            <a:r>
              <a:rPr sz="1900" b="0">
                <a:solidFill>
                  <a:srgbClr val="222A35"/>
                </a:solidFill>
                <a:latin typeface="Arial"/>
              </a:rPr>
              <a:t>One model, one laptop, one emulator</a:t>
            </a:r>
          </a:p>
          <a:p>
            <a:pPr>
              <a:lnSpc>
                <a:spcPct val="108000"/>
              </a:lnSpc>
              <a:spcAft>
                <a:spcPts val="300"/>
              </a:spcAft>
            </a:pPr>
            <a:r>
              <a:rPr sz="1900">
                <a:solidFill>
                  <a:srgbClr val="0065BD"/>
                </a:solidFill>
                <a:latin typeface="Arial"/>
              </a:rPr>
              <a:t>▪  </a:t>
            </a:r>
            <a:r>
              <a:rPr sz="1900" b="0">
                <a:solidFill>
                  <a:srgbClr val="222A35"/>
                </a:solidFill>
                <a:latin typeface="Arial"/>
              </a:rPr>
              <a:t>OsmAnd Skill works only for OsmAnd</a:t>
            </a:r>
          </a:p>
          <a:p>
            <a:pPr>
              <a:lnSpc>
                <a:spcPct val="108000"/>
              </a:lnSpc>
              <a:spcAft>
                <a:spcPts val="300"/>
              </a:spcAft>
            </a:pPr>
            <a:r>
              <a:rPr sz="1900">
                <a:solidFill>
                  <a:srgbClr val="0065BD"/>
                </a:solidFill>
                <a:latin typeface="Arial"/>
              </a:rPr>
              <a:t>▪  </a:t>
            </a:r>
            <a:r>
              <a:rPr sz="1900" b="0">
                <a:solidFill>
                  <a:srgbClr val="222A35"/>
                </a:solidFill>
                <a:latin typeface="Arial"/>
              </a:rPr>
              <a:t>Two tasks used extra screen labels</a:t>
            </a:r>
          </a:p>
          <a:p>
            <a:pPr>
              <a:lnSpc>
                <a:spcPct val="108000"/>
              </a:lnSpc>
              <a:spcAft>
                <a:spcPts val="300"/>
              </a:spcAft>
            </a:pPr>
            <a:r>
              <a:rPr sz="1900">
                <a:solidFill>
                  <a:srgbClr val="0065BD"/>
                </a:solidFill>
                <a:latin typeface="Arial"/>
              </a:rPr>
              <a:t>▪  </a:t>
            </a:r>
            <a:r>
              <a:rPr sz="1900" b="0">
                <a:solidFill>
                  <a:srgbClr val="222A35"/>
                </a:solidFill>
                <a:latin typeface="Arial"/>
              </a:rPr>
              <a:t>Fixes after the freeze are not evaluated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223760" cy="6858000"/>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0"/>
            <a:ext cx="7223760"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640080"/>
            <a:ext cx="6217920" cy="320040"/>
          </a:xfrm>
          <a:prstGeom prst="rect">
            <a:avLst/>
          </a:prstGeom>
          <a:noFill/>
        </p:spPr>
        <p:txBody>
          <a:bodyPr wrap="square" anchor="t" lIns="73152" rIns="73152">
            <a:spAutoFit/>
          </a:bodyPr>
          <a:lstStyle/>
          <a:p>
            <a:pPr algn="l">
              <a:lnSpc>
                <a:spcPct val="110000"/>
              </a:lnSpc>
            </a:pPr>
            <a:r>
              <a:rPr sz="1300" b="1" i="0">
                <a:solidFill>
                  <a:srgbClr val="64A0C8"/>
                </a:solidFill>
                <a:latin typeface="Arial"/>
              </a:rPr>
              <a:t>AGENTIC AI IN MODERN BUSINESS  ·  PRESENTATION</a:t>
            </a:r>
          </a:p>
        </p:txBody>
      </p:sp>
      <p:sp>
        <p:nvSpPr>
          <p:cNvPr id="6" name="TextBox 5"/>
          <p:cNvSpPr txBox="1"/>
          <p:nvPr/>
        </p:nvSpPr>
        <p:spPr>
          <a:xfrm>
            <a:off x="685800" y="1691640"/>
            <a:ext cx="6309360" cy="1005840"/>
          </a:xfrm>
          <a:prstGeom prst="rect">
            <a:avLst/>
          </a:prstGeom>
          <a:noFill/>
        </p:spPr>
        <p:txBody>
          <a:bodyPr wrap="square" anchor="t" lIns="73152" rIns="73152">
            <a:spAutoFit/>
          </a:bodyPr>
          <a:lstStyle/>
          <a:p>
            <a:pPr algn="l">
              <a:lnSpc>
                <a:spcPct val="110000"/>
              </a:lnSpc>
            </a:pPr>
            <a:r>
              <a:rPr sz="5400" b="1" i="0">
                <a:solidFill>
                  <a:srgbClr val="FFFFFF"/>
                </a:solidFill>
                <a:latin typeface="Arial"/>
              </a:rPr>
              <a:t>Thank you</a:t>
            </a:r>
          </a:p>
        </p:txBody>
      </p:sp>
      <p:sp>
        <p:nvSpPr>
          <p:cNvPr id="7" name="TextBox 6"/>
          <p:cNvSpPr txBox="1"/>
          <p:nvPr/>
        </p:nvSpPr>
        <p:spPr>
          <a:xfrm>
            <a:off x="685800" y="2743200"/>
            <a:ext cx="6309360" cy="457200"/>
          </a:xfrm>
          <a:prstGeom prst="rect">
            <a:avLst/>
          </a:prstGeom>
          <a:noFill/>
        </p:spPr>
        <p:txBody>
          <a:bodyPr wrap="square" anchor="t" lIns="73152" rIns="73152">
            <a:spAutoFit/>
          </a:bodyPr>
          <a:lstStyle/>
          <a:p>
            <a:pPr algn="l">
              <a:lnSpc>
                <a:spcPct val="110000"/>
              </a:lnSpc>
            </a:pPr>
            <a:r>
              <a:rPr sz="2200" b="0" i="0">
                <a:solidFill>
                  <a:srgbClr val="B9C4D6"/>
                </a:solidFill>
                <a:latin typeface="Arial"/>
              </a:rPr>
              <a:t>Questions are welcome</a:t>
            </a:r>
          </a:p>
        </p:txBody>
      </p:sp>
      <p:sp>
        <p:nvSpPr>
          <p:cNvPr id="8" name="Rectangle 7"/>
          <p:cNvSpPr/>
          <p:nvPr/>
        </p:nvSpPr>
        <p:spPr>
          <a:xfrm>
            <a:off x="685800" y="3520440"/>
            <a:ext cx="1005840" cy="54864"/>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3840480"/>
            <a:ext cx="6309360" cy="822960"/>
          </a:xfrm>
          <a:prstGeom prst="rect">
            <a:avLst/>
          </a:prstGeom>
          <a:noFill/>
        </p:spPr>
        <p:txBody>
          <a:bodyPr wrap="square" anchor="t" lIns="73152" rIns="73152">
            <a:spAutoFit/>
          </a:bodyPr>
          <a:lstStyle/>
          <a:p>
            <a:pPr algn="l">
              <a:lnSpc>
                <a:spcPct val="120000"/>
              </a:lnSpc>
            </a:pPr>
            <a:r>
              <a:rPr sz="1500" b="0" i="0">
                <a:solidFill>
                  <a:srgbClr val="F09A5B"/>
                </a:solidFill>
                <a:latin typeface="Arial"/>
              </a:rPr>
              <a:t>github.com/Chenschenschen/androidworld-gui-agent</a:t>
            </a:r>
          </a:p>
          <a:p>
            <a:pPr algn="l">
              <a:lnSpc>
                <a:spcPct val="120000"/>
              </a:lnSpc>
            </a:pPr>
            <a:r>
              <a:rPr sz="1500" b="0" i="0">
                <a:solidFill>
                  <a:srgbClr val="F09A5B"/>
                </a:solidFill>
                <a:latin typeface="Arial"/>
              </a:rPr>
              <a:t>branch team-agent  ·  tag team-agent-final-v65</a:t>
            </a:r>
          </a:p>
        </p:txBody>
      </p:sp>
      <p:sp>
        <p:nvSpPr>
          <p:cNvPr id="10" name="TextBox 9"/>
          <p:cNvSpPr txBox="1"/>
          <p:nvPr/>
        </p:nvSpPr>
        <p:spPr>
          <a:xfrm>
            <a:off x="685800" y="4846320"/>
            <a:ext cx="6309360" cy="822960"/>
          </a:xfrm>
          <a:prstGeom prst="rect">
            <a:avLst/>
          </a:prstGeom>
          <a:noFill/>
        </p:spPr>
        <p:txBody>
          <a:bodyPr wrap="square" anchor="t" lIns="73152" rIns="73152">
            <a:spAutoFit/>
          </a:bodyPr>
          <a:lstStyle/>
          <a:p>
            <a:pPr algn="l">
              <a:lnSpc>
                <a:spcPct val="120000"/>
              </a:lnSpc>
            </a:pPr>
            <a:r>
              <a:rPr sz="1400" b="0" i="0">
                <a:solidFill>
                  <a:srgbClr val="B9C4D6"/>
                </a:solidFill>
                <a:latin typeface="Arial"/>
              </a:rPr>
              <a:t>Model: AutoGLM-Phone-9B-Multilingual (Z.ai)</a:t>
            </a:r>
          </a:p>
          <a:p>
            <a:pPr algn="l">
              <a:lnSpc>
                <a:spcPct val="120000"/>
              </a:lnSpc>
            </a:pPr>
            <a:r>
              <a:rPr sz="1400" b="0" i="0">
                <a:solidFill>
                  <a:srgbClr val="B9C4D6"/>
                </a:solidFill>
                <a:latin typeface="Arial"/>
              </a:rPr>
              <a:t>Benchmark: AndroidWorld (Google Research)</a:t>
            </a:r>
          </a:p>
        </p:txBody>
      </p:sp>
      <p:pic>
        <p:nvPicPr>
          <p:cNvPr id="11" name="Picture 10" descr="traj_2.png"/>
          <p:cNvPicPr>
            <a:picLocks noChangeAspect="1"/>
          </p:cNvPicPr>
          <p:nvPr/>
        </p:nvPicPr>
        <p:blipFill>
          <a:blip r:embed="rId3"/>
          <a:srcRect t="8000"/>
          <a:stretch>
            <a:fillRect/>
          </a:stretch>
        </p:blipFill>
        <p:spPr>
          <a:xfrm rot="21120000">
            <a:off x="7406640" y="1325880"/>
            <a:ext cx="2016252" cy="4122115"/>
          </a:xfrm>
          <a:prstGeom prst="roundRect">
            <a:avLst/>
          </a:prstGeom>
          <a:ln w="76200">
            <a:solidFill>
              <a:srgbClr val="1B1F2A"/>
            </a:solidFill>
          </a:ln>
        </p:spPr>
      </p:pic>
      <p:pic>
        <p:nvPicPr>
          <p:cNvPr id="12" name="Picture 11" descr="traj_5.png"/>
          <p:cNvPicPr>
            <a:picLocks noChangeAspect="1"/>
          </p:cNvPicPr>
          <p:nvPr/>
        </p:nvPicPr>
        <p:blipFill>
          <a:blip r:embed="rId4"/>
          <a:srcRect t="8000"/>
          <a:stretch>
            <a:fillRect/>
          </a:stretch>
        </p:blipFill>
        <p:spPr>
          <a:xfrm rot="480000">
            <a:off x="9601200" y="1325880"/>
            <a:ext cx="2016252" cy="4122115"/>
          </a:xfrm>
          <a:prstGeom prst="roundRect">
            <a:avLst/>
          </a:prstGeom>
          <a:ln w="76200">
            <a:solidFill>
              <a:srgbClr val="1B1F2A"/>
            </a:solidFill>
          </a:ln>
        </p:spPr>
      </p:pic>
      <p:pic>
        <p:nvPicPr>
          <p:cNvPr id="13" name="Picture 12" descr="osmand_pass_3.png"/>
          <p:cNvPicPr>
            <a:picLocks noChangeAspect="1"/>
          </p:cNvPicPr>
          <p:nvPr/>
        </p:nvPicPr>
        <p:blipFill>
          <a:blip r:embed="rId5"/>
          <a:srcRect t="8000"/>
          <a:stretch>
            <a:fillRect/>
          </a:stretch>
        </p:blipFill>
        <p:spPr>
          <a:xfrm>
            <a:off x="8366760" y="777240"/>
            <a:ext cx="2366010" cy="4837176"/>
          </a:xfrm>
          <a:prstGeom prst="roundRect">
            <a:avLst/>
          </a:prstGeom>
          <a:ln w="76200">
            <a:solidFill>
              <a:srgbClr val="1B1F2A"/>
            </a:solidFill>
          </a:ln>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5E6773"/>
                </a:solidFill>
                <a:latin typeface="Arial"/>
              </a:rPr>
              <a:t>APPENDIX</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What the agent can do, and what it sees in each task</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27</a:t>
            </a:r>
          </a:p>
        </p:txBody>
      </p:sp>
      <p:graphicFrame>
        <p:nvGraphicFramePr>
          <p:cNvPr id="9" name="Table 8"/>
          <p:cNvGraphicFramePr>
            <a:graphicFrameLocks noGrp="1"/>
          </p:cNvGraphicFramePr>
          <p:nvPr/>
        </p:nvGraphicFramePr>
        <p:xfrm>
          <a:off x="640080" y="1554480"/>
          <a:ext cx="5120640" cy="3657600"/>
        </p:xfrm>
        <a:graphic>
          <a:graphicData uri="http://schemas.openxmlformats.org/drawingml/2006/table">
            <a:tbl>
              <a:tblPr firstRow="1" bandRow="1">
                <a:tableStyleId>{5C22544A-7EE6-4342-B048-85BDC9FD1C3A}</a:tableStyleId>
              </a:tblPr>
              <a:tblGrid>
                <a:gridCol w="1280160"/>
                <a:gridCol w="3840480"/>
              </a:tblGrid>
              <a:tr h="522514">
                <a:tc>
                  <a:txBody>
                    <a:bodyPr wrap="square"/>
                    <a:lstStyle/>
                    <a:p>
                      <a:r>
                        <a:rPr sz="1300" b="1">
                          <a:solidFill>
                            <a:srgbClr val="FFFFFF"/>
                          </a:solidFill>
                          <a:latin typeface="Arial"/>
                        </a:rPr>
                        <a:t>Action</a:t>
                      </a:r>
                    </a:p>
                  </a:txBody>
                  <a:tcPr marL="54864" marR="54864" marT="27432" marB="27432" anchor="ctr">
                    <a:solidFill>
                      <a:srgbClr val="072140"/>
                    </a:solidFill>
                  </a:tcPr>
                </a:tc>
                <a:tc>
                  <a:txBody>
                    <a:bodyPr wrap="square"/>
                    <a:lstStyle/>
                    <a:p>
                      <a:r>
                        <a:rPr sz="1300" b="1">
                          <a:solidFill>
                            <a:srgbClr val="FFFFFF"/>
                          </a:solidFill>
                          <a:latin typeface="Arial"/>
                        </a:rPr>
                        <a:t>Example</a:t>
                      </a:r>
                    </a:p>
                  </a:txBody>
                  <a:tcPr marL="54864" marR="54864" marT="27432" marB="27432" anchor="ctr">
                    <a:solidFill>
                      <a:srgbClr val="072140"/>
                    </a:solidFill>
                  </a:tcPr>
                </a:tc>
              </a:tr>
              <a:tr h="522514">
                <a:tc>
                  <a:txBody>
                    <a:bodyPr wrap="square"/>
                    <a:lstStyle/>
                    <a:p>
                      <a:r>
                        <a:rPr sz="1300" b="1">
                          <a:solidFill>
                            <a:srgbClr val="222A35"/>
                          </a:solidFill>
                          <a:latin typeface="Arial"/>
                        </a:rPr>
                        <a:t>Tap</a:t>
                      </a:r>
                    </a:p>
                  </a:txBody>
                  <a:tcPr marL="54864" marR="54864" marT="27432" marB="27432" anchor="ctr">
                    <a:solidFill>
                      <a:srgbClr val="FFFFFF"/>
                    </a:solidFill>
                  </a:tcPr>
                </a:tc>
                <a:tc>
                  <a:txBody>
                    <a:bodyPr wrap="square"/>
                    <a:lstStyle/>
                    <a:p>
                      <a:r>
                        <a:rPr sz="1300" b="0">
                          <a:solidFill>
                            <a:srgbClr val="222A35"/>
                          </a:solidFill>
                          <a:latin typeface="Arial"/>
                        </a:rPr>
                        <a:t>do(action="Tap", element=[500, 335])</a:t>
                      </a:r>
                    </a:p>
                  </a:txBody>
                  <a:tcPr marL="54864" marR="54864" marT="27432" marB="27432" anchor="ctr">
                    <a:solidFill>
                      <a:srgbClr val="FFFFFF"/>
                    </a:solidFill>
                  </a:tcPr>
                </a:tc>
              </a:tr>
              <a:tr h="522514">
                <a:tc>
                  <a:txBody>
                    <a:bodyPr wrap="square"/>
                    <a:lstStyle/>
                    <a:p>
                      <a:r>
                        <a:rPr sz="1300" b="1">
                          <a:solidFill>
                            <a:srgbClr val="222A35"/>
                          </a:solidFill>
                          <a:latin typeface="Arial"/>
                        </a:rPr>
                        <a:t>Type</a:t>
                      </a:r>
                    </a:p>
                  </a:txBody>
                  <a:tcPr marL="54864" marR="54864" marT="27432" marB="27432" anchor="ctr">
                    <a:solidFill>
                      <a:srgbClr val="F2F5F9"/>
                    </a:solidFill>
                  </a:tcPr>
                </a:tc>
                <a:tc>
                  <a:txBody>
                    <a:bodyPr wrap="square"/>
                    <a:lstStyle/>
                    <a:p>
                      <a:r>
                        <a:rPr sz="1300" b="0">
                          <a:solidFill>
                            <a:srgbClr val="222A35"/>
                          </a:solidFill>
                          <a:latin typeface="Arial"/>
                        </a:rPr>
                        <a:t>do(action="Type", text="Ruggell")</a:t>
                      </a:r>
                    </a:p>
                  </a:txBody>
                  <a:tcPr marL="54864" marR="54864" marT="27432" marB="27432" anchor="ctr">
                    <a:solidFill>
                      <a:srgbClr val="F2F5F9"/>
                    </a:solidFill>
                  </a:tcPr>
                </a:tc>
              </a:tr>
              <a:tr h="522514">
                <a:tc>
                  <a:txBody>
                    <a:bodyPr wrap="square"/>
                    <a:lstStyle/>
                    <a:p>
                      <a:r>
                        <a:rPr sz="1300" b="1">
                          <a:solidFill>
                            <a:srgbClr val="222A35"/>
                          </a:solidFill>
                          <a:latin typeface="Arial"/>
                        </a:rPr>
                        <a:t>Swipe</a:t>
                      </a:r>
                    </a:p>
                  </a:txBody>
                  <a:tcPr marL="54864" marR="54864" marT="27432" marB="27432" anchor="ctr">
                    <a:solidFill>
                      <a:srgbClr val="FFFFFF"/>
                    </a:solidFill>
                  </a:tcPr>
                </a:tc>
                <a:tc>
                  <a:txBody>
                    <a:bodyPr wrap="square"/>
                    <a:lstStyle/>
                    <a:p>
                      <a:r>
                        <a:rPr sz="1300" b="0">
                          <a:solidFill>
                            <a:srgbClr val="222A35"/>
                          </a:solidFill>
                          <a:latin typeface="Arial"/>
                        </a:rPr>
                        <a:t>do(action="Swipe", start=[500,560], end=[500,260])</a:t>
                      </a:r>
                    </a:p>
                  </a:txBody>
                  <a:tcPr marL="54864" marR="54864" marT="27432" marB="27432" anchor="ctr">
                    <a:solidFill>
                      <a:srgbClr val="FFFFFF"/>
                    </a:solidFill>
                  </a:tcPr>
                </a:tc>
              </a:tr>
              <a:tr h="522514">
                <a:tc>
                  <a:txBody>
                    <a:bodyPr wrap="square"/>
                    <a:lstStyle/>
                    <a:p>
                      <a:r>
                        <a:rPr sz="1300" b="1">
                          <a:solidFill>
                            <a:srgbClr val="222A35"/>
                          </a:solidFill>
                          <a:latin typeface="Arial"/>
                        </a:rPr>
                        <a:t>Launch</a:t>
                      </a:r>
                    </a:p>
                  </a:txBody>
                  <a:tcPr marL="54864" marR="54864" marT="27432" marB="27432" anchor="ctr">
                    <a:solidFill>
                      <a:srgbClr val="F2F5F9"/>
                    </a:solidFill>
                  </a:tcPr>
                </a:tc>
                <a:tc>
                  <a:txBody>
                    <a:bodyPr wrap="square"/>
                    <a:lstStyle/>
                    <a:p>
                      <a:r>
                        <a:rPr sz="1300" b="0">
                          <a:solidFill>
                            <a:srgbClr val="222A35"/>
                          </a:solidFill>
                          <a:latin typeface="Arial"/>
                        </a:rPr>
                        <a:t>do(action="Launch", app="markor")</a:t>
                      </a:r>
                    </a:p>
                  </a:txBody>
                  <a:tcPr marL="54864" marR="54864" marT="27432" marB="27432" anchor="ctr">
                    <a:solidFill>
                      <a:srgbClr val="F2F5F9"/>
                    </a:solidFill>
                  </a:tcPr>
                </a:tc>
              </a:tr>
              <a:tr h="522514">
                <a:tc>
                  <a:txBody>
                    <a:bodyPr wrap="square"/>
                    <a:lstStyle/>
                    <a:p>
                      <a:r>
                        <a:rPr sz="1300" b="1">
                          <a:solidFill>
                            <a:srgbClr val="222A35"/>
                          </a:solidFill>
                          <a:latin typeface="Arial"/>
                        </a:rPr>
                        <a:t>Back / Wait</a:t>
                      </a:r>
                    </a:p>
                  </a:txBody>
                  <a:tcPr marL="54864" marR="54864" marT="27432" marB="27432" anchor="ctr">
                    <a:solidFill>
                      <a:srgbClr val="FFFFFF"/>
                    </a:solidFill>
                  </a:tcPr>
                </a:tc>
                <a:tc>
                  <a:txBody>
                    <a:bodyPr wrap="square"/>
                    <a:lstStyle/>
                    <a:p>
                      <a:r>
                        <a:rPr sz="1300" b="0">
                          <a:solidFill>
                            <a:srgbClr val="222A35"/>
                          </a:solidFill>
                          <a:latin typeface="Arial"/>
                        </a:rPr>
                        <a:t>do(action="Back")</a:t>
                      </a:r>
                    </a:p>
                  </a:txBody>
                  <a:tcPr marL="54864" marR="54864" marT="27432" marB="27432" anchor="ctr">
                    <a:solidFill>
                      <a:srgbClr val="FFFFFF"/>
                    </a:solidFill>
                  </a:tcPr>
                </a:tc>
              </a:tr>
              <a:tr h="522516">
                <a:tc>
                  <a:txBody>
                    <a:bodyPr wrap="square"/>
                    <a:lstStyle/>
                    <a:p>
                      <a:r>
                        <a:rPr sz="1300" b="1">
                          <a:solidFill>
                            <a:srgbClr val="222A35"/>
                          </a:solidFill>
                          <a:latin typeface="Arial"/>
                        </a:rPr>
                        <a:t>Finish</a:t>
                      </a:r>
                    </a:p>
                  </a:txBody>
                  <a:tcPr marL="54864" marR="54864" marT="27432" marB="27432" anchor="ctr">
                    <a:solidFill>
                      <a:srgbClr val="F2F5F9"/>
                    </a:solidFill>
                  </a:tcPr>
                </a:tc>
                <a:tc>
                  <a:txBody>
                    <a:bodyPr wrap="square"/>
                    <a:lstStyle/>
                    <a:p>
                      <a:r>
                        <a:rPr sz="1300" b="0">
                          <a:solidFill>
                            <a:srgbClr val="222A35"/>
                          </a:solidFill>
                          <a:latin typeface="Arial"/>
                        </a:rPr>
                        <a:t>finish(message="Track saved")</a:t>
                      </a:r>
                    </a:p>
                  </a:txBody>
                  <a:tcPr marL="54864" marR="54864" marT="27432" marB="27432" anchor="ctr">
                    <a:solidFill>
                      <a:srgbClr val="F2F5F9"/>
                    </a:solidFill>
                  </a:tcPr>
                </a:tc>
              </a:tr>
            </a:tbl>
          </a:graphicData>
        </a:graphic>
      </p:graphicFrame>
      <p:graphicFrame>
        <p:nvGraphicFramePr>
          <p:cNvPr id="10" name="Table 9"/>
          <p:cNvGraphicFramePr>
            <a:graphicFrameLocks noGrp="1"/>
          </p:cNvGraphicFramePr>
          <p:nvPr/>
        </p:nvGraphicFramePr>
        <p:xfrm>
          <a:off x="6035040" y="1554480"/>
          <a:ext cx="5486400" cy="3657600"/>
        </p:xfrm>
        <a:graphic>
          <a:graphicData uri="http://schemas.openxmlformats.org/drawingml/2006/table">
            <a:tbl>
              <a:tblPr firstRow="1" bandRow="1">
                <a:tableStyleId>{5C22544A-7EE6-4342-B048-85BDC9FD1C3A}</a:tableStyleId>
              </a:tblPr>
              <a:tblGrid>
                <a:gridCol w="1645920"/>
                <a:gridCol w="3840480"/>
              </a:tblGrid>
              <a:tr h="457200">
                <a:tc>
                  <a:txBody>
                    <a:bodyPr wrap="square"/>
                    <a:lstStyle/>
                    <a:p>
                      <a:r>
                        <a:rPr sz="1300" b="1">
                          <a:solidFill>
                            <a:srgbClr val="FFFFFF"/>
                          </a:solidFill>
                          <a:latin typeface="Arial"/>
                        </a:rPr>
                        <a:t>Task</a:t>
                      </a:r>
                    </a:p>
                  </a:txBody>
                  <a:tcPr marL="54864" marR="54864" marT="27432" marB="27432" anchor="ctr">
                    <a:solidFill>
                      <a:srgbClr val="072140"/>
                    </a:solidFill>
                  </a:tcPr>
                </a:tc>
                <a:tc>
                  <a:txBody>
                    <a:bodyPr wrap="square"/>
                    <a:lstStyle/>
                    <a:p>
                      <a:r>
                        <a:rPr sz="1300" b="1">
                          <a:solidFill>
                            <a:srgbClr val="FFFFFF"/>
                          </a:solidFill>
                          <a:latin typeface="Arial"/>
                        </a:rPr>
                        <a:t>Observation</a:t>
                      </a:r>
                    </a:p>
                  </a:txBody>
                  <a:tcPr marL="54864" marR="54864" marT="27432" marB="27432" anchor="ctr">
                    <a:solidFill>
                      <a:srgbClr val="072140"/>
                    </a:solidFill>
                  </a:tcPr>
                </a:tc>
              </a:tr>
              <a:tr h="457200">
                <a:tc>
                  <a:txBody>
                    <a:bodyPr wrap="square"/>
                    <a:lstStyle/>
                    <a:p>
                      <a:r>
                        <a:rPr sz="1300" b="1">
                          <a:solidFill>
                            <a:srgbClr val="222A35"/>
                          </a:solidFill>
                          <a:latin typeface="Arial"/>
                        </a:rPr>
                        <a:t>Wi-Fi</a:t>
                      </a:r>
                    </a:p>
                  </a:txBody>
                  <a:tcPr marL="54864" marR="54864" marT="27432" marB="27432" anchor="ctr">
                    <a:solidFill>
                      <a:srgbClr val="FFFFFF"/>
                    </a:solidFill>
                  </a:tcPr>
                </a:tc>
                <a:tc>
                  <a:txBody>
                    <a:bodyPr wrap="square"/>
                    <a:lstStyle/>
                    <a:p>
                      <a:r>
                        <a:rPr sz="1300" b="0">
                          <a:solidFill>
                            <a:srgbClr val="222A35"/>
                          </a:solidFill>
                          <a:latin typeface="Arial"/>
                        </a:rPr>
                        <a:t>Screenshot + Settings labels</a:t>
                      </a:r>
                    </a:p>
                  </a:txBody>
                  <a:tcPr marL="54864" marR="54864" marT="27432" marB="27432" anchor="ctr">
                    <a:solidFill>
                      <a:srgbClr val="E5EFF8"/>
                    </a:solidFill>
                  </a:tcPr>
                </a:tc>
              </a:tr>
              <a:tr h="457200">
                <a:tc>
                  <a:txBody>
                    <a:bodyPr wrap="square"/>
                    <a:lstStyle/>
                    <a:p>
                      <a:r>
                        <a:rPr sz="1300" b="1">
                          <a:solidFill>
                            <a:srgbClr val="222A35"/>
                          </a:solidFill>
                          <a:latin typeface="Arial"/>
                        </a:rPr>
                        <a:t>Contacts</a:t>
                      </a:r>
                    </a:p>
                  </a:txBody>
                  <a:tcPr marL="54864" marR="54864" marT="27432" marB="27432" anchor="ctr">
                    <a:solidFill>
                      <a:srgbClr val="F2F5F9"/>
                    </a:solidFill>
                  </a:tcPr>
                </a:tc>
                <a:tc>
                  <a:txBody>
                    <a:bodyPr wrap="square"/>
                    <a:lstStyle/>
                    <a:p>
                      <a:r>
                        <a:rPr sz="1300" b="0">
                          <a:solidFill>
                            <a:srgbClr val="222A35"/>
                          </a:solidFill>
                          <a:latin typeface="Arial"/>
                        </a:rPr>
                        <a:t>Screenshot only</a:t>
                      </a:r>
                    </a:p>
                  </a:txBody>
                  <a:tcPr marL="54864" marR="54864" marT="27432" marB="27432" anchor="ctr">
                    <a:solidFill>
                      <a:srgbClr val="F2F5F9"/>
                    </a:solidFill>
                  </a:tcPr>
                </a:tc>
              </a:tr>
              <a:tr h="457200">
                <a:tc>
                  <a:txBody>
                    <a:bodyPr wrap="square"/>
                    <a:lstStyle/>
                    <a:p>
                      <a:r>
                        <a:rPr sz="1300" b="1">
                          <a:solidFill>
                            <a:srgbClr val="222A35"/>
                          </a:solidFill>
                          <a:latin typeface="Arial"/>
                        </a:rPr>
                        <a:t>SMS</a:t>
                      </a:r>
                    </a:p>
                  </a:txBody>
                  <a:tcPr marL="54864" marR="54864" marT="27432" marB="27432" anchor="ctr">
                    <a:solidFill>
                      <a:srgbClr val="FFFFFF"/>
                    </a:solidFill>
                  </a:tcPr>
                </a:tc>
                <a:tc>
                  <a:txBody>
                    <a:bodyPr wrap="square"/>
                    <a:lstStyle/>
                    <a:p>
                      <a:r>
                        <a:rPr sz="1300" b="0">
                          <a:solidFill>
                            <a:srgbClr val="222A35"/>
                          </a:solidFill>
                          <a:latin typeface="Arial"/>
                        </a:rPr>
                        <a:t>Screenshot only</a:t>
                      </a:r>
                    </a:p>
                  </a:txBody>
                  <a:tcPr marL="54864" marR="54864" marT="27432" marB="27432" anchor="ctr">
                    <a:solidFill>
                      <a:srgbClr val="FFFFFF"/>
                    </a:solidFill>
                  </a:tcPr>
                </a:tc>
              </a:tr>
              <a:tr h="457200">
                <a:tc>
                  <a:txBody>
                    <a:bodyPr wrap="square"/>
                    <a:lstStyle/>
                    <a:p>
                      <a:r>
                        <a:rPr sz="1300" b="1">
                          <a:solidFill>
                            <a:srgbClr val="222A35"/>
                          </a:solidFill>
                          <a:latin typeface="Arial"/>
                        </a:rPr>
                        <a:t>Files</a:t>
                      </a:r>
                    </a:p>
                  </a:txBody>
                  <a:tcPr marL="54864" marR="54864" marT="27432" marB="27432" anchor="ctr">
                    <a:solidFill>
                      <a:srgbClr val="F2F5F9"/>
                    </a:solidFill>
                  </a:tcPr>
                </a:tc>
                <a:tc>
                  <a:txBody>
                    <a:bodyPr wrap="square"/>
                    <a:lstStyle/>
                    <a:p>
                      <a:r>
                        <a:rPr sz="1300" b="0">
                          <a:solidFill>
                            <a:srgbClr val="222A35"/>
                          </a:solidFill>
                          <a:latin typeface="Arial"/>
                        </a:rPr>
                        <a:t>Screenshot only</a:t>
                      </a:r>
                    </a:p>
                  </a:txBody>
                  <a:tcPr marL="54864" marR="54864" marT="27432" marB="27432" anchor="ctr">
                    <a:solidFill>
                      <a:srgbClr val="F2F5F9"/>
                    </a:solidFill>
                  </a:tcPr>
                </a:tc>
              </a:tr>
              <a:tr h="457200">
                <a:tc>
                  <a:txBody>
                    <a:bodyPr wrap="square"/>
                    <a:lstStyle/>
                    <a:p>
                      <a:r>
                        <a:rPr sz="1300" b="1">
                          <a:solidFill>
                            <a:srgbClr val="222A35"/>
                          </a:solidFill>
                          <a:latin typeface="Arial"/>
                        </a:rPr>
                        <a:t>Calendar</a:t>
                      </a:r>
                    </a:p>
                  </a:txBody>
                  <a:tcPr marL="54864" marR="54864" marT="27432" marB="27432" anchor="ctr">
                    <a:solidFill>
                      <a:srgbClr val="FFFFFF"/>
                    </a:solidFill>
                  </a:tcPr>
                </a:tc>
                <a:tc>
                  <a:txBody>
                    <a:bodyPr wrap="square"/>
                    <a:lstStyle/>
                    <a:p>
                      <a:r>
                        <a:rPr sz="1300" b="0">
                          <a:solidFill>
                            <a:srgbClr val="222A35"/>
                          </a:solidFill>
                          <a:latin typeface="Arial"/>
                        </a:rPr>
                        <a:t>Screenshot only</a:t>
                      </a:r>
                    </a:p>
                  </a:txBody>
                  <a:tcPr marL="54864" marR="54864" marT="27432" marB="27432" anchor="ctr">
                    <a:solidFill>
                      <a:srgbClr val="FFFFFF"/>
                    </a:solidFill>
                  </a:tcPr>
                </a:tc>
              </a:tr>
              <a:tr h="457200">
                <a:tc>
                  <a:txBody>
                    <a:bodyPr wrap="square"/>
                    <a:lstStyle/>
                    <a:p>
                      <a:r>
                        <a:rPr sz="1300" b="1">
                          <a:solidFill>
                            <a:srgbClr val="222A35"/>
                          </a:solidFill>
                          <a:latin typeface="Arial"/>
                        </a:rPr>
                        <a:t>Markor + SMS</a:t>
                      </a:r>
                    </a:p>
                  </a:txBody>
                  <a:tcPr marL="54864" marR="54864" marT="27432" marB="27432" anchor="ctr">
                    <a:solidFill>
                      <a:srgbClr val="F2F5F9"/>
                    </a:solidFill>
                  </a:tcPr>
                </a:tc>
                <a:tc>
                  <a:txBody>
                    <a:bodyPr wrap="square"/>
                    <a:lstStyle/>
                    <a:p>
                      <a:r>
                        <a:rPr sz="1300" b="0">
                          <a:solidFill>
                            <a:srgbClr val="222A35"/>
                          </a:solidFill>
                          <a:latin typeface="Arial"/>
                        </a:rPr>
                        <a:t>Screenshot only (+ text Skill)</a:t>
                      </a:r>
                    </a:p>
                  </a:txBody>
                  <a:tcPr marL="54864" marR="54864" marT="27432" marB="27432" anchor="ctr">
                    <a:solidFill>
                      <a:srgbClr val="F2F5F9"/>
                    </a:solidFill>
                  </a:tcPr>
                </a:tc>
              </a:tr>
              <a:tr h="457200">
                <a:tc>
                  <a:txBody>
                    <a:bodyPr wrap="square"/>
                    <a:lstStyle/>
                    <a:p>
                      <a:r>
                        <a:rPr sz="1300" b="1">
                          <a:solidFill>
                            <a:srgbClr val="222A35"/>
                          </a:solidFill>
                          <a:latin typeface="Arial"/>
                        </a:rPr>
                        <a:t>OsmAnd</a:t>
                      </a:r>
                    </a:p>
                  </a:txBody>
                  <a:tcPr marL="54864" marR="54864" marT="27432" marB="27432" anchor="ctr">
                    <a:solidFill>
                      <a:srgbClr val="FFFFFF"/>
                    </a:solidFill>
                  </a:tcPr>
                </a:tc>
                <a:tc>
                  <a:txBody>
                    <a:bodyPr wrap="square"/>
                    <a:lstStyle/>
                    <a:p>
                      <a:r>
                        <a:rPr sz="1300" b="0">
                          <a:solidFill>
                            <a:srgbClr val="222A35"/>
                          </a:solidFill>
                          <a:latin typeface="Arial"/>
                        </a:rPr>
                        <a:t>Screenshot + accessibility tree (+ coded Skill)</a:t>
                      </a:r>
                    </a:p>
                  </a:txBody>
                  <a:tcPr marL="54864" marR="54864" marT="27432" marB="27432" anchor="ctr">
                    <a:solidFill>
                      <a:srgbClr val="FCECE0"/>
                    </a:solidFill>
                  </a:tcPr>
                </a:tc>
              </a:tr>
            </a:tbl>
          </a:graphicData>
        </a:graphic>
      </p:graphicFrame>
      <p:sp>
        <p:nvSpPr>
          <p:cNvPr id="11" name="TextBox 10"/>
          <p:cNvSpPr txBox="1"/>
          <p:nvPr/>
        </p:nvSpPr>
        <p:spPr>
          <a:xfrm>
            <a:off x="640080" y="5440680"/>
            <a:ext cx="10881360" cy="822960"/>
          </a:xfrm>
          <a:prstGeom prst="rect">
            <a:avLst/>
          </a:prstGeom>
          <a:noFill/>
        </p:spPr>
        <p:txBody>
          <a:bodyPr wrap="square" anchor="t" lIns="73152" rIns="73152">
            <a:spAutoFit/>
          </a:bodyPr>
          <a:lstStyle/>
          <a:p>
            <a:pPr algn="l">
              <a:lnSpc>
                <a:spcPct val="110000"/>
              </a:lnSpc>
            </a:pPr>
            <a:r>
              <a:rPr sz="1300" b="0" i="0">
                <a:solidFill>
                  <a:srgbClr val="5E6773"/>
                </a:solidFill>
                <a:latin typeface="Arial"/>
              </a:rPr>
              <a:t>Grounding: coordinates on a 0–1000 grid. Where labels are given, the step text also lists each label's tap centre.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5E6773"/>
                </a:solidFill>
                <a:latin typeface="Arial"/>
              </a:rPr>
              <a:t>APPENDIX</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Steps used versus the course's reference steps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28</a:t>
            </a:r>
          </a:p>
        </p:txBody>
      </p:sp>
      <p:graphicFrame>
        <p:nvGraphicFramePr>
          <p:cNvPr id="9" name="Chart 8"/>
          <p:cNvGraphicFramePr>
            <a:graphicFrameLocks noGrp="1"/>
          </p:cNvGraphicFramePr>
          <p:nvPr/>
        </p:nvGraphicFramePr>
        <p:xfrm>
          <a:off x="640080" y="1463040"/>
          <a:ext cx="10927080" cy="4846320"/>
        </p:xfrm>
        <a:graphic>
          <a:graphicData uri="http://schemas.openxmlformats.org/drawingml/2006/chart">
            <c:chart xmlns:c="http://schemas.openxmlformats.org/drawingml/2006/chart" r:id="rId3"/>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329184"/>
            <a:ext cx="201168" cy="109728"/>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65176"/>
            <a:ext cx="8229600" cy="274320"/>
          </a:xfrm>
          <a:prstGeom prst="rect">
            <a:avLst/>
          </a:prstGeom>
          <a:noFill/>
        </p:spPr>
        <p:txBody>
          <a:bodyPr wrap="square" anchor="t" lIns="73152" rIns="73152">
            <a:spAutoFit/>
          </a:bodyPr>
          <a:lstStyle/>
          <a:p>
            <a:pPr algn="l">
              <a:lnSpc>
                <a:spcPct val="110000"/>
              </a:lnSpc>
            </a:pPr>
            <a:r>
              <a:rPr sz="1100" b="1" i="0">
                <a:solidFill>
                  <a:srgbClr val="5E6773"/>
                </a:solidFill>
                <a:latin typeface="Arial"/>
              </a:rPr>
              <a:t>APPENDIX</a:t>
            </a:r>
          </a:p>
        </p:txBody>
      </p:sp>
      <p:sp>
        <p:nvSpPr>
          <p:cNvPr id="5" name="TextBox 4"/>
          <p:cNvSpPr txBox="1"/>
          <p:nvPr/>
        </p:nvSpPr>
        <p:spPr>
          <a:xfrm>
            <a:off x="548640" y="530352"/>
            <a:ext cx="11064240" cy="731520"/>
          </a:xfrm>
          <a:prstGeom prst="rect">
            <a:avLst/>
          </a:prstGeom>
          <a:noFill/>
        </p:spPr>
        <p:txBody>
          <a:bodyPr wrap="square" anchor="t" lIns="73152" rIns="73152">
            <a:spAutoFit/>
          </a:bodyPr>
          <a:lstStyle/>
          <a:p>
            <a:pPr algn="l">
              <a:lnSpc>
                <a:spcPct val="100000"/>
              </a:lnSpc>
            </a:pPr>
            <a:r>
              <a:rPr sz="2800" b="1" i="0">
                <a:solidFill>
                  <a:srgbClr val="072140"/>
                </a:solidFill>
                <a:latin typeface="Arial"/>
              </a:rPr>
              <a:t>Speed and cost: about 0.065 € for all 21 runs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anchor="t" lIns="73152" rIns="73152">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anchor="t" lIns="73152" rIns="73152">
            <a:spAutoFit/>
          </a:bodyPr>
          <a:lstStyle/>
          <a:p>
            <a:pPr algn="r">
              <a:lnSpc>
                <a:spcPct val="110000"/>
              </a:lnSpc>
            </a:pPr>
            <a:r>
              <a:rPr sz="1000" b="0" i="0">
                <a:solidFill>
                  <a:srgbClr val="5E6773"/>
                </a:solidFill>
                <a:latin typeface="Arial"/>
              </a:rPr>
              <a:t>29</a:t>
            </a:r>
          </a:p>
        </p:txBody>
      </p:sp>
      <p:graphicFrame>
        <p:nvGraphicFramePr>
          <p:cNvPr id="9" name="Chart 8"/>
          <p:cNvGraphicFramePr>
            <a:graphicFrameLocks noGrp="1"/>
          </p:cNvGraphicFramePr>
          <p:nvPr/>
        </p:nvGraphicFramePr>
        <p:xfrm>
          <a:off x="640080" y="1463040"/>
          <a:ext cx="6949440" cy="4846320"/>
        </p:xfrm>
        <a:graphic>
          <a:graphicData uri="http://schemas.openxmlformats.org/drawingml/2006/chart">
            <c:chart xmlns:c="http://schemas.openxmlformats.org/drawingml/2006/chart" r:id="rId3"/>
          </a:graphicData>
        </a:graphic>
      </p:graphicFrame>
      <p:sp>
        <p:nvSpPr>
          <p:cNvPr id="10" name="TextBox 9"/>
          <p:cNvSpPr txBox="1"/>
          <p:nvPr/>
        </p:nvSpPr>
        <p:spPr>
          <a:xfrm>
            <a:off x="8001000" y="1600200"/>
            <a:ext cx="3566160" cy="685800"/>
          </a:xfrm>
          <a:prstGeom prst="rect">
            <a:avLst/>
          </a:prstGeom>
          <a:noFill/>
        </p:spPr>
        <p:txBody>
          <a:bodyPr wrap="square" anchor="t" lIns="73152" rIns="73152">
            <a:spAutoFit/>
          </a:bodyPr>
          <a:lstStyle/>
          <a:p>
            <a:pPr algn="l">
              <a:lnSpc>
                <a:spcPct val="110000"/>
              </a:lnSpc>
            </a:pPr>
            <a:r>
              <a:rPr sz="3600" b="1" i="0">
                <a:solidFill>
                  <a:srgbClr val="0065BD"/>
                </a:solidFill>
                <a:latin typeface="Arial"/>
              </a:rPr>
              <a:t>1.45 M</a:t>
            </a:r>
          </a:p>
        </p:txBody>
      </p:sp>
      <p:sp>
        <p:nvSpPr>
          <p:cNvPr id="11" name="TextBox 10"/>
          <p:cNvSpPr txBox="1"/>
          <p:nvPr/>
        </p:nvSpPr>
        <p:spPr>
          <a:xfrm>
            <a:off x="8001000" y="2313432"/>
            <a:ext cx="35661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tokens for all 21 final runs</a:t>
            </a:r>
          </a:p>
        </p:txBody>
      </p:sp>
      <p:sp>
        <p:nvSpPr>
          <p:cNvPr id="12" name="TextBox 11"/>
          <p:cNvSpPr txBox="1"/>
          <p:nvPr/>
        </p:nvSpPr>
        <p:spPr>
          <a:xfrm>
            <a:off x="8001000" y="3063240"/>
            <a:ext cx="3566160" cy="685800"/>
          </a:xfrm>
          <a:prstGeom prst="rect">
            <a:avLst/>
          </a:prstGeom>
          <a:noFill/>
        </p:spPr>
        <p:txBody>
          <a:bodyPr wrap="square" anchor="t" lIns="73152" rIns="73152">
            <a:spAutoFit/>
          </a:bodyPr>
          <a:lstStyle/>
          <a:p>
            <a:pPr algn="l">
              <a:lnSpc>
                <a:spcPct val="110000"/>
              </a:lnSpc>
            </a:pPr>
            <a:r>
              <a:rPr sz="3600" b="1" i="0">
                <a:solidFill>
                  <a:srgbClr val="0065BD"/>
                </a:solidFill>
                <a:latin typeface="Arial"/>
              </a:rPr>
              <a:t>€0.065</a:t>
            </a:r>
          </a:p>
        </p:txBody>
      </p:sp>
      <p:sp>
        <p:nvSpPr>
          <p:cNvPr id="13" name="TextBox 12"/>
          <p:cNvSpPr txBox="1"/>
          <p:nvPr/>
        </p:nvSpPr>
        <p:spPr>
          <a:xfrm>
            <a:off x="8001000" y="3776472"/>
            <a:ext cx="35661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model cost of the final evaluation</a:t>
            </a:r>
          </a:p>
          <a:p>
            <a:pPr algn="l">
              <a:lnSpc>
                <a:spcPct val="110000"/>
              </a:lnSpc>
            </a:pPr>
            <a:r>
              <a:rPr sz="1400" b="0" i="0">
                <a:solidFill>
                  <a:srgbClr val="5E6773"/>
                </a:solidFill>
                <a:latin typeface="Arial"/>
              </a:rPr>
              <a:t>(€0.045 per million tokens)</a:t>
            </a:r>
          </a:p>
        </p:txBody>
      </p:sp>
      <p:sp>
        <p:nvSpPr>
          <p:cNvPr id="14" name="TextBox 13"/>
          <p:cNvSpPr txBox="1"/>
          <p:nvPr/>
        </p:nvSpPr>
        <p:spPr>
          <a:xfrm>
            <a:off x="8001000" y="4526280"/>
            <a:ext cx="3566160" cy="685800"/>
          </a:xfrm>
          <a:prstGeom prst="rect">
            <a:avLst/>
          </a:prstGeom>
          <a:noFill/>
        </p:spPr>
        <p:txBody>
          <a:bodyPr wrap="square" anchor="t" lIns="73152" rIns="73152">
            <a:spAutoFit/>
          </a:bodyPr>
          <a:lstStyle/>
          <a:p>
            <a:pPr algn="l">
              <a:lnSpc>
                <a:spcPct val="110000"/>
              </a:lnSpc>
            </a:pPr>
            <a:r>
              <a:rPr sz="3600" b="1" i="0">
                <a:solidFill>
                  <a:srgbClr val="0065BD"/>
                </a:solidFill>
                <a:latin typeface="Arial"/>
              </a:rPr>
              <a:t>1.77 s</a:t>
            </a:r>
          </a:p>
        </p:txBody>
      </p:sp>
      <p:sp>
        <p:nvSpPr>
          <p:cNvPr id="15" name="TextBox 14"/>
          <p:cNvSpPr txBox="1"/>
          <p:nvPr/>
        </p:nvSpPr>
        <p:spPr>
          <a:xfrm>
            <a:off x="8001000" y="5239512"/>
            <a:ext cx="3566160" cy="640080"/>
          </a:xfrm>
          <a:prstGeom prst="rect">
            <a:avLst/>
          </a:prstGeom>
          <a:noFill/>
        </p:spPr>
        <p:txBody>
          <a:bodyPr wrap="square" anchor="t" lIns="73152" rIns="73152">
            <a:spAutoFit/>
          </a:bodyPr>
          <a:lstStyle/>
          <a:p>
            <a:pPr algn="l">
              <a:lnSpc>
                <a:spcPct val="110000"/>
              </a:lnSpc>
            </a:pPr>
            <a:r>
              <a:rPr sz="1400" b="0" i="0">
                <a:solidFill>
                  <a:srgbClr val="5E6773"/>
                </a:solidFill>
                <a:latin typeface="Arial"/>
              </a:rPr>
              <a:t>median time per model call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