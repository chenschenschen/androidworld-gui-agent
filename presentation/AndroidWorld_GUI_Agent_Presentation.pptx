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Runs</c:v>
                </c:pt>
              </c:strCache>
            </c:strRef>
          </c:tx>
          <c:spPr>
            <a:solidFill>
              <a:srgbClr val="0065BD"/>
            </a:solidFill>
          </c:spPr>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b"/>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Markor with seed 44. It passed in 15 steps.</a:t>
            </a:r>
          </a:p>
          <a:p>
            <a:r>
              <a:t>The model opened Markor and tapped plus. In the new file dialog it typed the name and set the extension.</a:t>
            </a:r>
          </a:p>
          <a:p>
            <a:r>
              <a:t>It typed the note text and saved it. Then it launched Simple SMS Messenger, started a new conversation, entered the number, typed the same text and pressed the SMS button.</a:t>
            </a:r>
          </a:p>
          <a:p>
            <a:r>
              <a:t>At the end it saw the sent message and called finish. The checker then confirmed both parts: the note exists with the right text, and the SMS was sent to the right number.</a:t>
            </a:r>
          </a:p>
          <a:p>
            <a:r>
              <a:t>Under each picture you see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has a screen recording, a step-by-step log, and one summary row with the fields from the course: task, run, model, observation, grounding, steps, verifier, failure class, recording and a note.</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at a speed you can follow.</a:t>
            </a:r>
          </a:p>
          <a:p>
            <a:r>
              <a:t>On the left, Markor with seed 44, four times faster. Watch how it creates the note, saves it, switches to the SMS app, and sends a plain SMS.</a:t>
            </a:r>
          </a:p>
          <a:p>
            <a:r>
              <a:t>On the right, Files with seed 43, three times faster. Everything looks right: it opens the folder, selects a file, and moves it to Movies. But watch the file name in the grid. The name is cut off, and the agent picks a file that only looks like the right one. Then it says it is done. The checker says fail.</a:t>
            </a:r>
          </a:p>
          <a:p>
            <a:r>
              <a:t>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8.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914400"/>
            <a:ext cx="10515600" cy="548640"/>
          </a:xfrm>
          <a:prstGeom prst="rect">
            <a:avLst/>
          </a:prstGeom>
          <a:noFill/>
        </p:spPr>
        <p:txBody>
          <a:bodyPr wrap="square" anchor="t" lIns="73152" rIns="73152">
            <a:spAutoFit/>
          </a:bodyPr>
          <a:lstStyle/>
          <a:p>
            <a:pPr algn="ctr">
              <a:lnSpc>
                <a:spcPct val="110000"/>
              </a:lnSpc>
            </a:pPr>
            <a:r>
              <a:rPr sz="3000" b="1" i="0">
                <a:solidFill>
                  <a:srgbClr val="2F3440"/>
                </a:solidFill>
                <a:latin typeface="Arial"/>
              </a:rPr>
              <a:t>AGENTIC AI IN MODERN BUSINESS</a:t>
            </a:r>
          </a:p>
        </p:txBody>
      </p:sp>
      <p:sp>
        <p:nvSpPr>
          <p:cNvPr id="4" name="TextBox 3"/>
          <p:cNvSpPr txBox="1"/>
          <p:nvPr/>
        </p:nvSpPr>
        <p:spPr>
          <a:xfrm>
            <a:off x="822960" y="1508760"/>
            <a:ext cx="10515600" cy="1005840"/>
          </a:xfrm>
          <a:prstGeom prst="rect">
            <a:avLst/>
          </a:prstGeom>
          <a:noFill/>
        </p:spPr>
        <p:txBody>
          <a:bodyPr wrap="square" anchor="t" lIns="73152" rIns="73152">
            <a:spAutoFit/>
          </a:bodyPr>
          <a:lstStyle/>
          <a:p>
            <a:pPr algn="ctr">
              <a:lnSpc>
                <a:spcPct val="110000"/>
              </a:lnSpc>
            </a:pPr>
            <a:r>
              <a:rPr sz="6000" b="1" i="0">
                <a:solidFill>
                  <a:srgbClr val="2A4FB5"/>
                </a:solidFill>
                <a:latin typeface="Arial"/>
              </a:rPr>
              <a:t>PRESENTATION</a:t>
            </a:r>
          </a:p>
        </p:txBody>
      </p:sp>
      <p:sp>
        <p:nvSpPr>
          <p:cNvPr id="5" name="TextBox 4"/>
          <p:cNvSpPr txBox="1"/>
          <p:nvPr/>
        </p:nvSpPr>
        <p:spPr>
          <a:xfrm>
            <a:off x="822960" y="2514600"/>
            <a:ext cx="10515600" cy="365760"/>
          </a:xfrm>
          <a:prstGeom prst="rect">
            <a:avLst/>
          </a:prstGeom>
          <a:noFill/>
        </p:spPr>
        <p:txBody>
          <a:bodyPr wrap="square" anchor="t" lIns="73152" rIns="73152">
            <a:spAutoFit/>
          </a:bodyPr>
          <a:lstStyle/>
          <a:p>
            <a:pPr algn="ctr">
              <a:lnSpc>
                <a:spcPct val="110000"/>
              </a:lnSpc>
            </a:pPr>
            <a:r>
              <a:rPr sz="1600" b="0" i="0">
                <a:solidFill>
                  <a:srgbClr val="5E6773"/>
                </a:solidFill>
                <a:latin typeface="Arial"/>
              </a:rPr>
              <a:t>TUM School of Management</a:t>
            </a:r>
          </a:p>
        </p:txBody>
      </p:sp>
      <p:sp>
        <p:nvSpPr>
          <p:cNvPr id="6" name="TextBox 5"/>
          <p:cNvSpPr txBox="1"/>
          <p:nvPr/>
        </p:nvSpPr>
        <p:spPr>
          <a:xfrm>
            <a:off x="822960" y="2971800"/>
            <a:ext cx="10515600" cy="457200"/>
          </a:xfrm>
          <a:prstGeom prst="rect">
            <a:avLst/>
          </a:prstGeom>
          <a:noFill/>
        </p:spPr>
        <p:txBody>
          <a:bodyPr wrap="square" anchor="t" lIns="73152" rIns="73152">
            <a:spAutoFit/>
          </a:bodyPr>
          <a:lstStyle/>
          <a:p>
            <a:pPr algn="ctr">
              <a:lnSpc>
                <a:spcPct val="110000"/>
              </a:lnSpc>
            </a:pPr>
            <a:r>
              <a:rPr sz="2000" b="1" i="0">
                <a:solidFill>
                  <a:srgbClr val="072140"/>
                </a:solidFill>
                <a:latin typeface="Arial"/>
              </a:rPr>
              <a:t>One GUI agent for seven AndroidWorld tasks</a:t>
            </a:r>
          </a:p>
        </p:txBody>
      </p:sp>
      <p:sp>
        <p:nvSpPr>
          <p:cNvPr id="7" name="TextBox 6"/>
          <p:cNvSpPr txBox="1"/>
          <p:nvPr/>
        </p:nvSpPr>
        <p:spPr>
          <a:xfrm>
            <a:off x="1097280" y="3840480"/>
            <a:ext cx="4114800" cy="365760"/>
          </a:xfrm>
          <a:prstGeom prst="rect">
            <a:avLst/>
          </a:prstGeom>
          <a:noFill/>
        </p:spPr>
        <p:txBody>
          <a:bodyPr wrap="square" anchor="t" lIns="73152" rIns="73152">
            <a:spAutoFit/>
          </a:bodyPr>
          <a:lstStyle/>
          <a:p>
            <a:pPr algn="l">
              <a:lnSpc>
                <a:spcPct val="110000"/>
              </a:lnSpc>
            </a:pPr>
            <a:r>
              <a:rPr sz="1500" b="1" i="0">
                <a:solidFill>
                  <a:srgbClr val="072140"/>
                </a:solidFill>
                <a:latin typeface="Arial"/>
              </a:rPr>
              <a:t>Team members</a:t>
            </a:r>
          </a:p>
        </p:txBody>
      </p:sp>
      <p:sp>
        <p:nvSpPr>
          <p:cNvPr id="8" name="TextBox 7"/>
          <p:cNvSpPr txBox="1"/>
          <p:nvPr/>
        </p:nvSpPr>
        <p:spPr>
          <a:xfrm>
            <a:off x="1097280" y="4206240"/>
            <a:ext cx="2651760" cy="1828800"/>
          </a:xfrm>
          <a:prstGeom prst="rect">
            <a:avLst/>
          </a:prstGeom>
          <a:noFill/>
        </p:spPr>
        <p:txBody>
          <a:bodyPr wrap="square" anchor="t" lIns="73152" rIns="73152">
            <a:spAutoFit/>
          </a:bodyPr>
          <a:lstStyle/>
          <a:p>
            <a:pPr algn="l">
              <a:lnSpc>
                <a:spcPct val="125000"/>
              </a:lnSpc>
            </a:pPr>
            <a:r>
              <a:rPr sz="1400" b="0" i="0">
                <a:solidFill>
                  <a:srgbClr val="222A35"/>
                </a:solidFill>
                <a:latin typeface="Arial"/>
              </a:rPr>
              <a:t>Danh Phuong Le</a:t>
            </a:r>
          </a:p>
          <a:p>
            <a:pPr algn="l">
              <a:lnSpc>
                <a:spcPct val="125000"/>
              </a:lnSpc>
            </a:pPr>
            <a:r>
              <a:rPr sz="1400" b="0" i="0">
                <a:solidFill>
                  <a:srgbClr val="222A35"/>
                </a:solidFill>
                <a:latin typeface="Arial"/>
              </a:rPr>
              <a:t>Ssu-Cheng Chen</a:t>
            </a:r>
          </a:p>
          <a:p>
            <a:pPr algn="l">
              <a:lnSpc>
                <a:spcPct val="125000"/>
              </a:lnSpc>
            </a:pPr>
            <a:r>
              <a:rPr sz="1400" b="0" i="0">
                <a:solidFill>
                  <a:srgbClr val="222A35"/>
                </a:solidFill>
                <a:latin typeface="Arial"/>
              </a:rPr>
              <a:t>Hayati Ömer Koç</a:t>
            </a:r>
          </a:p>
          <a:p>
            <a:pPr algn="l">
              <a:lnSpc>
                <a:spcPct val="125000"/>
              </a:lnSpc>
            </a:pPr>
            <a:r>
              <a:rPr sz="1400" b="0" i="0">
                <a:solidFill>
                  <a:srgbClr val="222A35"/>
                </a:solidFill>
                <a:latin typeface="Arial"/>
              </a:rPr>
              <a:t>Jia Qi</a:t>
            </a:r>
          </a:p>
          <a:p>
            <a:pPr algn="l">
              <a:lnSpc>
                <a:spcPct val="125000"/>
              </a:lnSpc>
            </a:pPr>
            <a:r>
              <a:rPr sz="1400" b="0" i="0">
                <a:solidFill>
                  <a:srgbClr val="222A35"/>
                </a:solidFill>
                <a:latin typeface="Arial"/>
              </a:rPr>
              <a:t>Tin Nghia Nguyen</a:t>
            </a:r>
          </a:p>
        </p:txBody>
      </p:sp>
      <p:sp>
        <p:nvSpPr>
          <p:cNvPr id="9" name="TextBox 8"/>
          <p:cNvSpPr txBox="1"/>
          <p:nvPr/>
        </p:nvSpPr>
        <p:spPr>
          <a:xfrm>
            <a:off x="3749039" y="4206240"/>
            <a:ext cx="1463040" cy="1828800"/>
          </a:xfrm>
          <a:prstGeom prst="rect">
            <a:avLst/>
          </a:prstGeom>
          <a:noFill/>
        </p:spPr>
        <p:txBody>
          <a:bodyPr wrap="square" anchor="t" lIns="73152" rIns="73152">
            <a:spAutoFit/>
          </a:bodyPr>
          <a:lstStyle/>
          <a:p>
            <a:pPr algn="l">
              <a:lnSpc>
                <a:spcPct val="125000"/>
              </a:lnSpc>
            </a:pPr>
            <a:r>
              <a:rPr sz="1400" b="0" i="0">
                <a:solidFill>
                  <a:srgbClr val="222A35"/>
                </a:solidFill>
                <a:latin typeface="Arial"/>
              </a:rPr>
              <a:t>03824340</a:t>
            </a:r>
          </a:p>
          <a:p>
            <a:pPr algn="l">
              <a:lnSpc>
                <a:spcPct val="125000"/>
              </a:lnSpc>
            </a:pPr>
            <a:r>
              <a:rPr sz="1400" b="0" i="0">
                <a:solidFill>
                  <a:srgbClr val="222A35"/>
                </a:solidFill>
                <a:latin typeface="Arial"/>
              </a:rPr>
              <a:t>03827578</a:t>
            </a:r>
          </a:p>
          <a:p>
            <a:pPr algn="l">
              <a:lnSpc>
                <a:spcPct val="125000"/>
              </a:lnSpc>
            </a:pPr>
            <a:r>
              <a:rPr sz="1400" b="0" i="0">
                <a:solidFill>
                  <a:srgbClr val="222A35"/>
                </a:solidFill>
                <a:latin typeface="Arial"/>
              </a:rPr>
              <a:t>03801613</a:t>
            </a:r>
          </a:p>
          <a:p>
            <a:pPr algn="l">
              <a:lnSpc>
                <a:spcPct val="125000"/>
              </a:lnSpc>
            </a:pPr>
            <a:r>
              <a:rPr sz="1400" b="0" i="0">
                <a:solidFill>
                  <a:srgbClr val="222A35"/>
                </a:solidFill>
                <a:latin typeface="Arial"/>
              </a:rPr>
              <a:t>03812325</a:t>
            </a:r>
          </a:p>
          <a:p>
            <a:pPr algn="l">
              <a:lnSpc>
                <a:spcPct val="125000"/>
              </a:lnSpc>
            </a:pPr>
            <a:r>
              <a:rPr sz="1400" b="0" i="0">
                <a:solidFill>
                  <a:srgbClr val="222A35"/>
                </a:solidFill>
                <a:latin typeface="Arial"/>
              </a:rPr>
              <a:t>03826855</a:t>
            </a:r>
          </a:p>
        </p:txBody>
      </p:sp>
      <p:sp>
        <p:nvSpPr>
          <p:cNvPr id="10" name="TextBox 9"/>
          <p:cNvSpPr txBox="1"/>
          <p:nvPr/>
        </p:nvSpPr>
        <p:spPr>
          <a:xfrm>
            <a:off x="7680960" y="3840480"/>
            <a:ext cx="3657600" cy="365760"/>
          </a:xfrm>
          <a:prstGeom prst="rect">
            <a:avLst/>
          </a:prstGeom>
          <a:noFill/>
        </p:spPr>
        <p:txBody>
          <a:bodyPr wrap="square" anchor="t" lIns="73152" rIns="73152">
            <a:spAutoFit/>
          </a:bodyPr>
          <a:lstStyle/>
          <a:p>
            <a:pPr algn="l">
              <a:lnSpc>
                <a:spcPct val="110000"/>
              </a:lnSpc>
            </a:pPr>
            <a:r>
              <a:rPr sz="1500" b="1" i="0">
                <a:solidFill>
                  <a:srgbClr val="072140"/>
                </a:solidFill>
                <a:latin typeface="Arial"/>
              </a:rPr>
              <a:t>Lecturers</a:t>
            </a:r>
          </a:p>
        </p:txBody>
      </p:sp>
      <p:sp>
        <p:nvSpPr>
          <p:cNvPr id="11" name="TextBox 10"/>
          <p:cNvSpPr txBox="1"/>
          <p:nvPr/>
        </p:nvSpPr>
        <p:spPr>
          <a:xfrm>
            <a:off x="7680960" y="4206240"/>
            <a:ext cx="3657600" cy="1371600"/>
          </a:xfrm>
          <a:prstGeom prst="rect">
            <a:avLst/>
          </a:prstGeom>
          <a:noFill/>
        </p:spPr>
        <p:txBody>
          <a:bodyPr wrap="square" anchor="t" lIns="73152" rIns="73152">
            <a:spAutoFit/>
          </a:bodyPr>
          <a:lstStyle/>
          <a:p>
            <a:pPr algn="l">
              <a:lnSpc>
                <a:spcPct val="125000"/>
              </a:lnSpc>
            </a:pPr>
            <a:r>
              <a:rPr sz="1400" b="0" i="0">
                <a:solidFill>
                  <a:srgbClr val="222A35"/>
                </a:solidFill>
                <a:latin typeface="Arial"/>
              </a:rPr>
              <a:t>Haoyuan Jiang</a:t>
            </a:r>
          </a:p>
          <a:p>
            <a:pPr algn="l">
              <a:lnSpc>
                <a:spcPct val="125000"/>
              </a:lnSpc>
            </a:pPr>
            <a:r>
              <a:rPr sz="1400" b="0" i="0">
                <a:solidFill>
                  <a:srgbClr val="222A35"/>
                </a:solidFill>
                <a:latin typeface="Arial"/>
              </a:rPr>
              <a:t>Xuerui Zhang</a:t>
            </a:r>
          </a:p>
          <a:p>
            <a:pPr algn="l">
              <a:lnSpc>
                <a:spcPct val="125000"/>
              </a:lnSpc>
            </a:pPr>
            <a:r>
              <a:rPr sz="1400" b="0" i="0">
                <a:solidFill>
                  <a:srgbClr val="222A35"/>
                </a:solidFill>
                <a:latin typeface="Arial"/>
              </a:rPr>
              <a:t>Zhenyu Wang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8" name="TextBox 7"/>
          <p:cNvSpPr txBox="1"/>
          <p:nvPr/>
        </p:nvSpPr>
        <p:spPr>
          <a:xfrm>
            <a:off x="640080" y="1600200"/>
            <a:ext cx="2743200" cy="685800"/>
          </a:xfrm>
          <a:prstGeom prst="rect">
            <a:avLst/>
          </a:prstGeom>
          <a:noFill/>
        </p:spPr>
        <p:txBody>
          <a:bodyPr wrap="square" anchor="t" lIns="73152" rIns="73152">
            <a:spAutoFit/>
          </a:bodyPr>
          <a:lstStyle/>
          <a:p>
            <a:pPr algn="l">
              <a:lnSpc>
                <a:spcPct val="110000"/>
              </a:lnSpc>
            </a:pPr>
            <a:r>
              <a:rPr sz="4600" b="1" i="0">
                <a:solidFill>
                  <a:srgbClr val="0065BD"/>
                </a:solidFill>
                <a:latin typeface="Arial"/>
              </a:rPr>
              <a:t>18 / 21</a:t>
            </a:r>
          </a:p>
        </p:txBody>
      </p:sp>
      <p:sp>
        <p:nvSpPr>
          <p:cNvPr id="9" name="TextBox 8"/>
          <p:cNvSpPr txBox="1"/>
          <p:nvPr/>
        </p:nvSpPr>
        <p:spPr>
          <a:xfrm>
            <a:off x="640080" y="2313432"/>
            <a:ext cx="27432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runs passed the official</a:t>
            </a:r>
          </a:p>
          <a:p>
            <a:pPr algn="l">
              <a:lnSpc>
                <a:spcPct val="110000"/>
              </a:lnSpc>
            </a:pPr>
            <a:r>
              <a:rPr sz="1300" b="0" i="0">
                <a:solidFill>
                  <a:srgbClr val="5E6773"/>
                </a:solidFill>
                <a:latin typeface="Arial"/>
              </a:rPr>
              <a:t>AndroidWorld verifier</a:t>
            </a:r>
          </a:p>
        </p:txBody>
      </p:sp>
      <p:sp>
        <p:nvSpPr>
          <p:cNvPr id="10" name="TextBox 9"/>
          <p:cNvSpPr txBox="1"/>
          <p:nvPr/>
        </p:nvSpPr>
        <p:spPr>
          <a:xfrm>
            <a:off x="3566160" y="1600200"/>
            <a:ext cx="26517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7 tasks</a:t>
            </a:r>
          </a:p>
        </p:txBody>
      </p:sp>
      <p:sp>
        <p:nvSpPr>
          <p:cNvPr id="11" name="TextBox 10"/>
          <p:cNvSpPr txBox="1"/>
          <p:nvPr/>
        </p:nvSpPr>
        <p:spPr>
          <a:xfrm>
            <a:off x="3566160" y="2313432"/>
            <a:ext cx="26517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covering easy, medium</a:t>
            </a:r>
          </a:p>
          <a:p>
            <a:pPr algn="l">
              <a:lnSpc>
                <a:spcPct val="110000"/>
              </a:lnSpc>
            </a:pPr>
            <a:r>
              <a:rPr sz="1300" b="0" i="0">
                <a:solidFill>
                  <a:srgbClr val="5E6773"/>
                </a:solidFill>
                <a:latin typeface="Arial"/>
              </a:rPr>
              <a:t>and hard (D1 task list)</a:t>
            </a:r>
          </a:p>
        </p:txBody>
      </p:sp>
      <p:sp>
        <p:nvSpPr>
          <p:cNvPr id="12" name="TextBox 11"/>
          <p:cNvSpPr txBox="1"/>
          <p:nvPr/>
        </p:nvSpPr>
        <p:spPr>
          <a:xfrm>
            <a:off x="6309360" y="1600200"/>
            <a:ext cx="27432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3" name="TextBox 12"/>
          <p:cNvSpPr txBox="1"/>
          <p:nvPr/>
        </p:nvSpPr>
        <p:spPr>
          <a:xfrm>
            <a:off x="6309360" y="2313432"/>
            <a:ext cx="27432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recorded runs across</a:t>
            </a:r>
          </a:p>
          <a:p>
            <a:pPr algn="l">
              <a:lnSpc>
                <a:spcPct val="110000"/>
              </a:lnSpc>
            </a:pPr>
            <a:r>
              <a:rPr sz="1300" b="0" i="0">
                <a:solidFill>
                  <a:srgbClr val="5E6773"/>
                </a:solidFill>
                <a:latin typeface="Arial"/>
              </a:rPr>
              <a:t>the whole project</a:t>
            </a:r>
          </a:p>
        </p:txBody>
      </p:sp>
      <p:sp>
        <p:nvSpPr>
          <p:cNvPr id="14" name="TextBox 13"/>
          <p:cNvSpPr txBox="1"/>
          <p:nvPr/>
        </p:nvSpPr>
        <p:spPr>
          <a:xfrm>
            <a:off x="9144000" y="1600200"/>
            <a:ext cx="256032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5" name="TextBox 14"/>
          <p:cNvSpPr txBox="1"/>
          <p:nvPr/>
        </p:nvSpPr>
        <p:spPr>
          <a:xfrm>
            <a:off x="9144000" y="2313432"/>
            <a:ext cx="256032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agent versions, each</a:t>
            </a:r>
          </a:p>
          <a:p>
            <a:pPr algn="l">
              <a:lnSpc>
                <a:spcPct val="110000"/>
              </a:lnSpc>
            </a:pPr>
            <a:r>
              <a:rPr sz="1300" b="0" i="0">
                <a:solidFill>
                  <a:srgbClr val="5E6773"/>
                </a:solidFill>
                <a:latin typeface="Arial"/>
              </a:rPr>
              <a:t>change tested and logged</a:t>
            </a:r>
          </a:p>
        </p:txBody>
      </p:sp>
      <p:sp>
        <p:nvSpPr>
          <p:cNvPr id="16" name="Rectangle 15"/>
          <p:cNvSpPr/>
          <p:nvPr/>
        </p:nvSpPr>
        <p:spPr>
          <a:xfrm>
            <a:off x="640080" y="3337560"/>
            <a:ext cx="10881360" cy="18288"/>
          </a:xfrm>
          <a:prstGeom prst="rect">
            <a:avLst/>
          </a:prstGeom>
          <a:solidFill>
            <a:srgbClr val="D9DE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0" name="TextBox 19"/>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1" name="Rectangle 20"/>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24" name="TextBox 23"/>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25" name="Rectangle 24"/>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28" name="TextBox 27"/>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8" name="Rectangle 7"/>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Who it helps</a:t>
            </a:r>
          </a:p>
        </p:txBody>
      </p:sp>
      <p:sp>
        <p:nvSpPr>
          <p:cNvPr id="11" name="TextBox 10"/>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People who find phones hard to use, busy users with repeated tasks, teams that test apps.</a:t>
            </a:r>
          </a:p>
        </p:txBody>
      </p:sp>
      <p:sp>
        <p:nvSpPr>
          <p:cNvPr id="12" name="Rectangle 11"/>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it needs</a:t>
            </a:r>
          </a:p>
        </p:txBody>
      </p:sp>
      <p:sp>
        <p:nvSpPr>
          <p:cNvPr id="15" name="TextBox 14"/>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Only the screen: no special app interface. It reads, taps, types and swipes like a person.</a:t>
            </a:r>
          </a:p>
        </p:txBody>
      </p:sp>
      <p:sp>
        <p:nvSpPr>
          <p:cNvPr id="16" name="Rectangle 15"/>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it is told</a:t>
            </a:r>
          </a:p>
        </p:txBody>
      </p:sp>
      <p:sp>
        <p:nvSpPr>
          <p:cNvPr id="19" name="TextBox 18"/>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One sentence in plain English, for example: “Create a note named … and share its content via SMS.”</a:t>
            </a:r>
          </a:p>
        </p:txBody>
      </p:sp>
      <p:pic>
        <p:nvPicPr>
          <p:cNvPr id="20" name="Picture 19" descr="traj_1.png"/>
          <p:cNvPicPr>
            <a:picLocks noChangeAspect="1"/>
          </p:cNvPicPr>
          <p:nvPr/>
        </p:nvPicPr>
        <p:blipFill>
          <a:blip r:embed="rId3"/>
          <a:stretch>
            <a:fillRect/>
          </a:stretch>
        </p:blipFill>
        <p:spPr>
          <a:xfrm>
            <a:off x="4572000" y="1508760"/>
            <a:ext cx="2077974" cy="4617720"/>
          </a:xfrm>
          <a:prstGeom prst="rect">
            <a:avLst/>
          </a:prstGeom>
          <a:ln w="12700">
            <a:solidFill>
              <a:srgbClr val="D9DEE5"/>
            </a:solidFill>
          </a:ln>
        </p:spPr>
      </p:pic>
      <p:pic>
        <p:nvPicPr>
          <p:cNvPr id="21" name="Picture 20" descr="traj_3.png"/>
          <p:cNvPicPr>
            <a:picLocks noChangeAspect="1"/>
          </p:cNvPicPr>
          <p:nvPr/>
        </p:nvPicPr>
        <p:blipFill>
          <a:blip r:embed="rId4"/>
          <a:stretch>
            <a:fillRect/>
          </a:stretch>
        </p:blipFill>
        <p:spPr>
          <a:xfrm>
            <a:off x="6995160" y="1508760"/>
            <a:ext cx="2077974" cy="4617720"/>
          </a:xfrm>
          <a:prstGeom prst="rect">
            <a:avLst/>
          </a:prstGeom>
          <a:ln w="12700">
            <a:solidFill>
              <a:srgbClr val="D9DEE5"/>
            </a:solidFill>
          </a:ln>
        </p:spPr>
      </p:pic>
      <p:pic>
        <p:nvPicPr>
          <p:cNvPr id="22" name="Picture 21" descr="traj_6.png"/>
          <p:cNvPicPr>
            <a:picLocks noChangeAspect="1"/>
          </p:cNvPicPr>
          <p:nvPr/>
        </p:nvPicPr>
        <p:blipFill>
          <a:blip r:embed="rId5"/>
          <a:stretch>
            <a:fillRect/>
          </a:stretch>
        </p:blipFill>
        <p:spPr>
          <a:xfrm>
            <a:off x="9418320" y="1508760"/>
            <a:ext cx="2077974" cy="4617720"/>
          </a:xfrm>
          <a:prstGeom prst="rect">
            <a:avLst/>
          </a:prstGeom>
          <a:ln w="12700">
            <a:solidFill>
              <a:srgbClr val="D9DEE5"/>
            </a:solidFill>
          </a:ln>
        </p:spPr>
      </p:pic>
      <p:sp>
        <p:nvSpPr>
          <p:cNvPr id="23" name="TextBox 22"/>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in Markor, then the same text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8" name="Table 7"/>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9" name="TextBox 8"/>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8" name="Table 7"/>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9" name="Rectangle 8"/>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Our first attempt (v1–v10)</a:t>
            </a:r>
          </a:p>
        </p:txBody>
      </p:sp>
      <p:sp>
        <p:nvSpPr>
          <p:cNvPr id="12" name="TextBox 11"/>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3" name="TextBox 12"/>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8" name="Rounded Rectangle 7"/>
          <p:cNvSpPr/>
          <p:nvPr/>
        </p:nvSpPr>
        <p:spPr>
          <a:xfrm>
            <a:off x="64008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0" name="TextBox 9"/>
          <p:cNvSpPr txBox="1"/>
          <p:nvPr/>
        </p:nvSpPr>
        <p:spPr>
          <a:xfrm>
            <a:off x="731519"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Screenshot</a:t>
            </a:r>
          </a:p>
          <a:p>
            <a:pPr algn="ctr">
              <a:lnSpc>
                <a:spcPct val="110000"/>
              </a:lnSpc>
            </a:pPr>
            <a:r>
              <a:rPr sz="1200" b="0" i="0">
                <a:solidFill>
                  <a:srgbClr val="222A35"/>
                </a:solidFill>
                <a:latin typeface="Arial"/>
              </a:rPr>
              <a:t>(+ GUI labels for</a:t>
            </a:r>
          </a:p>
          <a:p>
            <a:pPr algn="ctr">
              <a:lnSpc>
                <a:spcPct val="110000"/>
              </a:lnSpc>
            </a:pPr>
            <a:r>
              <a:rPr sz="1200" b="0" i="0">
                <a:solidFill>
                  <a:srgbClr val="222A35"/>
                </a:solidFill>
                <a:latin typeface="Arial"/>
              </a:rPr>
              <a:t>some tasks)</a:t>
            </a:r>
          </a:p>
        </p:txBody>
      </p:sp>
      <p:cxnSp>
        <p:nvCxnSpPr>
          <p:cNvPr id="11" name="Connector 10"/>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8036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4" name="TextBox 13"/>
          <p:cNvSpPr txBox="1"/>
          <p:nvPr/>
        </p:nvSpPr>
        <p:spPr>
          <a:xfrm>
            <a:off x="297180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AutoGLM picks</a:t>
            </a:r>
          </a:p>
          <a:p>
            <a:pPr algn="ctr">
              <a:lnSpc>
                <a:spcPct val="110000"/>
              </a:lnSpc>
            </a:pPr>
            <a:r>
              <a:rPr sz="1200" b="0" i="0">
                <a:solidFill>
                  <a:srgbClr val="222A35"/>
                </a:solidFill>
                <a:latin typeface="Arial"/>
              </a:rPr>
              <a:t>one action</a:t>
            </a:r>
          </a:p>
        </p:txBody>
      </p:sp>
      <p:cxnSp>
        <p:nvCxnSpPr>
          <p:cNvPr id="15" name="Connector 14"/>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0" y="1828800"/>
            <a:ext cx="1874519" cy="16002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8" name="TextBox 17"/>
          <p:cNvSpPr txBox="1"/>
          <p:nvPr/>
        </p:nvSpPr>
        <p:spPr>
          <a:xfrm>
            <a:off x="521208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Format, screen point,</a:t>
            </a:r>
          </a:p>
          <a:p>
            <a:pPr algn="ctr">
              <a:lnSpc>
                <a:spcPct val="110000"/>
              </a:lnSpc>
            </a:pPr>
            <a:r>
              <a:rPr sz="1200" b="0" i="0">
                <a:solidFill>
                  <a:srgbClr val="222A35"/>
                </a:solidFill>
                <a:latin typeface="Arial"/>
              </a:rPr>
              <a:t>focus, task rules</a:t>
            </a:r>
          </a:p>
        </p:txBody>
      </p:sp>
      <p:cxnSp>
        <p:nvCxnSpPr>
          <p:cNvPr id="19" name="Connector 18"/>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6092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2" name="TextBox 21"/>
          <p:cNvSpPr txBox="1"/>
          <p:nvPr/>
        </p:nvSpPr>
        <p:spPr>
          <a:xfrm>
            <a:off x="745236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Tap, type, swipe,</a:t>
            </a:r>
          </a:p>
          <a:p>
            <a:pPr algn="ctr">
              <a:lnSpc>
                <a:spcPct val="110000"/>
              </a:lnSpc>
            </a:pPr>
            <a:r>
              <a:rPr sz="1200" b="0" i="0">
                <a:solidFill>
                  <a:srgbClr val="222A35"/>
                </a:solidFill>
                <a:latin typeface="Arial"/>
              </a:rPr>
              <a:t>launch, back</a:t>
            </a:r>
          </a:p>
        </p:txBody>
      </p:sp>
      <p:cxnSp>
        <p:nvCxnSpPr>
          <p:cNvPr id="23" name="Connector 22"/>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6" name="TextBox 25"/>
          <p:cNvSpPr txBox="1"/>
          <p:nvPr/>
        </p:nvSpPr>
        <p:spPr>
          <a:xfrm>
            <a:off x="969264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Trajectory log</a:t>
            </a:r>
          </a:p>
          <a:p>
            <a:pPr algn="ctr">
              <a:lnSpc>
                <a:spcPct val="110000"/>
              </a:lnSpc>
            </a:pPr>
            <a:r>
              <a:rPr sz="1200" b="0" i="0">
                <a:solidFill>
                  <a:srgbClr val="222A35"/>
                </a:solidFill>
                <a:latin typeface="Arial"/>
              </a:rPr>
              <a:t>+ screen video</a:t>
            </a:r>
          </a:p>
        </p:txBody>
      </p:sp>
      <p:cxnSp>
        <p:nvCxnSpPr>
          <p:cNvPr id="27" name="Connector 26"/>
          <p:cNvCxnSpPr/>
          <p:nvPr/>
        </p:nvCxnSpPr>
        <p:spPr>
          <a:xfrm>
            <a:off x="11247120" y="3474720"/>
            <a:ext cx="0" cy="41148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graphicFrame>
        <p:nvGraphicFramePr>
          <p:cNvPr id="8" name="Table 7"/>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200" b="1">
                          <a:solidFill>
                            <a:srgbClr val="FFFFFF"/>
                          </a:solidFill>
                          <a:latin typeface="Arial"/>
                        </a:rPr>
                        <a:t>Action</a:t>
                      </a:r>
                    </a:p>
                  </a:txBody>
                  <a:tcPr marL="54864" marR="54864" marT="27432" marB="27432" anchor="ctr">
                    <a:solidFill>
                      <a:srgbClr val="072140"/>
                    </a:solidFill>
                  </a:tcPr>
                </a:tc>
                <a:tc>
                  <a:txBody>
                    <a:bodyPr wrap="square"/>
                    <a:lstStyle/>
                    <a:p>
                      <a:r>
                        <a:rPr sz="1200" b="1">
                          <a:solidFill>
                            <a:srgbClr val="FFFFFF"/>
                          </a:solidFill>
                          <a:latin typeface="Arial"/>
                        </a:rPr>
                        <a:t>Example</a:t>
                      </a:r>
                    </a:p>
                  </a:txBody>
                  <a:tcPr marL="54864" marR="54864" marT="27432" marB="27432" anchor="ctr">
                    <a:solidFill>
                      <a:srgbClr val="072140"/>
                    </a:solidFill>
                  </a:tcPr>
                </a:tc>
              </a:tr>
              <a:tr h="522514">
                <a:tc>
                  <a:txBody>
                    <a:bodyPr wrap="square"/>
                    <a:lstStyle/>
                    <a:p>
                      <a:r>
                        <a:rPr sz="1200" b="1">
                          <a:solidFill>
                            <a:srgbClr val="222A35"/>
                          </a:solidFill>
                          <a:latin typeface="Arial"/>
                        </a:rPr>
                        <a:t>Tap</a:t>
                      </a:r>
                    </a:p>
                  </a:txBody>
                  <a:tcPr marL="54864" marR="54864" marT="27432" marB="27432" anchor="ctr">
                    <a:solidFill>
                      <a:srgbClr val="FFFFFF"/>
                    </a:solidFill>
                  </a:tcPr>
                </a:tc>
                <a:tc>
                  <a:txBody>
                    <a:bodyPr wrap="square"/>
                    <a:lstStyle/>
                    <a:p>
                      <a:r>
                        <a:rPr sz="12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200" b="1">
                          <a:solidFill>
                            <a:srgbClr val="222A35"/>
                          </a:solidFill>
                          <a:latin typeface="Arial"/>
                        </a:rPr>
                        <a:t>Type</a:t>
                      </a:r>
                    </a:p>
                  </a:txBody>
                  <a:tcPr marL="54864" marR="54864" marT="27432" marB="27432" anchor="ctr">
                    <a:solidFill>
                      <a:srgbClr val="F2F5F9"/>
                    </a:solidFill>
                  </a:tcPr>
                </a:tc>
                <a:tc>
                  <a:txBody>
                    <a:bodyPr wrap="square"/>
                    <a:lstStyle/>
                    <a:p>
                      <a:r>
                        <a:rPr sz="12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200" b="1">
                          <a:solidFill>
                            <a:srgbClr val="222A35"/>
                          </a:solidFill>
                          <a:latin typeface="Arial"/>
                        </a:rPr>
                        <a:t>Swipe</a:t>
                      </a:r>
                    </a:p>
                  </a:txBody>
                  <a:tcPr marL="54864" marR="54864" marT="27432" marB="27432" anchor="ctr">
                    <a:solidFill>
                      <a:srgbClr val="FFFFFF"/>
                    </a:solidFill>
                  </a:tcPr>
                </a:tc>
                <a:tc>
                  <a:txBody>
                    <a:bodyPr wrap="square"/>
                    <a:lstStyle/>
                    <a:p>
                      <a:r>
                        <a:rPr sz="12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200" b="1">
                          <a:solidFill>
                            <a:srgbClr val="222A35"/>
                          </a:solidFill>
                          <a:latin typeface="Arial"/>
                        </a:rPr>
                        <a:t>Launch</a:t>
                      </a:r>
                    </a:p>
                  </a:txBody>
                  <a:tcPr marL="54864" marR="54864" marT="27432" marB="27432" anchor="ctr">
                    <a:solidFill>
                      <a:srgbClr val="F2F5F9"/>
                    </a:solidFill>
                  </a:tcPr>
                </a:tc>
                <a:tc>
                  <a:txBody>
                    <a:bodyPr wrap="square"/>
                    <a:lstStyle/>
                    <a:p>
                      <a:r>
                        <a:rPr sz="12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200" b="1">
                          <a:solidFill>
                            <a:srgbClr val="222A35"/>
                          </a:solidFill>
                          <a:latin typeface="Arial"/>
                        </a:rPr>
                        <a:t>Back / Wait</a:t>
                      </a:r>
                    </a:p>
                  </a:txBody>
                  <a:tcPr marL="54864" marR="54864" marT="27432" marB="27432" anchor="ctr">
                    <a:solidFill>
                      <a:srgbClr val="FFFFFF"/>
                    </a:solidFill>
                  </a:tcPr>
                </a:tc>
                <a:tc>
                  <a:txBody>
                    <a:bodyPr wrap="square"/>
                    <a:lstStyle/>
                    <a:p>
                      <a:r>
                        <a:rPr sz="12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200" b="1">
                          <a:solidFill>
                            <a:srgbClr val="222A35"/>
                          </a:solidFill>
                          <a:latin typeface="Arial"/>
                        </a:rPr>
                        <a:t>Finish</a:t>
                      </a:r>
                    </a:p>
                  </a:txBody>
                  <a:tcPr marL="54864" marR="54864" marT="27432" marB="27432" anchor="ctr">
                    <a:solidFill>
                      <a:srgbClr val="F2F5F9"/>
                    </a:solidFill>
                  </a:tcPr>
                </a:tc>
                <a:tc>
                  <a:txBody>
                    <a:bodyPr wrap="square"/>
                    <a:lstStyle/>
                    <a:p>
                      <a:r>
                        <a:rPr sz="12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9" name="Table 8"/>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200" b="1">
                          <a:solidFill>
                            <a:srgbClr val="FFFFFF"/>
                          </a:solidFill>
                          <a:latin typeface="Arial"/>
                        </a:rPr>
                        <a:t>Task</a:t>
                      </a:r>
                    </a:p>
                  </a:txBody>
                  <a:tcPr marL="54864" marR="54864" marT="27432" marB="27432" anchor="ctr">
                    <a:solidFill>
                      <a:srgbClr val="072140"/>
                    </a:solidFill>
                  </a:tcPr>
                </a:tc>
                <a:tc>
                  <a:txBody>
                    <a:bodyPr wrap="square"/>
                    <a:lstStyle/>
                    <a:p>
                      <a:r>
                        <a:rPr sz="12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200" b="1">
                          <a:solidFill>
                            <a:srgbClr val="222A35"/>
                          </a:solidFill>
                          <a:latin typeface="Arial"/>
                        </a:rPr>
                        <a:t>Wi-Fi</a:t>
                      </a:r>
                    </a:p>
                  </a:txBody>
                  <a:tcPr marL="54864" marR="54864" marT="27432" marB="27432" anchor="ctr">
                    <a:solidFill>
                      <a:srgbClr val="FFFFFF"/>
                    </a:solidFill>
                  </a:tcPr>
                </a:tc>
                <a:tc>
                  <a:txBody>
                    <a:bodyPr wrap="square"/>
                    <a:lstStyle/>
                    <a:p>
                      <a:r>
                        <a:rPr sz="12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200" b="1">
                          <a:solidFill>
                            <a:srgbClr val="222A35"/>
                          </a:solidFill>
                          <a:latin typeface="Arial"/>
                        </a:rPr>
                        <a:t>Contacts</a:t>
                      </a:r>
                    </a:p>
                  </a:txBody>
                  <a:tcPr marL="54864" marR="54864" marT="27432" marB="27432" anchor="ctr">
                    <a:solidFill>
                      <a:srgbClr val="F2F5F9"/>
                    </a:solidFill>
                  </a:tcPr>
                </a:tc>
                <a:tc>
                  <a:txBody>
                    <a:bodyPr wrap="square"/>
                    <a:lstStyle/>
                    <a:p>
                      <a:r>
                        <a:rPr sz="12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200" b="1">
                          <a:solidFill>
                            <a:srgbClr val="222A35"/>
                          </a:solidFill>
                          <a:latin typeface="Arial"/>
                        </a:rPr>
                        <a:t>SMS</a:t>
                      </a:r>
                    </a:p>
                  </a:txBody>
                  <a:tcPr marL="54864" marR="54864" marT="27432" marB="27432" anchor="ctr">
                    <a:solidFill>
                      <a:srgbClr val="FFFFFF"/>
                    </a:solidFill>
                  </a:tcPr>
                </a:tc>
                <a:tc>
                  <a:txBody>
                    <a:bodyPr wrap="square"/>
                    <a:lstStyle/>
                    <a:p>
                      <a:r>
                        <a:rPr sz="12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200" b="1">
                          <a:solidFill>
                            <a:srgbClr val="222A35"/>
                          </a:solidFill>
                          <a:latin typeface="Arial"/>
                        </a:rPr>
                        <a:t>Files</a:t>
                      </a:r>
                    </a:p>
                  </a:txBody>
                  <a:tcPr marL="54864" marR="54864" marT="27432" marB="27432" anchor="ctr">
                    <a:solidFill>
                      <a:srgbClr val="F2F5F9"/>
                    </a:solidFill>
                  </a:tcPr>
                </a:tc>
                <a:tc>
                  <a:txBody>
                    <a:bodyPr wrap="square"/>
                    <a:lstStyle/>
                    <a:p>
                      <a:r>
                        <a:rPr sz="12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200" b="1">
                          <a:solidFill>
                            <a:srgbClr val="222A35"/>
                          </a:solidFill>
                          <a:latin typeface="Arial"/>
                        </a:rPr>
                        <a:t>Calendar</a:t>
                      </a:r>
                    </a:p>
                  </a:txBody>
                  <a:tcPr marL="54864" marR="54864" marT="27432" marB="27432" anchor="ctr">
                    <a:solidFill>
                      <a:srgbClr val="FFFFFF"/>
                    </a:solidFill>
                  </a:tcPr>
                </a:tc>
                <a:tc>
                  <a:txBody>
                    <a:bodyPr wrap="square"/>
                    <a:lstStyle/>
                    <a:p>
                      <a:r>
                        <a:rPr sz="12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200" b="1">
                          <a:solidFill>
                            <a:srgbClr val="222A35"/>
                          </a:solidFill>
                          <a:latin typeface="Arial"/>
                        </a:rPr>
                        <a:t>Markor + SMS</a:t>
                      </a:r>
                    </a:p>
                  </a:txBody>
                  <a:tcPr marL="54864" marR="54864" marT="27432" marB="27432" anchor="ctr">
                    <a:solidFill>
                      <a:srgbClr val="F2F5F9"/>
                    </a:solidFill>
                  </a:tcPr>
                </a:tc>
                <a:tc>
                  <a:txBody>
                    <a:bodyPr wrap="square"/>
                    <a:lstStyle/>
                    <a:p>
                      <a:r>
                        <a:rPr sz="12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200" b="1">
                          <a:solidFill>
                            <a:srgbClr val="222A35"/>
                          </a:solidFill>
                          <a:latin typeface="Arial"/>
                        </a:rPr>
                        <a:t>OsmAnd</a:t>
                      </a:r>
                    </a:p>
                  </a:txBody>
                  <a:tcPr marL="54864" marR="54864" marT="27432" marB="27432" anchor="ctr">
                    <a:solidFill>
                      <a:srgbClr val="FFFFFF"/>
                    </a:solidFill>
                  </a:tcPr>
                </a:tc>
                <a:tc>
                  <a:txBody>
                    <a:bodyPr wrap="square"/>
                    <a:lstStyle/>
                    <a:p>
                      <a:r>
                        <a:rPr sz="12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0" name="TextBox 9"/>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sp>
        <p:nvSpPr>
          <p:cNvPr id="8" name="Rectangle 7"/>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1" name="TextBox 10"/>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2" name="Rectangle 11"/>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5" name="TextBox 14"/>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6" name="Rectangle 15"/>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19" name="TextBox 18"/>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0" name="TextBox 19"/>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graphicFrame>
        <p:nvGraphicFramePr>
          <p:cNvPr id="8" name="Table 7"/>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9" name="Rectangle 8"/>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2" name="TextBox 11"/>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3" name="TextBox 12"/>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4" name="TextBox 13"/>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actions stopped in the final runs</a:t>
            </a:r>
          </a:p>
          <a:p>
            <a:pPr algn="l">
              <a:lnSpc>
                <a:spcPct val="110000"/>
              </a:lnSpc>
            </a:pPr>
            <a:r>
              <a:rPr sz="1300" b="0" i="0">
                <a:solidFill>
                  <a:srgbClr val="5E6773"/>
                </a:solidFill>
                <a:latin typeface="Arial"/>
              </a:rPr>
              <a:t>(7 of 21 runs had one or more)</a:t>
            </a:r>
          </a:p>
        </p:txBody>
      </p:sp>
      <p:sp>
        <p:nvSpPr>
          <p:cNvPr id="15" name="TextBox 14"/>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a Markor note sent as an SMS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8" name="Picture 7" descr="traj_1.png"/>
          <p:cNvPicPr>
            <a:picLocks noChangeAspect="1"/>
          </p:cNvPicPr>
          <p:nvPr/>
        </p:nvPicPr>
        <p:blipFill>
          <a:blip r:embed="rId3"/>
          <a:stretch>
            <a:fillRect/>
          </a:stretch>
        </p:blipFill>
        <p:spPr>
          <a:xfrm>
            <a:off x="502920" y="1463040"/>
            <a:ext cx="1543050" cy="3429000"/>
          </a:xfrm>
          <a:prstGeom prst="rect">
            <a:avLst/>
          </a:prstGeom>
          <a:ln w="12700">
            <a:solidFill>
              <a:srgbClr val="D9DEE5"/>
            </a:solidFill>
          </a:ln>
        </p:spPr>
      </p:pic>
      <p:sp>
        <p:nvSpPr>
          <p:cNvPr id="9" name="TextBox 8"/>
          <p:cNvSpPr txBox="1"/>
          <p:nvPr/>
        </p:nvSpPr>
        <p:spPr>
          <a:xfrm>
            <a:off x="457200"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2</a:t>
            </a:r>
          </a:p>
        </p:txBody>
      </p:sp>
      <p:sp>
        <p:nvSpPr>
          <p:cNvPr id="10" name="TextBox 9"/>
          <p:cNvSpPr txBox="1"/>
          <p:nvPr/>
        </p:nvSpPr>
        <p:spPr>
          <a:xfrm>
            <a:off x="457200"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create a new note, I should tap the red "+" button at the bottom-right corner to open the new file dialog.”</a:t>
            </a:r>
          </a:p>
        </p:txBody>
      </p:sp>
      <p:pic>
        <p:nvPicPr>
          <p:cNvPr id="11" name="Picture 10" descr="traj_2.png"/>
          <p:cNvPicPr>
            <a:picLocks noChangeAspect="1"/>
          </p:cNvPicPr>
          <p:nvPr/>
        </p:nvPicPr>
        <p:blipFill>
          <a:blip r:embed="rId4"/>
          <a:stretch>
            <a:fillRect/>
          </a:stretch>
        </p:blipFill>
        <p:spPr>
          <a:xfrm>
            <a:off x="2404872" y="1463040"/>
            <a:ext cx="1543050" cy="3429000"/>
          </a:xfrm>
          <a:prstGeom prst="rect">
            <a:avLst/>
          </a:prstGeom>
          <a:ln w="12700">
            <a:solidFill>
              <a:srgbClr val="D9DEE5"/>
            </a:solidFill>
          </a:ln>
        </p:spPr>
      </p:pic>
      <p:sp>
        <p:nvSpPr>
          <p:cNvPr id="12" name="TextBox 11"/>
          <p:cNvSpPr txBox="1"/>
          <p:nvPr/>
        </p:nvSpPr>
        <p:spPr>
          <a:xfrm>
            <a:off x="2359152"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4</a:t>
            </a:r>
          </a:p>
        </p:txBody>
      </p:sp>
      <p:sp>
        <p:nvSpPr>
          <p:cNvPr id="13" name="TextBox 12"/>
          <p:cNvSpPr txBox="1"/>
          <p:nvPr/>
        </p:nvSpPr>
        <p:spPr>
          <a:xfrm>
            <a:off x="2359152"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“The new file dialog shows the name "copy_shy_horse" and the extension is ".md". I need to change the extension to ".txt" as requested.”</a:t>
            </a:r>
          </a:p>
        </p:txBody>
      </p:sp>
      <p:pic>
        <p:nvPicPr>
          <p:cNvPr id="14" name="Picture 13" descr="traj_3.png"/>
          <p:cNvPicPr>
            <a:picLocks noChangeAspect="1"/>
          </p:cNvPicPr>
          <p:nvPr/>
        </p:nvPicPr>
        <p:blipFill>
          <a:blip r:embed="rId5"/>
          <a:stretch>
            <a:fillRect/>
          </a:stretch>
        </p:blipFill>
        <p:spPr>
          <a:xfrm>
            <a:off x="4306824" y="1463040"/>
            <a:ext cx="1543050" cy="3429000"/>
          </a:xfrm>
          <a:prstGeom prst="rect">
            <a:avLst/>
          </a:prstGeom>
          <a:ln w="12700">
            <a:solidFill>
              <a:srgbClr val="D9DEE5"/>
            </a:solidFill>
          </a:ln>
        </p:spPr>
      </p:pic>
      <p:sp>
        <p:nvSpPr>
          <p:cNvPr id="15" name="TextBox 14"/>
          <p:cNvSpPr txBox="1"/>
          <p:nvPr/>
        </p:nvSpPr>
        <p:spPr>
          <a:xfrm>
            <a:off x="4261104"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8</a:t>
            </a:r>
          </a:p>
        </p:txBody>
      </p:sp>
      <p:sp>
        <p:nvSpPr>
          <p:cNvPr id="16" name="TextBox 15"/>
          <p:cNvSpPr txBox="1"/>
          <p:nvPr/>
        </p:nvSpPr>
        <p:spPr>
          <a:xfrm>
            <a:off x="4261104"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“This will ensure the file is saved before I proceed to SMS.”</a:t>
            </a:r>
          </a:p>
        </p:txBody>
      </p:sp>
      <p:pic>
        <p:nvPicPr>
          <p:cNvPr id="17" name="Picture 16" descr="traj_4.png"/>
          <p:cNvPicPr>
            <a:picLocks noChangeAspect="1"/>
          </p:cNvPicPr>
          <p:nvPr/>
        </p:nvPicPr>
        <p:blipFill>
          <a:blip r:embed="rId6"/>
          <a:stretch>
            <a:fillRect/>
          </a:stretch>
        </p:blipFill>
        <p:spPr>
          <a:xfrm>
            <a:off x="6208776" y="1463040"/>
            <a:ext cx="1543050" cy="3429000"/>
          </a:xfrm>
          <a:prstGeom prst="rect">
            <a:avLst/>
          </a:prstGeom>
          <a:ln w="12700">
            <a:solidFill>
              <a:srgbClr val="D9DEE5"/>
            </a:solidFill>
          </a:ln>
        </p:spPr>
      </p:pic>
      <p:sp>
        <p:nvSpPr>
          <p:cNvPr id="18" name="TextBox 17"/>
          <p:cNvSpPr txBox="1"/>
          <p:nvPr/>
        </p:nvSpPr>
        <p:spPr>
          <a:xfrm>
            <a:off x="6163056"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10</a:t>
            </a:r>
          </a:p>
        </p:txBody>
      </p:sp>
      <p:sp>
        <p:nvSpPr>
          <p:cNvPr id="19" name="TextBox 18"/>
          <p:cNvSpPr txBox="1"/>
          <p:nvPr/>
        </p:nvSpPr>
        <p:spPr>
          <a:xfrm>
            <a:off x="6163056"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send a new message, I should tap the "Start a conversation" button in the center of the screen”</a:t>
            </a:r>
          </a:p>
        </p:txBody>
      </p:sp>
      <p:pic>
        <p:nvPicPr>
          <p:cNvPr id="20" name="Picture 19" descr="traj_5.png"/>
          <p:cNvPicPr>
            <a:picLocks noChangeAspect="1"/>
          </p:cNvPicPr>
          <p:nvPr/>
        </p:nvPicPr>
        <p:blipFill>
          <a:blip r:embed="rId7"/>
          <a:stretch>
            <a:fillRect/>
          </a:stretch>
        </p:blipFill>
        <p:spPr>
          <a:xfrm>
            <a:off x="8110728" y="1463040"/>
            <a:ext cx="1543050" cy="3429000"/>
          </a:xfrm>
          <a:prstGeom prst="rect">
            <a:avLst/>
          </a:prstGeom>
          <a:ln w="12700">
            <a:solidFill>
              <a:srgbClr val="D9DEE5"/>
            </a:solidFill>
          </a:ln>
        </p:spPr>
      </p:pic>
      <p:sp>
        <p:nvSpPr>
          <p:cNvPr id="21" name="TextBox 20"/>
          <p:cNvSpPr txBox="1"/>
          <p:nvPr/>
        </p:nvSpPr>
        <p:spPr>
          <a:xfrm>
            <a:off x="8065008"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14</a:t>
            </a:r>
          </a:p>
        </p:txBody>
      </p:sp>
      <p:sp>
        <p:nvSpPr>
          <p:cNvPr id="22" name="TextBox 21"/>
          <p:cNvSpPr txBox="1"/>
          <p:nvPr/>
        </p:nvSpPr>
        <p:spPr>
          <a:xfrm>
            <a:off x="8065008"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send the SMS, I need to tap the "SMS OK" send button on the right side of the input field.”</a:t>
            </a:r>
          </a:p>
        </p:txBody>
      </p:sp>
      <p:pic>
        <p:nvPicPr>
          <p:cNvPr id="23" name="Picture 22" descr="traj_6.png"/>
          <p:cNvPicPr>
            <a:picLocks noChangeAspect="1"/>
          </p:cNvPicPr>
          <p:nvPr/>
        </p:nvPicPr>
        <p:blipFill>
          <a:blip r:embed="rId8"/>
          <a:stretch>
            <a:fillRect/>
          </a:stretch>
        </p:blipFill>
        <p:spPr>
          <a:xfrm>
            <a:off x="10012680" y="1463040"/>
            <a:ext cx="1543050" cy="3429000"/>
          </a:xfrm>
          <a:prstGeom prst="rect">
            <a:avLst/>
          </a:prstGeom>
          <a:ln w="12700">
            <a:solidFill>
              <a:srgbClr val="D9DEE5"/>
            </a:solidFill>
          </a:ln>
        </p:spPr>
      </p:pic>
      <p:sp>
        <p:nvSpPr>
          <p:cNvPr id="24" name="TextBox 23"/>
          <p:cNvSpPr txBox="1"/>
          <p:nvPr/>
        </p:nvSpPr>
        <p:spPr>
          <a:xfrm>
            <a:off x="9966960"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15</a:t>
            </a:r>
          </a:p>
        </p:txBody>
      </p:sp>
      <p:sp>
        <p:nvSpPr>
          <p:cNvPr id="25" name="TextBox 24"/>
          <p:cNvSpPr txBox="1"/>
          <p:nvPr/>
        </p:nvSpPr>
        <p:spPr>
          <a:xfrm>
            <a:off x="9966960"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“The task requires both creating the note in Markor and sending the SMS with the exact text. Both are now 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8" name="Rectangle 7"/>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1" name="TextBox 10"/>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2" name="Rectangle 11"/>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5" name="TextBox 14"/>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6" name="Rectangle 15"/>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19" name="TextBox 18"/>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graphicFrame>
        <p:nvGraphicFramePr>
          <p:cNvPr id="20" name="Table 19"/>
          <p:cNvGraphicFramePr>
            <a:graphicFrameLocks noGrp="1"/>
          </p:cNvGraphicFramePr>
          <p:nvPr/>
        </p:nvGraphicFramePr>
        <p:xfrm>
          <a:off x="640080" y="4023360"/>
          <a:ext cx="10927080" cy="777240"/>
        </p:xfrm>
        <a:graphic>
          <a:graphicData uri="http://schemas.openxmlformats.org/drawingml/2006/table">
            <a:tbl>
              <a:tblPr firstRow="1" bandRow="1">
                <a:tableStyleId>{5C22544A-7EE6-4342-B048-85BDC9FD1C3A}</a:tableStyleId>
              </a:tblPr>
              <a:tblGrid>
                <a:gridCol w="1214120"/>
                <a:gridCol w="1214120"/>
                <a:gridCol w="1214120"/>
                <a:gridCol w="1214120"/>
                <a:gridCol w="1214120"/>
                <a:gridCol w="1214120"/>
                <a:gridCol w="1214120"/>
                <a:gridCol w="1214120"/>
                <a:gridCol w="1214120"/>
              </a:tblGrid>
              <a:tr h="388620">
                <a:tc>
                  <a:txBody>
                    <a:bodyPr wrap="square"/>
                    <a:lstStyle/>
                    <a:p>
                      <a:r>
                        <a:rPr sz="1100" b="1">
                          <a:solidFill>
                            <a:srgbClr val="FFFFFF"/>
                          </a:solidFill>
                          <a:latin typeface="Arial"/>
                        </a:rPr>
                        <a:t>task</a:t>
                      </a:r>
                    </a:p>
                  </a:txBody>
                  <a:tcPr marL="54864" marR="54864" marT="27432" marB="27432" anchor="ctr">
                    <a:solidFill>
                      <a:srgbClr val="072140"/>
                    </a:solidFill>
                  </a:tcPr>
                </a:tc>
                <a:tc>
                  <a:txBody>
                    <a:bodyPr wrap="square"/>
                    <a:lstStyle/>
                    <a:p>
                      <a:pPr algn="ctr"/>
                      <a:r>
                        <a:rPr sz="1100" b="1">
                          <a:solidFill>
                            <a:srgbClr val="FFFFFF"/>
                          </a:solidFill>
                          <a:latin typeface="Arial"/>
                        </a:rPr>
                        <a:t>run</a:t>
                      </a:r>
                    </a:p>
                  </a:txBody>
                  <a:tcPr marL="54864" marR="54864" marT="27432" marB="27432" anchor="ctr">
                    <a:solidFill>
                      <a:srgbClr val="072140"/>
                    </a:solidFill>
                  </a:tcPr>
                </a:tc>
                <a:tc>
                  <a:txBody>
                    <a:bodyPr wrap="square"/>
                    <a:lstStyle/>
                    <a:p>
                      <a:pPr algn="ctr"/>
                      <a:r>
                        <a:rPr sz="1100" b="1">
                          <a:solidFill>
                            <a:srgbClr val="FFFFFF"/>
                          </a:solidFill>
                          <a:latin typeface="Arial"/>
                        </a:rPr>
                        <a:t>model</a:t>
                      </a:r>
                    </a:p>
                  </a:txBody>
                  <a:tcPr marL="54864" marR="54864" marT="27432" marB="27432" anchor="ctr">
                    <a:solidFill>
                      <a:srgbClr val="072140"/>
                    </a:solidFill>
                  </a:tcPr>
                </a:tc>
                <a:tc>
                  <a:txBody>
                    <a:bodyPr wrap="square"/>
                    <a:lstStyle/>
                    <a:p>
                      <a:pPr algn="ctr"/>
                      <a:r>
                        <a:rPr sz="1100" b="1">
                          <a:solidFill>
                            <a:srgbClr val="FFFFFF"/>
                          </a:solidFill>
                          <a:latin typeface="Arial"/>
                        </a:rPr>
                        <a:t>observation</a:t>
                      </a:r>
                    </a:p>
                  </a:txBody>
                  <a:tcPr marL="54864" marR="54864" marT="27432" marB="27432" anchor="ctr">
                    <a:solidFill>
                      <a:srgbClr val="072140"/>
                    </a:solidFill>
                  </a:tcPr>
                </a:tc>
                <a:tc>
                  <a:txBody>
                    <a:bodyPr wrap="square"/>
                    <a:lstStyle/>
                    <a:p>
                      <a:pPr algn="ctr"/>
                      <a:r>
                        <a:rPr sz="1100" b="1">
                          <a:solidFill>
                            <a:srgbClr val="FFFFFF"/>
                          </a:solidFill>
                          <a:latin typeface="Arial"/>
                        </a:rPr>
                        <a:t>grounding</a:t>
                      </a:r>
                    </a:p>
                  </a:txBody>
                  <a:tcPr marL="54864" marR="54864" marT="27432" marB="27432" anchor="ctr">
                    <a:solidFill>
                      <a:srgbClr val="072140"/>
                    </a:solidFill>
                  </a:tcPr>
                </a:tc>
                <a:tc>
                  <a:txBody>
                    <a:bodyPr wrap="square"/>
                    <a:lstStyle/>
                    <a:p>
                      <a:pPr algn="ctr"/>
                      <a:r>
                        <a:rPr sz="1100" b="1">
                          <a:solidFill>
                            <a:srgbClr val="FFFFFF"/>
                          </a:solidFill>
                          <a:latin typeface="Arial"/>
                        </a:rPr>
                        <a:t>steps</a:t>
                      </a:r>
                    </a:p>
                  </a:txBody>
                  <a:tcPr marL="54864" marR="54864" marT="27432" marB="27432" anchor="ctr">
                    <a:solidFill>
                      <a:srgbClr val="072140"/>
                    </a:solidFill>
                  </a:tcPr>
                </a:tc>
                <a:tc>
                  <a:txBody>
                    <a:bodyPr wrap="square"/>
                    <a:lstStyle/>
                    <a:p>
                      <a:pPr algn="ctr"/>
                      <a:r>
                        <a:rPr sz="1100" b="1">
                          <a:solidFill>
                            <a:srgbClr val="FFFFFF"/>
                          </a:solidFill>
                          <a:latin typeface="Arial"/>
                        </a:rPr>
                        <a:t>verifier</a:t>
                      </a:r>
                    </a:p>
                  </a:txBody>
                  <a:tcPr marL="54864" marR="54864" marT="27432" marB="27432" anchor="ctr">
                    <a:solidFill>
                      <a:srgbClr val="072140"/>
                    </a:solidFill>
                  </a:tcPr>
                </a:tc>
                <a:tc>
                  <a:txBody>
                    <a:bodyPr wrap="square"/>
                    <a:lstStyle/>
                    <a:p>
                      <a:pPr algn="ctr"/>
                      <a:r>
                        <a:rPr sz="1100" b="1">
                          <a:solidFill>
                            <a:srgbClr val="FFFFFF"/>
                          </a:solidFill>
                          <a:latin typeface="Arial"/>
                        </a:rPr>
                        <a:t>failure class</a:t>
                      </a:r>
                    </a:p>
                  </a:txBody>
                  <a:tcPr marL="54864" marR="54864" marT="27432" marB="27432" anchor="ctr">
                    <a:solidFill>
                      <a:srgbClr val="072140"/>
                    </a:solidFill>
                  </a:tcPr>
                </a:tc>
                <a:tc>
                  <a:txBody>
                    <a:bodyPr wrap="square"/>
                    <a:lstStyle/>
                    <a:p>
                      <a:pPr algn="ctr"/>
                      <a:r>
                        <a:rPr sz="1100" b="1">
                          <a:solidFill>
                            <a:srgbClr val="FFFFFF"/>
                          </a:solidFill>
                          <a:latin typeface="Arial"/>
                        </a:rPr>
                        <a:t>recording</a:t>
                      </a:r>
                    </a:p>
                  </a:txBody>
                  <a:tcPr marL="54864" marR="54864" marT="27432" marB="27432" anchor="ctr">
                    <a:solidFill>
                      <a:srgbClr val="072140"/>
                    </a:solidFill>
                  </a:tcPr>
                </a:tc>
              </a:tr>
              <a:tr h="388620">
                <a:tc>
                  <a:txBody>
                    <a:bodyPr wrap="square"/>
                    <a:lstStyle/>
                    <a:p>
                      <a:r>
                        <a:rPr sz="1100" b="0">
                          <a:solidFill>
                            <a:srgbClr val="222A35"/>
                          </a:solidFill>
                          <a:latin typeface="Arial"/>
                        </a:rPr>
                        <a:t>FilesMoveFile</a:t>
                      </a:r>
                    </a:p>
                  </a:txBody>
                  <a:tcPr marL="54864" marR="54864" marT="27432" marB="27432" anchor="ctr">
                    <a:solidFill>
                      <a:srgbClr val="FFFFFF"/>
                    </a:solidFill>
                  </a:tcPr>
                </a:tc>
                <a:tc>
                  <a:txBody>
                    <a:bodyPr wrap="square"/>
                    <a:lstStyle/>
                    <a:p>
                      <a:pPr algn="ctr"/>
                      <a:r>
                        <a:rPr sz="1100" b="0">
                          <a:solidFill>
                            <a:srgbClr val="222A35"/>
                          </a:solidFill>
                          <a:latin typeface="Arial"/>
                        </a:rPr>
                        <a:t>2 of 3</a:t>
                      </a:r>
                    </a:p>
                  </a:txBody>
                  <a:tcPr marL="54864" marR="54864" marT="27432" marB="27432" anchor="ctr">
                    <a:solidFill>
                      <a:srgbClr val="FFFFFF"/>
                    </a:solidFill>
                  </a:tcPr>
                </a:tc>
                <a:tc>
                  <a:txBody>
                    <a:bodyPr wrap="square"/>
                    <a:lstStyle/>
                    <a:p>
                      <a:pPr algn="ctr"/>
                      <a:r>
                        <a:rPr sz="1100" b="0">
                          <a:solidFill>
                            <a:srgbClr val="222A35"/>
                          </a:solidFill>
                          <a:latin typeface="Arial"/>
                        </a:rPr>
                        <a:t>autoglm-phone</a:t>
                      </a:r>
                    </a:p>
                  </a:txBody>
                  <a:tcPr marL="54864" marR="54864" marT="27432" marB="27432" anchor="ctr">
                    <a:solidFill>
                      <a:srgbClr val="FFFFFF"/>
                    </a:solidFill>
                  </a:tcPr>
                </a:tc>
                <a:tc>
                  <a:txBody>
                    <a:bodyPr wrap="square"/>
                    <a:lstStyle/>
                    <a:p>
                      <a:pPr algn="ctr"/>
                      <a:r>
                        <a:rPr sz="1100" b="0">
                          <a:solidFill>
                            <a:srgbClr val="222A35"/>
                          </a:solidFill>
                          <a:latin typeface="Arial"/>
                        </a:rPr>
                        <a:t>screenshot</a:t>
                      </a:r>
                    </a:p>
                  </a:txBody>
                  <a:tcPr marL="54864" marR="54864" marT="27432" marB="27432" anchor="ctr">
                    <a:solidFill>
                      <a:srgbClr val="FFFFFF"/>
                    </a:solidFill>
                  </a:tcPr>
                </a:tc>
                <a:tc>
                  <a:txBody>
                    <a:bodyPr wrap="square"/>
                    <a:lstStyle/>
                    <a:p>
                      <a:pPr algn="ctr"/>
                      <a:r>
                        <a:rPr sz="1100" b="0">
                          <a:solidFill>
                            <a:srgbClr val="222A35"/>
                          </a:solidFill>
                          <a:latin typeface="Arial"/>
                        </a:rPr>
                        <a:t>coordinates</a:t>
                      </a:r>
                    </a:p>
                  </a:txBody>
                  <a:tcPr marL="54864" marR="54864" marT="27432" marB="27432" anchor="ctr">
                    <a:solidFill>
                      <a:srgbClr val="FFFFFF"/>
                    </a:solidFill>
                  </a:tcPr>
                </a:tc>
                <a:tc>
                  <a:txBody>
                    <a:bodyPr wrap="square"/>
                    <a:lstStyle/>
                    <a:p>
                      <a:pPr algn="ctr"/>
                      <a:r>
                        <a:rPr sz="1100" b="0">
                          <a:solidFill>
                            <a:srgbClr val="222A35"/>
                          </a:solidFill>
                          <a:latin typeface="Arial"/>
                        </a:rPr>
                        <a:t>13 / 25</a:t>
                      </a:r>
                    </a:p>
                  </a:txBody>
                  <a:tcPr marL="54864" marR="54864" marT="27432" marB="27432" anchor="ctr">
                    <a:solidFill>
                      <a:srgbClr val="FFFFFF"/>
                    </a:solidFill>
                  </a:tcPr>
                </a:tc>
                <a:tc>
                  <a:txBody>
                    <a:bodyPr wrap="square"/>
                    <a:lstStyle/>
                    <a:p>
                      <a:pPr algn="ctr"/>
                      <a:r>
                        <a:rPr sz="1100" b="0">
                          <a:solidFill>
                            <a:srgbClr val="222A35"/>
                          </a:solidFill>
                          <a:latin typeface="Arial"/>
                        </a:rPr>
                        <a:t>FAIL</a:t>
                      </a:r>
                    </a:p>
                  </a:txBody>
                  <a:tcPr marL="54864" marR="54864" marT="27432" marB="27432" anchor="ctr">
                    <a:solidFill>
                      <a:srgbClr val="FFFFFF"/>
                    </a:solidFill>
                  </a:tcPr>
                </a:tc>
                <a:tc>
                  <a:txBody>
                    <a:bodyPr wrap="square"/>
                    <a:lstStyle/>
                    <a:p>
                      <a:pPr algn="ctr"/>
                      <a:r>
                        <a:rPr sz="1100" b="0">
                          <a:solidFill>
                            <a:srgbClr val="222A35"/>
                          </a:solidFill>
                          <a:latin typeface="Arial"/>
                        </a:rPr>
                        <a:t>false_done</a:t>
                      </a:r>
                    </a:p>
                  </a:txBody>
                  <a:tcPr marL="54864" marR="54864" marT="27432" marB="27432" anchor="ctr">
                    <a:solidFill>
                      <a:srgbClr val="FFFFFF"/>
                    </a:solidFill>
                  </a:tcPr>
                </a:tc>
                <a:tc>
                  <a:txBody>
                    <a:bodyPr wrap="square"/>
                    <a:lstStyle/>
                    <a:p>
                      <a:pPr algn="ctr"/>
                      <a:r>
                        <a:rPr sz="1100" b="0">
                          <a:solidFill>
                            <a:srgbClr val="222A35"/>
                          </a:solidFill>
                          <a:latin typeface="Arial"/>
                        </a:rPr>
                        <a:t>video_001.mp4</a:t>
                      </a:r>
                    </a:p>
                  </a:txBody>
                  <a:tcPr marL="54864" marR="54864" marT="27432" marB="27432" anchor="ctr">
                    <a:solidFill>
                      <a:srgbClr val="FFFFFF"/>
                    </a:solidFill>
                  </a:tcPr>
                </a:tc>
              </a:tr>
            </a:tbl>
          </a:graphicData>
        </a:graphic>
      </p:graphicFrame>
      <p:sp>
        <p:nvSpPr>
          <p:cNvPr id="21" name="TextBox 20"/>
          <p:cNvSpPr txBox="1"/>
          <p:nvPr/>
        </p:nvSpPr>
        <p:spPr>
          <a:xfrm>
            <a:off x="640080" y="4892040"/>
            <a:ext cx="10927080" cy="10972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One row per run, as on the course slide (D1 p.49). All 21 rows, the logs and the recordings are kept in the repository and the recording archive.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8" name="Table 7"/>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9" name="TextBox 8"/>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graphicFrame>
        <p:nvGraphicFramePr>
          <p:cNvPr id="8" name="Chart 7"/>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graphicFrame>
        <p:nvGraphicFramePr>
          <p:cNvPr id="8" name="Chart 7"/>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9" name="TextBox 8"/>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0" name="TextBox 9"/>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tokens for all 21 final runs</a:t>
            </a:r>
          </a:p>
        </p:txBody>
      </p:sp>
      <p:sp>
        <p:nvSpPr>
          <p:cNvPr id="11" name="TextBox 10"/>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2" name="TextBox 11"/>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cost of the final evaluation</a:t>
            </a:r>
          </a:p>
          <a:p>
            <a:pPr algn="l">
              <a:lnSpc>
                <a:spcPct val="110000"/>
              </a:lnSpc>
            </a:pPr>
            <a:r>
              <a:rPr sz="1300" b="0" i="0">
                <a:solidFill>
                  <a:srgbClr val="5E6773"/>
                </a:solidFill>
                <a:latin typeface="Arial"/>
              </a:rPr>
              <a:t>(€0.045 per million tokens)</a:t>
            </a:r>
          </a:p>
        </p:txBody>
      </p:sp>
      <p:sp>
        <p:nvSpPr>
          <p:cNvPr id="13" name="TextBox 12"/>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4" name="TextBox 13"/>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median time per model 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8"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194560" y="1417320"/>
            <a:ext cx="5376672" cy="4937760"/>
          </a:xfrm>
          <a:prstGeom prst="rect">
            <a:avLst/>
          </a:prstGeom>
        </p:spPr>
      </p:pic>
      <p:sp>
        <p:nvSpPr>
          <p:cNvPr id="9" name="TextBox 8"/>
          <p:cNvSpPr txBox="1"/>
          <p:nvPr/>
        </p:nvSpPr>
        <p:spPr>
          <a:xfrm>
            <a:off x="7818120" y="1554480"/>
            <a:ext cx="3749039" cy="4389120"/>
          </a:xfrm>
          <a:prstGeom prst="rect">
            <a:avLst/>
          </a:prstGeom>
          <a:noFill/>
        </p:spPr>
        <p:txBody>
          <a:bodyPr wrap="square" anchor="t" lIns="73152" rIns="73152">
            <a:spAutoFit/>
          </a:bodyPr>
          <a:lstStyle/>
          <a:p>
            <a:pPr algn="l">
              <a:lnSpc>
                <a:spcPct val="125000"/>
              </a:lnSpc>
            </a:pPr>
            <a:r>
              <a:rPr sz="1600" b="1" i="0">
                <a:solidFill>
                  <a:srgbClr val="072140"/>
                </a:solidFill>
                <a:latin typeface="Arial"/>
              </a:rPr>
              <a:t>How to read it</a:t>
            </a:r>
          </a:p>
          <a:p>
            <a:pPr algn="l">
              <a:lnSpc>
                <a:spcPct val="125000"/>
              </a:lnSpc>
            </a:pPr>
            <a:r>
              <a:rPr sz="1400" b="0" i="0">
                <a:solidFill>
                  <a:srgbClr val="222A35"/>
                </a:solidFill>
                <a:latin typeface="Arial"/>
              </a:rPr>
              <a:t>Columns: Wi-Fi, Contacts, SMS, Files, Calendar, Markor + SMS, OsmAnd</a:t>
            </a:r>
          </a:p>
          <a:p>
            <a:pPr algn="l">
              <a:lnSpc>
                <a:spcPct val="125000"/>
              </a:lnSpc>
            </a:pPr>
            <a:r>
              <a:rPr sz="1400" b="0" i="0">
                <a:solidFill>
                  <a:srgbClr val="222A35"/>
                </a:solidFill>
                <a:latin typeface="Arial"/>
              </a:rPr>
              <a:t>Rows: run 1, 2, 3 (seeds 42 / 43 / 44; OsmAnd 31 / 314 / 366)</a:t>
            </a:r>
          </a:p>
          <a:p>
            <a:pPr algn="l">
              <a:lnSpc>
                <a:spcPct val="125000"/>
              </a:lnSpc>
            </a:pPr>
            <a:r>
              <a:rPr sz="1400" b="0" i="0">
                <a:solidFill>
                  <a:srgbClr val="222A35"/>
                </a:solidFill>
                <a:latin typeface="Arial"/>
              </a:rPr>
              <a:t>Label: verdict and speed-up (x2 = twice as fast)</a:t>
            </a:r>
          </a:p>
          <a:p>
            <a:pPr algn="l">
              <a:lnSpc>
                <a:spcPct val="125000"/>
              </a:lnSpc>
            </a:pPr>
            <a:r>
              <a:rPr sz="1400" b="0" i="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success and one failure, step by step</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8" name="featured_markor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9"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0" name="TextBox 9"/>
          <p:cNvSpPr txBox="1"/>
          <p:nvPr/>
        </p:nvSpPr>
        <p:spPr>
          <a:xfrm>
            <a:off x="3611880" y="1828800"/>
            <a:ext cx="2468880" cy="4114800"/>
          </a:xfrm>
          <a:prstGeom prst="rect">
            <a:avLst/>
          </a:prstGeom>
          <a:noFill/>
        </p:spPr>
        <p:txBody>
          <a:bodyPr wrap="square" anchor="t" lIns="73152" rIns="73152">
            <a:spAutoFit/>
          </a:bodyPr>
          <a:lstStyle/>
          <a:p>
            <a:pPr algn="l">
              <a:lnSpc>
                <a:spcPct val="125000"/>
              </a:lnSpc>
            </a:pPr>
            <a:r>
              <a:rPr sz="1800" b="1" i="0">
                <a:solidFill>
                  <a:srgbClr val="0065BD"/>
                </a:solidFill>
                <a:latin typeface="Arial"/>
              </a:rPr>
              <a:t>Success</a:t>
            </a:r>
          </a:p>
          <a:p>
            <a:pPr algn="l">
              <a:lnSpc>
                <a:spcPct val="125000"/>
              </a:lnSpc>
            </a:pPr>
            <a:r>
              <a:rPr sz="1300" b="0" i="0">
                <a:solidFill>
                  <a:srgbClr val="222A35"/>
                </a:solidFill>
                <a:latin typeface="Arial"/>
              </a:rPr>
              <a:t>Markor + SMS, seed 44</a:t>
            </a:r>
          </a:p>
          <a:p>
            <a:pPr algn="l">
              <a:lnSpc>
                <a:spcPct val="125000"/>
              </a:lnSpc>
            </a:pPr>
            <a:r>
              <a:rPr sz="1300" b="0" i="0">
                <a:solidFill>
                  <a:srgbClr val="222A35"/>
                </a:solidFill>
                <a:latin typeface="Arial"/>
              </a:rPr>
              <a:t>15 steps, PASS</a:t>
            </a:r>
          </a:p>
          <a:p>
            <a:pPr algn="l">
              <a:lnSpc>
                <a:spcPct val="125000"/>
              </a:lnSpc>
            </a:pPr>
            <a:r>
              <a:rPr sz="1300" b="0" i="0">
                <a:solidFill>
                  <a:srgbClr val="222A35"/>
                </a:solidFill>
                <a:latin typeface="Arial"/>
              </a:rPr>
              <a:t>Note saved, then a plain SMS with the same text</a:t>
            </a:r>
          </a:p>
          <a:p>
            <a:pPr algn="l">
              <a:lnSpc>
                <a:spcPct val="125000"/>
              </a:lnSpc>
            </a:pPr>
            <a:r>
              <a:rPr sz="1300" b="0" i="0">
                <a:solidFill>
                  <a:srgbClr val="222A35"/>
                </a:solidFill>
                <a:latin typeface="Arial"/>
              </a:rPr>
              <a:t>x4 speed</a:t>
            </a:r>
          </a:p>
        </p:txBody>
      </p:sp>
      <p:sp>
        <p:nvSpPr>
          <p:cNvPr id="11" name="TextBox 10"/>
          <p:cNvSpPr txBox="1"/>
          <p:nvPr/>
        </p:nvSpPr>
        <p:spPr>
          <a:xfrm>
            <a:off x="8778240" y="1828800"/>
            <a:ext cx="2743200" cy="4114800"/>
          </a:xfrm>
          <a:prstGeom prst="rect">
            <a:avLst/>
          </a:prstGeom>
          <a:noFill/>
        </p:spPr>
        <p:txBody>
          <a:bodyPr wrap="square" anchor="t" lIns="73152" rIns="73152">
            <a:spAutoFit/>
          </a:bodyPr>
          <a:lstStyle/>
          <a:p>
            <a:pPr algn="l">
              <a:lnSpc>
                <a:spcPct val="125000"/>
              </a:lnSpc>
            </a:pPr>
            <a:r>
              <a:rPr sz="1800" b="1" i="0">
                <a:solidFill>
                  <a:srgbClr val="E37222"/>
                </a:solidFill>
                <a:latin typeface="Arial"/>
              </a:rPr>
              <a:t>Failure</a:t>
            </a:r>
          </a:p>
          <a:p>
            <a:pPr algn="l">
              <a:lnSpc>
                <a:spcPct val="125000"/>
              </a:lnSpc>
            </a:pPr>
            <a:r>
              <a:rPr sz="1300" b="0" i="0">
                <a:solidFill>
                  <a:srgbClr val="222A35"/>
                </a:solidFill>
                <a:latin typeface="Arial"/>
              </a:rPr>
              <a:t>Files, seed 43</a:t>
            </a:r>
          </a:p>
          <a:p>
            <a:pPr algn="l">
              <a:lnSpc>
                <a:spcPct val="125000"/>
              </a:lnSpc>
            </a:pPr>
            <a:r>
              <a:rPr sz="1300" b="0" i="0">
                <a:solidFill>
                  <a:srgbClr val="222A35"/>
                </a:solidFill>
                <a:latin typeface="Arial"/>
              </a:rPr>
              <a:t>13 steps, FAIL</a:t>
            </a:r>
          </a:p>
          <a:p>
            <a:pPr algn="l">
              <a:lnSpc>
                <a:spcPct val="125000"/>
              </a:lnSpc>
            </a:pPr>
            <a:r>
              <a:rPr sz="1300" b="0" i="0">
                <a:solidFill>
                  <a:srgbClr val="222A35"/>
                </a:solidFill>
                <a:latin typeface="Arial"/>
              </a:rPr>
              <a:t>Moved a look-alike file, then said done</a:t>
            </a:r>
          </a:p>
          <a:p>
            <a:pPr algn="l">
              <a:lnSpc>
                <a:spcPct val="125000"/>
              </a:lnSpc>
            </a:pPr>
            <a:r>
              <a:rPr sz="1300" b="0" i="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9"/>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8" name="Chart 7"/>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9" name="Rectangle 8"/>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The five failure classes (D1 p.50)</a:t>
            </a:r>
          </a:p>
        </p:txBody>
      </p:sp>
      <p:sp>
        <p:nvSpPr>
          <p:cNvPr id="12" name="TextBox 11"/>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1">
                <a:solidFill>
                  <a:srgbClr val="222A35"/>
                </a:solidFill>
                <a:latin typeface="Arial"/>
              </a:rPr>
              <a:t>grounding</a:t>
            </a:r>
            <a:r>
              <a:rPr sz="1300" b="0">
                <a:solidFill>
                  <a:srgbClr val="222A35"/>
                </a:solidFill>
                <a:latin typeface="Arial"/>
              </a:rPr>
              <a:t>: the tap lands on nothing</a:t>
            </a:r>
          </a:p>
          <a:p>
            <a:pPr>
              <a:lnSpc>
                <a:spcPct val="108000"/>
              </a:lnSpc>
              <a:spcAft>
                <a:spcPts val="300"/>
              </a:spcAft>
            </a:pPr>
            <a:r>
              <a:rPr sz="1300">
                <a:solidFill>
                  <a:srgbClr val="0065BD"/>
                </a:solidFill>
                <a:latin typeface="Arial"/>
              </a:rPr>
              <a:t>▪  </a:t>
            </a:r>
            <a:r>
              <a:rPr sz="1300" b="1">
                <a:solidFill>
                  <a:srgbClr val="222A35"/>
                </a:solidFill>
                <a:latin typeface="Arial"/>
              </a:rPr>
              <a:t>too_early</a:t>
            </a:r>
            <a:r>
              <a:rPr sz="1300" b="0">
                <a:solidFill>
                  <a:srgbClr val="222A35"/>
                </a:solidFill>
                <a:latin typeface="Arial"/>
              </a:rPr>
              <a:t>: acting on a loading screen</a:t>
            </a:r>
          </a:p>
          <a:p>
            <a:pPr>
              <a:lnSpc>
                <a:spcPct val="108000"/>
              </a:lnSpc>
              <a:spcAft>
                <a:spcPts val="300"/>
              </a:spcAft>
            </a:pPr>
            <a:r>
              <a:rPr sz="1300">
                <a:solidFill>
                  <a:srgbClr val="0065BD"/>
                </a:solidFill>
                <a:latin typeface="Arial"/>
              </a:rPr>
              <a:t>▪  </a:t>
            </a:r>
            <a:r>
              <a:rPr sz="1300" b="1">
                <a:solidFill>
                  <a:srgbClr val="222A35"/>
                </a:solidFill>
                <a:latin typeface="Arial"/>
              </a:rPr>
              <a:t>lost_value</a:t>
            </a:r>
            <a:r>
              <a:rPr sz="1300" b="0">
                <a:solidFill>
                  <a:srgbClr val="222A35"/>
                </a:solidFill>
                <a:latin typeface="Arial"/>
              </a:rPr>
              <a:t>: a value is lost or invented</a:t>
            </a:r>
          </a:p>
          <a:p>
            <a:pPr>
              <a:lnSpc>
                <a:spcPct val="108000"/>
              </a:lnSpc>
              <a:spcAft>
                <a:spcPts val="300"/>
              </a:spcAft>
            </a:pPr>
            <a:r>
              <a:rPr sz="1300">
                <a:solidFill>
                  <a:srgbClr val="0065BD"/>
                </a:solidFill>
                <a:latin typeface="Arial"/>
              </a:rPr>
              <a:t>▪  </a:t>
            </a:r>
            <a:r>
              <a:rPr sz="1300" b="1">
                <a:solidFill>
                  <a:srgbClr val="222A35"/>
                </a:solidFill>
                <a:latin typeface="Arial"/>
              </a:rPr>
              <a:t>wrong_app</a:t>
            </a:r>
            <a:r>
              <a:rPr sz="1300" b="0">
                <a:solidFill>
                  <a:srgbClr val="222A35"/>
                </a:solidFill>
                <a:latin typeface="Arial"/>
              </a:rPr>
              <a:t>: the wrong app is used</a:t>
            </a:r>
          </a:p>
          <a:p>
            <a:pPr>
              <a:lnSpc>
                <a:spcPct val="108000"/>
              </a:lnSpc>
              <a:spcAft>
                <a:spcPts val="300"/>
              </a:spcAft>
            </a:pPr>
            <a:r>
              <a:rPr sz="1300">
                <a:solidFill>
                  <a:srgbClr val="0065BD"/>
                </a:solidFill>
                <a:latin typeface="Arial"/>
              </a:rPr>
              <a:t>▪  </a:t>
            </a:r>
            <a:r>
              <a:rPr sz="1300" b="1">
                <a:solidFill>
                  <a:srgbClr val="222A35"/>
                </a:solidFill>
                <a:latin typeface="Arial"/>
              </a:rPr>
              <a:t>false_done</a:t>
            </a:r>
            <a:r>
              <a:rPr sz="1300" b="0">
                <a:solidFill>
                  <a:srgbClr val="222A35"/>
                </a:solidFill>
                <a:latin typeface="Arial"/>
              </a:rPr>
              <a:t>: says done, verifier fails</a:t>
            </a:r>
          </a:p>
          <a:p>
            <a:pPr>
              <a:lnSpc>
                <a:spcPct val="108000"/>
              </a:lnSpc>
              <a:spcAft>
                <a:spcPts val="300"/>
              </a:spcAft>
            </a:pPr>
            <a:r>
              <a:rPr sz="1300">
                <a:solidFill>
                  <a:srgbClr val="0065BD"/>
                </a:solidFill>
                <a:latin typeface="Arial"/>
              </a:rPr>
              <a:t>▪  </a:t>
            </a:r>
            <a:r>
              <a:rPr sz="13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8" name="Picture 7" descr="files43_step5.png"/>
          <p:cNvPicPr>
            <a:picLocks noChangeAspect="1"/>
          </p:cNvPicPr>
          <p:nvPr/>
        </p:nvPicPr>
        <p:blipFill>
          <a:blip r:embed="rId3"/>
          <a:stretch>
            <a:fillRect/>
          </a:stretch>
        </p:blipFill>
        <p:spPr>
          <a:xfrm>
            <a:off x="640080" y="1463040"/>
            <a:ext cx="2180844" cy="4846320"/>
          </a:xfrm>
          <a:prstGeom prst="rect">
            <a:avLst/>
          </a:prstGeom>
          <a:ln w="12700">
            <a:solidFill>
              <a:srgbClr val="D9DEE5"/>
            </a:solidFill>
          </a:ln>
        </p:spPr>
      </p:pic>
      <p:pic>
        <p:nvPicPr>
          <p:cNvPr id="9" name="Picture 8" descr="files43_final.png"/>
          <p:cNvPicPr>
            <a:picLocks noChangeAspect="1"/>
          </p:cNvPicPr>
          <p:nvPr/>
        </p:nvPicPr>
        <p:blipFill>
          <a:blip r:embed="rId4"/>
          <a:stretch>
            <a:fillRect/>
          </a:stretch>
        </p:blipFill>
        <p:spPr>
          <a:xfrm>
            <a:off x="2971800" y="1463040"/>
            <a:ext cx="2180844" cy="4846320"/>
          </a:xfrm>
          <a:prstGeom prst="rect">
            <a:avLst/>
          </a:prstGeom>
          <a:ln w="12700">
            <a:solidFill>
              <a:srgbClr val="D9DEE5"/>
            </a:solidFill>
          </a:ln>
        </p:spPr>
      </p:pic>
      <p:graphicFrame>
        <p:nvGraphicFramePr>
          <p:cNvPr id="10" name="Table 9"/>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200" b="1">
                          <a:solidFill>
                            <a:srgbClr val="FFFFFF"/>
                          </a:solidFill>
                          <a:latin typeface="Arial"/>
                        </a:rPr>
                        <a:t>Steps</a:t>
                      </a:r>
                    </a:p>
                  </a:txBody>
                  <a:tcPr marL="54864" marR="54864" marT="27432" marB="27432" anchor="ctr">
                    <a:solidFill>
                      <a:srgbClr val="072140"/>
                    </a:solidFill>
                  </a:tcPr>
                </a:tc>
                <a:tc>
                  <a:txBody>
                    <a:bodyPr wrap="square"/>
                    <a:lstStyle/>
                    <a:p>
                      <a:r>
                        <a:rPr sz="1200" b="1">
                          <a:solidFill>
                            <a:srgbClr val="FFFFFF"/>
                          </a:solidFill>
                          <a:latin typeface="Arial"/>
                        </a:rPr>
                        <a:t>What happened</a:t>
                      </a:r>
                    </a:p>
                  </a:txBody>
                  <a:tcPr marL="54864" marR="54864" marT="27432" marB="27432" anchor="ctr">
                    <a:solidFill>
                      <a:srgbClr val="072140"/>
                    </a:solidFill>
                  </a:tcPr>
                </a:tc>
                <a:tc>
                  <a:txBody>
                    <a:bodyPr wrap="square"/>
                    <a:lstStyle/>
                    <a:p>
                      <a:r>
                        <a:rPr sz="12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200" b="0">
                          <a:solidFill>
                            <a:srgbClr val="222A35"/>
                          </a:solidFill>
                          <a:latin typeface="Arial"/>
                        </a:rPr>
                        <a:t>1–4</a:t>
                      </a:r>
                    </a:p>
                  </a:txBody>
                  <a:tcPr marL="54864" marR="54864" marT="27432" marB="27432" anchor="ctr">
                    <a:solidFill>
                      <a:srgbClr val="FFFFFF"/>
                    </a:solidFill>
                  </a:tcPr>
                </a:tc>
                <a:tc>
                  <a:txBody>
                    <a:bodyPr wrap="square"/>
                    <a:lstStyle/>
                    <a:p>
                      <a:r>
                        <a:rPr sz="12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200" b="0">
                          <a:solidFill>
                            <a:srgbClr val="222A35"/>
                          </a:solidFill>
                          <a:latin typeface="Arial"/>
                        </a:rPr>
                        <a:t>Correct</a:t>
                      </a:r>
                    </a:p>
                  </a:txBody>
                  <a:tcPr marL="54864" marR="54864" marT="27432" marB="27432" anchor="ctr">
                    <a:solidFill>
                      <a:srgbClr val="FFFFFF"/>
                    </a:solidFill>
                  </a:tcPr>
                </a:tc>
              </a:tr>
              <a:tr h="457200">
                <a:tc>
                  <a:txBody>
                    <a:bodyPr wrap="square"/>
                    <a:lstStyle/>
                    <a:p>
                      <a:r>
                        <a:rPr sz="1200" b="0">
                          <a:solidFill>
                            <a:srgbClr val="222A35"/>
                          </a:solidFill>
                          <a:latin typeface="Arial"/>
                        </a:rPr>
                        <a:t>5</a:t>
                      </a:r>
                    </a:p>
                  </a:txBody>
                  <a:tcPr marL="54864" marR="54864" marT="27432" marB="27432" anchor="ctr">
                    <a:solidFill>
                      <a:srgbClr val="F2F5F9"/>
                    </a:solidFill>
                  </a:tcPr>
                </a:tc>
                <a:tc>
                  <a:txBody>
                    <a:bodyPr wrap="square"/>
                    <a:lstStyle/>
                    <a:p>
                      <a:r>
                        <a:rPr sz="12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2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200" b="0">
                          <a:solidFill>
                            <a:srgbClr val="222A35"/>
                          </a:solidFill>
                          <a:latin typeface="Arial"/>
                        </a:rPr>
                        <a:t>6–11</a:t>
                      </a:r>
                    </a:p>
                  </a:txBody>
                  <a:tcPr marL="54864" marR="54864" marT="27432" marB="27432" anchor="ctr">
                    <a:solidFill>
                      <a:srgbClr val="FFFFFF"/>
                    </a:solidFill>
                  </a:tcPr>
                </a:tc>
                <a:tc>
                  <a:txBody>
                    <a:bodyPr wrap="square"/>
                    <a:lstStyle/>
                    <a:p>
                      <a:r>
                        <a:rPr sz="12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2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200" b="0">
                          <a:solidFill>
                            <a:srgbClr val="222A35"/>
                          </a:solidFill>
                          <a:latin typeface="Arial"/>
                        </a:rPr>
                        <a:t>12–13</a:t>
                      </a:r>
                    </a:p>
                  </a:txBody>
                  <a:tcPr marL="54864" marR="54864" marT="27432" marB="27432" anchor="ctr">
                    <a:solidFill>
                      <a:srgbClr val="F2F5F9"/>
                    </a:solidFill>
                  </a:tcPr>
                </a:tc>
                <a:tc>
                  <a:txBody>
                    <a:bodyPr wrap="square"/>
                    <a:lstStyle/>
                    <a:p>
                      <a:r>
                        <a:rPr sz="12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200" b="1">
                          <a:solidFill>
                            <a:srgbClr val="FFFFFF"/>
                          </a:solidFill>
                          <a:latin typeface="Arial"/>
                        </a:rPr>
                        <a:t>false_done</a:t>
                      </a:r>
                    </a:p>
                  </a:txBody>
                  <a:tcPr marL="54864" marR="54864" marT="27432" marB="27432" anchor="ctr">
                    <a:solidFill>
                      <a:srgbClr val="E37222"/>
                    </a:solidFill>
                  </a:tcPr>
                </a:tc>
              </a:tr>
            </a:tbl>
          </a:graphicData>
        </a:graphic>
      </p:graphicFrame>
      <p:sp>
        <p:nvSpPr>
          <p:cNvPr id="11" name="TextBox 10"/>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2" name="Rectangle 11"/>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Class</a:t>
            </a:r>
          </a:p>
        </p:txBody>
      </p:sp>
      <p:sp>
        <p:nvSpPr>
          <p:cNvPr id="15" name="TextBox 14"/>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false_done (D1 p.50); root cause: a look-alike chosen from a truncated name</a:t>
            </a:r>
          </a:p>
        </p:txBody>
      </p:sp>
      <p:sp>
        <p:nvSpPr>
          <p:cNvPr id="16" name="Rectangle 15"/>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Fix layer</a:t>
            </a:r>
          </a:p>
        </p:txBody>
      </p:sp>
      <p:sp>
        <p:nvSpPr>
          <p:cNvPr id="19" name="TextBox 18"/>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8" name="Picture 7" descr="contacts43_step9.png"/>
          <p:cNvPicPr>
            <a:picLocks noChangeAspect="1"/>
          </p:cNvPicPr>
          <p:nvPr/>
        </p:nvPicPr>
        <p:blipFill>
          <a:blip r:embed="rId3"/>
          <a:stretch>
            <a:fillRect/>
          </a:stretch>
        </p:blipFill>
        <p:spPr>
          <a:xfrm>
            <a:off x="640080" y="1463040"/>
            <a:ext cx="1769364" cy="3931920"/>
          </a:xfrm>
          <a:prstGeom prst="rect">
            <a:avLst/>
          </a:prstGeom>
          <a:ln w="12700">
            <a:solidFill>
              <a:srgbClr val="D9DEE5"/>
            </a:solidFill>
          </a:ln>
        </p:spPr>
      </p:pic>
      <p:pic>
        <p:nvPicPr>
          <p:cNvPr id="9" name="Picture 8" descr="osmand366_step15.png"/>
          <p:cNvPicPr>
            <a:picLocks noChangeAspect="1"/>
          </p:cNvPicPr>
          <p:nvPr/>
        </p:nvPicPr>
        <p:blipFill>
          <a:blip r:embed="rId4"/>
          <a:stretch>
            <a:fillRect/>
          </a:stretch>
        </p:blipFill>
        <p:spPr>
          <a:xfrm>
            <a:off x="2514600" y="1463040"/>
            <a:ext cx="1769364" cy="3931920"/>
          </a:xfrm>
          <a:prstGeom prst="rect">
            <a:avLst/>
          </a:prstGeom>
          <a:ln w="12700">
            <a:solidFill>
              <a:srgbClr val="D9DEE5"/>
            </a:solidFill>
          </a:ln>
        </p:spPr>
      </p:pic>
      <p:sp>
        <p:nvSpPr>
          <p:cNvPr id="10" name="TextBox 9"/>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1" name="Rectangle 10"/>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Contacts s43: other</a:t>
            </a:r>
          </a:p>
        </p:txBody>
      </p:sp>
      <p:sp>
        <p:nvSpPr>
          <p:cNvPr id="14" name="TextBox 13"/>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Two swipes went past the Phone field; four more changed only the blinking cursor, which our check counted as a change.</a:t>
            </a:r>
          </a:p>
        </p:txBody>
      </p:sp>
      <p:sp>
        <p:nvSpPr>
          <p:cNvPr id="15" name="Rectangle 14"/>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OsmAnd s366: grounding</a:t>
            </a:r>
          </a:p>
        </p:txBody>
      </p:sp>
      <p:sp>
        <p:nvSpPr>
          <p:cNvPr id="18" name="TextBox 17"/>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Code: “Tap Clear at [941, 83]”. Model tapped [941, 57], the top edge of the button, three times: no effect.</a:t>
            </a:r>
          </a:p>
        </p:txBody>
      </p:sp>
      <p:graphicFrame>
        <p:nvGraphicFramePr>
          <p:cNvPr id="19" name="Table 18"/>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2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200" b="1">
                          <a:solidFill>
                            <a:srgbClr val="FFFFFF"/>
                          </a:solidFill>
                          <a:latin typeface="Arial"/>
                        </a:rPr>
                        <a:t>Run 1</a:t>
                      </a:r>
                    </a:p>
                  </a:txBody>
                  <a:tcPr marL="54864" marR="54864" marT="27432" marB="27432" anchor="ctr">
                    <a:solidFill>
                      <a:srgbClr val="072140"/>
                    </a:solidFill>
                  </a:tcPr>
                </a:tc>
                <a:tc>
                  <a:txBody>
                    <a:bodyPr wrap="square"/>
                    <a:lstStyle/>
                    <a:p>
                      <a:pPr algn="ctr"/>
                      <a:r>
                        <a:rPr sz="1200" b="1">
                          <a:solidFill>
                            <a:srgbClr val="FFFFFF"/>
                          </a:solidFill>
                          <a:latin typeface="Arial"/>
                        </a:rPr>
                        <a:t>Run 2</a:t>
                      </a:r>
                    </a:p>
                  </a:txBody>
                  <a:tcPr marL="54864" marR="54864" marT="27432" marB="27432" anchor="ctr">
                    <a:solidFill>
                      <a:srgbClr val="072140"/>
                    </a:solidFill>
                  </a:tcPr>
                </a:tc>
                <a:tc>
                  <a:txBody>
                    <a:bodyPr wrap="square"/>
                    <a:lstStyle/>
                    <a:p>
                      <a:pPr algn="ctr"/>
                      <a:r>
                        <a:rPr sz="1200" b="1">
                          <a:solidFill>
                            <a:srgbClr val="FFFFFF"/>
                          </a:solidFill>
                          <a:latin typeface="Arial"/>
                        </a:rPr>
                        <a:t>Run 3</a:t>
                      </a:r>
                    </a:p>
                  </a:txBody>
                  <a:tcPr marL="54864" marR="54864" marT="27432" marB="27432" anchor="ctr">
                    <a:solidFill>
                      <a:srgbClr val="072140"/>
                    </a:solidFill>
                  </a:tcPr>
                </a:tc>
              </a:tr>
              <a:tr h="402336">
                <a:tc>
                  <a:txBody>
                    <a:bodyPr wrap="square"/>
                    <a:lstStyle/>
                    <a:p>
                      <a:r>
                        <a:rPr sz="12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r h="402336">
                <a:tc>
                  <a:txBody>
                    <a:bodyPr wrap="square"/>
                    <a:lstStyle/>
                    <a:p>
                      <a:r>
                        <a:rPr sz="12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r>
              <a:tr h="402336">
                <a:tc>
                  <a:txBody>
                    <a:bodyPr wrap="square"/>
                    <a:lstStyle/>
                    <a:p>
                      <a:r>
                        <a:rPr sz="12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r h="402336">
                <a:tc>
                  <a:txBody>
                    <a:bodyPr wrap="square"/>
                    <a:lstStyle/>
                    <a:p>
                      <a:r>
                        <a:rPr sz="12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8" name="Table 7"/>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200" b="1">
                          <a:solidFill>
                            <a:srgbClr val="FFFFFF"/>
                          </a:solidFill>
                          <a:latin typeface="Arial"/>
                        </a:rPr>
                        <a:t>Symptom</a:t>
                      </a:r>
                    </a:p>
                  </a:txBody>
                  <a:tcPr marL="54864" marR="54864" marT="27432" marB="27432" anchor="ctr">
                    <a:solidFill>
                      <a:srgbClr val="072140"/>
                    </a:solidFill>
                  </a:tcPr>
                </a:tc>
                <a:tc>
                  <a:txBody>
                    <a:bodyPr wrap="square"/>
                    <a:lstStyle/>
                    <a:p>
                      <a:r>
                        <a:rPr sz="1200" b="1">
                          <a:solidFill>
                            <a:srgbClr val="FFFFFF"/>
                          </a:solidFill>
                          <a:latin typeface="Arial"/>
                        </a:rPr>
                        <a:t>Root cause</a:t>
                      </a:r>
                    </a:p>
                  </a:txBody>
                  <a:tcPr marL="54864" marR="54864" marT="27432" marB="27432" anchor="ctr">
                    <a:solidFill>
                      <a:srgbClr val="072140"/>
                    </a:solidFill>
                  </a:tcPr>
                </a:tc>
                <a:tc>
                  <a:txBody>
                    <a:bodyPr wrap="square"/>
                    <a:lstStyle/>
                    <a:p>
                      <a:r>
                        <a:rPr sz="1200" b="1">
                          <a:solidFill>
                            <a:srgbClr val="FFFFFF"/>
                          </a:solidFill>
                          <a:latin typeface="Arial"/>
                        </a:rPr>
                        <a:t>Fix</a:t>
                      </a:r>
                    </a:p>
                  </a:txBody>
                  <a:tcPr marL="54864" marR="54864" marT="27432" marB="27432" anchor="ctr">
                    <a:solidFill>
                      <a:srgbClr val="072140"/>
                    </a:solidFill>
                  </a:tcPr>
                </a:tc>
              </a:tr>
              <a:tr h="701040">
                <a:tc>
                  <a:txBody>
                    <a:bodyPr wrap="square"/>
                    <a:lstStyle/>
                    <a:p>
                      <a:r>
                        <a:rPr sz="12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2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2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200" b="1">
                          <a:solidFill>
                            <a:srgbClr val="222A35"/>
                          </a:solidFill>
                          <a:latin typeface="Arial"/>
                        </a:rPr>
                        <a:t>Screen recording stopped</a:t>
                      </a:r>
                    </a:p>
                  </a:txBody>
                  <a:tcPr marL="54864" marR="54864" marT="27432" marB="27432" anchor="ctr">
                    <a:solidFill>
                      <a:srgbClr val="F2F5F9"/>
                    </a:solidFill>
                  </a:tcPr>
                </a:tc>
                <a:tc>
                  <a:txBody>
                    <a:bodyPr wrap="square"/>
                    <a:lstStyle/>
                    <a:p>
                      <a:r>
                        <a:rPr sz="12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2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200" b="1">
                          <a:solidFill>
                            <a:srgbClr val="222A35"/>
                          </a:solidFill>
                          <a:latin typeface="Arial"/>
                        </a:rPr>
                        <a:t>App start timed out</a:t>
                      </a:r>
                    </a:p>
                  </a:txBody>
                  <a:tcPr marL="54864" marR="54864" marT="27432" marB="27432" anchor="ctr">
                    <a:solidFill>
                      <a:srgbClr val="FFFFFF"/>
                    </a:solidFill>
                  </a:tcPr>
                </a:tc>
                <a:tc>
                  <a:txBody>
                    <a:bodyPr wrap="square"/>
                    <a:lstStyle/>
                    <a:p>
                      <a:r>
                        <a:rPr sz="12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2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200" b="1">
                          <a:solidFill>
                            <a:srgbClr val="222A35"/>
                          </a:solidFill>
                          <a:latin typeface="Arial"/>
                        </a:rPr>
                        <a:t>“keeps stopping” dialog</a:t>
                      </a:r>
                    </a:p>
                  </a:txBody>
                  <a:tcPr marL="54864" marR="54864" marT="27432" marB="27432" anchor="ctr">
                    <a:solidFill>
                      <a:srgbClr val="F2F5F9"/>
                    </a:solidFill>
                  </a:tcPr>
                </a:tc>
                <a:tc>
                  <a:txBody>
                    <a:bodyPr wrap="square"/>
                    <a:lstStyle/>
                    <a:p>
                      <a:r>
                        <a:rPr sz="12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2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200" b="1">
                          <a:solidFill>
                            <a:srgbClr val="222A35"/>
                          </a:solidFill>
                          <a:latin typeface="Arial"/>
                        </a:rPr>
                        <a:t>OsmAnd map missing</a:t>
                      </a:r>
                    </a:p>
                  </a:txBody>
                  <a:tcPr marL="54864" marR="54864" marT="27432" marB="27432" anchor="ctr">
                    <a:solidFill>
                      <a:srgbClr val="FFFFFF"/>
                    </a:solidFill>
                  </a:tcPr>
                </a:tc>
                <a:tc>
                  <a:txBody>
                    <a:bodyPr wrap="square"/>
                    <a:lstStyle/>
                    <a:p>
                      <a:r>
                        <a:rPr sz="12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2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9" name="Picture 8" descr="forwarder_crash.png"/>
          <p:cNvPicPr>
            <a:picLocks noChangeAspect="1"/>
          </p:cNvPicPr>
          <p:nvPr/>
        </p:nvPicPr>
        <p:blipFill>
          <a:blip r:embed="rId3"/>
          <a:stretch>
            <a:fillRect/>
          </a:stretch>
        </p:blipFill>
        <p:spPr>
          <a:xfrm>
            <a:off x="8869680" y="1508760"/>
            <a:ext cx="1892808" cy="4206240"/>
          </a:xfrm>
          <a:prstGeom prst="rect">
            <a:avLst/>
          </a:prstGeom>
          <a:ln w="12700">
            <a:solidFill>
              <a:srgbClr val="D9DEE5"/>
            </a:solidFill>
          </a:ln>
        </p:spPr>
      </p:pic>
      <p:sp>
        <p:nvSpPr>
          <p:cNvPr id="10" name="TextBox 9"/>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8" name="Chart 7"/>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9" name="Rectangle 8"/>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changed</a:t>
            </a:r>
          </a:p>
        </p:txBody>
      </p:sp>
      <p:sp>
        <p:nvSpPr>
          <p:cNvPr id="12" name="TextBox 11"/>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Skill as text: the model often ignored it</a:t>
            </a:r>
          </a:p>
          <a:p>
            <a:pPr>
              <a:lnSpc>
                <a:spcPct val="108000"/>
              </a:lnSpc>
              <a:spcAft>
                <a:spcPts val="300"/>
              </a:spcAft>
            </a:pPr>
            <a:r>
              <a:rPr sz="1300">
                <a:solidFill>
                  <a:srgbClr val="0065BD"/>
                </a:solidFill>
                <a:latin typeface="Arial"/>
              </a:rPr>
              <a:t>▪  </a:t>
            </a:r>
            <a:r>
              <a:rPr sz="1300" b="0">
                <a:solidFill>
                  <a:srgbClr val="222A35"/>
                </a:solidFill>
                <a:latin typeface="Arial"/>
              </a:rPr>
              <a:t>Rules on the model’s words: bypassed</a:t>
            </a:r>
          </a:p>
          <a:p>
            <a:pPr>
              <a:lnSpc>
                <a:spcPct val="108000"/>
              </a:lnSpc>
              <a:spcAft>
                <a:spcPts val="300"/>
              </a:spcAft>
            </a:pPr>
            <a:r>
              <a:rPr sz="1300">
                <a:solidFill>
                  <a:srgbClr val="0065BD"/>
                </a:solidFill>
                <a:latin typeface="Arial"/>
              </a:rPr>
              <a:t>▪  </a:t>
            </a:r>
            <a:r>
              <a:rPr sz="1300" b="1">
                <a:solidFill>
                  <a:srgbClr val="222A35"/>
                </a:solidFill>
                <a:latin typeface="Arial"/>
              </a:rPr>
              <a:t>Program reads the screen</a:t>
            </a:r>
            <a:r>
              <a:rPr sz="1300" b="0">
                <a:solidFill>
                  <a:srgbClr val="222A35"/>
                </a:solidFill>
                <a:latin typeface="Arial"/>
              </a:rPr>
              <a:t> (accessibility tree)</a:t>
            </a:r>
          </a:p>
          <a:p>
            <a:pPr>
              <a:lnSpc>
                <a:spcPct val="108000"/>
              </a:lnSpc>
              <a:spcAft>
                <a:spcPts val="300"/>
              </a:spcAft>
            </a:pPr>
            <a:r>
              <a:rPr sz="1300">
                <a:solidFill>
                  <a:srgbClr val="0065BD"/>
                </a:solidFill>
                <a:latin typeface="Arial"/>
              </a:rPr>
              <a:t>▪  </a:t>
            </a:r>
            <a:r>
              <a:rPr sz="1300" b="1">
                <a:solidFill>
                  <a:srgbClr val="222A35"/>
                </a:solidFill>
                <a:latin typeface="Arial"/>
              </a:rPr>
              <a:t>Skill as code</a:t>
            </a:r>
            <a:r>
              <a:rPr sz="1300" b="0">
                <a:solidFill>
                  <a:srgbClr val="222A35"/>
                </a:solidFill>
                <a:latin typeface="Arial"/>
              </a:rPr>
              <a:t>: next step + tap centre</a:t>
            </a:r>
          </a:p>
          <a:p>
            <a:pPr>
              <a:lnSpc>
                <a:spcPct val="108000"/>
              </a:lnSpc>
              <a:spcAft>
                <a:spcPts val="300"/>
              </a:spcAft>
            </a:pPr>
            <a:r>
              <a:rPr sz="1300">
                <a:solidFill>
                  <a:srgbClr val="0065BD"/>
                </a:solidFill>
                <a:latin typeface="Arial"/>
              </a:rPr>
              <a:t>▪  </a:t>
            </a:r>
            <a:r>
              <a:rPr sz="13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8" name="Table 7"/>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9" name="TextBox 8"/>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0" name="Chart 9"/>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8" name="Table 7"/>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9" name="TextBox 8"/>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OUR WORK IN NUMBERS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8" name="Rectangle 7"/>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0" name="TextBox 9"/>
          <p:cNvSpPr txBox="1"/>
          <p:nvPr/>
        </p:nvSpPr>
        <p:spPr>
          <a:xfrm>
            <a:off x="868680"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recorded runs across the project</a:t>
            </a:r>
          </a:p>
        </p:txBody>
      </p:sp>
      <p:sp>
        <p:nvSpPr>
          <p:cNvPr id="11" name="Rectangle 10"/>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72000"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3" name="TextBox 12"/>
          <p:cNvSpPr txBox="1"/>
          <p:nvPr/>
        </p:nvSpPr>
        <p:spPr>
          <a:xfrm>
            <a:off x="4572000"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agent versions with a written reason</a:t>
            </a:r>
          </a:p>
        </p:txBody>
      </p:sp>
      <p:sp>
        <p:nvSpPr>
          <p:cNvPr id="14" name="Rectangle 13"/>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16" name="TextBox 15"/>
          <p:cNvSpPr txBox="1"/>
          <p:nvPr/>
        </p:nvSpPr>
        <p:spPr>
          <a:xfrm>
            <a:off x="8275319"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steps executed in this agent's runs</a:t>
            </a:r>
          </a:p>
        </p:txBody>
      </p:sp>
      <p:sp>
        <p:nvSpPr>
          <p:cNvPr id="17" name="Rectangle 16"/>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8680"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19" name="TextBox 18"/>
          <p:cNvSpPr txBox="1"/>
          <p:nvPr/>
        </p:nvSpPr>
        <p:spPr>
          <a:xfrm>
            <a:off x="868680"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calls in this agent's runs</a:t>
            </a:r>
          </a:p>
        </p:txBody>
      </p:sp>
      <p:sp>
        <p:nvSpPr>
          <p:cNvPr id="20" name="Rectangle 19"/>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0"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2" name="TextBox 21"/>
          <p:cNvSpPr txBox="1"/>
          <p:nvPr/>
        </p:nvSpPr>
        <p:spPr>
          <a:xfrm>
            <a:off x="4572000"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automatic offline tests</a:t>
            </a:r>
          </a:p>
        </p:txBody>
      </p:sp>
      <p:sp>
        <p:nvSpPr>
          <p:cNvPr id="23" name="Rectangle 22"/>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19"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25" name="TextBox 24"/>
          <p:cNvSpPr txBox="1"/>
          <p:nvPr/>
        </p:nvSpPr>
        <p:spPr>
          <a:xfrm>
            <a:off x="8275319"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FINDINGS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8" name="Rectangle 7"/>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Findings</a:t>
            </a:r>
          </a:p>
        </p:txBody>
      </p:sp>
      <p:sp>
        <p:nvSpPr>
          <p:cNvPr id="11" name="TextBox 10"/>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1">
                <a:solidFill>
                  <a:srgbClr val="222A35"/>
                </a:solidFill>
                <a:latin typeface="Arial"/>
              </a:rPr>
              <a:t>Trust the harness first</a:t>
            </a:r>
            <a:r>
              <a:rPr sz="1700" b="0">
                <a:solidFill>
                  <a:srgbClr val="222A35"/>
                </a:solidFill>
                <a:latin typeface="Arial"/>
              </a:rPr>
              <a:t>: setup faults looked like agent failures</a:t>
            </a:r>
          </a:p>
          <a:p>
            <a:pPr>
              <a:lnSpc>
                <a:spcPct val="108000"/>
              </a:lnSpc>
              <a:spcAft>
                <a:spcPts val="300"/>
              </a:spcAft>
            </a:pPr>
            <a:r>
              <a:rPr sz="1700">
                <a:solidFill>
                  <a:srgbClr val="0065BD"/>
                </a:solidFill>
                <a:latin typeface="Arial"/>
              </a:rPr>
              <a:t>▪  </a:t>
            </a:r>
            <a:r>
              <a:rPr sz="1700" b="1">
                <a:solidFill>
                  <a:srgbClr val="222A35"/>
                </a:solidFill>
                <a:latin typeface="Arial"/>
              </a:rPr>
              <a:t>The verifier decides</a:t>
            </a:r>
            <a:r>
              <a:rPr sz="1700" b="0">
                <a:solidFill>
                  <a:srgbClr val="222A35"/>
                </a:solidFill>
                <a:latin typeface="Arial"/>
              </a:rPr>
              <a:t>: false completions are real and dangerous</a:t>
            </a:r>
          </a:p>
          <a:p>
            <a:pPr>
              <a:lnSpc>
                <a:spcPct val="108000"/>
              </a:lnSpc>
              <a:spcAft>
                <a:spcPts val="300"/>
              </a:spcAft>
            </a:pPr>
            <a:r>
              <a:rPr sz="1700">
                <a:solidFill>
                  <a:srgbClr val="0065BD"/>
                </a:solidFill>
                <a:latin typeface="Arial"/>
              </a:rPr>
              <a:t>▪  </a:t>
            </a:r>
            <a:r>
              <a:rPr sz="1700" b="1">
                <a:solidFill>
                  <a:srgbClr val="222A35"/>
                </a:solidFill>
                <a:latin typeface="Arial"/>
              </a:rPr>
              <a:t>Where knowledge lives matters</a:t>
            </a:r>
            <a:r>
              <a:rPr sz="1700" b="0">
                <a:solidFill>
                  <a:srgbClr val="222A35"/>
                </a:solidFill>
                <a:latin typeface="Arial"/>
              </a:rPr>
              <a:t>: prompt &lt; reminder each step &lt; code</a:t>
            </a:r>
          </a:p>
          <a:p>
            <a:pPr>
              <a:lnSpc>
                <a:spcPct val="108000"/>
              </a:lnSpc>
              <a:spcAft>
                <a:spcPts val="300"/>
              </a:spcAft>
            </a:pPr>
            <a:r>
              <a:rPr sz="1700">
                <a:solidFill>
                  <a:srgbClr val="0065BD"/>
                </a:solidFill>
                <a:latin typeface="Arial"/>
              </a:rPr>
              <a:t>▪  </a:t>
            </a:r>
            <a:r>
              <a:rPr sz="1700" b="1">
                <a:solidFill>
                  <a:srgbClr val="222A35"/>
                </a:solidFill>
                <a:latin typeface="Arial"/>
              </a:rPr>
              <a:t>Long tasks fail by small errors</a:t>
            </a:r>
            <a:r>
              <a:rPr sz="1700" b="0">
                <a:solidFill>
                  <a:srgbClr val="222A35"/>
                </a:solidFill>
                <a:latin typeface="Arial"/>
              </a:rPr>
              <a:t>: one missed tap is enough</a:t>
            </a:r>
          </a:p>
          <a:p>
            <a:pPr>
              <a:lnSpc>
                <a:spcPct val="108000"/>
              </a:lnSpc>
              <a:spcAft>
                <a:spcPts val="300"/>
              </a:spcAft>
            </a:pPr>
            <a:r>
              <a:rPr sz="1700">
                <a:solidFill>
                  <a:srgbClr val="0065BD"/>
                </a:solidFill>
                <a:latin typeface="Arial"/>
              </a:rPr>
              <a:t>▪  </a:t>
            </a:r>
            <a:r>
              <a:rPr sz="1700" b="1">
                <a:solidFill>
                  <a:srgbClr val="222A35"/>
                </a:solidFill>
                <a:latin typeface="Arial"/>
              </a:rPr>
              <a:t>Checks catch traps</a:t>
            </a:r>
            <a:r>
              <a:rPr sz="1700" b="0">
                <a:solidFill>
                  <a:srgbClr val="222A35"/>
                </a:solidFill>
                <a:latin typeface="Arial"/>
              </a:rPr>
              <a:t>: 8 actions stopped in the final runs</a:t>
            </a:r>
          </a:p>
        </p:txBody>
      </p:sp>
      <p:sp>
        <p:nvSpPr>
          <p:cNvPr id="12" name="Rectangle 11"/>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Limitations</a:t>
            </a:r>
          </a:p>
        </p:txBody>
      </p:sp>
      <p:sp>
        <p:nvSpPr>
          <p:cNvPr id="15" name="TextBox 14"/>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Three runs per task: small sample</a:t>
            </a:r>
          </a:p>
          <a:p>
            <a:pPr>
              <a:lnSpc>
                <a:spcPct val="108000"/>
              </a:lnSpc>
              <a:spcAft>
                <a:spcPts val="300"/>
              </a:spcAft>
            </a:pPr>
            <a:r>
              <a:rPr sz="1700">
                <a:solidFill>
                  <a:srgbClr val="0065BD"/>
                </a:solidFill>
                <a:latin typeface="Arial"/>
              </a:rPr>
              <a:t>▪  </a:t>
            </a:r>
            <a:r>
              <a:rPr sz="1700" b="0">
                <a:solidFill>
                  <a:srgbClr val="222A35"/>
                </a:solidFill>
                <a:latin typeface="Arial"/>
              </a:rPr>
              <a:t>One model, one laptop, one emulator</a:t>
            </a:r>
          </a:p>
          <a:p>
            <a:pPr>
              <a:lnSpc>
                <a:spcPct val="108000"/>
              </a:lnSpc>
              <a:spcAft>
                <a:spcPts val="300"/>
              </a:spcAft>
            </a:pPr>
            <a:r>
              <a:rPr sz="1700">
                <a:solidFill>
                  <a:srgbClr val="0065BD"/>
                </a:solidFill>
                <a:latin typeface="Arial"/>
              </a:rPr>
              <a:t>▪  </a:t>
            </a:r>
            <a:r>
              <a:rPr sz="1700" b="0">
                <a:solidFill>
                  <a:srgbClr val="222A35"/>
                </a:solidFill>
                <a:latin typeface="Arial"/>
              </a:rPr>
              <a:t>OsmAnd Skill works only for OsmAnd</a:t>
            </a:r>
          </a:p>
          <a:p>
            <a:pPr>
              <a:lnSpc>
                <a:spcPct val="108000"/>
              </a:lnSpc>
              <a:spcAft>
                <a:spcPts val="300"/>
              </a:spcAft>
            </a:pPr>
            <a:r>
              <a:rPr sz="1700">
                <a:solidFill>
                  <a:srgbClr val="0065BD"/>
                </a:solidFill>
                <a:latin typeface="Arial"/>
              </a:rPr>
              <a:t>▪  </a:t>
            </a:r>
            <a:r>
              <a:rPr sz="1700" b="0">
                <a:solidFill>
                  <a:srgbClr val="222A35"/>
                </a:solidFill>
                <a:latin typeface="Arial"/>
              </a:rPr>
              <a:t>Two tasks used extra screen labels</a:t>
            </a:r>
          </a:p>
          <a:p>
            <a:pPr>
              <a:lnSpc>
                <a:spcPct val="108000"/>
              </a:lnSpc>
              <a:spcAft>
                <a:spcPts val="300"/>
              </a:spcAft>
            </a:pPr>
            <a:r>
              <a:rPr sz="1700">
                <a:solidFill>
                  <a:srgbClr val="0065BD"/>
                </a:solidFill>
                <a:latin typeface="Arial"/>
              </a:rPr>
              <a:t>▪  </a:t>
            </a:r>
            <a:r>
              <a:rPr sz="1700" b="0">
                <a:solidFill>
                  <a:srgbClr val="222A35"/>
                </a:solidFill>
                <a:latin typeface="Arial"/>
              </a:rPr>
              <a:t>Fixes after the freeze are not evaluated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2011680"/>
            <a:ext cx="10515600" cy="914400"/>
          </a:xfrm>
          <a:prstGeom prst="rect">
            <a:avLst/>
          </a:prstGeom>
          <a:noFill/>
        </p:spPr>
        <p:txBody>
          <a:bodyPr wrap="square" anchor="t" lIns="73152" rIns="73152">
            <a:spAutoFit/>
          </a:bodyPr>
          <a:lstStyle/>
          <a:p>
            <a:pPr algn="ctr">
              <a:lnSpc>
                <a:spcPct val="110000"/>
              </a:lnSpc>
            </a:pPr>
            <a:r>
              <a:rPr sz="5400" b="1" i="0">
                <a:solidFill>
                  <a:srgbClr val="FFFFFF"/>
                </a:solidFill>
                <a:latin typeface="Arial"/>
              </a:rPr>
              <a:t>Thank you</a:t>
            </a:r>
          </a:p>
        </p:txBody>
      </p:sp>
      <p:sp>
        <p:nvSpPr>
          <p:cNvPr id="4" name="TextBox 3"/>
          <p:cNvSpPr txBox="1"/>
          <p:nvPr/>
        </p:nvSpPr>
        <p:spPr>
          <a:xfrm>
            <a:off x="822960" y="3063240"/>
            <a:ext cx="10515600" cy="457200"/>
          </a:xfrm>
          <a:prstGeom prst="rect">
            <a:avLst/>
          </a:prstGeom>
          <a:noFill/>
        </p:spPr>
        <p:txBody>
          <a:bodyPr wrap="square" anchor="t" lIns="73152" rIns="73152">
            <a:spAutoFit/>
          </a:bodyPr>
          <a:lstStyle/>
          <a:p>
            <a:pPr algn="ctr">
              <a:lnSpc>
                <a:spcPct val="110000"/>
              </a:lnSpc>
            </a:pPr>
            <a:r>
              <a:rPr sz="2200" b="0" i="0">
                <a:solidFill>
                  <a:srgbClr val="B9C4D6"/>
                </a:solidFill>
                <a:latin typeface="Arial"/>
              </a:rPr>
              <a:t>Questions are welcome</a:t>
            </a:r>
          </a:p>
        </p:txBody>
      </p:sp>
      <p:sp>
        <p:nvSpPr>
          <p:cNvPr id="5" name="TextBox 4"/>
          <p:cNvSpPr txBox="1"/>
          <p:nvPr/>
        </p:nvSpPr>
        <p:spPr>
          <a:xfrm>
            <a:off x="822960" y="4206240"/>
            <a:ext cx="10515600" cy="457200"/>
          </a:xfrm>
          <a:prstGeom prst="rect">
            <a:avLst/>
          </a:prstGeom>
          <a:noFill/>
        </p:spPr>
        <p:txBody>
          <a:bodyPr wrap="square" anchor="t" lIns="73152" rIns="73152">
            <a:spAutoFit/>
          </a:bodyPr>
          <a:lstStyle/>
          <a:p>
            <a:pPr algn="ctr">
              <a:lnSpc>
                <a:spcPct val="110000"/>
              </a:lnSpc>
            </a:pPr>
            <a:r>
              <a:rPr sz="1500" b="0" i="0">
                <a:solidFill>
                  <a:srgbClr val="F09A5B"/>
                </a:solidFill>
                <a:latin typeface="Arial"/>
              </a:rPr>
              <a:t>github.com/Chenschenschen/androidworld-gui-agent  ·  branch team-agent  ·  tag team-agent-final-v65</a:t>
            </a:r>
          </a:p>
        </p:txBody>
      </p:sp>
      <p:sp>
        <p:nvSpPr>
          <p:cNvPr id="6" name="TextBox 5"/>
          <p:cNvSpPr txBox="1"/>
          <p:nvPr/>
        </p:nvSpPr>
        <p:spPr>
          <a:xfrm>
            <a:off x="822960" y="4754880"/>
            <a:ext cx="10515600" cy="457200"/>
          </a:xfrm>
          <a:prstGeom prst="rect">
            <a:avLst/>
          </a:prstGeom>
          <a:noFill/>
        </p:spPr>
        <p:txBody>
          <a:bodyPr wrap="square" anchor="t" lIns="73152" rIns="73152">
            <a:spAutoFit/>
          </a:bodyPr>
          <a:lstStyle/>
          <a:p>
            <a:pPr algn="ctr">
              <a:lnSpc>
                <a:spcPct val="110000"/>
              </a:lnSpc>
            </a:pPr>
            <a:r>
              <a:rPr sz="1300" b="0" i="0">
                <a:solidFill>
                  <a:srgbClr val="B9C4D6"/>
                </a:solidFill>
                <a:latin typeface="Arial"/>
              </a:rPr>
              <a:t>Model: AutoGLM-Phone-9B-Multilingual (Z.ai)  ·  Benchmark: AndroidWorld (Google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