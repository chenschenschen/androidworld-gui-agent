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Runs</c:v>
                </c:pt>
              </c:strCache>
            </c:strRef>
          </c:tx>
          <c:spPr>
            <a:solidFill>
              <a:srgbClr val="0065BD"/>
            </a:solidFill>
          </c:spPr>
          <c:dPt>
            <c:idx val="0"/>
            <c:spPr>
              <a:solidFill>
                <a:srgbClr val="A7B1BD"/>
              </a:solidFill>
            </c:spPr>
          </c:dPt>
          <c:dPt>
            <c:idx val="1"/>
            <c:spPr>
              <a:solidFill>
                <a:srgbClr val="A7B1BD"/>
              </a:solidFill>
            </c:spPr>
          </c:dPt>
          <c:dPt>
            <c:idx val="2"/>
            <c:spPr>
              <a:solidFill>
                <a:srgbClr val="A7B1BD"/>
              </a:solidFill>
            </c:spPr>
          </c:dPt>
          <c:dPt>
            <c:idx val="3"/>
            <c:spPr>
              <a:solidFill>
                <a:srgbClr val="E37222"/>
              </a:solidFill>
            </c:spPr>
          </c:dPt>
          <c:dPt>
            <c:idx val="4"/>
            <c:spPr>
              <a:solidFill>
                <a:srgbClr val="A7B1BD"/>
              </a:solidFill>
            </c:spPr>
          </c:dPt>
          <c:dPt>
            <c:idx val="5"/>
            <c:spPr>
              <a:solidFill>
                <a:srgbClr val="0065BD"/>
              </a:solidFill>
            </c:spPr>
          </c:dPt>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60</c:v>
                </c:pt>
                <c:pt idx="1">
                  <c:v>21</c:v>
                </c:pt>
                <c:pt idx="2">
                  <c:v>32</c:v>
                </c:pt>
                <c:pt idx="3">
                  <c:v>19</c:v>
                </c:pt>
                <c:pt idx="4">
                  <c:v>47</c:v>
                </c:pt>
                <c:pt idx="5">
                  <c:v>96</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b"/>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Runs</c:v>
                </c:pt>
              </c:strCache>
            </c:strRef>
          </c:tx>
          <c:spPr>
            <a:solidFill>
              <a:srgbClr val="D9DEE5"/>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ser>
        <c:ser>
          <c:idx val="1"/>
          <c:order val="1"/>
          <c:tx>
            <c:strRef>
              <c:f>Sheet1!$C$1</c:f>
              <c:strCache>
                <c:ptCount val="1"/>
                <c:pt idx="0">
                  <c:v>Passed</c:v>
                </c:pt>
              </c:strCache>
            </c:strRef>
          </c:tx>
          <c:spPr>
            <a:solidFill>
              <a:srgbClr val="0065BD"/>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Passed of 3</c:v>
                </c:pt>
              </c:strCache>
            </c:strRef>
          </c:tx>
          <c:spPr>
            <a:solidFill>
              <a:srgbClr val="0065BD"/>
            </a:solidFill>
          </c:spPr>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ax val="3.0"/>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Our agent (mean of passing runs)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c:v>
                </c:pt>
                <c:pt idx="1">
                  <c:v>11.5</c:v>
                </c:pt>
                <c:pt idx="2">
                  <c:v>7.7</c:v>
                </c:pt>
                <c:pt idx="3">
                  <c:v>15</c:v>
                </c:pt>
                <c:pt idx="4">
                  <c:v>19</c:v>
                </c:pt>
                <c:pt idx="5">
                  <c:v>17</c:v>
                </c:pt>
                <c:pt idx="6">
                  <c:v>22.5</c:v>
                </c:pt>
              </c:numCache>
            </c:numRef>
          </c:val>
        </c:ser>
        <c:ser>
          <c:idx val="1"/>
          <c:order val="1"/>
          <c:tx>
            <c:strRef>
              <c:f>Sheet1!$C$1</c:f>
              <c:strCache>
                <c:ptCount val="1"/>
                <c:pt idx="0">
                  <c:v>Reference steps (course list)</c:v>
                </c:pt>
              </c:strCache>
            </c:strRef>
          </c:tx>
          <c:spPr>
            <a:solidFill>
              <a:srgbClr val="072140"/>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c:v>
                </c:pt>
                <c:pt idx="1">
                  <c:v>5</c:v>
                </c:pt>
                <c:pt idx="2">
                  <c:v>6</c:v>
                </c:pt>
                <c:pt idx="3">
                  <c:v>10</c:v>
                </c:pt>
                <c:pt idx="4">
                  <c:v>17</c:v>
                </c:pt>
                <c:pt idx="5">
                  <c:v>9</c:v>
                </c:pt>
                <c:pt idx="6">
                  <c:v>60</c:v>
                </c:pt>
              </c:numCache>
            </c:numRef>
          </c:val>
        </c:ser>
        <c:ser>
          <c:idx val="2"/>
          <c:order val="2"/>
          <c:tx>
            <c:strRef>
              <c:f>Sheet1!$D$1</c:f>
              <c:strCache>
                <c:ptCount val="1"/>
                <c:pt idx="0">
                  <c:v>Step budget</c:v>
                </c:pt>
              </c:strCache>
            </c:strRef>
          </c:tx>
          <c:spPr>
            <a:solidFill>
              <a:srgbClr val="D9DEE5"/>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c:v>
                </c:pt>
                <c:pt idx="1">
                  <c:v>16</c:v>
                </c:pt>
                <c:pt idx="2">
                  <c:v>20</c:v>
                </c:pt>
                <c:pt idx="3">
                  <c:v>25</c:v>
                </c:pt>
                <c:pt idx="4">
                  <c:v>35</c:v>
                </c:pt>
                <c:pt idx="5">
                  <c:v>40</c:v>
                </c:pt>
                <c:pt idx="6">
                  <c:v>90</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Mean run time (s)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c:v>
                </c:pt>
                <c:pt idx="1">
                  <c:v>95</c:v>
                </c:pt>
                <c:pt idx="2">
                  <c:v>71</c:v>
                </c:pt>
                <c:pt idx="3">
                  <c:v>109</c:v>
                </c:pt>
                <c:pt idx="4">
                  <c:v>153</c:v>
                </c:pt>
                <c:pt idx="5">
                  <c:v>261</c:v>
                </c:pt>
                <c:pt idx="6">
                  <c:v>537</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short version.</a:t>
            </a:r>
          </a:p>
          <a:p>
            <a:r>
              <a:t>We built one agent and gave it seven tasks from AndroidWorld, from easy to the hardest one on the course list. Each task ran three times on one frozen version, and every run was screen-recorded.</a:t>
            </a:r>
          </a:p>
          <a:p>
            <a:r>
              <a:t>18 of the 21 runs passed. Pass means the official AndroidWorld checker looked at the phone's data and confirmed the task was done. The model's own "I am done" does not count.</a:t>
            </a:r>
          </a:p>
          <a:p>
            <a:r>
              <a:t>Behind this result there is a lot of work: about 300 recorded runs across the project and 65 versions of the agent.</a:t>
            </a:r>
          </a:p>
          <a:p>
            <a:r>
              <a:t>And it was cheap: the model cost for all 21 final runs was about 0.065 euro.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1.77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agent works. It is one Python class with one method, step, as the course asks.</a:t>
            </a:r>
          </a:p>
          <a:p>
            <a:r>
              <a:t>Each step does five things.</a:t>
            </a:r>
          </a:p>
          <a:p>
            <a:r>
              <a:t>First, observe: take a screenshot of the phone. For Wi-Fi and OsmAnd it also gets text labels of the screen, and we report this for every run.</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use a plain SMS, never Markor's Share menu, because that sends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8 actions. Without them, some of these passing runs would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is it implemented? Four parts work together.</a:t>
            </a:r>
          </a:p>
          <a:p>
            <a:r>
              <a:t>The Android emulator runs a Pixel 6 phone with Android 13, without a window. AndroidWorld sets up each task from its seed and, at the end, its official verifier checks the result.</a:t>
            </a:r>
          </a:p>
          <a:p>
            <a:r>
              <a:t>Our runner, run_task.py, prepares the task, starts the screen recorder, calls the agent step by step, then asks the verifier and writes the logs.</a:t>
            </a:r>
          </a:p>
          <a:p>
            <a:r>
              <a:t>The agent, the AutoGLMAgent class in autoglm_agent.py, builds each request and checks each answer. The model itself runs behind the Z.ai API.</a:t>
            </a:r>
          </a:p>
          <a:p>
            <a:r>
              <a:t>Around this, evaluate_tasks.py runs whole batches and stops if the code changes during a batch, and 38 offline tests protect every fix. One command reproduces the whole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full run from the final evaluation: the hardest task, OsmAnd, with seed 314. It passed in 23 steps.</a:t>
            </a:r>
          </a:p>
          <a:p>
            <a:r>
              <a:t>The model searched for Ruggell. The first search found nothing nearby, so it increased the search radius three times, scrolled the results, and picked the row labelled Village.</a:t>
            </a:r>
          </a:p>
          <a:p>
            <a:r>
              <a:t>From the place menu it chose Plan a route, so Ruggell became the first point of the route.</a:t>
            </a:r>
          </a:p>
          <a:p>
            <a:r>
              <a:t>Then it searched for Bendern, picked the village, went back to the route panel and tapped Add. The panel showed two points. It tapped Done, which saves the track, and called finish.</a:t>
            </a:r>
          </a:p>
          <a:p>
            <a:r>
              <a:t>On the way it closed a crash dialog, and our check refused one Type because no text field was focused.</a:t>
            </a:r>
          </a:p>
          <a:p>
            <a:r>
              <a:t>The official checker then read the saved track and confirmed both points in the right order. Under each picture is a sentence from the model's own reasoning, taken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a:t>
            </a:r>
          </a:p>
          <a:p>
            <a:r>
              <a:t>First, we froze the code. The final version has a git tag, and both evaluation batches have the same source fingerprint, so all 21 runs come from exactly the same agent.</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keeps three records: a summary row with the fields from the course, written by our runner while the run happens; a step-by-step trajectory log; and a screen recording. You will see all 21 rows right after the results.</a:t>
            </a:r>
          </a:p>
          <a:p>
            <a:r>
              <a:t>We did not rerun failures. A rerun of the same code only measures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21 runs. Blue is pass, orange is fail.</a:t>
            </a:r>
          </a:p>
          <a:p>
            <a:r>
              <a:t>Wi-Fi, SMS, Calendar and Markor passed all three runs.</a:t>
            </a:r>
          </a:p>
          <a:p>
            <a:r>
              <a:t>Contacts, Files and OsmAnd passed two of three.</a:t>
            </a:r>
          </a:p>
          <a:p>
            <a:r>
              <a:t>Both multi-app tasks together passed five of six, including OsmAndTrack, the hardest task on the list.</a:t>
            </a:r>
          </a:p>
          <a:p>
            <a:r>
              <a:t>The three failures are all different. One is a false finish, one is a missed tap, and one is a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log, one row per run, sorted by task, as the course asks.</a:t>
            </a:r>
          </a:p>
          <a:p>
            <a:r>
              <a:t>Each row has the course's fields: task, run, the observation, steps against the budget, the verifier result, the failure class, the recording and a short note. The model, version and grounding are the same for every run, so they are in the line above the table.</a:t>
            </a:r>
          </a:p>
          <a:p>
            <a:r>
              <a:t>Our runner writes these rows while each run happens, so nothing is filled in from memory. Each run number links to its full step-by-step log on GitHub.</a:t>
            </a:r>
          </a:p>
          <a:p>
            <a:r>
              <a:t>The notes show small things the checks handled, for example the SMS runs where the model wrote the app name in Chinese and our runner still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part shows the two hard tasks, with longer notes.</a:t>
            </a:r>
          </a:p>
          <a:p>
            <a:r>
              <a:t>All three Markor runs followed the Skill: save the note, then send its text as a plain SMS. One run needed the alias table, because the model named the SMS app in Chinese.</a:t>
            </a:r>
          </a:p>
          <a:p>
            <a:r>
              <a:t>The first OsmAnd run had to restore the map first, because the Files task had cleared the phone's storage. The only failure here, OsmAnd run 3, reached the first route point and then missed the Clear button. We come back to it in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runs of the same task, Files, at a speed you can follow. Both are three times faster.</a:t>
            </a:r>
          </a:p>
          <a:p>
            <a:r>
              <a:t>On the left, seed 42. The folder holds look-alike files whose names are cut off. The agent scrolls until it sees the full name, sci_fi_book.mp3, selects exactly that file and moves it to Audiobooks. The file disappears from Recordings, and the agent goes to Audiobooks to check before it says done. The checker says pass.</a:t>
            </a:r>
          </a:p>
          <a:p>
            <a:r>
              <a:t>On the right, seed 43. Everything looks right: it opens the folder, selects a file, and moves it to Movies. But watch the file name in the grid. The name is cut off, and the agent picks a file that only looks like the right one. Then it says it is done. The checker says fail.</a:t>
            </a:r>
          </a:p>
          <a:p>
            <a:r>
              <a:t>Same app, same kind of screen, one different choice. This brings us to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single failures, here is the bigger picture: all 275 runs in our project that have a machine-readable summary, from the first tests to the final evaluation.</a:t>
            </a:r>
          </a:p>
          <a:p>
            <a:r>
              <a:t>96 runs passed. Among the rest, the largest group is not the model at all: 60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failures.</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and the final runs passed three of three.</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numbers show the work behind the result.</a:t>
            </a:r>
          </a:p>
          <a:p>
            <a:r>
              <a:t>About 300 recorded runs across the project, 65 versions of the agent, 38 automatic tests, and 1453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because the agent types the text twice, once in the note and once in the SMS, instead of sharing it.</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long and how expensive was it?</a:t>
            </a:r>
          </a:p>
          <a:p>
            <a:r>
              <a:t>Simple tasks finished in about one to two minutes. Markor took about four minutes and OsmAnd about nine, including app start and setup time.</a:t>
            </a:r>
          </a:p>
          <a:p>
            <a:r>
              <a:t>All 21 runs together used about 1.45 million tokens. At 0.045 euro per million tokens, that is about 0.065 euro.</a:t>
            </a:r>
          </a:p>
          <a:p>
            <a:r>
              <a:t>Even the whole project, all local development runs together, cost only about 0.48 euro in model calls.</a:t>
            </a:r>
          </a:p>
          <a:p>
            <a:r>
              <a:t>The model answers fast, 1.77 seconds per call at the median. Most of the time per step is the phone: waiting for screens to load, typing, and saving logs and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Chenschenschen/androidworld-gui-agent/blob/team-agent/docs/evidence/team/runs/trial_SystemWifiTurnOn_20261008T215130_600754Z/trajectory.txt" TargetMode="External"/><Relationship Id="rId4" Type="http://schemas.openxmlformats.org/officeDocument/2006/relationships/hyperlink" Target="https://github.com/Chenschenschen/androidworld-gui-agent/blob/team-agent/docs/evidence/team/runs/trial_SystemWifiTurnOn_20261008T215246_616671Z/trajectory.txt" TargetMode="External"/><Relationship Id="rId5" Type="http://schemas.openxmlformats.org/officeDocument/2006/relationships/hyperlink" Target="https://github.com/Chenschenschen/androidworld-gui-agent/blob/team-agent/docs/evidence/team/runs/trial_SystemWifiTurnOn_20261008T215358_472883Z/trajectory.txt" TargetMode="External"/><Relationship Id="rId6" Type="http://schemas.openxmlformats.org/officeDocument/2006/relationships/hyperlink" Target="https://github.com/Chenschenschen/androidworld-gui-agent/blob/team-agent/docs/evidence/team/runs/trial_ContactsAddContact_20261008T215508_628423Z/trajectory.txt" TargetMode="External"/><Relationship Id="rId7" Type="http://schemas.openxmlformats.org/officeDocument/2006/relationships/hyperlink" Target="https://github.com/Chenschenschen/androidworld-gui-agent/blob/team-agent/docs/evidence/team/runs/trial_ContactsAddContact_20261008T215709_244163Z/trajectory.txt" TargetMode="External"/><Relationship Id="rId8" Type="http://schemas.openxmlformats.org/officeDocument/2006/relationships/hyperlink" Target="https://github.com/Chenschenschen/androidworld-gui-agent/blob/team-agent/docs/evidence/team/runs/trial_ContactsAddContact_20261008T215831_022667Z/trajectory.txt" TargetMode="External"/><Relationship Id="rId9" Type="http://schemas.openxmlformats.org/officeDocument/2006/relationships/hyperlink" Target="https://github.com/Chenschenschen/androidworld-gui-agent/blob/team-agent/docs/evidence/team/runs/trial_SimpleSmsSend_20261008T215957_234873Z/trajectory.txt" TargetMode="External"/><Relationship Id="rId10" Type="http://schemas.openxmlformats.org/officeDocument/2006/relationships/hyperlink" Target="https://github.com/Chenschenschen/androidworld-gui-agent/blob/team-agent/docs/evidence/team/runs/trial_SimpleSmsSend_20261008T220116_423331Z/trajectory.txt" TargetMode="External"/><Relationship Id="rId11" Type="http://schemas.openxmlformats.org/officeDocument/2006/relationships/hyperlink" Target="https://github.com/Chenschenschen/androidworld-gui-agent/blob/team-agent/docs/evidence/team/runs/trial_SimpleSmsSend_20261008T220223_867500Z/trajectory.txt" TargetMode="External"/><Relationship Id="rId12" Type="http://schemas.openxmlformats.org/officeDocument/2006/relationships/hyperlink" Target="https://github.com/Chenschenschen/androidworld-gui-agent/blob/team-agent/docs/evidence/team/runs/trial_FilesMoveFile_20261008T220333_997891Z/trajectory.txt" TargetMode="External"/><Relationship Id="rId13" Type="http://schemas.openxmlformats.org/officeDocument/2006/relationships/hyperlink" Target="https://github.com/Chenschenschen/androidworld-gui-agent/blob/team-agent/docs/evidence/team/runs/trial_FilesMoveFile_20261008T220533_834164Z/trajectory.txt" TargetMode="External"/><Relationship Id="rId14" Type="http://schemas.openxmlformats.org/officeDocument/2006/relationships/hyperlink" Target="https://github.com/Chenschenschen/androidworld-gui-agent/blob/team-agent/docs/evidence/team/runs/trial_FilesMoveFile_20261008T220713_812951Z/trajectory.txt" TargetMode="External"/><Relationship Id="rId15" Type="http://schemas.openxmlformats.org/officeDocument/2006/relationships/hyperlink" Target="https://github.com/Chenschenschen/androidworld-gui-agent/blob/team-agent/docs/evidence/team/runs/trial_SimpleCalendarAddOneEvent_20261008T220904_772591Z/trajectory.txt" TargetMode="External"/><Relationship Id="rId16" Type="http://schemas.openxmlformats.org/officeDocument/2006/relationships/hyperlink" Target="https://github.com/Chenschenschen/androidworld-gui-agent/blob/team-agent/docs/evidence/team/runs/trial_SimpleCalendarAddOneEvent_20261008T221147_529159Z/trajectory.txt" TargetMode="External"/><Relationship Id="rId17" Type="http://schemas.openxmlformats.org/officeDocument/2006/relationships/hyperlink" Target="https://github.com/Chenschenschen/androidworld-gui-agent/blob/team-agent/docs/evidence/team/runs/trial_SimpleCalendarAddOneEvent_20261008T221423_161758Z/trajectory.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henschenschen/androidworld-gui-agent/blob/team-agent/docs/evidence/team/runs/trial_MarkorCreateNoteAndSms_20261008T221647_424207Z/trajectory.txt" TargetMode="External"/><Relationship Id="rId4" Type="http://schemas.openxmlformats.org/officeDocument/2006/relationships/hyperlink" Target="https://github.com/Chenschenschen/androidworld-gui-agent/blob/team-agent/docs/evidence/team/runs/trial_MarkorCreateNoteAndSms_20261008T222123_918435Z/trajectory.txt" TargetMode="External"/><Relationship Id="rId5" Type="http://schemas.openxmlformats.org/officeDocument/2006/relationships/hyperlink" Target="https://github.com/Chenschenschen/androidworld-gui-agent/blob/team-agent/docs/evidence/team/runs/trial_MarkorCreateNoteAndSms_20261008T222633_440045Z/trajectory.txt" TargetMode="External"/><Relationship Id="rId6" Type="http://schemas.openxmlformats.org/officeDocument/2006/relationships/hyperlink" Target="https://github.com/Chenschenschen/androidworld-gui-agent/blob/team-agent/docs/evidence/team/runs/trial_OsmAndTrack_20261008T223004_312422Z/trajectory.txt" TargetMode="External"/><Relationship Id="rId7" Type="http://schemas.openxmlformats.org/officeDocument/2006/relationships/hyperlink" Target="https://github.com/Chenschenschen/androidworld-gui-agent/blob/team-agent/docs/evidence/team/runs/trial_OsmAndTrack_20261008T224202_113624Z/trajectory.txt" TargetMode="External"/><Relationship Id="rId8" Type="http://schemas.openxmlformats.org/officeDocument/2006/relationships/hyperlink" Target="https://github.com/Chenschenschen/androidworld-gui-agent/blob/team-agent/docs/evidence/team/runs/trial_OsmAndTrack_20261008T225108_345362Z/trajectory.tx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12.png"/><Relationship Id="rId6" Type="http://schemas.microsoft.com/office/2007/relationships/media" Target="../media/media3.mp4"/><Relationship Id="rId7" Type="http://schemas.openxmlformats.org/officeDocument/2006/relationships/video" Target="../media/media3.mp4"/><Relationship Id="rId8"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anchor="t" lIns="73152" rIns="73152">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anchor="t" lIns="73152" rIns="73152">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anchor="t" lIns="73152" rIns="73152">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51960"/>
            <a:ext cx="347472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anchor="t" lIns="73152" rIns="73152">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anchor="t" lIns="73152" rIns="73152">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AT A GLANCE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agent, seven tasks: 18 of 21 runs passed the official check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a:t>
            </a:r>
          </a:p>
        </p:txBody>
      </p:sp>
      <p:sp>
        <p:nvSpPr>
          <p:cNvPr id="9" name="Rectangle 8"/>
          <p:cNvSpPr/>
          <p:nvPr/>
        </p:nvSpPr>
        <p:spPr>
          <a:xfrm>
            <a:off x="640080" y="1463040"/>
            <a:ext cx="2606040" cy="1874519"/>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1691640"/>
            <a:ext cx="2331720" cy="685800"/>
          </a:xfrm>
          <a:prstGeom prst="rect">
            <a:avLst/>
          </a:prstGeom>
          <a:noFill/>
        </p:spPr>
        <p:txBody>
          <a:bodyPr wrap="square" anchor="t" lIns="73152" rIns="73152">
            <a:spAutoFit/>
          </a:bodyPr>
          <a:lstStyle/>
          <a:p>
            <a:pPr algn="l">
              <a:lnSpc>
                <a:spcPct val="110000"/>
              </a:lnSpc>
            </a:pPr>
            <a:r>
              <a:rPr sz="4400" b="1" i="0">
                <a:solidFill>
                  <a:srgbClr val="0065BD"/>
                </a:solidFill>
                <a:latin typeface="Arial"/>
              </a:rPr>
              <a:t>18 / 21</a:t>
            </a:r>
          </a:p>
        </p:txBody>
      </p:sp>
      <p:sp>
        <p:nvSpPr>
          <p:cNvPr id="12" name="TextBox 11"/>
          <p:cNvSpPr txBox="1"/>
          <p:nvPr/>
        </p:nvSpPr>
        <p:spPr>
          <a:xfrm>
            <a:off x="822959"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runs passed the official</a:t>
            </a:r>
          </a:p>
          <a:p>
            <a:pPr algn="l">
              <a:lnSpc>
                <a:spcPct val="110000"/>
              </a:lnSpc>
            </a:pPr>
            <a:r>
              <a:rPr sz="1400" b="0" i="0">
                <a:solidFill>
                  <a:srgbClr val="5E6773"/>
                </a:solidFill>
                <a:latin typeface="Arial"/>
              </a:rPr>
              <a:t>AndroidWorld verifier</a:t>
            </a:r>
          </a:p>
        </p:txBody>
      </p:sp>
      <p:sp>
        <p:nvSpPr>
          <p:cNvPr id="13" name="Rectangle 12"/>
          <p:cNvSpPr/>
          <p:nvPr/>
        </p:nvSpPr>
        <p:spPr>
          <a:xfrm>
            <a:off x="3401568"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401568"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84448"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7 tasks</a:t>
            </a:r>
          </a:p>
        </p:txBody>
      </p:sp>
      <p:sp>
        <p:nvSpPr>
          <p:cNvPr id="16" name="TextBox 15"/>
          <p:cNvSpPr txBox="1"/>
          <p:nvPr/>
        </p:nvSpPr>
        <p:spPr>
          <a:xfrm>
            <a:off x="3584448"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covering easy, medium</a:t>
            </a:r>
          </a:p>
          <a:p>
            <a:pPr algn="l">
              <a:lnSpc>
                <a:spcPct val="110000"/>
              </a:lnSpc>
            </a:pPr>
            <a:r>
              <a:rPr sz="1400" b="0" i="0">
                <a:solidFill>
                  <a:srgbClr val="5E6773"/>
                </a:solidFill>
                <a:latin typeface="Arial"/>
              </a:rPr>
              <a:t>and hard (D1 task list)</a:t>
            </a:r>
          </a:p>
        </p:txBody>
      </p:sp>
      <p:sp>
        <p:nvSpPr>
          <p:cNvPr id="17" name="Rectangle 16"/>
          <p:cNvSpPr/>
          <p:nvPr/>
        </p:nvSpPr>
        <p:spPr>
          <a:xfrm>
            <a:off x="6163056"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63056"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45936"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~300</a:t>
            </a:r>
          </a:p>
        </p:txBody>
      </p:sp>
      <p:sp>
        <p:nvSpPr>
          <p:cNvPr id="20" name="TextBox 19"/>
          <p:cNvSpPr txBox="1"/>
          <p:nvPr/>
        </p:nvSpPr>
        <p:spPr>
          <a:xfrm>
            <a:off x="6345936"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a:t>
            </a:r>
          </a:p>
          <a:p>
            <a:pPr algn="l">
              <a:lnSpc>
                <a:spcPct val="110000"/>
              </a:lnSpc>
            </a:pPr>
            <a:r>
              <a:rPr sz="1400" b="0" i="0">
                <a:solidFill>
                  <a:srgbClr val="5E6773"/>
                </a:solidFill>
                <a:latin typeface="Arial"/>
              </a:rPr>
              <a:t>the whole project</a:t>
            </a:r>
          </a:p>
        </p:txBody>
      </p:sp>
      <p:sp>
        <p:nvSpPr>
          <p:cNvPr id="21" name="Rectangle 20"/>
          <p:cNvSpPr/>
          <p:nvPr/>
        </p:nvSpPr>
        <p:spPr>
          <a:xfrm>
            <a:off x="8924544"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24544"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07424"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65</a:t>
            </a:r>
          </a:p>
        </p:txBody>
      </p:sp>
      <p:sp>
        <p:nvSpPr>
          <p:cNvPr id="24" name="TextBox 23"/>
          <p:cNvSpPr txBox="1"/>
          <p:nvPr/>
        </p:nvSpPr>
        <p:spPr>
          <a:xfrm>
            <a:off x="9107424"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each</a:t>
            </a:r>
          </a:p>
          <a:p>
            <a:pPr algn="l">
              <a:lnSpc>
                <a:spcPct val="110000"/>
              </a:lnSpc>
            </a:pPr>
            <a:r>
              <a:rPr sz="1400" b="0" i="0">
                <a:solidFill>
                  <a:srgbClr val="5E6773"/>
                </a:solidFill>
                <a:latin typeface="Arial"/>
              </a:rPr>
              <a:t>change tested and logged</a:t>
            </a:r>
          </a:p>
        </p:txBody>
      </p:sp>
      <p:sp>
        <p:nvSpPr>
          <p:cNvPr id="25" name="Rectangle 24"/>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04671"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Rigorous</a:t>
            </a:r>
          </a:p>
        </p:txBody>
      </p:sp>
      <p:sp>
        <p:nvSpPr>
          <p:cNvPr id="28" name="TextBox 27"/>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One frozen version for all 21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9" name="Rectangle 28"/>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0799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Cheap and fast</a:t>
            </a:r>
          </a:p>
        </p:txBody>
      </p:sp>
      <p:sp>
        <p:nvSpPr>
          <p:cNvPr id="32" name="TextBox 31"/>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0.065 €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1.77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33" name="Rectangle 32"/>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1131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Honest</a:t>
            </a:r>
          </a:p>
        </p:txBody>
      </p:sp>
      <p:sp>
        <p:nvSpPr>
          <p:cNvPr id="36" name="TextBox 35"/>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USE CASE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phone assistant that uses apps the way a person does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3</a:t>
            </a:r>
          </a:p>
        </p:txBody>
      </p:sp>
      <p:sp>
        <p:nvSpPr>
          <p:cNvPr id="9" name="Rectangle 8"/>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002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Who it helps</a:t>
            </a:r>
          </a:p>
        </p:txBody>
      </p:sp>
      <p:sp>
        <p:nvSpPr>
          <p:cNvPr id="12" name="TextBox 11"/>
          <p:cNvSpPr txBox="1"/>
          <p:nvPr/>
        </p:nvSpPr>
        <p:spPr>
          <a:xfrm>
            <a:off x="804671" y="20116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People who find phones hard to use, busy users with repeated tasks, teams that test apps.</a:t>
            </a:r>
          </a:p>
        </p:txBody>
      </p:sp>
      <p:sp>
        <p:nvSpPr>
          <p:cNvPr id="13" name="Rectangle 12"/>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1" y="32004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needs</a:t>
            </a:r>
          </a:p>
        </p:txBody>
      </p:sp>
      <p:sp>
        <p:nvSpPr>
          <p:cNvPr id="16" name="TextBox 15"/>
          <p:cNvSpPr txBox="1"/>
          <p:nvPr/>
        </p:nvSpPr>
        <p:spPr>
          <a:xfrm>
            <a:off x="804671" y="36118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Only the screen: no special app interface. It reads, taps, types and swipes like a person.</a:t>
            </a:r>
          </a:p>
        </p:txBody>
      </p:sp>
      <p:sp>
        <p:nvSpPr>
          <p:cNvPr id="17" name="Rectangle 16"/>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1" y="48006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is told</a:t>
            </a:r>
          </a:p>
        </p:txBody>
      </p:sp>
      <p:sp>
        <p:nvSpPr>
          <p:cNvPr id="20" name="TextBox 19"/>
          <p:cNvSpPr txBox="1"/>
          <p:nvPr/>
        </p:nvSpPr>
        <p:spPr>
          <a:xfrm>
            <a:off x="804671" y="52120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One sentence in plain English, for example: “Create a note named … and share its content via SMS.”</a:t>
            </a:r>
          </a:p>
        </p:txBody>
      </p:sp>
      <p:pic>
        <p:nvPicPr>
          <p:cNvPr id="21" name="Picture 20" descr="traj_1.png"/>
          <p:cNvPicPr>
            <a:picLocks noChangeAspect="1"/>
          </p:cNvPicPr>
          <p:nvPr/>
        </p:nvPicPr>
        <p:blipFill>
          <a:blip r:embed="rId3"/>
          <a:srcRect t="8000"/>
          <a:stretch>
            <a:fillRect/>
          </a:stretch>
        </p:blipFill>
        <p:spPr>
          <a:xfrm>
            <a:off x="4572000" y="1508760"/>
            <a:ext cx="2077974" cy="4248302"/>
          </a:xfrm>
          <a:prstGeom prst="roundRect">
            <a:avLst/>
          </a:prstGeom>
          <a:ln w="44450">
            <a:solidFill>
              <a:srgbClr val="1B1F2A"/>
            </a:solidFill>
          </a:ln>
        </p:spPr>
      </p:pic>
      <p:pic>
        <p:nvPicPr>
          <p:cNvPr id="22" name="Picture 21" descr="traj_3.png"/>
          <p:cNvPicPr>
            <a:picLocks noChangeAspect="1"/>
          </p:cNvPicPr>
          <p:nvPr/>
        </p:nvPicPr>
        <p:blipFill>
          <a:blip r:embed="rId4"/>
          <a:srcRect t="8000"/>
          <a:stretch>
            <a:fillRect/>
          </a:stretch>
        </p:blipFill>
        <p:spPr>
          <a:xfrm>
            <a:off x="6995160" y="1508760"/>
            <a:ext cx="2077974" cy="4248302"/>
          </a:xfrm>
          <a:prstGeom prst="roundRect">
            <a:avLst/>
          </a:prstGeom>
          <a:ln w="44450">
            <a:solidFill>
              <a:srgbClr val="1B1F2A"/>
            </a:solidFill>
          </a:ln>
        </p:spPr>
      </p:pic>
      <p:pic>
        <p:nvPicPr>
          <p:cNvPr id="23" name="Picture 22" descr="traj_6.png"/>
          <p:cNvPicPr>
            <a:picLocks noChangeAspect="1"/>
          </p:cNvPicPr>
          <p:nvPr/>
        </p:nvPicPr>
        <p:blipFill>
          <a:blip r:embed="rId5"/>
          <a:srcRect t="8000"/>
          <a:stretch>
            <a:fillRect/>
          </a:stretch>
        </p:blipFill>
        <p:spPr>
          <a:xfrm>
            <a:off x="9418320" y="1508760"/>
            <a:ext cx="2077974" cy="4248302"/>
          </a:xfrm>
          <a:prstGeom prst="roundRect">
            <a:avLst/>
          </a:prstGeom>
          <a:ln w="44450">
            <a:solidFill>
              <a:srgbClr val="1B1F2A"/>
            </a:solidFill>
          </a:ln>
        </p:spPr>
      </p:pic>
      <p:sp>
        <p:nvSpPr>
          <p:cNvPr id="24" name="TextBox 23"/>
          <p:cNvSpPr txBox="1"/>
          <p:nvPr/>
        </p:nvSpPr>
        <p:spPr>
          <a:xfrm>
            <a:off x="4572000" y="6144768"/>
            <a:ext cx="6949440" cy="27432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One of our runs: a note created in Markor, then sent as an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TASKS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4</a:t>
            </a:r>
          </a:p>
        </p:txBody>
      </p:sp>
      <p:graphicFrame>
        <p:nvGraphicFramePr>
          <p:cNvPr id="9" name="Table 8"/>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gridCol w="2743200"/>
                <a:gridCol w="5394960"/>
                <a:gridCol w="1371600"/>
              </a:tblGrid>
              <a:tr h="502920">
                <a:tc>
                  <a:txBody>
                    <a:bodyPr wrap="square"/>
                    <a:lstStyle/>
                    <a:p>
                      <a:r>
                        <a:rPr sz="1400" b="1">
                          <a:solidFill>
                            <a:srgbClr val="FFFFFF"/>
                          </a:solidFill>
                          <a:latin typeface="Arial"/>
                        </a:rPr>
                        <a:t>Row</a:t>
                      </a:r>
                    </a:p>
                  </a:txBody>
                  <a:tcPr marL="54864" marR="54864" marT="27432" marB="27432" anchor="ctr">
                    <a:solidFill>
                      <a:srgbClr val="072140"/>
                    </a:solidFill>
                  </a:tcPr>
                </a:tc>
                <a:tc>
                  <a:txBody>
                    <a:bodyPr wrap="square"/>
                    <a:lstStyle/>
                    <a:p>
                      <a:r>
                        <a:rPr sz="1400" b="1">
                          <a:solidFill>
                            <a:srgbClr val="FFFFFF"/>
                          </a:solidFill>
                          <a:latin typeface="Arial"/>
                        </a:rPr>
                        <a:t>Task</a:t>
                      </a:r>
                    </a:p>
                  </a:txBody>
                  <a:tcPr marL="54864" marR="54864" marT="27432" marB="27432" anchor="ctr">
                    <a:solidFill>
                      <a:srgbClr val="072140"/>
                    </a:solidFill>
                  </a:tcPr>
                </a:tc>
                <a:tc>
                  <a:txBody>
                    <a:bodyPr wrap="square"/>
                    <a:lstStyle/>
                    <a:p>
                      <a:r>
                        <a:rPr sz="1400" b="1">
                          <a:solidFill>
                            <a:srgbClr val="FFFFFF"/>
                          </a:solidFill>
                          <a:latin typeface="Arial"/>
                        </a:rPr>
                        <a:t>What the agent is told (short)</a:t>
                      </a:r>
                    </a:p>
                  </a:txBody>
                  <a:tcPr marL="54864" marR="54864" marT="27432" marB="27432" anchor="ctr">
                    <a:solidFill>
                      <a:srgbClr val="072140"/>
                    </a:solidFill>
                  </a:tcPr>
                </a:tc>
                <a:tc>
                  <a:txBody>
                    <a:bodyPr wrap="square"/>
                    <a:lstStyle/>
                    <a:p>
                      <a:pPr algn="ctr"/>
                      <a:r>
                        <a:rPr sz="1400" b="1">
                          <a:solidFill>
                            <a:srgbClr val="FFFFFF"/>
                          </a:solidFill>
                          <a:latin typeface="Arial"/>
                        </a:rPr>
                        <a:t>Reference steps</a:t>
                      </a:r>
                    </a:p>
                  </a:txBody>
                  <a:tcPr marL="54864" marR="54864" marT="27432" marB="27432" anchor="ctr">
                    <a:solidFill>
                      <a:srgbClr val="072140"/>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SystemWifiTurnOn</a:t>
                      </a:r>
                    </a:p>
                  </a:txBody>
                  <a:tcPr marL="54864" marR="54864" marT="27432" marB="27432" anchor="ctr">
                    <a:solidFill>
                      <a:srgbClr val="E5EFF8"/>
                    </a:solidFill>
                  </a:tcPr>
                </a:tc>
                <a:tc>
                  <a:txBody>
                    <a:bodyPr wrap="square"/>
                    <a:lstStyle/>
                    <a:p>
                      <a:r>
                        <a:rPr sz="1400" b="0">
                          <a:solidFill>
                            <a:srgbClr val="222A35"/>
                          </a:solidFill>
                          <a:latin typeface="Arial"/>
                        </a:rPr>
                        <a:t>Turn Wi-Fi on</a:t>
                      </a:r>
                    </a:p>
                  </a:txBody>
                  <a:tcPr marL="54864" marR="54864" marT="27432" marB="27432" anchor="ctr">
                    <a:solidFill>
                      <a:srgbClr val="E5EFF8"/>
                    </a:solidFill>
                  </a:tcPr>
                </a:tc>
                <a:tc>
                  <a:txBody>
                    <a:bodyPr wrap="square"/>
                    <a:lstStyle/>
                    <a:p>
                      <a:pPr algn="ctr"/>
                      <a:r>
                        <a:rPr sz="1400" b="0">
                          <a:solidFill>
                            <a:srgbClr val="222A35"/>
                          </a:solidFill>
                          <a:latin typeface="Arial"/>
                        </a:rPr>
                        <a:t>3</a:t>
                      </a:r>
                    </a:p>
                  </a:txBody>
                  <a:tcPr marL="54864" marR="54864" marT="27432" marB="27432" anchor="ctr">
                    <a:solidFill>
                      <a:srgbClr val="E5EFF8"/>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ContactsAddContact</a:t>
                      </a:r>
                    </a:p>
                  </a:txBody>
                  <a:tcPr marL="54864" marR="54864" marT="27432" marB="27432" anchor="ctr">
                    <a:solidFill>
                      <a:srgbClr val="E5EFF8"/>
                    </a:solidFill>
                  </a:tcPr>
                </a:tc>
                <a:tc>
                  <a:txBody>
                    <a:bodyPr wrap="square"/>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wrap="square"/>
                    <a:lstStyle/>
                    <a:p>
                      <a:pPr algn="ctr"/>
                      <a:r>
                        <a:rPr sz="1400" b="0">
                          <a:solidFill>
                            <a:srgbClr val="222A35"/>
                          </a:solidFill>
                          <a:latin typeface="Arial"/>
                        </a:rPr>
                        <a:t>5</a:t>
                      </a:r>
                    </a:p>
                  </a:txBody>
                  <a:tcPr marL="54864" marR="54864" marT="27432" marB="27432" anchor="ctr">
                    <a:solidFill>
                      <a:srgbClr val="E5EFF8"/>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SimpleSmsSend</a:t>
                      </a:r>
                    </a:p>
                  </a:txBody>
                  <a:tcPr marL="54864" marR="54864" marT="27432" marB="27432" anchor="ctr">
                    <a:solidFill>
                      <a:srgbClr val="F2F5F9"/>
                    </a:solidFill>
                  </a:tcPr>
                </a:tc>
                <a:tc>
                  <a:txBody>
                    <a:bodyPr wrap="square"/>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wrap="square"/>
                    <a:lstStyle/>
                    <a:p>
                      <a:pPr algn="ctr"/>
                      <a:r>
                        <a:rPr sz="1400" b="0">
                          <a:solidFill>
                            <a:srgbClr val="222A35"/>
                          </a:solidFill>
                          <a:latin typeface="Arial"/>
                        </a:rPr>
                        <a:t>6</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FilesMoveFile</a:t>
                      </a:r>
                    </a:p>
                  </a:txBody>
                  <a:tcPr marL="54864" marR="54864" marT="27432" marB="27432" anchor="ctr">
                    <a:solidFill>
                      <a:srgbClr val="F2F5F9"/>
                    </a:solidFill>
                  </a:tcPr>
                </a:tc>
                <a:tc>
                  <a:txBody>
                    <a:bodyPr wrap="square"/>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wrap="square"/>
                    <a:lstStyle/>
                    <a:p>
                      <a:pPr algn="ctr"/>
                      <a:r>
                        <a:rPr sz="1400" b="0">
                          <a:solidFill>
                            <a:srgbClr val="222A35"/>
                          </a:solidFill>
                          <a:latin typeface="Arial"/>
                        </a:rPr>
                        <a:t>10</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SimpleCalendarAddOneEvent</a:t>
                      </a:r>
                    </a:p>
                  </a:txBody>
                  <a:tcPr marL="54864" marR="54864" marT="27432" marB="27432" anchor="ctr">
                    <a:solidFill>
                      <a:srgbClr val="F2F5F9"/>
                    </a:solidFill>
                  </a:tcPr>
                </a:tc>
                <a:tc>
                  <a:txBody>
                    <a:bodyPr wrap="square"/>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wrap="square"/>
                    <a:lstStyle/>
                    <a:p>
                      <a:pPr algn="ctr"/>
                      <a:r>
                        <a:rPr sz="1400" b="0">
                          <a:solidFill>
                            <a:srgbClr val="222A35"/>
                          </a:solidFill>
                          <a:latin typeface="Arial"/>
                        </a:rPr>
                        <a:t>17</a:t>
                      </a:r>
                    </a:p>
                  </a:txBody>
                  <a:tcPr marL="54864" marR="54864" marT="27432" marB="27432" anchor="ctr">
                    <a:solidFill>
                      <a:srgbClr val="F2F5F9"/>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MarkorCreateNoteAndSms</a:t>
                      </a:r>
                    </a:p>
                  </a:txBody>
                  <a:tcPr marL="54864" marR="54864" marT="27432" marB="27432" anchor="ctr">
                    <a:solidFill>
                      <a:srgbClr val="FCECE0"/>
                    </a:solidFill>
                  </a:tcPr>
                </a:tc>
                <a:tc>
                  <a:txBody>
                    <a:bodyPr wrap="square"/>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wrap="square"/>
                    <a:lstStyle/>
                    <a:p>
                      <a:pPr algn="ctr"/>
                      <a:r>
                        <a:rPr sz="1400" b="0">
                          <a:solidFill>
                            <a:srgbClr val="222A35"/>
                          </a:solidFill>
                          <a:latin typeface="Arial"/>
                        </a:rPr>
                        <a:t>9</a:t>
                      </a:r>
                    </a:p>
                  </a:txBody>
                  <a:tcPr marL="54864" marR="54864" marT="27432" marB="27432" anchor="ctr">
                    <a:solidFill>
                      <a:srgbClr val="FCECE0"/>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OsmAndTrack</a:t>
                      </a:r>
                    </a:p>
                  </a:txBody>
                  <a:tcPr marL="54864" marR="54864" marT="27432" marB="27432" anchor="ctr">
                    <a:solidFill>
                      <a:srgbClr val="FCECE0"/>
                    </a:solidFill>
                  </a:tcPr>
                </a:tc>
                <a:tc>
                  <a:txBody>
                    <a:bodyPr wrap="square"/>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wrap="square"/>
                    <a:lstStyle/>
                    <a:p>
                      <a:pPr algn="ctr"/>
                      <a:r>
                        <a:rPr sz="1400" b="0">
                          <a:solidFill>
                            <a:srgbClr val="222A35"/>
                          </a:solidFill>
                          <a:latin typeface="Arial"/>
                        </a:rPr>
                        <a:t>60</a:t>
                      </a:r>
                    </a:p>
                  </a:txBody>
                  <a:tcPr marL="54864" marR="54864" marT="27432" marB="27432" anchor="ctr">
                    <a:solidFill>
                      <a:srgbClr val="FCECE0"/>
                    </a:solidFill>
                  </a:tcPr>
                </a:tc>
              </a:tr>
            </a:tbl>
          </a:graphicData>
        </a:graphic>
      </p:graphicFrame>
      <p:sp>
        <p:nvSpPr>
          <p:cNvPr id="10" name="TextBox 9"/>
          <p:cNvSpPr txBox="1"/>
          <p:nvPr/>
        </p:nvSpPr>
        <p:spPr>
          <a:xfrm>
            <a:off x="640080" y="5760720"/>
            <a:ext cx="10881360" cy="5486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MODEL</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Why AutoGLM-Phone-9B, and what we tried first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5</a:t>
            </a:r>
          </a:p>
        </p:txBody>
      </p:sp>
      <p:graphicFrame>
        <p:nvGraphicFramePr>
          <p:cNvPr id="9" name="Table 8"/>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gridCol w="2926080"/>
                <a:gridCol w="2560320"/>
              </a:tblGrid>
              <a:tr h="508635">
                <a:tc>
                  <a:txBody>
                    <a:bodyPr wrap="square"/>
                    <a:lstStyle/>
                    <a:p>
                      <a:r>
                        <a:rPr sz="1300" b="1">
                          <a:solidFill>
                            <a:srgbClr val="FFFFFF"/>
                          </a:solidFill>
                          <a:latin typeface="Arial"/>
                        </a:rPr>
                        <a:t/>
                      </a:r>
                    </a:p>
                  </a:txBody>
                  <a:tcPr marL="54864" marR="54864" marT="27432" marB="27432" anchor="ctr">
                    <a:solidFill>
                      <a:srgbClr val="072140"/>
                    </a:solidFill>
                  </a:tcPr>
                </a:tc>
                <a:tc>
                  <a:txBody>
                    <a:bodyPr wrap="square"/>
                    <a:lstStyle/>
                    <a:p>
                      <a:r>
                        <a:rPr sz="1300" b="1">
                          <a:solidFill>
                            <a:srgbClr val="FFFFFF"/>
                          </a:solidFill>
                          <a:latin typeface="Arial"/>
                        </a:rPr>
                        <a:t>AutoGLM-Phone-9B (Z.ai API)</a:t>
                      </a:r>
                    </a:p>
                  </a:txBody>
                  <a:tcPr marL="54864" marR="54864" marT="27432" marB="27432" anchor="ctr">
                    <a:solidFill>
                      <a:srgbClr val="072140"/>
                    </a:solidFill>
                  </a:tcPr>
                </a:tc>
                <a:tc>
                  <a:txBody>
                    <a:bodyPr wrap="square"/>
                    <a:lstStyle/>
                    <a:p>
                      <a:r>
                        <a:rPr sz="1300" b="1">
                          <a:solidFill>
                            <a:srgbClr val="FFFFFF"/>
                          </a:solidFill>
                          <a:latin typeface="Arial"/>
                        </a:rPr>
                        <a:t>GELab-Zero 4B (local, Ollama)</a:t>
                      </a:r>
                    </a:p>
                  </a:txBody>
                  <a:tcPr marL="54864" marR="54864" marT="27432" marB="27432" anchor="ctr">
                    <a:solidFill>
                      <a:srgbClr val="072140"/>
                    </a:solidFill>
                  </a:tcPr>
                </a:tc>
              </a:tr>
              <a:tr h="508635">
                <a:tc>
                  <a:txBody>
                    <a:bodyPr wrap="square"/>
                    <a:lstStyle/>
                    <a:p>
                      <a:r>
                        <a:rPr sz="1300" b="1">
                          <a:solidFill>
                            <a:srgbClr val="222A35"/>
                          </a:solidFill>
                          <a:latin typeface="Arial"/>
                        </a:rPr>
                        <a:t>Built for</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r>
              <a:tr h="508635">
                <a:tc>
                  <a:txBody>
                    <a:bodyPr wrap="square"/>
                    <a:lstStyle/>
                    <a:p>
                      <a:r>
                        <a:rPr sz="1300" b="1">
                          <a:solidFill>
                            <a:srgbClr val="222A35"/>
                          </a:solidFill>
                          <a:latin typeface="Arial"/>
                        </a:rPr>
                        <a:t>Where it runs</a:t>
                      </a:r>
                    </a:p>
                  </a:txBody>
                  <a:tcPr marL="54864" marR="54864" marT="27432" marB="27432" anchor="ctr">
                    <a:solidFill>
                      <a:srgbClr val="F2F5F9"/>
                    </a:solidFill>
                  </a:tcPr>
                </a:tc>
                <a:tc>
                  <a:txBody>
                    <a:bodyPr wrap="square"/>
                    <a:lstStyle/>
                    <a:p>
                      <a:r>
                        <a:rPr sz="1300" b="0">
                          <a:solidFill>
                            <a:srgbClr val="222A35"/>
                          </a:solidFill>
                          <a:latin typeface="Arial"/>
                        </a:rPr>
                        <a:t>Hosted API</a:t>
                      </a:r>
                    </a:p>
                  </a:txBody>
                  <a:tcPr marL="54864" marR="54864" marT="27432" marB="27432" anchor="ctr">
                    <a:solidFill>
                      <a:srgbClr val="F2F5F9"/>
                    </a:solidFill>
                  </a:tcPr>
                </a:tc>
                <a:tc>
                  <a:txBody>
                    <a:bodyPr wrap="square"/>
                    <a:lstStyle/>
                    <a:p>
                      <a:r>
                        <a:rPr sz="1300" b="0">
                          <a:solidFill>
                            <a:srgbClr val="222A35"/>
                          </a:solidFill>
                          <a:latin typeface="Arial"/>
                        </a:rPr>
                        <a:t>Laptop GPU (8 GB), partial offload</a:t>
                      </a:r>
                    </a:p>
                  </a:txBody>
                  <a:tcPr marL="54864" marR="54864" marT="27432" marB="27432" anchor="ctr">
                    <a:solidFill>
                      <a:srgbClr val="F2F5F9"/>
                    </a:solidFill>
                  </a:tcPr>
                </a:tc>
              </a:tr>
              <a:tr h="508635">
                <a:tc>
                  <a:txBody>
                    <a:bodyPr wrap="square"/>
                    <a:lstStyle/>
                    <a:p>
                      <a:r>
                        <a:rPr sz="1300" b="1">
                          <a:solidFill>
                            <a:srgbClr val="222A35"/>
                          </a:solidFill>
                          <a:latin typeface="Arial"/>
                        </a:rPr>
                        <a:t>Speed per model call</a:t>
                      </a:r>
                    </a:p>
                  </a:txBody>
                  <a:tcPr marL="54864" marR="54864" marT="27432" marB="27432" anchor="ctr">
                    <a:solidFill>
                      <a:srgbClr val="FFFFFF"/>
                    </a:solidFill>
                  </a:tcPr>
                </a:tc>
                <a:tc>
                  <a:txBody>
                    <a:bodyPr wrap="square"/>
                    <a:lstStyle/>
                    <a:p>
                      <a:r>
                        <a:rPr sz="1300" b="0">
                          <a:solidFill>
                            <a:srgbClr val="222A35"/>
                          </a:solidFill>
                          <a:latin typeface="Arial"/>
                        </a:rPr>
                        <a:t>1.77 s median (296 calls)</a:t>
                      </a:r>
                    </a:p>
                  </a:txBody>
                  <a:tcPr marL="54864" marR="54864" marT="27432" marB="27432" anchor="ctr">
                    <a:solidFill>
                      <a:srgbClr val="FFFFFF"/>
                    </a:solidFill>
                  </a:tcPr>
                </a:tc>
                <a:tc>
                  <a:txBody>
                    <a:bodyPr wrap="square"/>
                    <a:lstStyle/>
                    <a:p>
                      <a:r>
                        <a:rPr sz="1300" b="0">
                          <a:solidFill>
                            <a:srgbClr val="222A35"/>
                          </a:solidFill>
                          <a:latin typeface="Arial"/>
                        </a:rPr>
                        <a:t>19–21 s per screenshot request</a:t>
                      </a:r>
                    </a:p>
                  </a:txBody>
                  <a:tcPr marL="54864" marR="54864" marT="27432" marB="27432" anchor="ctr">
                    <a:solidFill>
                      <a:srgbClr val="FFFFFF"/>
                    </a:solidFill>
                  </a:tcPr>
                </a:tc>
              </a:tr>
              <a:tr h="508635">
                <a:tc>
                  <a:txBody>
                    <a:bodyPr wrap="square"/>
                    <a:lstStyle/>
                    <a:p>
                      <a:r>
                        <a:rPr sz="1300" b="1">
                          <a:solidFill>
                            <a:srgbClr val="222A35"/>
                          </a:solidFill>
                          <a:latin typeface="Arial"/>
                        </a:rPr>
                        <a:t>Action format</a:t>
                      </a:r>
                    </a:p>
                  </a:txBody>
                  <a:tcPr marL="54864" marR="54864" marT="27432" marB="27432" anchor="ctr">
                    <a:solidFill>
                      <a:srgbClr val="F2F5F9"/>
                    </a:solidFill>
                  </a:tcPr>
                </a:tc>
                <a:tc>
                  <a:txBody>
                    <a:bodyPr wrap="square"/>
                    <a:lstStyle/>
                    <a:p>
                      <a:r>
                        <a:rPr sz="1300" b="0">
                          <a:solidFill>
                            <a:srgbClr val="222A35"/>
                          </a:solidFill>
                          <a:latin typeface="Arial"/>
                        </a:rPr>
                        <a:t>Native do(...) / finish(...), parsed reliably</a:t>
                      </a:r>
                    </a:p>
                  </a:txBody>
                  <a:tcPr marL="54864" marR="54864" marT="27432" marB="27432" anchor="ctr">
                    <a:solidFill>
                      <a:srgbClr val="F2F5F9"/>
                    </a:solidFill>
                  </a:tcPr>
                </a:tc>
                <a:tc>
                  <a:txBody>
                    <a:bodyPr wrap="square"/>
                    <a:lstStyle/>
                    <a:p>
                      <a:r>
                        <a:rPr sz="1300" b="0">
                          <a:solidFill>
                            <a:srgbClr val="222A35"/>
                          </a:solidFill>
                          <a:latin typeface="Arial"/>
                        </a:rPr>
                        <a:t>Bare tokens our parser rejected</a:t>
                      </a:r>
                    </a:p>
                  </a:txBody>
                  <a:tcPr marL="54864" marR="54864" marT="27432" marB="27432" anchor="ctr">
                    <a:solidFill>
                      <a:srgbClr val="F2F5F9"/>
                    </a:solidFill>
                  </a:tcPr>
                </a:tc>
              </a:tr>
              <a:tr h="508635">
                <a:tc>
                  <a:txBody>
                    <a:bodyPr wrap="square"/>
                    <a:lstStyle/>
                    <a:p>
                      <a:r>
                        <a:rPr sz="1300" b="1">
                          <a:solidFill>
                            <a:srgbClr val="222A35"/>
                          </a:solidFill>
                          <a:latin typeface="Arial"/>
                        </a:rPr>
                        <a:t>Cost</a:t>
                      </a:r>
                    </a:p>
                  </a:txBody>
                  <a:tcPr marL="54864" marR="54864" marT="27432" marB="27432" anchor="ctr">
                    <a:solidFill>
                      <a:srgbClr val="FFFFFF"/>
                    </a:solidFill>
                  </a:tcPr>
                </a:tc>
                <a:tc>
                  <a:txBody>
                    <a:bodyPr wrap="square"/>
                    <a:lstStyle/>
                    <a:p>
                      <a:r>
                        <a:rPr sz="1300" b="0">
                          <a:solidFill>
                            <a:srgbClr val="222A35"/>
                          </a:solidFill>
                          <a:latin typeface="Arial"/>
                        </a:rPr>
                        <a:t>€0.045 per million tokens</a:t>
                      </a:r>
                    </a:p>
                  </a:txBody>
                  <a:tcPr marL="54864" marR="54864" marT="27432" marB="27432" anchor="ctr">
                    <a:solidFill>
                      <a:srgbClr val="FFFFFF"/>
                    </a:solidFill>
                  </a:tcPr>
                </a:tc>
                <a:tc>
                  <a:txBody>
                    <a:bodyPr wrap="square"/>
                    <a:lstStyle/>
                    <a:p>
                      <a:r>
                        <a:rPr sz="1300" b="0">
                          <a:solidFill>
                            <a:srgbClr val="222A35"/>
                          </a:solidFill>
                          <a:latin typeface="Arial"/>
                        </a:rPr>
                        <a:t>Free, but slow</a:t>
                      </a:r>
                    </a:p>
                  </a:txBody>
                  <a:tcPr marL="54864" marR="54864" marT="27432" marB="27432" anchor="ctr">
                    <a:solidFill>
                      <a:srgbClr val="FFFFFF"/>
                    </a:solidFill>
                  </a:tcPr>
                </a:tc>
              </a:tr>
              <a:tr h="508635">
                <a:tc>
                  <a:txBody>
                    <a:bodyPr wrap="square"/>
                    <a:lstStyle/>
                    <a:p>
                      <a:r>
                        <a:rPr sz="1300" b="1">
                          <a:solidFill>
                            <a:srgbClr val="222A35"/>
                          </a:solidFill>
                          <a:latin typeface="Arial"/>
                        </a:rPr>
                        <a:t>Our results</a:t>
                      </a:r>
                    </a:p>
                  </a:txBody>
                  <a:tcPr marL="54864" marR="54864" marT="27432" marB="27432" anchor="ctr">
                    <a:solidFill>
                      <a:srgbClr val="F2F5F9"/>
                    </a:solidFill>
                  </a:tcPr>
                </a:tc>
                <a:tc>
                  <a:txBody>
                    <a:bodyPr wrap="square"/>
                    <a:lstStyle/>
                    <a:p>
                      <a:r>
                        <a:rPr sz="1300" b="0">
                          <a:solidFill>
                            <a:srgbClr val="222A35"/>
                          </a:solidFill>
                          <a:latin typeface="Arial"/>
                        </a:rPr>
                        <a:t>18 / 21 in the final evaluation</a:t>
                      </a:r>
                    </a:p>
                  </a:txBody>
                  <a:tcPr marL="54864" marR="54864" marT="27432" marB="27432" anchor="ctr">
                    <a:solidFill>
                      <a:srgbClr val="F2F5F9"/>
                    </a:solidFill>
                  </a:tcPr>
                </a:tc>
                <a:tc>
                  <a:txBody>
                    <a:bodyPr wrap="square"/>
                    <a:lstStyle/>
                    <a:p>
                      <a:r>
                        <a:rPr sz="1300" b="0">
                          <a:solidFill>
                            <a:srgbClr val="222A35"/>
                          </a:solidFill>
                          <a:latin typeface="Arial"/>
                        </a:rPr>
                        <a:t>Contacts: 1 PASS in 6 trials</a:t>
                      </a:r>
                    </a:p>
                  </a:txBody>
                  <a:tcPr marL="54864" marR="54864" marT="27432" marB="27432" anchor="ctr">
                    <a:solidFill>
                      <a:srgbClr val="F2F5F9"/>
                    </a:solidFill>
                  </a:tcPr>
                </a:tc>
              </a:tr>
              <a:tr h="508635">
                <a:tc>
                  <a:txBody>
                    <a:bodyPr wrap="square"/>
                    <a:lstStyle/>
                    <a:p>
                      <a:r>
                        <a:rPr sz="1300" b="1">
                          <a:solidFill>
                            <a:srgbClr val="222A35"/>
                          </a:solidFill>
                          <a:latin typeface="Arial"/>
                        </a:rPr>
                        <a:t>Leaderboard</a:t>
                      </a:r>
                    </a:p>
                  </a:txBody>
                  <a:tcPr marL="54864" marR="54864" marT="27432" marB="27432" anchor="ctr">
                    <a:solidFill>
                      <a:srgbClr val="FFFFFF"/>
                    </a:solidFill>
                  </a:tcPr>
                </a:tc>
                <a:tc>
                  <a:txBody>
                    <a:bodyPr wrap="square"/>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wrap="square"/>
                    <a:lstStyle/>
                    <a:p>
                      <a:r>
                        <a:rPr sz="1300" b="0">
                          <a:solidFill>
                            <a:srgbClr val="222A35"/>
                          </a:solidFill>
                          <a:latin typeface="Arial"/>
                        </a:rPr>
                        <a:t>—</a:t>
                      </a:r>
                    </a:p>
                  </a:txBody>
                  <a:tcPr marL="54864" marR="54864" marT="27432" marB="27432" anchor="ctr">
                    <a:solidFill>
                      <a:srgbClr val="FFFFFF"/>
                    </a:solidFill>
                  </a:tcPr>
                </a:tc>
              </a:tr>
            </a:tbl>
          </a:graphicData>
        </a:graphic>
      </p:graphicFrame>
      <p:sp>
        <p:nvSpPr>
          <p:cNvPr id="10" name="Rectangle 9"/>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85632" y="1645920"/>
            <a:ext cx="299008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Our first attempt (v1–v10)</a:t>
            </a:r>
          </a:p>
        </p:txBody>
      </p:sp>
      <p:sp>
        <p:nvSpPr>
          <p:cNvPr id="13" name="TextBox 12"/>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4" name="TextBox 13"/>
          <p:cNvSpPr txBox="1"/>
          <p:nvPr/>
        </p:nvSpPr>
        <p:spPr>
          <a:xfrm>
            <a:off x="640080" y="5715000"/>
            <a:ext cx="10881360" cy="64008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class, one step(): observe, decide, check, act, record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6</a:t>
            </a:r>
          </a:p>
        </p:txBody>
      </p:sp>
      <p:sp>
        <p:nvSpPr>
          <p:cNvPr id="9" name="Rounded Rectangle 8"/>
          <p:cNvSpPr/>
          <p:nvPr/>
        </p:nvSpPr>
        <p:spPr>
          <a:xfrm>
            <a:off x="64008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1  Observe</a:t>
            </a:r>
          </a:p>
        </p:txBody>
      </p:sp>
      <p:sp>
        <p:nvSpPr>
          <p:cNvPr id="11" name="TextBox 10"/>
          <p:cNvSpPr txBox="1"/>
          <p:nvPr/>
        </p:nvSpPr>
        <p:spPr>
          <a:xfrm>
            <a:off x="713231"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Screenshot</a:t>
            </a:r>
          </a:p>
          <a:p>
            <a:pPr algn="ctr">
              <a:lnSpc>
                <a:spcPct val="110000"/>
              </a:lnSpc>
            </a:pPr>
            <a:r>
              <a:rPr sz="1400" b="0" i="0">
                <a:solidFill>
                  <a:srgbClr val="222A35"/>
                </a:solidFill>
                <a:latin typeface="Arial"/>
              </a:rPr>
              <a:t>(+ GUI labels for</a:t>
            </a:r>
          </a:p>
          <a:p>
            <a:pPr algn="ctr">
              <a:lnSpc>
                <a:spcPct val="110000"/>
              </a:lnSpc>
            </a:pPr>
            <a:r>
              <a:rPr sz="1400" b="0" i="0">
                <a:solidFill>
                  <a:srgbClr val="222A35"/>
                </a:solidFill>
                <a:latin typeface="Arial"/>
              </a:rPr>
              <a:t>some tasks)</a:t>
            </a:r>
          </a:p>
        </p:txBody>
      </p:sp>
      <p:cxnSp>
        <p:nvCxnSpPr>
          <p:cNvPr id="12" name="Connector 11"/>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7180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2  Decide</a:t>
            </a:r>
          </a:p>
        </p:txBody>
      </p:sp>
      <p:sp>
        <p:nvSpPr>
          <p:cNvPr id="15" name="TextBox 14"/>
          <p:cNvSpPr txBox="1"/>
          <p:nvPr/>
        </p:nvSpPr>
        <p:spPr>
          <a:xfrm>
            <a:off x="295351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AutoGLM picks</a:t>
            </a:r>
          </a:p>
          <a:p>
            <a:pPr algn="ctr">
              <a:lnSpc>
                <a:spcPct val="110000"/>
              </a:lnSpc>
            </a:pPr>
            <a:r>
              <a:rPr sz="1400" b="0" i="0">
                <a:solidFill>
                  <a:srgbClr val="222A35"/>
                </a:solidFill>
                <a:latin typeface="Arial"/>
              </a:rPr>
              <a:t>one action</a:t>
            </a:r>
          </a:p>
        </p:txBody>
      </p:sp>
      <p:cxnSp>
        <p:nvCxnSpPr>
          <p:cNvPr id="16" name="Connector 15"/>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737360"/>
            <a:ext cx="1874519" cy="18288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1208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3  Check</a:t>
            </a:r>
          </a:p>
        </p:txBody>
      </p:sp>
      <p:sp>
        <p:nvSpPr>
          <p:cNvPr id="19" name="TextBox 18"/>
          <p:cNvSpPr txBox="1"/>
          <p:nvPr/>
        </p:nvSpPr>
        <p:spPr>
          <a:xfrm>
            <a:off x="519379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Format, screen point,</a:t>
            </a:r>
          </a:p>
          <a:p>
            <a:pPr algn="ctr">
              <a:lnSpc>
                <a:spcPct val="110000"/>
              </a:lnSpc>
            </a:pPr>
            <a:r>
              <a:rPr sz="1400" b="0" i="0">
                <a:solidFill>
                  <a:srgbClr val="222A35"/>
                </a:solidFill>
                <a:latin typeface="Arial"/>
              </a:rPr>
              <a:t>focus, task rules</a:t>
            </a:r>
          </a:p>
        </p:txBody>
      </p:sp>
      <p:cxnSp>
        <p:nvCxnSpPr>
          <p:cNvPr id="20" name="Connector 19"/>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6092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5236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4  Act</a:t>
            </a:r>
          </a:p>
        </p:txBody>
      </p:sp>
      <p:sp>
        <p:nvSpPr>
          <p:cNvPr id="23" name="TextBox 22"/>
          <p:cNvSpPr txBox="1"/>
          <p:nvPr/>
        </p:nvSpPr>
        <p:spPr>
          <a:xfrm>
            <a:off x="743407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Tap, type, swipe,</a:t>
            </a:r>
          </a:p>
          <a:p>
            <a:pPr algn="ctr">
              <a:lnSpc>
                <a:spcPct val="110000"/>
              </a:lnSpc>
            </a:pPr>
            <a:r>
              <a:rPr sz="1400" b="0" i="0">
                <a:solidFill>
                  <a:srgbClr val="222A35"/>
                </a:solidFill>
                <a:latin typeface="Arial"/>
              </a:rPr>
              <a:t>launch, back</a:t>
            </a:r>
          </a:p>
        </p:txBody>
      </p:sp>
      <p:cxnSp>
        <p:nvCxnSpPr>
          <p:cNvPr id="24" name="Connector 23"/>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9264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5  Record</a:t>
            </a:r>
          </a:p>
        </p:txBody>
      </p:sp>
      <p:sp>
        <p:nvSpPr>
          <p:cNvPr id="27" name="TextBox 26"/>
          <p:cNvSpPr txBox="1"/>
          <p:nvPr/>
        </p:nvSpPr>
        <p:spPr>
          <a:xfrm>
            <a:off x="967435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Trajectory log</a:t>
            </a:r>
          </a:p>
          <a:p>
            <a:pPr algn="ctr">
              <a:lnSpc>
                <a:spcPct val="110000"/>
              </a:lnSpc>
            </a:pPr>
            <a:r>
              <a:rPr sz="1400" b="0" i="0">
                <a:solidFill>
                  <a:srgbClr val="222A35"/>
                </a:solidFill>
                <a:latin typeface="Arial"/>
              </a:rPr>
              <a:t>+ screen video</a:t>
            </a:r>
          </a:p>
        </p:txBody>
      </p:sp>
      <p:sp>
        <p:nvSpPr>
          <p:cNvPr id="28" name="TextBox 27"/>
          <p:cNvSpPr txBox="1"/>
          <p:nvPr/>
        </p:nvSpPr>
        <p:spPr>
          <a:xfrm>
            <a:off x="640080" y="3931920"/>
            <a:ext cx="10881360" cy="411480"/>
          </a:xfrm>
          <a:prstGeom prst="rect">
            <a:avLst/>
          </a:prstGeom>
          <a:solidFill>
            <a:srgbClr val="F2F5F9"/>
          </a:solidFill>
        </p:spPr>
        <p:txBody>
          <a:bodyPr wrap="square" anchor="t" lIns="73152" rIns="73152">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1"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82512"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Context and Skills: what goes into each model request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7</a:t>
            </a:r>
          </a:p>
        </p:txBody>
      </p:sp>
      <p:sp>
        <p:nvSpPr>
          <p:cNvPr id="9" name="Rectangle 8"/>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Every request</a:t>
            </a:r>
          </a:p>
        </p:txBody>
      </p:sp>
      <p:sp>
        <p:nvSpPr>
          <p:cNvPr id="12" name="TextBox 11"/>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3" name="Rectangle 12"/>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Markor Skill (text)</a:t>
            </a:r>
          </a:p>
        </p:txBody>
      </p:sp>
      <p:sp>
        <p:nvSpPr>
          <p:cNvPr id="16" name="TextBox 15"/>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attaches the file and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launch SMS, plain text, SMS button</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7" name="Rectangle 16"/>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OsmAnd Skill (code)</a:t>
            </a:r>
          </a:p>
        </p:txBody>
      </p:sp>
      <p:sp>
        <p:nvSpPr>
          <p:cNvPr id="20" name="TextBox 19"/>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1" name="TextBox 20"/>
          <p:cNvSpPr txBox="1"/>
          <p:nvPr/>
        </p:nvSpPr>
        <p:spPr>
          <a:xfrm>
            <a:off x="640080" y="5394960"/>
            <a:ext cx="10927080" cy="685800"/>
          </a:xfrm>
          <a:prstGeom prst="rect">
            <a:avLst/>
          </a:prstGeom>
          <a:solidFill>
            <a:srgbClr val="F2F5F9"/>
          </a:solidFill>
        </p:spPr>
        <p:txBody>
          <a:bodyPr wrap="square" anchor="ctr" lIns="73152" rIns="73152">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safety net: actions are checked before they reach the phone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8</a:t>
            </a:r>
          </a:p>
        </p:txBody>
      </p:sp>
      <p:graphicFrame>
        <p:nvGraphicFramePr>
          <p:cNvPr id="9" name="Table 8"/>
          <p:cNvGraphicFramePr>
            <a:graphicFrameLocks noGrp="1"/>
          </p:cNvGraphicFramePr>
          <p:nvPr/>
        </p:nvGraphicFramePr>
        <p:xfrm>
          <a:off x="640080" y="1554480"/>
          <a:ext cx="6675120" cy="2468880"/>
        </p:xfrm>
        <a:graphic>
          <a:graphicData uri="http://schemas.openxmlformats.org/drawingml/2006/table">
            <a:tbl>
              <a:tblPr firstRow="1" bandRow="1">
                <a:tableStyleId>{5C22544A-7EE6-4342-B048-85BDC9FD1C3A}</a:tableStyleId>
              </a:tblPr>
              <a:tblGrid>
                <a:gridCol w="2377440"/>
                <a:gridCol w="3291840"/>
                <a:gridCol w="1005840"/>
              </a:tblGrid>
              <a:tr h="411480">
                <a:tc>
                  <a:txBody>
                    <a:bodyPr wrap="square"/>
                    <a:lstStyle/>
                    <a:p>
                      <a:r>
                        <a:rPr sz="1300" b="1">
                          <a:solidFill>
                            <a:srgbClr val="FFFFFF"/>
                          </a:solidFill>
                          <a:latin typeface="Arial"/>
                        </a:rPr>
                        <a:t>Check</a:t>
                      </a:r>
                    </a:p>
                  </a:txBody>
                  <a:tcPr marL="54864" marR="54864" marT="27432" marB="27432" anchor="ctr">
                    <a:solidFill>
                      <a:srgbClr val="072140"/>
                    </a:solidFill>
                  </a:tcPr>
                </a:tc>
                <a:tc>
                  <a:txBody>
                    <a:bodyPr wrap="square"/>
                    <a:lstStyle/>
                    <a:p>
                      <a:r>
                        <a:rPr sz="1300" b="1">
                          <a:solidFill>
                            <a:srgbClr val="FFFFFF"/>
                          </a:solidFill>
                          <a:latin typeface="Arial"/>
                        </a:rPr>
                        <a:t>Why</a:t>
                      </a:r>
                    </a:p>
                  </a:txBody>
                  <a:tcPr marL="54864" marR="54864" marT="27432" marB="27432" anchor="ctr">
                    <a:solidFill>
                      <a:srgbClr val="072140"/>
                    </a:solidFill>
                  </a:tcPr>
                </a:tc>
                <a:tc>
                  <a:txBody>
                    <a:bodyPr wrap="square"/>
                    <a:lstStyle/>
                    <a:p>
                      <a:pPr algn="ctr"/>
                      <a:r>
                        <a:rPr sz="1300" b="1">
                          <a:solidFill>
                            <a:srgbClr val="FFFFFF"/>
                          </a:solidFill>
                          <a:latin typeface="Arial"/>
                        </a:rPr>
                        <a:t>Final runs</a:t>
                      </a:r>
                    </a:p>
                  </a:txBody>
                  <a:tcPr marL="54864" marR="54864" marT="27432" marB="27432" anchor="ctr">
                    <a:solidFill>
                      <a:srgbClr val="072140"/>
                    </a:solidFill>
                  </a:tcPr>
                </a:tc>
              </a:tr>
              <a:tr h="411480">
                <a:tc>
                  <a:txBody>
                    <a:bodyPr wrap="square"/>
                    <a:lstStyle/>
                    <a:p>
                      <a:r>
                        <a:rPr sz="1300" b="1">
                          <a:solidFill>
                            <a:srgbClr val="222A35"/>
                          </a:solidFill>
                          <a:latin typeface="Arial"/>
                        </a:rPr>
                        <a:t>Type with no focused text field</a:t>
                      </a:r>
                    </a:p>
                  </a:txBody>
                  <a:tcPr marL="54864" marR="54864" marT="27432" marB="27432" anchor="ctr">
                    <a:solidFill>
                      <a:srgbClr val="FFFFFF"/>
                    </a:solidFill>
                  </a:tcPr>
                </a:tc>
                <a:tc>
                  <a:txBody>
                    <a:bodyPr wrap="square"/>
                    <a:lstStyle/>
                    <a:p>
                      <a:r>
                        <a:rPr sz="1300" b="0">
                          <a:solidFill>
                            <a:srgbClr val="222A35"/>
                          </a:solidFill>
                          <a:latin typeface="Arial"/>
                        </a:rPr>
                        <a:t>Text would go nowhere</a:t>
                      </a:r>
                    </a:p>
                  </a:txBody>
                  <a:tcPr marL="54864" marR="54864" marT="27432" marB="27432" anchor="ctr">
                    <a:solidFill>
                      <a:srgbClr val="FFFFFF"/>
                    </a:solidFill>
                  </a:tcPr>
                </a:tc>
                <a:tc>
                  <a:txBody>
                    <a:bodyPr wrap="square"/>
                    <a:lstStyle/>
                    <a:p>
                      <a:pPr algn="ctr"/>
                      <a:r>
                        <a:rPr sz="1300" b="0">
                          <a:solidFill>
                            <a:srgbClr val="222A35"/>
                          </a:solidFill>
                          <a:latin typeface="Arial"/>
                        </a:rPr>
                        <a:t>3</a:t>
                      </a:r>
                    </a:p>
                  </a:txBody>
                  <a:tcPr marL="54864" marR="54864" marT="27432" marB="27432" anchor="ctr">
                    <a:solidFill>
                      <a:srgbClr val="FFFFFF"/>
                    </a:solidFill>
                  </a:tcPr>
                </a:tc>
              </a:tr>
              <a:tr h="411480">
                <a:tc>
                  <a:txBody>
                    <a:bodyPr wrap="square"/>
                    <a:lstStyle/>
                    <a:p>
                      <a:r>
                        <a:rPr sz="1300" b="1">
                          <a:solidFill>
                            <a:srgbClr val="222A35"/>
                          </a:solidFill>
                          <a:latin typeface="Arial"/>
                        </a:rPr>
                        <a:t>Malformed reply</a:t>
                      </a:r>
                    </a:p>
                  </a:txBody>
                  <a:tcPr marL="54864" marR="54864" marT="27432" marB="27432" anchor="ctr">
                    <a:solidFill>
                      <a:srgbClr val="F2F5F9"/>
                    </a:solidFill>
                  </a:tcPr>
                </a:tc>
                <a:tc>
                  <a:txBody>
                    <a:bodyPr wrap="square"/>
                    <a:lstStyle/>
                    <a:p>
                      <a:r>
                        <a:rPr sz="1300" b="0">
                          <a:solidFill>
                            <a:srgbClr val="222A35"/>
                          </a:solidFill>
                          <a:latin typeface="Arial"/>
                        </a:rPr>
                        <a:t>Not exactly one action</a:t>
                      </a:r>
                    </a:p>
                  </a:txBody>
                  <a:tcPr marL="54864" marR="54864" marT="27432" marB="27432" anchor="ctr">
                    <a:solidFill>
                      <a:srgbClr val="F2F5F9"/>
                    </a:solidFill>
                  </a:tcPr>
                </a:tc>
                <a:tc>
                  <a:txBody>
                    <a:bodyPr wrap="square"/>
                    <a:lstStyle/>
                    <a:p>
                      <a:pPr algn="ctr"/>
                      <a:r>
                        <a:rPr sz="1300" b="0">
                          <a:solidFill>
                            <a:srgbClr val="222A35"/>
                          </a:solidFill>
                          <a:latin typeface="Arial"/>
                        </a:rPr>
                        <a:t>2</a:t>
                      </a:r>
                    </a:p>
                  </a:txBody>
                  <a:tcPr marL="54864" marR="54864" marT="27432" marB="27432" anchor="ctr">
                    <a:solidFill>
                      <a:srgbClr val="F2F5F9"/>
                    </a:solidFill>
                  </a:tcPr>
                </a:tc>
              </a:tr>
              <a:tr h="411480">
                <a:tc>
                  <a:txBody>
                    <a:bodyPr wrap="square"/>
                    <a:lstStyle/>
                    <a:p>
                      <a:r>
                        <a:rPr sz="1300" b="1">
                          <a:solidFill>
                            <a:srgbClr val="222A35"/>
                          </a:solidFill>
                          <a:latin typeface="Arial"/>
                        </a:rPr>
                        <a:t>Unsupported action</a:t>
                      </a:r>
                    </a:p>
                  </a:txBody>
                  <a:tcPr marL="54864" marR="54864" marT="27432" marB="27432" anchor="ctr">
                    <a:solidFill>
                      <a:srgbClr val="FFFFFF"/>
                    </a:solidFill>
                  </a:tcPr>
                </a:tc>
                <a:tc>
                  <a:txBody>
                    <a:bodyPr wrap="square"/>
                    <a:lstStyle/>
                    <a:p>
                      <a:r>
                        <a:rPr sz="1300" b="0">
                          <a:solidFill>
                            <a:srgbClr val="222A35"/>
                          </a:solidFill>
                          <a:latin typeface="Arial"/>
                        </a:rPr>
                        <a:t>Not in the action list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r h="411480">
                <a:tc>
                  <a:txBody>
                    <a:bodyPr wrap="square"/>
                    <a:lstStyle/>
                    <a:p>
                      <a:r>
                        <a:rPr sz="1300" b="1">
                          <a:solidFill>
                            <a:srgbClr val="222A35"/>
                          </a:solidFill>
                          <a:latin typeface="Arial"/>
                        </a:rPr>
                        <a:t>Truncated reply</a:t>
                      </a:r>
                    </a:p>
                  </a:txBody>
                  <a:tcPr marL="54864" marR="54864" marT="27432" marB="27432" anchor="ctr">
                    <a:solidFill>
                      <a:srgbClr val="F2F5F9"/>
                    </a:solidFill>
                  </a:tcPr>
                </a:tc>
                <a:tc>
                  <a:txBody>
                    <a:bodyPr wrap="square"/>
                    <a:lstStyle/>
                    <a:p>
                      <a:r>
                        <a:rPr sz="1300" b="0">
                          <a:solidFill>
                            <a:srgbClr val="222A35"/>
                          </a:solidFill>
                          <a:latin typeface="Arial"/>
                        </a:rPr>
                        <a:t>Answer cut off</a:t>
                      </a:r>
                    </a:p>
                  </a:txBody>
                  <a:tcPr marL="54864" marR="54864" marT="27432" marB="27432" anchor="ctr">
                    <a:solidFill>
                      <a:srgbClr val="F2F5F9"/>
                    </a:solidFill>
                  </a:tcPr>
                </a:tc>
                <a:tc>
                  <a:txBody>
                    <a:bodyPr wrap="square"/>
                    <a:lstStyle/>
                    <a:p>
                      <a:pPr algn="ctr"/>
                      <a:r>
                        <a:rPr sz="1300" b="0">
                          <a:solidFill>
                            <a:srgbClr val="222A35"/>
                          </a:solidFill>
                          <a:latin typeface="Arial"/>
                        </a:rPr>
                        <a:t>1</a:t>
                      </a:r>
                    </a:p>
                  </a:txBody>
                  <a:tcPr marL="54864" marR="54864" marT="27432" marB="27432" anchor="ctr">
                    <a:solidFill>
                      <a:srgbClr val="F2F5F9"/>
                    </a:solidFill>
                  </a:tcPr>
                </a:tc>
              </a:tr>
              <a:tr h="411480">
                <a:tc>
                  <a:txBody>
                    <a:bodyPr wrap="square"/>
                    <a:lstStyle/>
                    <a:p>
                      <a:r>
                        <a:rPr sz="1300" b="1">
                          <a:solidFill>
                            <a:srgbClr val="222A35"/>
                          </a:solidFill>
                          <a:latin typeface="Arial"/>
                        </a:rPr>
                        <a:t>OsmAnd Favorite button</a:t>
                      </a:r>
                    </a:p>
                  </a:txBody>
                  <a:tcPr marL="54864" marR="54864" marT="27432" marB="27432" anchor="ctr">
                    <a:solidFill>
                      <a:srgbClr val="FFFFFF"/>
                    </a:solidFill>
                  </a:tcPr>
                </a:tc>
                <a:tc>
                  <a:txBody>
                    <a:bodyPr wrap="square"/>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bl>
          </a:graphicData>
        </a:graphic>
      </p:graphicFrame>
      <p:sp>
        <p:nvSpPr>
          <p:cNvPr id="10" name="Rectangle 9"/>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54112" y="1645920"/>
            <a:ext cx="372160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How a refusal works</a:t>
            </a:r>
          </a:p>
        </p:txBody>
      </p:sp>
      <p:sp>
        <p:nvSpPr>
          <p:cNvPr id="13" name="TextBox 12"/>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4" name="TextBox 13"/>
          <p:cNvSpPr txBox="1"/>
          <p:nvPr/>
        </p:nvSpPr>
        <p:spPr>
          <a:xfrm>
            <a:off x="640080" y="4526280"/>
            <a:ext cx="32004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8</a:t>
            </a:r>
          </a:p>
        </p:txBody>
      </p:sp>
      <p:sp>
        <p:nvSpPr>
          <p:cNvPr id="15" name="TextBox 14"/>
          <p:cNvSpPr txBox="1"/>
          <p:nvPr/>
        </p:nvSpPr>
        <p:spPr>
          <a:xfrm>
            <a:off x="640080" y="5239512"/>
            <a:ext cx="320040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actions stopped in the final runs</a:t>
            </a:r>
          </a:p>
          <a:p>
            <a:pPr algn="l">
              <a:lnSpc>
                <a:spcPct val="110000"/>
              </a:lnSpc>
            </a:pPr>
            <a:r>
              <a:rPr sz="1400" b="0" i="0">
                <a:solidFill>
                  <a:srgbClr val="5E6773"/>
                </a:solidFill>
                <a:latin typeface="Arial"/>
              </a:rPr>
              <a:t>(7 of 21 runs had one or more)</a:t>
            </a:r>
          </a:p>
        </p:txBody>
      </p:sp>
      <p:sp>
        <p:nvSpPr>
          <p:cNvPr id="16" name="TextBox 15"/>
          <p:cNvSpPr txBox="1"/>
          <p:nvPr/>
        </p:nvSpPr>
        <p:spPr>
          <a:xfrm>
            <a:off x="4023360" y="4617720"/>
            <a:ext cx="7543800" cy="1371600"/>
          </a:xfrm>
          <a:prstGeom prst="rect">
            <a:avLst/>
          </a:prstGeom>
          <a:noFill/>
        </p:spPr>
        <p:txBody>
          <a:bodyPr wrap="square" anchor="t" lIns="73152" rIns="73152">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Six of the seven runs with a refusal still passed.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IMPLEMENTATION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Implementation: four parts and how they talk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9</a:t>
            </a:r>
          </a:p>
        </p:txBody>
      </p:sp>
      <p:sp>
        <p:nvSpPr>
          <p:cNvPr id="9" name="Rounded Rectangle 8"/>
          <p:cNvSpPr/>
          <p:nvPr/>
        </p:nvSpPr>
        <p:spPr>
          <a:xfrm>
            <a:off x="64008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AutoGLM model</a:t>
            </a:r>
          </a:p>
        </p:txBody>
      </p:sp>
      <p:sp>
        <p:nvSpPr>
          <p:cNvPr id="11" name="TextBox 10"/>
          <p:cNvSpPr txBox="1"/>
          <p:nvPr/>
        </p:nvSpPr>
        <p:spPr>
          <a:xfrm>
            <a:off x="731519"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Z.ai API (HTTPS)</a:t>
            </a:r>
          </a:p>
          <a:p>
            <a:pPr algn="ctr">
              <a:lnSpc>
                <a:spcPct val="115000"/>
              </a:lnSpc>
            </a:pPr>
            <a:r>
              <a:rPr sz="1300" b="0" i="0">
                <a:solidFill>
                  <a:srgbClr val="222A35"/>
                </a:solidFill>
                <a:latin typeface="Arial"/>
              </a:rPr>
              <a:t>autoglm-phone-multilingual</a:t>
            </a:r>
          </a:p>
          <a:p>
            <a:pPr algn="ctr">
              <a:lnSpc>
                <a:spcPct val="115000"/>
              </a:lnSpc>
            </a:pPr>
            <a:r>
              <a:rPr sz="1300" b="0" i="0">
                <a:solidFill>
                  <a:srgbClr val="222A35"/>
                </a:solidFill>
                <a:latin typeface="Arial"/>
              </a:rPr>
              <a:t>key kept in .env, not in git</a:t>
            </a:r>
          </a:p>
        </p:txBody>
      </p:sp>
      <p:cxnSp>
        <p:nvCxnSpPr>
          <p:cNvPr id="12" name="Connector 11"/>
          <p:cNvCxnSpPr/>
          <p:nvPr/>
        </p:nvCxnSpPr>
        <p:spPr>
          <a:xfrm>
            <a:off x="299923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99923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92608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request /</a:t>
            </a:r>
          </a:p>
          <a:p>
            <a:pPr algn="ctr">
              <a:lnSpc>
                <a:spcPct val="110000"/>
              </a:lnSpc>
            </a:pPr>
            <a:r>
              <a:rPr sz="900" b="0" i="0">
                <a:solidFill>
                  <a:srgbClr val="5E6773"/>
                </a:solidFill>
                <a:latin typeface="Arial"/>
              </a:rPr>
              <a:t>one action</a:t>
            </a:r>
          </a:p>
        </p:txBody>
      </p:sp>
      <p:sp>
        <p:nvSpPr>
          <p:cNvPr id="15" name="Rounded Rectangle 14"/>
          <p:cNvSpPr/>
          <p:nvPr/>
        </p:nvSpPr>
        <p:spPr>
          <a:xfrm>
            <a:off x="347472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6616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Agent</a:t>
            </a:r>
          </a:p>
        </p:txBody>
      </p:sp>
      <p:sp>
        <p:nvSpPr>
          <p:cNvPr id="17" name="TextBox 16"/>
          <p:cNvSpPr txBox="1"/>
          <p:nvPr/>
        </p:nvSpPr>
        <p:spPr>
          <a:xfrm>
            <a:off x="356616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AutoGLMAgent.step()</a:t>
            </a:r>
          </a:p>
          <a:p>
            <a:pPr algn="ctr">
              <a:lnSpc>
                <a:spcPct val="115000"/>
              </a:lnSpc>
            </a:pPr>
            <a:r>
              <a:rPr sz="1300" b="0" i="0">
                <a:solidFill>
                  <a:srgbClr val="222A35"/>
                </a:solidFill>
                <a:latin typeface="Arial"/>
              </a:rPr>
              <a:t>autoglm_agent.py</a:t>
            </a:r>
          </a:p>
          <a:p>
            <a:pPr algn="ctr">
              <a:lnSpc>
                <a:spcPct val="115000"/>
              </a:lnSpc>
            </a:pPr>
            <a:r>
              <a:rPr sz="1300" b="0" i="0">
                <a:solidFill>
                  <a:srgbClr val="222A35"/>
                </a:solidFill>
                <a:latin typeface="Arial"/>
              </a:rPr>
              <a:t>prompt, Skills, task config</a:t>
            </a:r>
          </a:p>
        </p:txBody>
      </p:sp>
      <p:cxnSp>
        <p:nvCxnSpPr>
          <p:cNvPr id="18" name="Connector 17"/>
          <p:cNvCxnSpPr/>
          <p:nvPr/>
        </p:nvCxnSpPr>
        <p:spPr>
          <a:xfrm>
            <a:off x="583387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3387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072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step() /</a:t>
            </a:r>
          </a:p>
          <a:p>
            <a:pPr algn="ctr">
              <a:lnSpc>
                <a:spcPct val="110000"/>
              </a:lnSpc>
            </a:pPr>
            <a:r>
              <a:rPr sz="900" b="0" i="0">
                <a:solidFill>
                  <a:srgbClr val="5E6773"/>
                </a:solidFill>
                <a:latin typeface="Arial"/>
              </a:rPr>
              <a:t>result</a:t>
            </a:r>
          </a:p>
        </p:txBody>
      </p:sp>
      <p:sp>
        <p:nvSpPr>
          <p:cNvPr id="21" name="Rounded Rectangle 20"/>
          <p:cNvSpPr/>
          <p:nvPr/>
        </p:nvSpPr>
        <p:spPr>
          <a:xfrm>
            <a:off x="630936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Runner</a:t>
            </a:r>
          </a:p>
        </p:txBody>
      </p:sp>
      <p:sp>
        <p:nvSpPr>
          <p:cNvPr id="23" name="TextBox 22"/>
          <p:cNvSpPr txBox="1"/>
          <p:nvPr/>
        </p:nvSpPr>
        <p:spPr>
          <a:xfrm>
            <a:off x="640080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run_task.py</a:t>
            </a:r>
          </a:p>
          <a:p>
            <a:pPr algn="ctr">
              <a:lnSpc>
                <a:spcPct val="115000"/>
              </a:lnSpc>
            </a:pPr>
            <a:r>
              <a:rPr sz="1300" b="0" i="0">
                <a:solidFill>
                  <a:srgbClr val="222A35"/>
                </a:solidFill>
                <a:latin typeface="Arial"/>
              </a:rPr>
              <a:t>task setup, recorder, loop,</a:t>
            </a:r>
          </a:p>
          <a:p>
            <a:pPr algn="ctr">
              <a:lnSpc>
                <a:spcPct val="115000"/>
              </a:lnSpc>
            </a:pPr>
            <a:r>
              <a:rPr sz="1300" b="0" i="0">
                <a:solidFill>
                  <a:srgbClr val="222A35"/>
                </a:solidFill>
                <a:latin typeface="Arial"/>
              </a:rPr>
              <a:t>verifier, logs</a:t>
            </a:r>
          </a:p>
        </p:txBody>
      </p:sp>
      <p:cxnSp>
        <p:nvCxnSpPr>
          <p:cNvPr id="24" name="Connector 23"/>
          <p:cNvCxnSpPr/>
          <p:nvPr/>
        </p:nvCxnSpPr>
        <p:spPr>
          <a:xfrm>
            <a:off x="8668512" y="246888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668512" y="283464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adb: screen,</a:t>
            </a:r>
          </a:p>
          <a:p>
            <a:pPr algn="ctr">
              <a:lnSpc>
                <a:spcPct val="110000"/>
              </a:lnSpc>
            </a:pPr>
            <a:r>
              <a:rPr sz="900" b="0" i="0">
                <a:solidFill>
                  <a:srgbClr val="5E6773"/>
                </a:solidFill>
                <a:latin typeface="Arial"/>
              </a:rPr>
              <a:t>tap, type</a:t>
            </a:r>
          </a:p>
        </p:txBody>
      </p:sp>
      <p:sp>
        <p:nvSpPr>
          <p:cNvPr id="27" name="Rounded Rectangle 26"/>
          <p:cNvSpPr/>
          <p:nvPr/>
        </p:nvSpPr>
        <p:spPr>
          <a:xfrm>
            <a:off x="9144000" y="1600200"/>
            <a:ext cx="2331720" cy="20574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Phone</a:t>
            </a:r>
          </a:p>
        </p:txBody>
      </p:sp>
      <p:sp>
        <p:nvSpPr>
          <p:cNvPr id="29" name="TextBox 28"/>
          <p:cNvSpPr txBox="1"/>
          <p:nvPr/>
        </p:nvSpPr>
        <p:spPr>
          <a:xfrm>
            <a:off x="923544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Android emulator: Pixel 6,</a:t>
            </a:r>
          </a:p>
          <a:p>
            <a:pPr algn="ctr">
              <a:lnSpc>
                <a:spcPct val="115000"/>
              </a:lnSpc>
            </a:pPr>
            <a:r>
              <a:rPr sz="1300" b="0" i="0">
                <a:solidFill>
                  <a:srgbClr val="222A35"/>
                </a:solidFill>
                <a:latin typeface="Arial"/>
              </a:rPr>
              <a:t>Android 13, headless</a:t>
            </a:r>
          </a:p>
          <a:p>
            <a:pPr algn="ctr">
              <a:lnSpc>
                <a:spcPct val="115000"/>
              </a:lnSpc>
            </a:pPr>
            <a:r>
              <a:rPr sz="1300" b="0" i="0">
                <a:solidFill>
                  <a:srgbClr val="222A35"/>
                </a:solidFill>
                <a:latin typeface="Arial"/>
              </a:rPr>
              <a:t>AndroidWorld setup + verifier</a:t>
            </a:r>
          </a:p>
        </p:txBody>
      </p:sp>
      <p:sp>
        <p:nvSpPr>
          <p:cNvPr id="30" name="Rectangle 29"/>
          <p:cNvSpPr/>
          <p:nvPr/>
        </p:nvSpPr>
        <p:spPr>
          <a:xfrm>
            <a:off x="64008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4008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4671"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Batch evaluation</a:t>
            </a:r>
          </a:p>
        </p:txBody>
      </p:sp>
      <p:sp>
        <p:nvSpPr>
          <p:cNvPr id="33" name="TextBox 32"/>
          <p:cNvSpPr txBox="1"/>
          <p:nvPr/>
        </p:nvSpPr>
        <p:spPr>
          <a:xfrm>
            <a:off x="804671"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evaluate_tasks.py runs task x seed batches</a:t>
            </a:r>
          </a:p>
          <a:p>
            <a:pPr>
              <a:lnSpc>
                <a:spcPct val="108000"/>
              </a:lnSpc>
              <a:spcAft>
                <a:spcPts val="300"/>
              </a:spcAft>
            </a:pPr>
            <a:r>
              <a:rPr sz="1400">
                <a:solidFill>
                  <a:srgbClr val="0065BD"/>
                </a:solidFill>
                <a:latin typeface="Arial"/>
              </a:rPr>
              <a:t>▪  </a:t>
            </a:r>
            <a:r>
              <a:rPr sz="1400" b="0">
                <a:solidFill>
                  <a:srgbClr val="222A35"/>
                </a:solidFill>
                <a:latin typeface="Arial"/>
              </a:rPr>
              <a:t>Records a source fingerprint</a:t>
            </a:r>
          </a:p>
          <a:p>
            <a:pPr>
              <a:lnSpc>
                <a:spcPct val="108000"/>
              </a:lnSpc>
              <a:spcAft>
                <a:spcPts val="300"/>
              </a:spcAft>
            </a:pPr>
            <a:r>
              <a:rPr sz="1400">
                <a:solidFill>
                  <a:srgbClr val="0065BD"/>
                </a:solidFill>
                <a:latin typeface="Arial"/>
              </a:rPr>
              <a:t>▪  </a:t>
            </a:r>
            <a:r>
              <a:rPr sz="1400" b="0">
                <a:solidFill>
                  <a:srgbClr val="222A35"/>
                </a:solidFill>
                <a:latin typeface="Arial"/>
              </a:rPr>
              <a:t>Stops if the code changes mid-batch</a:t>
            </a:r>
          </a:p>
        </p:txBody>
      </p:sp>
      <p:sp>
        <p:nvSpPr>
          <p:cNvPr id="34" name="Rectangle 33"/>
          <p:cNvSpPr/>
          <p:nvPr/>
        </p:nvSpPr>
        <p:spPr>
          <a:xfrm>
            <a:off x="434340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4340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07992"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Quality</a:t>
            </a:r>
          </a:p>
        </p:txBody>
      </p:sp>
      <p:sp>
        <p:nvSpPr>
          <p:cNvPr id="37" name="TextBox 36"/>
          <p:cNvSpPr txBox="1"/>
          <p:nvPr/>
        </p:nvSpPr>
        <p:spPr>
          <a:xfrm>
            <a:off x="4507992"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38 offline tests (no phone needed)</a:t>
            </a:r>
          </a:p>
          <a:p>
            <a:pPr>
              <a:lnSpc>
                <a:spcPct val="108000"/>
              </a:lnSpc>
              <a:spcAft>
                <a:spcPts val="300"/>
              </a:spcAft>
            </a:pPr>
            <a:r>
              <a:rPr sz="1400">
                <a:solidFill>
                  <a:srgbClr val="0065BD"/>
                </a:solidFill>
                <a:latin typeface="Arial"/>
              </a:rPr>
              <a:t>▪  </a:t>
            </a:r>
            <a:r>
              <a:rPr sz="1400" b="0">
                <a:solidFill>
                  <a:srgbClr val="222A35"/>
                </a:solidFill>
                <a:latin typeface="Arial"/>
              </a:rPr>
              <a:t>Frozen git tag for the evaluation</a:t>
            </a:r>
          </a:p>
          <a:p>
            <a:pPr>
              <a:lnSpc>
                <a:spcPct val="108000"/>
              </a:lnSpc>
              <a:spcAft>
                <a:spcPts val="300"/>
              </a:spcAft>
            </a:pPr>
            <a:r>
              <a:rPr sz="1400">
                <a:solidFill>
                  <a:srgbClr val="0065BD"/>
                </a:solidFill>
                <a:latin typeface="Arial"/>
              </a:rPr>
              <a:t>▪  </a:t>
            </a:r>
            <a:r>
              <a:rPr sz="1400" b="0">
                <a:solidFill>
                  <a:srgbClr val="222A35"/>
                </a:solidFill>
                <a:latin typeface="Arial"/>
              </a:rPr>
              <a:t>Every run: summary, log, video</a:t>
            </a:r>
          </a:p>
        </p:txBody>
      </p:sp>
      <p:sp>
        <p:nvSpPr>
          <p:cNvPr id="38" name="Rectangle 37"/>
          <p:cNvSpPr/>
          <p:nvPr/>
        </p:nvSpPr>
        <p:spPr>
          <a:xfrm>
            <a:off x="804672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04672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11312"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Reproduce</a:t>
            </a:r>
          </a:p>
        </p:txBody>
      </p:sp>
      <p:sp>
        <p:nvSpPr>
          <p:cNvPr id="41" name="TextBox 40"/>
          <p:cNvSpPr txBox="1"/>
          <p:nvPr/>
        </p:nvSpPr>
        <p:spPr>
          <a:xfrm>
            <a:off x="8211312" y="4526280"/>
            <a:ext cx="3246120" cy="1554479"/>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git checkout team-agent-final-v65</a:t>
            </a:r>
          </a:p>
          <a:p>
            <a:pPr>
              <a:lnSpc>
                <a:spcPct val="108000"/>
              </a:lnSpc>
              <a:spcAft>
                <a:spcPts val="300"/>
              </a:spcAft>
            </a:pPr>
            <a:r>
              <a:rPr sz="1300">
                <a:solidFill>
                  <a:srgbClr val="0065BD"/>
                </a:solidFill>
                <a:latin typeface="Arial"/>
              </a:rPr>
              <a:t>▪  </a:t>
            </a:r>
            <a:r>
              <a:rPr sz="1300" b="0">
                <a:solidFill>
                  <a:srgbClr val="222A35"/>
                </a:solidFill>
                <a:latin typeface="Arial"/>
              </a:rPr>
              <a:t>evaluate_tasks.py --tasks ... --seeds 42 43 44 --run-all-seeds</a:t>
            </a:r>
          </a:p>
          <a:p>
            <a:pPr>
              <a:lnSpc>
                <a:spcPct val="108000"/>
              </a:lnSpc>
              <a:spcAft>
                <a:spcPts val="300"/>
              </a:spcAft>
            </a:pPr>
            <a:r>
              <a:rPr sz="1300">
                <a:solidFill>
                  <a:srgbClr val="0065BD"/>
                </a:solidFill>
                <a:latin typeface="Arial"/>
              </a:rPr>
              <a:t>▪  </a:t>
            </a:r>
            <a:r>
              <a:rPr sz="1300" b="0">
                <a:solidFill>
                  <a:srgbClr val="222A35"/>
                </a:solidFill>
                <a:latin typeface="Arial"/>
              </a:rPr>
              <a:t>Python 3.11, Windows laptop, no GPU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TRAJECTORY</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run, step by step: the OsmAnd track Ruggell to Bendern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10</a:t>
            </a:r>
          </a:p>
        </p:txBody>
      </p:sp>
      <p:pic>
        <p:nvPicPr>
          <p:cNvPr id="9" name="Picture 8" descr="osm_traj_1.png"/>
          <p:cNvPicPr>
            <a:picLocks noChangeAspect="1"/>
          </p:cNvPicPr>
          <p:nvPr/>
        </p:nvPicPr>
        <p:blipFill>
          <a:blip r:embed="rId3"/>
          <a:srcRect t="8000"/>
          <a:stretch>
            <a:fillRect/>
          </a:stretch>
        </p:blipFill>
        <p:spPr>
          <a:xfrm>
            <a:off x="576072" y="1417320"/>
            <a:ext cx="1522476" cy="3112617"/>
          </a:xfrm>
          <a:prstGeom prst="roundRect">
            <a:avLst/>
          </a:prstGeom>
          <a:ln w="44450">
            <a:solidFill>
              <a:srgbClr val="1B1F2A"/>
            </a:solidFill>
          </a:ln>
        </p:spPr>
      </p:pic>
      <p:sp>
        <p:nvSpPr>
          <p:cNvPr id="10" name="Rectangle 9"/>
          <p:cNvSpPr/>
          <p:nvPr/>
        </p:nvSpPr>
        <p:spPr>
          <a:xfrm>
            <a:off x="46634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949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5</a:t>
            </a:r>
          </a:p>
        </p:txBody>
      </p:sp>
      <p:sp>
        <p:nvSpPr>
          <p:cNvPr id="12" name="TextBox 11"/>
          <p:cNvSpPr txBox="1"/>
          <p:nvPr/>
        </p:nvSpPr>
        <p:spPr>
          <a:xfrm>
            <a:off x="53949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“I need to tap "INCREASE SEARCH RADIUS" to expand the search area and find the place.”</a:t>
            </a:r>
          </a:p>
        </p:txBody>
      </p:sp>
      <p:pic>
        <p:nvPicPr>
          <p:cNvPr id="13" name="Picture 12" descr="osm_traj_2.png"/>
          <p:cNvPicPr>
            <a:picLocks noChangeAspect="1"/>
          </p:cNvPicPr>
          <p:nvPr/>
        </p:nvPicPr>
        <p:blipFill>
          <a:blip r:embed="rId4"/>
          <a:srcRect t="8000"/>
          <a:stretch>
            <a:fillRect/>
          </a:stretch>
        </p:blipFill>
        <p:spPr>
          <a:xfrm>
            <a:off x="2478024" y="1417320"/>
            <a:ext cx="1522476" cy="3112617"/>
          </a:xfrm>
          <a:prstGeom prst="roundRect">
            <a:avLst/>
          </a:prstGeom>
          <a:ln w="44450">
            <a:solidFill>
              <a:srgbClr val="1B1F2A"/>
            </a:solidFill>
          </a:ln>
        </p:spPr>
      </p:pic>
      <p:sp>
        <p:nvSpPr>
          <p:cNvPr id="14" name="Rectangle 13"/>
          <p:cNvSpPr/>
          <p:nvPr/>
        </p:nvSpPr>
        <p:spPr>
          <a:xfrm>
            <a:off x="2368296"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441448"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9</a:t>
            </a:r>
          </a:p>
        </p:txBody>
      </p:sp>
      <p:sp>
        <p:nvSpPr>
          <p:cNvPr id="16" name="TextBox 15"/>
          <p:cNvSpPr txBox="1"/>
          <p:nvPr/>
        </p:nvSpPr>
        <p:spPr>
          <a:xfrm>
            <a:off x="2441448"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"Ruggell" row labeled "Village" is visible and is the correct location.”</a:t>
            </a:r>
          </a:p>
        </p:txBody>
      </p:sp>
      <p:pic>
        <p:nvPicPr>
          <p:cNvPr id="17" name="Picture 16" descr="osm_traj_3.png"/>
          <p:cNvPicPr>
            <a:picLocks noChangeAspect="1"/>
          </p:cNvPicPr>
          <p:nvPr/>
        </p:nvPicPr>
        <p:blipFill>
          <a:blip r:embed="rId5"/>
          <a:srcRect t="8000"/>
          <a:stretch>
            <a:fillRect/>
          </a:stretch>
        </p:blipFill>
        <p:spPr>
          <a:xfrm>
            <a:off x="4379976" y="1417320"/>
            <a:ext cx="1522476" cy="3112617"/>
          </a:xfrm>
          <a:prstGeom prst="roundRect">
            <a:avLst/>
          </a:prstGeom>
          <a:ln w="44450">
            <a:solidFill>
              <a:srgbClr val="1B1F2A"/>
            </a:solidFill>
          </a:ln>
        </p:spPr>
      </p:pic>
      <p:sp>
        <p:nvSpPr>
          <p:cNvPr id="18" name="Rectangle 17"/>
          <p:cNvSpPr/>
          <p:nvPr/>
        </p:nvSpPr>
        <p:spPr>
          <a:xfrm>
            <a:off x="4270248"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43400"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11</a:t>
            </a:r>
          </a:p>
        </p:txBody>
      </p:sp>
      <p:sp>
        <p:nvSpPr>
          <p:cNvPr id="20" name="TextBox 19"/>
          <p:cNvSpPr txBox="1"/>
          <p:nvPr/>
        </p:nvSpPr>
        <p:spPr>
          <a:xfrm>
            <a:off x="4343400"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“I should tap it to start creating the route, which will allow me to add the next waypoint "Bendern" in the correct order.”</a:t>
            </a:r>
          </a:p>
        </p:txBody>
      </p:sp>
      <p:pic>
        <p:nvPicPr>
          <p:cNvPr id="21" name="Picture 20" descr="osm_traj_4.png"/>
          <p:cNvPicPr>
            <a:picLocks noChangeAspect="1"/>
          </p:cNvPicPr>
          <p:nvPr/>
        </p:nvPicPr>
        <p:blipFill>
          <a:blip r:embed="rId6"/>
          <a:srcRect t="8000"/>
          <a:stretch>
            <a:fillRect/>
          </a:stretch>
        </p:blipFill>
        <p:spPr>
          <a:xfrm>
            <a:off x="6281928" y="1417320"/>
            <a:ext cx="1522476" cy="3112617"/>
          </a:xfrm>
          <a:prstGeom prst="roundRect">
            <a:avLst/>
          </a:prstGeom>
          <a:ln w="44450">
            <a:solidFill>
              <a:srgbClr val="1B1F2A"/>
            </a:solidFill>
          </a:ln>
        </p:spPr>
      </p:pic>
      <p:sp>
        <p:nvSpPr>
          <p:cNvPr id="22" name="Rectangle 21"/>
          <p:cNvSpPr/>
          <p:nvPr/>
        </p:nvSpPr>
        <p:spPr>
          <a:xfrm>
            <a:off x="6172200"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45352"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16</a:t>
            </a:r>
          </a:p>
        </p:txBody>
      </p:sp>
      <p:sp>
        <p:nvSpPr>
          <p:cNvPr id="24" name="TextBox 23"/>
          <p:cNvSpPr txBox="1"/>
          <p:nvPr/>
        </p:nvSpPr>
        <p:spPr>
          <a:xfrm>
            <a:off x="6245352"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“I should tap this row to select it as the second waypoint for the track.”</a:t>
            </a:r>
          </a:p>
        </p:txBody>
      </p:sp>
      <p:pic>
        <p:nvPicPr>
          <p:cNvPr id="25" name="Picture 24" descr="osm_traj_5.png"/>
          <p:cNvPicPr>
            <a:picLocks noChangeAspect="1"/>
          </p:cNvPicPr>
          <p:nvPr/>
        </p:nvPicPr>
        <p:blipFill>
          <a:blip r:embed="rId7"/>
          <a:srcRect t="8000"/>
          <a:stretch>
            <a:fillRect/>
          </a:stretch>
        </p:blipFill>
        <p:spPr>
          <a:xfrm>
            <a:off x="8183880" y="1417320"/>
            <a:ext cx="1522476" cy="3112617"/>
          </a:xfrm>
          <a:prstGeom prst="roundRect">
            <a:avLst/>
          </a:prstGeom>
          <a:ln w="44450">
            <a:solidFill>
              <a:srgbClr val="1B1F2A"/>
            </a:solidFill>
          </a:ln>
        </p:spPr>
      </p:pic>
      <p:sp>
        <p:nvSpPr>
          <p:cNvPr id="26" name="Rectangle 25"/>
          <p:cNvSpPr/>
          <p:nvPr/>
        </p:nvSpPr>
        <p:spPr>
          <a:xfrm>
            <a:off x="8074152"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47304"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22</a:t>
            </a:r>
          </a:p>
        </p:txBody>
      </p:sp>
      <p:sp>
        <p:nvSpPr>
          <p:cNvPr id="28" name="TextBox 27"/>
          <p:cNvSpPr txBox="1"/>
          <p:nvPr/>
        </p:nvSpPr>
        <p:spPr>
          <a:xfrm>
            <a:off x="8147304"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save the track with both waypoints in the correct order, I should tap "Done" to complete the route creation and save the track.”</a:t>
            </a:r>
          </a:p>
        </p:txBody>
      </p:sp>
      <p:pic>
        <p:nvPicPr>
          <p:cNvPr id="29" name="Picture 28" descr="osm_traj_6.png"/>
          <p:cNvPicPr>
            <a:picLocks noChangeAspect="1"/>
          </p:cNvPicPr>
          <p:nvPr/>
        </p:nvPicPr>
        <p:blipFill>
          <a:blip r:embed="rId8"/>
          <a:srcRect t="8000"/>
          <a:stretch>
            <a:fillRect/>
          </a:stretch>
        </p:blipFill>
        <p:spPr>
          <a:xfrm>
            <a:off x="10085832" y="1417320"/>
            <a:ext cx="1522476" cy="3112617"/>
          </a:xfrm>
          <a:prstGeom prst="roundRect">
            <a:avLst/>
          </a:prstGeom>
          <a:ln w="44450">
            <a:solidFill>
              <a:srgbClr val="1B1F2A"/>
            </a:solidFill>
          </a:ln>
        </p:spPr>
      </p:pic>
      <p:sp>
        <p:nvSpPr>
          <p:cNvPr id="30" name="Rectangle 29"/>
          <p:cNvSpPr/>
          <p:nvPr/>
        </p:nvSpPr>
        <p:spPr>
          <a:xfrm>
            <a:off x="997610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4925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23</a:t>
            </a:r>
          </a:p>
        </p:txBody>
      </p:sp>
      <p:sp>
        <p:nvSpPr>
          <p:cNvPr id="32" name="TextBox 31"/>
          <p:cNvSpPr txBox="1"/>
          <p:nvPr/>
        </p:nvSpPr>
        <p:spPr>
          <a:xfrm>
            <a:off x="1004925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track has been created with both waypoints "Ruggell" and "Bendern" in the correct order and is now saved.”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EVALUATION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we tested: one frozen version, three runs per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11</a:t>
            </a:r>
          </a:p>
        </p:txBody>
      </p:sp>
      <p:sp>
        <p:nvSpPr>
          <p:cNvPr id="9" name="Rectangle 8"/>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Frozen</a:t>
            </a:r>
          </a:p>
        </p:txBody>
      </p:sp>
      <p:sp>
        <p:nvSpPr>
          <p:cNvPr id="12" name="TextBox 11"/>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Git tag team-agent-final-v65</a:t>
            </a:r>
          </a:p>
          <a:p>
            <a:pPr>
              <a:lnSpc>
                <a:spcPct val="108000"/>
              </a:lnSpc>
              <a:spcAft>
                <a:spcPts val="300"/>
              </a:spcAft>
            </a:pPr>
            <a:r>
              <a:rPr sz="1500">
                <a:solidFill>
                  <a:srgbClr val="0065BD"/>
                </a:solidFill>
                <a:latin typeface="Arial"/>
              </a:rPr>
              <a:t>▪  </a:t>
            </a:r>
            <a:r>
              <a:rPr sz="1500" b="0">
                <a:solidFill>
                  <a:srgbClr val="222A35"/>
                </a:solidFill>
                <a:latin typeface="Arial"/>
              </a:rPr>
              <a:t>Same source fingerprint in both batches</a:t>
            </a:r>
          </a:p>
          <a:p>
            <a:pPr>
              <a:lnSpc>
                <a:spcPct val="108000"/>
              </a:lnSpc>
              <a:spcAft>
                <a:spcPts val="300"/>
              </a:spcAft>
            </a:pPr>
            <a:r>
              <a:rPr sz="1500">
                <a:solidFill>
                  <a:srgbClr val="0065BD"/>
                </a:solidFill>
                <a:latin typeface="Arial"/>
              </a:rPr>
              <a:t>▪  </a:t>
            </a:r>
            <a:r>
              <a:rPr sz="1500" b="0">
                <a:solidFill>
                  <a:srgbClr val="222A35"/>
                </a:solidFill>
                <a:latin typeface="Arial"/>
              </a:rPr>
              <a:t>No changes during the batch</a:t>
            </a:r>
          </a:p>
        </p:txBody>
      </p:sp>
      <p:sp>
        <p:nvSpPr>
          <p:cNvPr id="13" name="Rectangle 12"/>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Three runs per task</a:t>
            </a:r>
          </a:p>
        </p:txBody>
      </p:sp>
      <p:sp>
        <p:nvSpPr>
          <p:cNvPr id="16" name="TextBox 15"/>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7" name="Rectangle 16"/>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Judged independently</a:t>
            </a:r>
          </a:p>
        </p:txBody>
      </p:sp>
      <p:sp>
        <p:nvSpPr>
          <p:cNvPr id="20" name="TextBox 19"/>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sp>
        <p:nvSpPr>
          <p:cNvPr id="21" name="Rectangle 20"/>
          <p:cNvSpPr/>
          <p:nvPr/>
        </p:nvSpPr>
        <p:spPr>
          <a:xfrm>
            <a:off x="64008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Summary row</a:t>
            </a:r>
          </a:p>
        </p:txBody>
      </p:sp>
      <p:sp>
        <p:nvSpPr>
          <p:cNvPr id="23" name="TextBox 22"/>
          <p:cNvSpPr txBox="1"/>
          <p:nvPr/>
        </p:nvSpPr>
        <p:spPr>
          <a:xfrm>
            <a:off x="822959"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Course fields (D1 p.49), written by the runner during the run</a:t>
            </a:r>
          </a:p>
        </p:txBody>
      </p:sp>
      <p:sp>
        <p:nvSpPr>
          <p:cNvPr id="24" name="Rectangle 23"/>
          <p:cNvSpPr/>
          <p:nvPr/>
        </p:nvSpPr>
        <p:spPr>
          <a:xfrm>
            <a:off x="434340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80"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Trajectory log</a:t>
            </a:r>
          </a:p>
        </p:txBody>
      </p:sp>
      <p:sp>
        <p:nvSpPr>
          <p:cNvPr id="26" name="TextBox 25"/>
          <p:cNvSpPr txBox="1"/>
          <p:nvPr/>
        </p:nvSpPr>
        <p:spPr>
          <a:xfrm>
            <a:off x="4526280"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Every screenshot, model reply, check and result, step by step</a:t>
            </a:r>
          </a:p>
        </p:txBody>
      </p:sp>
      <p:sp>
        <p:nvSpPr>
          <p:cNvPr id="27" name="Rectangle 26"/>
          <p:cNvSpPr/>
          <p:nvPr/>
        </p:nvSpPr>
        <p:spPr>
          <a:xfrm>
            <a:off x="8046719"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9"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Screen recording</a:t>
            </a:r>
          </a:p>
        </p:txBody>
      </p:sp>
      <p:sp>
        <p:nvSpPr>
          <p:cNvPr id="29" name="TextBox 28"/>
          <p:cNvSpPr txBox="1"/>
          <p:nvPr/>
        </p:nvSpPr>
        <p:spPr>
          <a:xfrm>
            <a:off x="8229599"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The whole run on video, in one or more clips</a:t>
            </a:r>
          </a:p>
        </p:txBody>
      </p:sp>
      <p:sp>
        <p:nvSpPr>
          <p:cNvPr id="30" name="TextBox 29"/>
          <p:cNvSpPr txBox="1"/>
          <p:nvPr/>
        </p:nvSpPr>
        <p:spPr>
          <a:xfrm>
            <a:off x="640080" y="5577840"/>
            <a:ext cx="10927080" cy="548640"/>
          </a:xfrm>
          <a:prstGeom prst="rect">
            <a:avLst/>
          </a:prstGeom>
          <a:noFill/>
        </p:spPr>
        <p:txBody>
          <a:bodyPr wrap="square" anchor="t" lIns="73152" rIns="73152">
            <a:spAutoFit/>
          </a:bodyPr>
          <a:lstStyle/>
          <a:p>
            <a:pPr algn="l">
              <a:lnSpc>
                <a:spcPct val="110000"/>
              </a:lnSpc>
            </a:pPr>
            <a:r>
              <a:rPr sz="1500" b="1" i="0">
                <a:solidFill>
                  <a:srgbClr val="0065BD"/>
                </a:solidFill>
                <a:latin typeface="Arial"/>
              </a:rPr>
              <a:t>Kept for every one of the 21 runs. The full run log follows right after the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18 of 21 runs passed; every task passed at least twice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12</a:t>
            </a:r>
          </a:p>
        </p:txBody>
      </p:sp>
      <p:graphicFrame>
        <p:nvGraphicFramePr>
          <p:cNvPr id="9" name="Table 8"/>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gridCol w="3017520"/>
                <a:gridCol w="1920240"/>
                <a:gridCol w="1920240"/>
                <a:gridCol w="1920240"/>
                <a:gridCol w="960120"/>
              </a:tblGrid>
              <a:tr h="565785">
                <a:tc>
                  <a:txBody>
                    <a:bodyPr wrap="square"/>
                    <a:lstStyle/>
                    <a:p>
                      <a:r>
                        <a:rPr sz="1300" b="1">
                          <a:solidFill>
                            <a:srgbClr val="FFFFFF"/>
                          </a:solidFill>
                          <a:latin typeface="Arial"/>
                        </a:rPr>
                        <a:t>Row</a:t>
                      </a:r>
                    </a:p>
                  </a:txBody>
                  <a:tcPr marL="54864" marR="54864" marT="27432" marB="27432" anchor="ctr">
                    <a:solidFill>
                      <a:srgbClr val="072140"/>
                    </a:solidFill>
                  </a:tcPr>
                </a:tc>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c>
                  <a:txBody>
                    <a:bodyPr wrap="square"/>
                    <a:lstStyle/>
                    <a:p>
                      <a:pPr algn="ctr"/>
                      <a:r>
                        <a:rPr sz="1300" b="1">
                          <a:solidFill>
                            <a:srgbClr val="FFFFFF"/>
                          </a:solidFill>
                          <a:latin typeface="Arial"/>
                        </a:rPr>
                        <a:t>Passed</a:t>
                      </a:r>
                    </a:p>
                  </a:txBody>
                  <a:tcPr marL="54864" marR="54864" marT="27432" marB="27432" anchor="ctr">
                    <a:solidFill>
                      <a:srgbClr val="072140"/>
                    </a:solidFill>
                  </a:tcPr>
                </a:tc>
              </a:tr>
              <a:tr h="565785">
                <a:tc>
                  <a:txBody>
                    <a:bodyPr wrap="square"/>
                    <a:lstStyle/>
                    <a:p>
                      <a:r>
                        <a:rPr sz="1300" b="0">
                          <a:solidFill>
                            <a:srgbClr val="222A35"/>
                          </a:solidFill>
                          <a:latin typeface="Arial"/>
                        </a:rPr>
                        <a:t>Warm-up</a:t>
                      </a:r>
                    </a:p>
                  </a:txBody>
                  <a:tcPr marL="54864" marR="54864" marT="27432" marB="27432" anchor="ctr">
                    <a:solidFill>
                      <a:srgbClr val="FFFFFF"/>
                    </a:solidFill>
                  </a:tcPr>
                </a:tc>
                <a:tc>
                  <a:txBody>
                    <a:bodyPr wrap="square"/>
                    <a:lstStyle/>
                    <a:p>
                      <a:r>
                        <a:rPr sz="1300" b="0">
                          <a:solidFill>
                            <a:srgbClr val="222A35"/>
                          </a:solidFill>
                          <a:latin typeface="Arial"/>
                        </a:rPr>
                        <a:t>SystemWifiTurnOn</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Warm-up</a:t>
                      </a:r>
                    </a:p>
                  </a:txBody>
                  <a:tcPr marL="54864" marR="54864" marT="27432" marB="27432" anchor="ctr">
                    <a:solidFill>
                      <a:srgbClr val="F2F5F9"/>
                    </a:solidFill>
                  </a:tcPr>
                </a:tc>
                <a:tc>
                  <a:txBody>
                    <a:bodyPr wrap="square"/>
                    <a:lstStyle/>
                    <a:p>
                      <a:r>
                        <a:rPr sz="1300" b="0">
                          <a:solidFill>
                            <a:srgbClr val="222A35"/>
                          </a:solidFill>
                          <a:latin typeface="Arial"/>
                        </a:rPr>
                        <a:t>ContactsAddContact</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SimpleSmsSend</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Real work</a:t>
                      </a:r>
                    </a:p>
                  </a:txBody>
                  <a:tcPr marL="54864" marR="54864" marT="27432" marB="27432" anchor="ctr">
                    <a:solidFill>
                      <a:srgbClr val="F2F5F9"/>
                    </a:solidFill>
                  </a:tcPr>
                </a:tc>
                <a:tc>
                  <a:txBody>
                    <a:bodyPr wrap="square"/>
                    <a:lstStyle/>
                    <a:p>
                      <a:r>
                        <a:rPr sz="1300" b="0">
                          <a:solidFill>
                            <a:srgbClr val="222A35"/>
                          </a:solidFill>
                          <a:latin typeface="Arial"/>
                        </a:rPr>
                        <a:t>FilesMoveFile</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false_done</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SimpleCalendarAddOneEvent</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Multi-app</a:t>
                      </a:r>
                    </a:p>
                  </a:txBody>
                  <a:tcPr marL="54864" marR="54864" marT="27432" marB="27432" anchor="ctr">
                    <a:solidFill>
                      <a:srgbClr val="F2F5F9"/>
                    </a:solidFill>
                  </a:tcPr>
                </a:tc>
                <a:tc>
                  <a:txBody>
                    <a:bodyPr wrap="square"/>
                    <a:lstStyle/>
                    <a:p>
                      <a:r>
                        <a:rPr sz="1300" b="0">
                          <a:solidFill>
                            <a:srgbClr val="222A35"/>
                          </a:solidFill>
                          <a:latin typeface="Arial"/>
                        </a:rPr>
                        <a:t>MarkorCreateNoteAndSms</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2F5F9"/>
                    </a:solidFill>
                  </a:tcPr>
                </a:tc>
              </a:tr>
              <a:tr h="565785">
                <a:tc>
                  <a:txBody>
                    <a:bodyPr wrap="square"/>
                    <a:lstStyle/>
                    <a:p>
                      <a:r>
                        <a:rPr sz="1300" b="0">
                          <a:solidFill>
                            <a:srgbClr val="222A35"/>
                          </a:solidFill>
                          <a:latin typeface="Arial"/>
                        </a:rPr>
                        <a:t>Multi-app</a:t>
                      </a:r>
                    </a:p>
                  </a:txBody>
                  <a:tcPr marL="54864" marR="54864" marT="27432" marB="27432" anchor="ctr">
                    <a:solidFill>
                      <a:srgbClr val="FFFFFF"/>
                    </a:solidFill>
                  </a:tcPr>
                </a:tc>
                <a:tc>
                  <a:txBody>
                    <a:bodyPr wrap="square"/>
                    <a:lstStyle/>
                    <a:p>
                      <a:r>
                        <a:rPr sz="1300" b="0">
                          <a:solidFill>
                            <a:srgbClr val="222A35"/>
                          </a:solidFill>
                          <a:latin typeface="Arial"/>
                        </a:rPr>
                        <a:t>OsmAndTrack</a:t>
                      </a:r>
                    </a:p>
                  </a:txBody>
                  <a:tcPr marL="54864" marR="54864" marT="27432" marB="27432" anchor="ctr">
                    <a:solidFill>
                      <a:srgbClr val="FFFFFF"/>
                    </a:solidFill>
                  </a:tcPr>
                </a:tc>
                <a:tc>
                  <a:txBody>
                    <a:bodyPr wrap="square"/>
                    <a:lstStyle/>
                    <a:p>
                      <a:pPr algn="ctr"/>
                      <a:r>
                        <a:rPr sz="1300" b="1">
                          <a:solidFill>
                            <a:srgbClr val="FFFFFF"/>
                          </a:solidFill>
                          <a:latin typeface="Arial"/>
                        </a:rPr>
                        <a:t>PASS  s31</a:t>
                      </a:r>
                    </a:p>
                  </a:txBody>
                  <a:tcPr marL="54864" marR="54864" marT="27432" marB="27432" anchor="ctr">
                    <a:solidFill>
                      <a:srgbClr val="0065BD"/>
                    </a:solidFill>
                  </a:tcPr>
                </a:tc>
                <a:tc>
                  <a:txBody>
                    <a:bodyPr wrap="square"/>
                    <a:lstStyle/>
                    <a:p>
                      <a:pPr algn="ctr"/>
                      <a:r>
                        <a:rPr sz="1300" b="1">
                          <a:solidFill>
                            <a:srgbClr val="FFFFFF"/>
                          </a:solidFill>
                          <a:latin typeface="Arial"/>
                        </a:rPr>
                        <a:t>PASS  s314</a:t>
                      </a:r>
                    </a:p>
                  </a:txBody>
                  <a:tcPr marL="54864" marR="54864" marT="27432" marB="27432" anchor="ctr">
                    <a:solidFill>
                      <a:srgbClr val="0065BD"/>
                    </a:solidFill>
                  </a:tcPr>
                </a:tc>
                <a:tc>
                  <a:txBody>
                    <a:bodyPr wrap="square"/>
                    <a:lstStyle/>
                    <a:p>
                      <a:pPr algn="ctr"/>
                      <a:r>
                        <a:rPr sz="1300" b="1">
                          <a:solidFill>
                            <a:srgbClr val="FFFFFF"/>
                          </a:solidFill>
                          <a:latin typeface="Arial"/>
                        </a:rPr>
                        <a:t>FAIL  s366
grounding</a:t>
                      </a:r>
                    </a:p>
                  </a:txBody>
                  <a:tcPr marL="54864" marR="54864" marT="27432" marB="27432" anchor="ctr">
                    <a:solidFill>
                      <a:srgbClr val="E37222"/>
                    </a:solidFill>
                  </a:tcPr>
                </a:tc>
                <a:tc>
                  <a:txBody>
                    <a:bodyPr wrap="square"/>
                    <a:lstStyle/>
                    <a:p>
                      <a:pPr algn="ctr"/>
                      <a:r>
                        <a:rPr sz="1300" b="0">
                          <a:solidFill>
                            <a:srgbClr val="222A35"/>
                          </a:solidFill>
                          <a:latin typeface="Arial"/>
                        </a:rPr>
                        <a:t>2/3</a:t>
                      </a:r>
                    </a:p>
                  </a:txBody>
                  <a:tcPr marL="54864" marR="54864" marT="27432" marB="27432" anchor="ctr">
                    <a:solidFill>
                      <a:srgbClr val="FFFFFF"/>
                    </a:solidFill>
                  </a:tcPr>
                </a:tc>
              </a:tr>
            </a:tbl>
          </a:graphicData>
        </a:graphic>
      </p:graphicFrame>
      <p:sp>
        <p:nvSpPr>
          <p:cNvPr id="10" name="TextBox 9"/>
          <p:cNvSpPr txBox="1"/>
          <p:nvPr/>
        </p:nvSpPr>
        <p:spPr>
          <a:xfrm>
            <a:off x="640080" y="6080760"/>
            <a:ext cx="10927080" cy="32004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s = task seed. Official AndroidWorld verifier. One frozen version (tag team-agent-final-v65).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Run log (1/2): one row per run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13</a:t>
            </a:r>
          </a:p>
        </p:txBody>
      </p:sp>
      <p:sp>
        <p:nvSpPr>
          <p:cNvPr id="9" name="TextBox 8"/>
          <p:cNvSpPr txBox="1"/>
          <p:nvPr/>
        </p:nvSpPr>
        <p:spPr>
          <a:xfrm>
            <a:off x="548640" y="1188720"/>
            <a:ext cx="11064240" cy="320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4389120"/>
        </p:xfrm>
        <a:graphic>
          <a:graphicData uri="http://schemas.openxmlformats.org/drawingml/2006/table">
            <a:tbl>
              <a:tblPr firstRow="1" bandRow="1">
                <a:tableStyleId>{5C22544A-7EE6-4342-B048-85BDC9FD1C3A}</a:tableStyleId>
              </a:tblPr>
              <a:tblGrid>
                <a:gridCol w="2103120"/>
                <a:gridCol w="594360"/>
                <a:gridCol w="457200"/>
                <a:gridCol w="1325880"/>
                <a:gridCol w="868680"/>
                <a:gridCol w="685800"/>
                <a:gridCol w="1188720"/>
                <a:gridCol w="502920"/>
                <a:gridCol w="3337560"/>
              </a:tblGrid>
              <a:tr h="274320">
                <a:tc>
                  <a:txBody>
                    <a:bodyPr wrap="square"/>
                    <a:lstStyle/>
                    <a:p>
                      <a:r>
                        <a:rPr sz="1050" b="1">
                          <a:solidFill>
                            <a:srgbClr val="FFFFFF"/>
                          </a:solidFill>
                          <a:latin typeface="Arial"/>
                        </a:rPr>
                        <a:t>Task</a:t>
                      </a:r>
                    </a:p>
                  </a:txBody>
                  <a:tcPr marL="54864" marR="54864" marT="27432" marB="27432" anchor="ctr">
                    <a:solidFill>
                      <a:srgbClr val="072140"/>
                    </a:solidFill>
                  </a:tcPr>
                </a:tc>
                <a:tc>
                  <a:txBody>
                    <a:bodyPr wrap="square"/>
                    <a:lstStyle/>
                    <a:p>
                      <a:r>
                        <a:rPr sz="1050" b="1">
                          <a:solidFill>
                            <a:srgbClr val="FFFFFF"/>
                          </a:solidFill>
                          <a:latin typeface="Arial"/>
                        </a:rPr>
                        <a:t>Run</a:t>
                      </a:r>
                    </a:p>
                  </a:txBody>
                  <a:tcPr marL="54864" marR="54864" marT="27432" marB="27432" anchor="ctr">
                    <a:solidFill>
                      <a:srgbClr val="072140"/>
                    </a:solidFill>
                  </a:tcPr>
                </a:tc>
                <a:tc>
                  <a:txBody>
                    <a:bodyPr wrap="square"/>
                    <a:lstStyle/>
                    <a:p>
                      <a:r>
                        <a:rPr sz="1050" b="1">
                          <a:solidFill>
                            <a:srgbClr val="FFFFFF"/>
                          </a:solidFill>
                          <a:latin typeface="Arial"/>
                        </a:rPr>
                        <a:t>Seed</a:t>
                      </a:r>
                    </a:p>
                  </a:txBody>
                  <a:tcPr marL="54864" marR="54864" marT="27432" marB="27432" anchor="ctr">
                    <a:solidFill>
                      <a:srgbClr val="072140"/>
                    </a:solidFill>
                  </a:tcPr>
                </a:tc>
                <a:tc>
                  <a:txBody>
                    <a:bodyPr wrap="square"/>
                    <a:lstStyle/>
                    <a:p>
                      <a:r>
                        <a:rPr sz="1050" b="1">
                          <a:solidFill>
                            <a:srgbClr val="FFFFFF"/>
                          </a:solidFill>
                          <a:latin typeface="Arial"/>
                        </a:rPr>
                        <a:t>Observation</a:t>
                      </a:r>
                    </a:p>
                  </a:txBody>
                  <a:tcPr marL="54864" marR="54864" marT="27432" marB="27432" anchor="ctr">
                    <a:solidFill>
                      <a:srgbClr val="072140"/>
                    </a:solidFill>
                  </a:tcPr>
                </a:tc>
                <a:tc>
                  <a:txBody>
                    <a:bodyPr wrap="square"/>
                    <a:lstStyle/>
                    <a:p>
                      <a:r>
                        <a:rPr sz="1050" b="1">
                          <a:solidFill>
                            <a:srgbClr val="FFFFFF"/>
                          </a:solidFill>
                          <a:latin typeface="Arial"/>
                        </a:rPr>
                        <a:t>Steps / budget</a:t>
                      </a:r>
                    </a:p>
                  </a:txBody>
                  <a:tcPr marL="54864" marR="54864" marT="27432" marB="27432" anchor="ctr">
                    <a:solidFill>
                      <a:srgbClr val="072140"/>
                    </a:solidFill>
                  </a:tcPr>
                </a:tc>
                <a:tc>
                  <a:txBody>
                    <a:bodyPr wrap="square"/>
                    <a:lstStyle/>
                    <a:p>
                      <a:r>
                        <a:rPr sz="1050" b="1">
                          <a:solidFill>
                            <a:srgbClr val="FFFFFF"/>
                          </a:solidFill>
                          <a:latin typeface="Arial"/>
                        </a:rPr>
                        <a:t>Verifier</a:t>
                      </a:r>
                    </a:p>
                  </a:txBody>
                  <a:tcPr marL="54864" marR="54864" marT="27432" marB="27432" anchor="ctr">
                    <a:solidFill>
                      <a:srgbClr val="072140"/>
                    </a:solidFill>
                  </a:tcPr>
                </a:tc>
                <a:tc>
                  <a:txBody>
                    <a:bodyPr wrap="square"/>
                    <a:lstStyle/>
                    <a:p>
                      <a:r>
                        <a:rPr sz="1050" b="1">
                          <a:solidFill>
                            <a:srgbClr val="FFFFFF"/>
                          </a:solidFill>
                          <a:latin typeface="Arial"/>
                        </a:rPr>
                        <a:t>Failure class</a:t>
                      </a:r>
                    </a:p>
                  </a:txBody>
                  <a:tcPr marL="54864" marR="54864" marT="27432" marB="27432" anchor="ctr">
                    <a:solidFill>
                      <a:srgbClr val="072140"/>
                    </a:solidFill>
                  </a:tcPr>
                </a:tc>
                <a:tc>
                  <a:txBody>
                    <a:bodyPr wrap="square"/>
                    <a:lstStyle/>
                    <a:p>
                      <a:r>
                        <a:rPr sz="1050" b="1">
                          <a:solidFill>
                            <a:srgbClr val="FFFFFF"/>
                          </a:solidFill>
                          <a:latin typeface="Arial"/>
                        </a:rPr>
                        <a:t>Clips</a:t>
                      </a:r>
                    </a:p>
                  </a:txBody>
                  <a:tcPr marL="54864" marR="54864" marT="27432" marB="27432" anchor="ctr">
                    <a:solidFill>
                      <a:srgbClr val="072140"/>
                    </a:solidFill>
                  </a:tcPr>
                </a:tc>
                <a:tc>
                  <a:txBody>
                    <a:bodyPr wrap="square"/>
                    <a:lstStyle/>
                    <a:p>
                      <a:r>
                        <a:rPr sz="1050" b="1">
                          <a:solidFill>
                            <a:srgbClr val="FFFFFF"/>
                          </a:solidFill>
                          <a:latin typeface="Arial"/>
                        </a:rPr>
                        <a:t>Note</a:t>
                      </a:r>
                    </a:p>
                  </a:txBody>
                  <a:tcPr marL="54864" marR="54864" marT="27432" marB="27432" anchor="ctr">
                    <a:solidFill>
                      <a:srgbClr val="072140"/>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FFFFF"/>
                    </a:solidFill>
                  </a:tcPr>
                </a:tc>
                <a:tc>
                  <a:txBody>
                    <a:bodyPr wrap="square"/>
                    <a:lstStyle/>
                    <a:p>
                      <a:r>
                        <a:rPr sz="1050" b="0" u="sng">
                          <a:solidFill>
                            <a:srgbClr val="0065BD"/>
                          </a:solidFill>
                          <a:latin typeface="Arial"/>
                          <a:hlinkClick r:id="rId3"/>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 + labels</a:t>
                      </a:r>
                    </a:p>
                  </a:txBody>
                  <a:tcPr marL="54864" marR="54864" marT="27432" marB="27432" anchor="ctr">
                    <a:solidFill>
                      <a:srgbClr val="FFFFFF"/>
                    </a:solidFill>
                  </a:tcPr>
                </a:tc>
                <a:tc>
                  <a:txBody>
                    <a:bodyPr wrap="square"/>
                    <a:lstStyle/>
                    <a:p>
                      <a:r>
                        <a:rPr sz="1050" b="0">
                          <a:solidFill>
                            <a:srgbClr val="222A35"/>
                          </a:solidFill>
                          <a:latin typeface="Arial"/>
                        </a:rPr>
                        <a:t>5 / 12</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Settings &gt; Internet &gt; Wi-Fi on;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2F5F9"/>
                    </a:solidFill>
                  </a:tcPr>
                </a:tc>
                <a:tc>
                  <a:txBody>
                    <a:bodyPr wrap="square"/>
                    <a:lstStyle/>
                    <a:p>
                      <a:r>
                        <a:rPr sz="1050" b="0" u="sng">
                          <a:solidFill>
                            <a:srgbClr val="0065BD"/>
                          </a:solidFill>
                          <a:latin typeface="Arial"/>
                          <a:hlinkClick r:id="rId4"/>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 + labels</a:t>
                      </a:r>
                    </a:p>
                  </a:txBody>
                  <a:tcPr marL="54864" marR="54864" marT="27432" marB="27432" anchor="ctr">
                    <a:solidFill>
                      <a:srgbClr val="F2F5F9"/>
                    </a:solidFill>
                  </a:tcPr>
                </a:tc>
                <a:tc>
                  <a:txBody>
                    <a:bodyPr wrap="square"/>
                    <a:lstStyle/>
                    <a:p>
                      <a:r>
                        <a:rPr sz="1050" b="0">
                          <a:solidFill>
                            <a:srgbClr val="222A35"/>
                          </a:solidFill>
                          <a:latin typeface="Arial"/>
                        </a:rPr>
                        <a:t>5 / 12</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Same 5-step path;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FFFFF"/>
                    </a:solidFill>
                  </a:tcPr>
                </a:tc>
                <a:tc>
                  <a:txBody>
                    <a:bodyPr wrap="square"/>
                    <a:lstStyle/>
                    <a:p>
                      <a:r>
                        <a:rPr sz="1050" b="0" u="sng">
                          <a:solidFill>
                            <a:srgbClr val="0065BD"/>
                          </a:solidFill>
                          <a:latin typeface="Arial"/>
                          <a:hlinkClick r:id="rId5"/>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 + labels</a:t>
                      </a:r>
                    </a:p>
                  </a:txBody>
                  <a:tcPr marL="54864" marR="54864" marT="27432" marB="27432" anchor="ctr">
                    <a:solidFill>
                      <a:srgbClr val="FFFFFF"/>
                    </a:solidFill>
                  </a:tcPr>
                </a:tc>
                <a:tc>
                  <a:txBody>
                    <a:bodyPr wrap="square"/>
                    <a:lstStyle/>
                    <a:p>
                      <a:r>
                        <a:rPr sz="1050" b="0">
                          <a:solidFill>
                            <a:srgbClr val="222A35"/>
                          </a:solidFill>
                          <a:latin typeface="Arial"/>
                        </a:rPr>
                        <a:t>5 / 12</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Same 5-step path;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2F5F9"/>
                    </a:solidFill>
                  </a:tcPr>
                </a:tc>
                <a:tc>
                  <a:txBody>
                    <a:bodyPr wrap="square"/>
                    <a:lstStyle/>
                    <a:p>
                      <a:r>
                        <a:rPr sz="1050" b="0" u="sng">
                          <a:solidFill>
                            <a:srgbClr val="0065BD"/>
                          </a:solidFill>
                          <a:latin typeface="Arial"/>
                          <a:hlinkClick r:id="rId6"/>
                        </a:rPr>
                        <a:t>1 of 3</a:t>
                      </a:r>
                    </a:p>
                  </a:txBody>
                  <a:tcPr marL="54864" marR="54864" marT="27432" marB="27432" anchor="ctr">
                    <a:solidFill>
                      <a:srgbClr val="F2F5F9"/>
                    </a:solidFill>
                  </a:tcPr>
                </a:tc>
                <a:tc>
                  <a:txBody>
                    <a:bodyPr wrap="square"/>
                    <a:lstStyle/>
                    <a:p>
                      <a:r>
                        <a:rPr sz="1050" b="0">
                          <a:solidFill>
                            <a:srgbClr val="222A35"/>
                          </a:solidFill>
                          <a:latin typeface="Arial"/>
                        </a:rPr>
                        <a:t>42</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12 / 16</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Name, scroll, number, Save;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FFFFF"/>
                    </a:solidFill>
                  </a:tcPr>
                </a:tc>
                <a:tc>
                  <a:txBody>
                    <a:bodyPr wrap="square"/>
                    <a:lstStyle/>
                    <a:p>
                      <a:r>
                        <a:rPr sz="1050" b="0" u="sng">
                          <a:solidFill>
                            <a:srgbClr val="0065BD"/>
                          </a:solidFill>
                          <a:latin typeface="Arial"/>
                          <a:hlinkClick r:id="rId7"/>
                        </a:rPr>
                        <a:t>2 of 3</a:t>
                      </a:r>
                    </a:p>
                  </a:txBody>
                  <a:tcPr marL="54864" marR="54864" marT="27432" marB="27432" anchor="ctr">
                    <a:solidFill>
                      <a:srgbClr val="FFFFFF"/>
                    </a:solidFill>
                  </a:tcPr>
                </a:tc>
                <a:tc>
                  <a:txBody>
                    <a:bodyPr wrap="square"/>
                    <a:lstStyle/>
                    <a:p>
                      <a:r>
                        <a:rPr sz="1050" b="0">
                          <a:solidFill>
                            <a:srgbClr val="222A35"/>
                          </a:solidFill>
                          <a:latin typeface="Arial"/>
                        </a:rPr>
                        <a:t>43</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11 / 16</a:t>
                      </a:r>
                    </a:p>
                  </a:txBody>
                  <a:tcPr marL="54864" marR="54864" marT="27432" marB="27432" anchor="ctr">
                    <a:solidFill>
                      <a:srgbClr val="FFFFFF"/>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other: navigation</a:t>
                      </a:r>
                    </a:p>
                  </a:txBody>
                  <a:tcPr marL="54864" marR="54864" marT="27432" marB="27432" anchor="ctr">
                    <a:solidFill>
                      <a:srgbClr val="FCECE0"/>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Swiped past Phone field; no-progress stop</a:t>
                      </a:r>
                    </a:p>
                  </a:txBody>
                  <a:tcPr marL="54864" marR="54864" marT="27432" marB="27432" anchor="ctr">
                    <a:solidFill>
                      <a:srgbClr val="FFFFFF"/>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2F5F9"/>
                    </a:solidFill>
                  </a:tcPr>
                </a:tc>
                <a:tc>
                  <a:txBody>
                    <a:bodyPr wrap="square"/>
                    <a:lstStyle/>
                    <a:p>
                      <a:r>
                        <a:rPr sz="1050" b="0" u="sng">
                          <a:solidFill>
                            <a:srgbClr val="0065BD"/>
                          </a:solidFill>
                          <a:latin typeface="Arial"/>
                          <a:hlinkClick r:id="rId8"/>
                        </a:rPr>
                        <a:t>3 of 3</a:t>
                      </a:r>
                    </a:p>
                  </a:txBody>
                  <a:tcPr marL="54864" marR="54864" marT="27432" marB="27432" anchor="ctr">
                    <a:solidFill>
                      <a:srgbClr val="F2F5F9"/>
                    </a:solidFill>
                  </a:tcPr>
                </a:tc>
                <a:tc>
                  <a:txBody>
                    <a:bodyPr wrap="square"/>
                    <a:lstStyle/>
                    <a:p>
                      <a:r>
                        <a:rPr sz="1050" b="0">
                          <a:solidFill>
                            <a:srgbClr val="222A35"/>
                          </a:solidFill>
                          <a:latin typeface="Arial"/>
                        </a:rPr>
                        <a:t>44</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11 / 16</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Name, scroll, number, Save;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SimpleSmsSend</a:t>
                      </a:r>
                    </a:p>
                  </a:txBody>
                  <a:tcPr marL="54864" marR="54864" marT="27432" marB="27432" anchor="ctr">
                    <a:solidFill>
                      <a:srgbClr val="FFFFFF"/>
                    </a:solidFill>
                  </a:tcPr>
                </a:tc>
                <a:tc>
                  <a:txBody>
                    <a:bodyPr wrap="square"/>
                    <a:lstStyle/>
                    <a:p>
                      <a:r>
                        <a:rPr sz="1050" b="0" u="sng">
                          <a:solidFill>
                            <a:srgbClr val="0065BD"/>
                          </a:solidFill>
                          <a:latin typeface="Arial"/>
                          <a:hlinkClick r:id="rId9"/>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9 / 20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New conversation, number, message, send</a:t>
                      </a:r>
                    </a:p>
                  </a:txBody>
                  <a:tcPr marL="54864" marR="54864" marT="27432" marB="27432" anchor="ctr">
                    <a:solidFill>
                      <a:srgbClr val="FFFFFF"/>
                    </a:solidFill>
                  </a:tcPr>
                </a:tc>
              </a:tr>
              <a:tr h="274320">
                <a:tc>
                  <a:txBody>
                    <a:bodyPr wrap="square"/>
                    <a:lstStyle/>
                    <a:p>
                      <a:r>
                        <a:rPr sz="1050" b="0">
                          <a:solidFill>
                            <a:srgbClr val="222A35"/>
                          </a:solidFill>
                          <a:latin typeface="Arial"/>
                        </a:rPr>
                        <a:t>SimpleSmsSend</a:t>
                      </a:r>
                    </a:p>
                  </a:txBody>
                  <a:tcPr marL="54864" marR="54864" marT="27432" marB="27432" anchor="ctr">
                    <a:solidFill>
                      <a:srgbClr val="F2F5F9"/>
                    </a:solidFill>
                  </a:tcPr>
                </a:tc>
                <a:tc>
                  <a:txBody>
                    <a:bodyPr wrap="square"/>
                    <a:lstStyle/>
                    <a:p>
                      <a:r>
                        <a:rPr sz="1050" b="0" u="sng">
                          <a:solidFill>
                            <a:srgbClr val="0065BD"/>
                          </a:solidFill>
                          <a:latin typeface="Arial"/>
                          <a:hlinkClick r:id="rId10"/>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7 / 20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Chinese app name resolved; sent in 7 steps</a:t>
                      </a:r>
                    </a:p>
                  </a:txBody>
                  <a:tcPr marL="54864" marR="54864" marT="27432" marB="27432" anchor="ctr">
                    <a:solidFill>
                      <a:srgbClr val="F2F5F9"/>
                    </a:solidFill>
                  </a:tcPr>
                </a:tc>
              </a:tr>
              <a:tr h="274320">
                <a:tc>
                  <a:txBody>
                    <a:bodyPr wrap="square"/>
                    <a:lstStyle/>
                    <a:p>
                      <a:r>
                        <a:rPr sz="1050" b="0">
                          <a:solidFill>
                            <a:srgbClr val="222A35"/>
                          </a:solidFill>
                          <a:latin typeface="Arial"/>
                        </a:rPr>
                        <a:t>SimpleSmsSend</a:t>
                      </a:r>
                    </a:p>
                  </a:txBody>
                  <a:tcPr marL="54864" marR="54864" marT="27432" marB="27432" anchor="ctr">
                    <a:solidFill>
                      <a:srgbClr val="FFFFFF"/>
                    </a:solidFill>
                  </a:tcPr>
                </a:tc>
                <a:tc>
                  <a:txBody>
                    <a:bodyPr wrap="square"/>
                    <a:lstStyle/>
                    <a:p>
                      <a:r>
                        <a:rPr sz="1050" b="0" u="sng">
                          <a:solidFill>
                            <a:srgbClr val="0065BD"/>
                          </a:solidFill>
                          <a:latin typeface="Arial"/>
                          <a:hlinkClick r:id="rId11"/>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7 / 20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Chinese app name resolved; sent in 7 steps</a:t>
                      </a:r>
                    </a:p>
                  </a:txBody>
                  <a:tcPr marL="54864" marR="54864" marT="27432" marB="27432" anchor="ctr">
                    <a:solidFill>
                      <a:srgbClr val="FFFFFF"/>
                    </a:solidFill>
                  </a:tcPr>
                </a:tc>
              </a:tr>
              <a:tr h="274320">
                <a:tc>
                  <a:txBody>
                    <a:bodyPr wrap="square"/>
                    <a:lstStyle/>
                    <a:p>
                      <a:r>
                        <a:rPr sz="1050" b="0">
                          <a:solidFill>
                            <a:srgbClr val="222A35"/>
                          </a:solidFill>
                          <a:latin typeface="Arial"/>
                        </a:rPr>
                        <a:t>FilesMoveFile</a:t>
                      </a:r>
                    </a:p>
                  </a:txBody>
                  <a:tcPr marL="54864" marR="54864" marT="27432" marB="27432" anchor="ctr">
                    <a:solidFill>
                      <a:srgbClr val="F2F5F9"/>
                    </a:solidFill>
                  </a:tcPr>
                </a:tc>
                <a:tc>
                  <a:txBody>
                    <a:bodyPr wrap="square"/>
                    <a:lstStyle/>
                    <a:p>
                      <a:r>
                        <a:rPr sz="1050" b="0" u="sng">
                          <a:solidFill>
                            <a:srgbClr val="0065BD"/>
                          </a:solidFill>
                          <a:latin typeface="Arial"/>
                          <a:hlinkClick r:id="rId12"/>
                        </a:rPr>
                        <a:t>1 of 3</a:t>
                      </a:r>
                    </a:p>
                  </a:txBody>
                  <a:tcPr marL="54864" marR="54864" marT="27432" marB="27432" anchor="ctr">
                    <a:solidFill>
                      <a:srgbClr val="F2F5F9"/>
                    </a:solidFill>
                  </a:tcPr>
                </a:tc>
                <a:tc>
                  <a:txBody>
                    <a:bodyPr wrap="square"/>
                    <a:lstStyle/>
                    <a:p>
                      <a:r>
                        <a:rPr sz="1050" b="0">
                          <a:solidFill>
                            <a:srgbClr val="222A35"/>
                          </a:solidFill>
                          <a:latin typeface="Arial"/>
                        </a:rPr>
                        <a:t>42</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17 / 25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Scrolled to file, Move to, MOVE;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FilesMoveFile</a:t>
                      </a:r>
                    </a:p>
                  </a:txBody>
                  <a:tcPr marL="54864" marR="54864" marT="27432" marB="27432" anchor="ctr">
                    <a:solidFill>
                      <a:srgbClr val="FFFFFF"/>
                    </a:solidFill>
                  </a:tcPr>
                </a:tc>
                <a:tc>
                  <a:txBody>
                    <a:bodyPr wrap="square"/>
                    <a:lstStyle/>
                    <a:p>
                      <a:r>
                        <a:rPr sz="1050" b="0" u="sng">
                          <a:solidFill>
                            <a:srgbClr val="0065BD"/>
                          </a:solidFill>
                          <a:latin typeface="Arial"/>
                          <a:hlinkClick r:id="rId13"/>
                        </a:rPr>
                        <a:t>2 of 3</a:t>
                      </a:r>
                    </a:p>
                  </a:txBody>
                  <a:tcPr marL="54864" marR="54864" marT="27432" marB="27432" anchor="ctr">
                    <a:solidFill>
                      <a:srgbClr val="FFFFFF"/>
                    </a:solidFill>
                  </a:tcPr>
                </a:tc>
                <a:tc>
                  <a:txBody>
                    <a:bodyPr wrap="square"/>
                    <a:lstStyle/>
                    <a:p>
                      <a:r>
                        <a:rPr sz="1050" b="0">
                          <a:solidFill>
                            <a:srgbClr val="222A35"/>
                          </a:solidFill>
                          <a:latin typeface="Arial"/>
                        </a:rPr>
                        <a:t>43</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13 / 25</a:t>
                      </a:r>
                    </a:p>
                  </a:txBody>
                  <a:tcPr marL="54864" marR="54864" marT="27432" marB="27432" anchor="ctr">
                    <a:solidFill>
                      <a:srgbClr val="FFFFFF"/>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false_done</a:t>
                      </a:r>
                    </a:p>
                  </a:txBody>
                  <a:tcPr marL="54864" marR="54864" marT="27432" marB="27432" anchor="ctr">
                    <a:solidFill>
                      <a:srgbClr val="FCECE0"/>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Moved look-alike file, then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FilesMoveFile</a:t>
                      </a:r>
                    </a:p>
                  </a:txBody>
                  <a:tcPr marL="54864" marR="54864" marT="27432" marB="27432" anchor="ctr">
                    <a:solidFill>
                      <a:srgbClr val="F2F5F9"/>
                    </a:solidFill>
                  </a:tcPr>
                </a:tc>
                <a:tc>
                  <a:txBody>
                    <a:bodyPr wrap="square"/>
                    <a:lstStyle/>
                    <a:p>
                      <a:r>
                        <a:rPr sz="1050" b="0" u="sng">
                          <a:solidFill>
                            <a:srgbClr val="0065BD"/>
                          </a:solidFill>
                          <a:latin typeface="Arial"/>
                          <a:hlinkClick r:id="rId14"/>
                        </a:rPr>
                        <a:t>3 of 3</a:t>
                      </a:r>
                    </a:p>
                  </a:txBody>
                  <a:tcPr marL="54864" marR="54864" marT="27432" marB="27432" anchor="ctr">
                    <a:solidFill>
                      <a:srgbClr val="F2F5F9"/>
                    </a:solidFill>
                  </a:tcPr>
                </a:tc>
                <a:tc>
                  <a:txBody>
                    <a:bodyPr wrap="square"/>
                    <a:lstStyle/>
                    <a:p>
                      <a:r>
                        <a:rPr sz="1050" b="0">
                          <a:solidFill>
                            <a:srgbClr val="222A35"/>
                          </a:solidFill>
                          <a:latin typeface="Arial"/>
                        </a:rPr>
                        <a:t>44</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13 / 25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Same procedure; 1 malformed reply corrected</a:t>
                      </a:r>
                    </a:p>
                  </a:txBody>
                  <a:tcPr marL="54864" marR="54864" marT="27432" marB="27432" anchor="ctr">
                    <a:solidFill>
                      <a:srgbClr val="F2F5F9"/>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FFFFF"/>
                    </a:solidFill>
                  </a:tcPr>
                </a:tc>
                <a:tc>
                  <a:txBody>
                    <a:bodyPr wrap="square"/>
                    <a:lstStyle/>
                    <a:p>
                      <a:r>
                        <a:rPr sz="1050" b="0" u="sng">
                          <a:solidFill>
                            <a:srgbClr val="0065BD"/>
                          </a:solidFill>
                          <a:latin typeface="Arial"/>
                          <a:hlinkClick r:id="rId15"/>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20 / 35</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Title, text, date, time, length; 1 fix</a:t>
                      </a:r>
                    </a:p>
                  </a:txBody>
                  <a:tcPr marL="54864" marR="54864" marT="27432" marB="27432" anchor="ctr">
                    <a:solidFill>
                      <a:srgbClr val="FFFFFF"/>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2F5F9"/>
                    </a:solidFill>
                  </a:tcPr>
                </a:tc>
                <a:tc>
                  <a:txBody>
                    <a:bodyPr wrap="square"/>
                    <a:lstStyle/>
                    <a:p>
                      <a:r>
                        <a:rPr sz="1050" b="0" u="sng">
                          <a:solidFill>
                            <a:srgbClr val="0065BD"/>
                          </a:solidFill>
                          <a:latin typeface="Arial"/>
                          <a:hlinkClick r:id="rId16"/>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21 / 35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Saved event; 1 unsupported action fixed</a:t>
                      </a:r>
                    </a:p>
                  </a:txBody>
                  <a:tcPr marL="54864" marR="54864" marT="27432" marB="27432" anchor="ctr">
                    <a:solidFill>
                      <a:srgbClr val="F2F5F9"/>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FFFFF"/>
                    </a:solidFill>
                  </a:tcPr>
                </a:tc>
                <a:tc>
                  <a:txBody>
                    <a:bodyPr wrap="square"/>
                    <a:lstStyle/>
                    <a:p>
                      <a:r>
                        <a:rPr sz="1050" b="0" u="sng">
                          <a:solidFill>
                            <a:srgbClr val="0065BD"/>
                          </a:solidFill>
                          <a:latin typeface="Arial"/>
                          <a:hlinkClick r:id="rId17"/>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16 / 35</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Saved event in 16 steps; no refusals</a:t>
                      </a:r>
                    </a:p>
                  </a:txBody>
                  <a:tcPr marL="54864" marR="54864"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Run log (2/2): the two multi-app tasks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14</a:t>
            </a:r>
          </a:p>
        </p:txBody>
      </p:sp>
      <p:sp>
        <p:nvSpPr>
          <p:cNvPr id="9" name="TextBox 8"/>
          <p:cNvSpPr txBox="1"/>
          <p:nvPr/>
        </p:nvSpPr>
        <p:spPr>
          <a:xfrm>
            <a:off x="548640" y="1188720"/>
            <a:ext cx="11064240" cy="320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1920240"/>
        </p:xfrm>
        <a:graphic>
          <a:graphicData uri="http://schemas.openxmlformats.org/drawingml/2006/table">
            <a:tbl>
              <a:tblPr firstRow="1" bandRow="1">
                <a:tableStyleId>{5C22544A-7EE6-4342-B048-85BDC9FD1C3A}</a:tableStyleId>
              </a:tblPr>
              <a:tblGrid>
                <a:gridCol w="1965960"/>
                <a:gridCol w="594360"/>
                <a:gridCol w="457200"/>
                <a:gridCol w="1371600"/>
                <a:gridCol w="822960"/>
                <a:gridCol w="685800"/>
                <a:gridCol w="960120"/>
                <a:gridCol w="502920"/>
                <a:gridCol w="3703320"/>
              </a:tblGrid>
              <a:tr h="274320">
                <a:tc>
                  <a:txBody>
                    <a:bodyPr wrap="square"/>
                    <a:lstStyle/>
                    <a:p>
                      <a:r>
                        <a:rPr sz="1050" b="1">
                          <a:solidFill>
                            <a:srgbClr val="FFFFFF"/>
                          </a:solidFill>
                          <a:latin typeface="Arial"/>
                        </a:rPr>
                        <a:t>Task</a:t>
                      </a:r>
                    </a:p>
                  </a:txBody>
                  <a:tcPr marL="54864" marR="54864" marT="27432" marB="27432" anchor="ctr">
                    <a:solidFill>
                      <a:srgbClr val="072140"/>
                    </a:solidFill>
                  </a:tcPr>
                </a:tc>
                <a:tc>
                  <a:txBody>
                    <a:bodyPr wrap="square"/>
                    <a:lstStyle/>
                    <a:p>
                      <a:r>
                        <a:rPr sz="1050" b="1">
                          <a:solidFill>
                            <a:srgbClr val="FFFFFF"/>
                          </a:solidFill>
                          <a:latin typeface="Arial"/>
                        </a:rPr>
                        <a:t>Run</a:t>
                      </a:r>
                    </a:p>
                  </a:txBody>
                  <a:tcPr marL="54864" marR="54864" marT="27432" marB="27432" anchor="ctr">
                    <a:solidFill>
                      <a:srgbClr val="072140"/>
                    </a:solidFill>
                  </a:tcPr>
                </a:tc>
                <a:tc>
                  <a:txBody>
                    <a:bodyPr wrap="square"/>
                    <a:lstStyle/>
                    <a:p>
                      <a:r>
                        <a:rPr sz="1050" b="1">
                          <a:solidFill>
                            <a:srgbClr val="FFFFFF"/>
                          </a:solidFill>
                          <a:latin typeface="Arial"/>
                        </a:rPr>
                        <a:t>Seed</a:t>
                      </a:r>
                    </a:p>
                  </a:txBody>
                  <a:tcPr marL="54864" marR="54864" marT="27432" marB="27432" anchor="ctr">
                    <a:solidFill>
                      <a:srgbClr val="072140"/>
                    </a:solidFill>
                  </a:tcPr>
                </a:tc>
                <a:tc>
                  <a:txBody>
                    <a:bodyPr wrap="square"/>
                    <a:lstStyle/>
                    <a:p>
                      <a:r>
                        <a:rPr sz="1050" b="1">
                          <a:solidFill>
                            <a:srgbClr val="FFFFFF"/>
                          </a:solidFill>
                          <a:latin typeface="Arial"/>
                        </a:rPr>
                        <a:t>Observation</a:t>
                      </a:r>
                    </a:p>
                  </a:txBody>
                  <a:tcPr marL="54864" marR="54864" marT="27432" marB="27432" anchor="ctr">
                    <a:solidFill>
                      <a:srgbClr val="072140"/>
                    </a:solidFill>
                  </a:tcPr>
                </a:tc>
                <a:tc>
                  <a:txBody>
                    <a:bodyPr wrap="square"/>
                    <a:lstStyle/>
                    <a:p>
                      <a:r>
                        <a:rPr sz="1050" b="1">
                          <a:solidFill>
                            <a:srgbClr val="FFFFFF"/>
                          </a:solidFill>
                          <a:latin typeface="Arial"/>
                        </a:rPr>
                        <a:t>Steps / budget</a:t>
                      </a:r>
                    </a:p>
                  </a:txBody>
                  <a:tcPr marL="54864" marR="54864" marT="27432" marB="27432" anchor="ctr">
                    <a:solidFill>
                      <a:srgbClr val="072140"/>
                    </a:solidFill>
                  </a:tcPr>
                </a:tc>
                <a:tc>
                  <a:txBody>
                    <a:bodyPr wrap="square"/>
                    <a:lstStyle/>
                    <a:p>
                      <a:r>
                        <a:rPr sz="1050" b="1">
                          <a:solidFill>
                            <a:srgbClr val="FFFFFF"/>
                          </a:solidFill>
                          <a:latin typeface="Arial"/>
                        </a:rPr>
                        <a:t>Verifier</a:t>
                      </a:r>
                    </a:p>
                  </a:txBody>
                  <a:tcPr marL="54864" marR="54864" marT="27432" marB="27432" anchor="ctr">
                    <a:solidFill>
                      <a:srgbClr val="072140"/>
                    </a:solidFill>
                  </a:tcPr>
                </a:tc>
                <a:tc>
                  <a:txBody>
                    <a:bodyPr wrap="square"/>
                    <a:lstStyle/>
                    <a:p>
                      <a:r>
                        <a:rPr sz="1050" b="1">
                          <a:solidFill>
                            <a:srgbClr val="FFFFFF"/>
                          </a:solidFill>
                          <a:latin typeface="Arial"/>
                        </a:rPr>
                        <a:t>Failure class</a:t>
                      </a:r>
                    </a:p>
                  </a:txBody>
                  <a:tcPr marL="54864" marR="54864" marT="27432" marB="27432" anchor="ctr">
                    <a:solidFill>
                      <a:srgbClr val="072140"/>
                    </a:solidFill>
                  </a:tcPr>
                </a:tc>
                <a:tc>
                  <a:txBody>
                    <a:bodyPr wrap="square"/>
                    <a:lstStyle/>
                    <a:p>
                      <a:r>
                        <a:rPr sz="1050" b="1">
                          <a:solidFill>
                            <a:srgbClr val="FFFFFF"/>
                          </a:solidFill>
                          <a:latin typeface="Arial"/>
                        </a:rPr>
                        <a:t>Clips</a:t>
                      </a:r>
                    </a:p>
                  </a:txBody>
                  <a:tcPr marL="54864" marR="54864" marT="27432" marB="27432" anchor="ctr">
                    <a:solidFill>
                      <a:srgbClr val="072140"/>
                    </a:solidFill>
                  </a:tcPr>
                </a:tc>
                <a:tc>
                  <a:txBody>
                    <a:bodyPr wrap="square"/>
                    <a:lstStyle/>
                    <a:p>
                      <a:r>
                        <a:rPr sz="1050" b="1">
                          <a:solidFill>
                            <a:srgbClr val="FFFFFF"/>
                          </a:solidFill>
                          <a:latin typeface="Arial"/>
                        </a:rPr>
                        <a:t>Note</a:t>
                      </a:r>
                    </a:p>
                  </a:txBody>
                  <a:tcPr marL="54864" marR="54864" marT="27432" marB="27432" anchor="ctr">
                    <a:solidFill>
                      <a:srgbClr val="072140"/>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FFFFF"/>
                    </a:solidFill>
                  </a:tcPr>
                </a:tc>
                <a:tc>
                  <a:txBody>
                    <a:bodyPr wrap="square"/>
                    <a:lstStyle/>
                    <a:p>
                      <a:r>
                        <a:rPr sz="1050" b="0" u="sng">
                          <a:solidFill>
                            <a:srgbClr val="0065BD"/>
                          </a:solidFill>
                          <a:latin typeface="Arial"/>
                          <a:hlinkClick r:id="rId3"/>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 + Skill</a:t>
                      </a:r>
                    </a:p>
                  </a:txBody>
                  <a:tcPr marL="54864" marR="54864" marT="27432" marB="27432" anchor="ctr">
                    <a:solidFill>
                      <a:srgbClr val="FFFFFF"/>
                    </a:solidFill>
                  </a:tcPr>
                </a:tc>
                <a:tc>
                  <a:txBody>
                    <a:bodyPr wrap="square"/>
                    <a:lstStyle/>
                    <a:p>
                      <a:r>
                        <a:rPr sz="1050" b="0">
                          <a:solidFill>
                            <a:srgbClr val="222A35"/>
                          </a:solidFill>
                          <a:latin typeface="Arial"/>
                        </a:rPr>
                        <a:t>18 / 40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2</a:t>
                      </a:r>
                    </a:p>
                  </a:txBody>
                  <a:tcPr marL="54864" marR="54864" marT="27432" marB="27432" anchor="ctr">
                    <a:solidFill>
                      <a:srgbClr val="FFFFFF"/>
                    </a:solidFill>
                  </a:tcPr>
                </a:tc>
                <a:tc>
                  <a:txBody>
                    <a:bodyPr wrap="square"/>
                    <a:lstStyle/>
                    <a:p>
                      <a:r>
                        <a:rPr sz="1050" b="0">
                          <a:solidFill>
                            <a:srgbClr val="222A35"/>
                          </a:solidFill>
                          <a:latin typeface="Arial"/>
                        </a:rPr>
                        <a:t>Created the note with the right name and text and saved it; launched Simple SMS Messenger by a Chinese name (resolved by the alias table); typed the same text into a new plain SMS and sent it.</a:t>
                      </a:r>
                    </a:p>
                  </a:txBody>
                  <a:tcPr marL="54864" marR="54864" marT="27432" marB="27432" anchor="ctr">
                    <a:solidFill>
                      <a:srgbClr val="FFFFFF"/>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2F5F9"/>
                    </a:solidFill>
                  </a:tcPr>
                </a:tc>
                <a:tc>
                  <a:txBody>
                    <a:bodyPr wrap="square"/>
                    <a:lstStyle/>
                    <a:p>
                      <a:r>
                        <a:rPr sz="1050" b="0" u="sng">
                          <a:solidFill>
                            <a:srgbClr val="0065BD"/>
                          </a:solidFill>
                          <a:latin typeface="Arial"/>
                          <a:hlinkClick r:id="rId4"/>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 + Skill</a:t>
                      </a:r>
                    </a:p>
                  </a:txBody>
                  <a:tcPr marL="54864" marR="54864" marT="27432" marB="27432" anchor="ctr">
                    <a:solidFill>
                      <a:srgbClr val="F2F5F9"/>
                    </a:solidFill>
                  </a:tcPr>
                </a:tc>
                <a:tc>
                  <a:txBody>
                    <a:bodyPr wrap="square"/>
                    <a:lstStyle/>
                    <a:p>
                      <a:r>
                        <a:rPr sz="1050" b="0">
                          <a:solidFill>
                            <a:srgbClr val="222A35"/>
                          </a:solidFill>
                          <a:latin typeface="Arial"/>
                        </a:rPr>
                        <a:t>18 / 40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2</a:t>
                      </a:r>
                    </a:p>
                  </a:txBody>
                  <a:tcPr marL="54864" marR="54864" marT="27432" marB="27432" anchor="ctr">
                    <a:solidFill>
                      <a:srgbClr val="F2F5F9"/>
                    </a:solidFill>
                  </a:tcPr>
                </a:tc>
                <a:tc>
                  <a:txBody>
                    <a:bodyPr wrap="square"/>
                    <a:lstStyle/>
                    <a:p>
                      <a:r>
                        <a:rPr sz="1050" b="0">
                          <a:solidFill>
                            <a:srgbClr val="222A35"/>
                          </a:solidFill>
                          <a:latin typeface="Arial"/>
                        </a:rPr>
                        <a:t>Typed the name, replaced the extension with .txt, typed and saved the text, then sent it as a plain SMS. One truncated model reply was retried.</a:t>
                      </a:r>
                    </a:p>
                  </a:txBody>
                  <a:tcPr marL="54864" marR="54864" marT="27432" marB="27432" anchor="ctr">
                    <a:solidFill>
                      <a:srgbClr val="F2F5F9"/>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FFFFF"/>
                    </a:solidFill>
                  </a:tcPr>
                </a:tc>
                <a:tc>
                  <a:txBody>
                    <a:bodyPr wrap="square"/>
                    <a:lstStyle/>
                    <a:p>
                      <a:r>
                        <a:rPr sz="1050" b="0" u="sng">
                          <a:solidFill>
                            <a:srgbClr val="0065BD"/>
                          </a:solidFill>
                          <a:latin typeface="Arial"/>
                          <a:hlinkClick r:id="rId5"/>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 + Skill</a:t>
                      </a:r>
                    </a:p>
                  </a:txBody>
                  <a:tcPr marL="54864" marR="54864" marT="27432" marB="27432" anchor="ctr">
                    <a:solidFill>
                      <a:srgbClr val="FFFFFF"/>
                    </a:solidFill>
                  </a:tcPr>
                </a:tc>
                <a:tc>
                  <a:txBody>
                    <a:bodyPr wrap="square"/>
                    <a:lstStyle/>
                    <a:p>
                      <a:r>
                        <a:rPr sz="1050" b="0">
                          <a:solidFill>
                            <a:srgbClr val="222A35"/>
                          </a:solidFill>
                          <a:latin typeface="Arial"/>
                        </a:rPr>
                        <a:t>15 / 40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2</a:t>
                      </a:r>
                    </a:p>
                  </a:txBody>
                  <a:tcPr marL="54864" marR="54864" marT="27432" marB="27432" anchor="ctr">
                    <a:solidFill>
                      <a:srgbClr val="FFFFFF"/>
                    </a:solidFill>
                  </a:tcPr>
                </a:tc>
                <a:tc>
                  <a:txBody>
                    <a:bodyPr wrap="square"/>
                    <a:lstStyle/>
                    <a:p>
                      <a:r>
                        <a:rPr sz="1050" b="0">
                          <a:solidFill>
                            <a:srgbClr val="222A35"/>
                          </a:solidFill>
                          <a:latin typeface="Arial"/>
                        </a:rPr>
                        <a:t>New file, name and extension, text, Save; then Simple SMS Messenger, number, the text, SMS button. 15 steps.</a:t>
                      </a:r>
                    </a:p>
                  </a:txBody>
                  <a:tcPr marL="54864" marR="54864" marT="27432" marB="27432" anchor="ctr">
                    <a:solidFill>
                      <a:srgbClr val="FFFFFF"/>
                    </a:solidFill>
                  </a:tcPr>
                </a:tc>
              </a:tr>
              <a:tr h="274320">
                <a:tc>
                  <a:txBody>
                    <a:bodyPr wrap="square"/>
                    <a:lstStyle/>
                    <a:p>
                      <a:r>
                        <a:rPr sz="1050" b="0">
                          <a:solidFill>
                            <a:srgbClr val="222A35"/>
                          </a:solidFill>
                          <a:latin typeface="Arial"/>
                        </a:rPr>
                        <a:t>OsmAndTrack</a:t>
                      </a:r>
                    </a:p>
                  </a:txBody>
                  <a:tcPr marL="54864" marR="54864" marT="27432" marB="27432" anchor="ctr">
                    <a:solidFill>
                      <a:srgbClr val="F2F5F9"/>
                    </a:solidFill>
                  </a:tcPr>
                </a:tc>
                <a:tc>
                  <a:txBody>
                    <a:bodyPr wrap="square"/>
                    <a:lstStyle/>
                    <a:p>
                      <a:r>
                        <a:rPr sz="1050" b="0" u="sng">
                          <a:solidFill>
                            <a:srgbClr val="0065BD"/>
                          </a:solidFill>
                          <a:latin typeface="Arial"/>
                          <a:hlinkClick r:id="rId6"/>
                        </a:rPr>
                        <a:t>1 of 3</a:t>
                      </a:r>
                    </a:p>
                  </a:txBody>
                  <a:tcPr marL="54864" marR="54864" marT="27432" marB="27432" anchor="ctr">
                    <a:solidFill>
                      <a:srgbClr val="F2F5F9"/>
                    </a:solidFill>
                  </a:tcPr>
                </a:tc>
                <a:tc>
                  <a:txBody>
                    <a:bodyPr wrap="square"/>
                    <a:lstStyle/>
                    <a:p>
                      <a:r>
                        <a:rPr sz="1050" b="0">
                          <a:solidFill>
                            <a:srgbClr val="222A35"/>
                          </a:solidFill>
                          <a:latin typeface="Arial"/>
                        </a:rPr>
                        <a:t>31</a:t>
                      </a:r>
                    </a:p>
                  </a:txBody>
                  <a:tcPr marL="54864" marR="54864" marT="27432" marB="27432" anchor="ctr">
                    <a:solidFill>
                      <a:srgbClr val="F2F5F9"/>
                    </a:solidFill>
                  </a:tcPr>
                </a:tc>
                <a:tc>
                  <a:txBody>
                    <a:bodyPr wrap="square"/>
                    <a:lstStyle/>
                    <a:p>
                      <a:r>
                        <a:rPr sz="1050" b="0">
                          <a:solidFill>
                            <a:srgbClr val="222A35"/>
                          </a:solidFill>
                          <a:latin typeface="Arial"/>
                        </a:rPr>
                        <a:t>screenshot + tree + Skill</a:t>
                      </a:r>
                    </a:p>
                  </a:txBody>
                  <a:tcPr marL="54864" marR="54864" marT="27432" marB="27432" anchor="ctr">
                    <a:solidFill>
                      <a:srgbClr val="F2F5F9"/>
                    </a:solidFill>
                  </a:tcPr>
                </a:tc>
                <a:tc>
                  <a:txBody>
                    <a:bodyPr wrap="square"/>
                    <a:lstStyle/>
                    <a:p>
                      <a:r>
                        <a:rPr sz="1050" b="0">
                          <a:solidFill>
                            <a:srgbClr val="222A35"/>
                          </a:solidFill>
                          <a:latin typeface="Arial"/>
                        </a:rPr>
                        <a:t>22 / 90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4</a:t>
                      </a:r>
                    </a:p>
                  </a:txBody>
                  <a:tcPr marL="54864" marR="54864" marT="27432" marB="27432" anchor="ctr">
                    <a:solidFill>
                      <a:srgbClr val="F2F5F9"/>
                    </a:solidFill>
                  </a:tcPr>
                </a:tc>
                <a:tc>
                  <a:txBody>
                    <a:bodyPr wrap="square"/>
                    <a:lstStyle/>
                    <a:p>
                      <a:r>
                        <a:rPr sz="1050" b="0">
                          <a:solidFill>
                            <a:srgbClr val="222A35"/>
                          </a:solidFill>
                          <a:latin typeface="Arial"/>
                        </a:rPr>
                        <a:t>Before the run the runner restored OsmAnd's map (the Files runs had cleared storage). Three radius increases and one scroll found the Ruggell village; Actions &gt; Plan a route; searched Bendern, SHOW ON THE MAP, Back x3, Add, Done. The Favorite button and one unfocused Type were refused.</a:t>
                      </a:r>
                    </a:p>
                  </a:txBody>
                  <a:tcPr marL="54864" marR="54864" marT="27432" marB="27432" anchor="ctr">
                    <a:solidFill>
                      <a:srgbClr val="F2F5F9"/>
                    </a:solidFill>
                  </a:tcPr>
                </a:tc>
              </a:tr>
              <a:tr h="274320">
                <a:tc>
                  <a:txBody>
                    <a:bodyPr wrap="square"/>
                    <a:lstStyle/>
                    <a:p>
                      <a:r>
                        <a:rPr sz="1050" b="0">
                          <a:solidFill>
                            <a:srgbClr val="222A35"/>
                          </a:solidFill>
                          <a:latin typeface="Arial"/>
                        </a:rPr>
                        <a:t>OsmAndTrack</a:t>
                      </a:r>
                    </a:p>
                  </a:txBody>
                  <a:tcPr marL="54864" marR="54864" marT="27432" marB="27432" anchor="ctr">
                    <a:solidFill>
                      <a:srgbClr val="FFFFFF"/>
                    </a:solidFill>
                  </a:tcPr>
                </a:tc>
                <a:tc>
                  <a:txBody>
                    <a:bodyPr wrap="square"/>
                    <a:lstStyle/>
                    <a:p>
                      <a:r>
                        <a:rPr sz="1050" b="0" u="sng">
                          <a:solidFill>
                            <a:srgbClr val="0065BD"/>
                          </a:solidFill>
                          <a:latin typeface="Arial"/>
                          <a:hlinkClick r:id="rId7"/>
                        </a:rPr>
                        <a:t>2 of 3</a:t>
                      </a:r>
                    </a:p>
                  </a:txBody>
                  <a:tcPr marL="54864" marR="54864" marT="27432" marB="27432" anchor="ctr">
                    <a:solidFill>
                      <a:srgbClr val="FFFFFF"/>
                    </a:solidFill>
                  </a:tcPr>
                </a:tc>
                <a:tc>
                  <a:txBody>
                    <a:bodyPr wrap="square"/>
                    <a:lstStyle/>
                    <a:p>
                      <a:r>
                        <a:rPr sz="1050" b="0">
                          <a:solidFill>
                            <a:srgbClr val="222A35"/>
                          </a:solidFill>
                          <a:latin typeface="Arial"/>
                        </a:rPr>
                        <a:t>314</a:t>
                      </a:r>
                    </a:p>
                  </a:txBody>
                  <a:tcPr marL="54864" marR="54864" marT="27432" marB="27432" anchor="ctr">
                    <a:solidFill>
                      <a:srgbClr val="FFFFFF"/>
                    </a:solidFill>
                  </a:tcPr>
                </a:tc>
                <a:tc>
                  <a:txBody>
                    <a:bodyPr wrap="square"/>
                    <a:lstStyle/>
                    <a:p>
                      <a:r>
                        <a:rPr sz="1050" b="0">
                          <a:solidFill>
                            <a:srgbClr val="222A35"/>
                          </a:solidFill>
                          <a:latin typeface="Arial"/>
                        </a:rPr>
                        <a:t>screenshot + tree + Skill</a:t>
                      </a:r>
                    </a:p>
                  </a:txBody>
                  <a:tcPr marL="54864" marR="54864" marT="27432" marB="27432" anchor="ctr">
                    <a:solidFill>
                      <a:srgbClr val="FFFFFF"/>
                    </a:solidFill>
                  </a:tcPr>
                </a:tc>
                <a:tc>
                  <a:txBody>
                    <a:bodyPr wrap="square"/>
                    <a:lstStyle/>
                    <a:p>
                      <a:r>
                        <a:rPr sz="1050" b="0">
                          <a:solidFill>
                            <a:srgbClr val="222A35"/>
                          </a:solidFill>
                          <a:latin typeface="Arial"/>
                        </a:rPr>
                        <a:t>23 / 90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3</a:t>
                      </a:r>
                    </a:p>
                  </a:txBody>
                  <a:tcPr marL="54864" marR="54864" marT="27432" marB="27432" anchor="ctr">
                    <a:solidFill>
                      <a:srgbClr val="FFFFFF"/>
                    </a:solidFill>
                  </a:tcPr>
                </a:tc>
                <a:tc>
                  <a:txBody>
                    <a:bodyPr wrap="square"/>
                    <a:lstStyle/>
                    <a:p>
                      <a:r>
                        <a:rPr sz="1050" b="0">
                          <a:solidFill>
                            <a:srgbClr val="222A35"/>
                          </a:solidFill>
                          <a:latin typeface="Arial"/>
                        </a:rPr>
                        <a:t>Same procedure as run 1; the accessibility service's “keeps stopping” dialog appeared and the model closed it; one unfocused Type was refused. Shown on slide 10.</a:t>
                      </a:r>
                    </a:p>
                  </a:txBody>
                  <a:tcPr marL="54864" marR="54864" marT="27432" marB="27432" anchor="ctr">
                    <a:solidFill>
                      <a:srgbClr val="FFFFFF"/>
                    </a:solidFill>
                  </a:tcPr>
                </a:tc>
              </a:tr>
              <a:tr h="274320">
                <a:tc>
                  <a:txBody>
                    <a:bodyPr wrap="square"/>
                    <a:lstStyle/>
                    <a:p>
                      <a:r>
                        <a:rPr sz="1050" b="0">
                          <a:solidFill>
                            <a:srgbClr val="222A35"/>
                          </a:solidFill>
                          <a:latin typeface="Arial"/>
                        </a:rPr>
                        <a:t>OsmAndTrack</a:t>
                      </a:r>
                    </a:p>
                  </a:txBody>
                  <a:tcPr marL="54864" marR="54864" marT="27432" marB="27432" anchor="ctr">
                    <a:solidFill>
                      <a:srgbClr val="F2F5F9"/>
                    </a:solidFill>
                  </a:tcPr>
                </a:tc>
                <a:tc>
                  <a:txBody>
                    <a:bodyPr wrap="square"/>
                    <a:lstStyle/>
                    <a:p>
                      <a:r>
                        <a:rPr sz="1050" b="0" u="sng">
                          <a:solidFill>
                            <a:srgbClr val="0065BD"/>
                          </a:solidFill>
                          <a:latin typeface="Arial"/>
                          <a:hlinkClick r:id="rId8"/>
                        </a:rPr>
                        <a:t>3 of 3</a:t>
                      </a:r>
                    </a:p>
                  </a:txBody>
                  <a:tcPr marL="54864" marR="54864" marT="27432" marB="27432" anchor="ctr">
                    <a:solidFill>
                      <a:srgbClr val="F2F5F9"/>
                    </a:solidFill>
                  </a:tcPr>
                </a:tc>
                <a:tc>
                  <a:txBody>
                    <a:bodyPr wrap="square"/>
                    <a:lstStyle/>
                    <a:p>
                      <a:r>
                        <a:rPr sz="1050" b="0">
                          <a:solidFill>
                            <a:srgbClr val="222A35"/>
                          </a:solidFill>
                          <a:latin typeface="Arial"/>
                        </a:rPr>
                        <a:t>366</a:t>
                      </a:r>
                    </a:p>
                  </a:txBody>
                  <a:tcPr marL="54864" marR="54864" marT="27432" marB="27432" anchor="ctr">
                    <a:solidFill>
                      <a:srgbClr val="F2F5F9"/>
                    </a:solidFill>
                  </a:tcPr>
                </a:tc>
                <a:tc>
                  <a:txBody>
                    <a:bodyPr wrap="square"/>
                    <a:lstStyle/>
                    <a:p>
                      <a:r>
                        <a:rPr sz="1050" b="0">
                          <a:solidFill>
                            <a:srgbClr val="222A35"/>
                          </a:solidFill>
                          <a:latin typeface="Arial"/>
                        </a:rPr>
                        <a:t>screenshot + tree + Skill</a:t>
                      </a:r>
                    </a:p>
                  </a:txBody>
                  <a:tcPr marL="54864" marR="54864" marT="27432" marB="27432" anchor="ctr">
                    <a:solidFill>
                      <a:srgbClr val="F2F5F9"/>
                    </a:solidFill>
                  </a:tcPr>
                </a:tc>
                <a:tc>
                  <a:txBody>
                    <a:bodyPr wrap="square"/>
                    <a:lstStyle/>
                    <a:p>
                      <a:r>
                        <a:rPr sz="1050" b="0">
                          <a:solidFill>
                            <a:srgbClr val="222A35"/>
                          </a:solidFill>
                          <a:latin typeface="Arial"/>
                        </a:rPr>
                        <a:t>16 / 90</a:t>
                      </a:r>
                    </a:p>
                  </a:txBody>
                  <a:tcPr marL="54864" marR="54864" marT="27432" marB="27432" anchor="ctr">
                    <a:solidFill>
                      <a:srgbClr val="F2F5F9"/>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grounding</a:t>
                      </a:r>
                    </a:p>
                  </a:txBody>
                  <a:tcPr marL="54864" marR="54864" marT="27432" marB="27432" anchor="ctr">
                    <a:solidFill>
                      <a:srgbClr val="FCECE0"/>
                    </a:solidFill>
                  </a:tcPr>
                </a:tc>
                <a:tc>
                  <a:txBody>
                    <a:bodyPr wrap="square"/>
                    <a:lstStyle/>
                    <a:p>
                      <a:r>
                        <a:rPr sz="1050" b="0">
                          <a:solidFill>
                            <a:srgbClr val="222A35"/>
                          </a:solidFill>
                          <a:latin typeface="Arial"/>
                        </a:rPr>
                        <a:t>2</a:t>
                      </a:r>
                    </a:p>
                  </a:txBody>
                  <a:tcPr marL="54864" marR="54864" marT="27432" marB="27432" anchor="ctr">
                    <a:solidFill>
                      <a:srgbClr val="F2F5F9"/>
                    </a:solidFill>
                  </a:tcPr>
                </a:tc>
                <a:tc>
                  <a:txBody>
                    <a:bodyPr wrap="square"/>
                    <a:lstStyle/>
                    <a:p>
                      <a:r>
                        <a:rPr sz="1050" b="0">
                          <a:solidFill>
                            <a:srgbClr val="222A35"/>
                          </a:solidFill>
                          <a:latin typeface="Arial"/>
                        </a:rPr>
                        <a:t>Ruggell became route point 1 and the crash dialog was closed; in the second search the code stated “Tap Clear at [941, 83]” but the model tapped [941, 57], the top edge of the button, three times with no effect. No-progress stop.</a:t>
                      </a:r>
                    </a:p>
                  </a:txBody>
                  <a:tcPr marL="54864" marR="54864" marT="27432" marB="27432" anchor="ctr">
                    <a:solidFill>
                      <a:srgbClr val="F2F5F9"/>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All 21 evaluation runs at once (sped up)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15</a:t>
            </a:r>
          </a:p>
        </p:txBody>
      </p:sp>
      <p:pic>
        <p:nvPicPr>
          <p:cNvPr id="9" name="wall_21_run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0080" y="1371600"/>
            <a:ext cx="5232654" cy="4983480"/>
          </a:xfrm>
          <a:prstGeom prst="rect">
            <a:avLst/>
          </a:prstGeom>
        </p:spPr>
      </p:pic>
      <p:sp>
        <p:nvSpPr>
          <p:cNvPr id="10" name="Rectangle 9"/>
          <p:cNvSpPr/>
          <p:nvPr/>
        </p:nvSpPr>
        <p:spPr>
          <a:xfrm>
            <a:off x="6263640" y="1371600"/>
            <a:ext cx="5303520" cy="4983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3640" y="1371600"/>
            <a:ext cx="54864" cy="4983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28231" y="1463040"/>
            <a:ext cx="504748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How to read it</a:t>
            </a:r>
          </a:p>
        </p:txBody>
      </p:sp>
      <p:sp>
        <p:nvSpPr>
          <p:cNvPr id="13" name="TextBox 12"/>
          <p:cNvSpPr txBox="1"/>
          <p:nvPr/>
        </p:nvSpPr>
        <p:spPr>
          <a:xfrm>
            <a:off x="6428231" y="1874519"/>
            <a:ext cx="5029200" cy="443484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0">
                <a:solidFill>
                  <a:srgbClr val="222A35"/>
                </a:solidFill>
                <a:latin typeface="Arial"/>
              </a:rPr>
              <a:t>Columns: Wi-Fi, Contacts, SMS, Files, Calendar, Markor + SMS, OsmAnd</a:t>
            </a:r>
          </a:p>
          <a:p>
            <a:pPr>
              <a:lnSpc>
                <a:spcPct val="108000"/>
              </a:lnSpc>
              <a:spcAft>
                <a:spcPts val="300"/>
              </a:spcAft>
            </a:pPr>
            <a:r>
              <a:rPr sz="1700">
                <a:solidFill>
                  <a:srgbClr val="0065BD"/>
                </a:solidFill>
                <a:latin typeface="Arial"/>
              </a:rPr>
              <a:t>▪  </a:t>
            </a:r>
            <a:r>
              <a:rPr sz="1700" b="0">
                <a:solidFill>
                  <a:srgbClr val="222A35"/>
                </a:solidFill>
                <a:latin typeface="Arial"/>
              </a:rPr>
              <a:t>Rows: run 1, 2, 3 (seeds 42 / 43 / 44; OsmAnd 31 / 314 / 366)</a:t>
            </a:r>
          </a:p>
          <a:p>
            <a:pPr>
              <a:lnSpc>
                <a:spcPct val="108000"/>
              </a:lnSpc>
              <a:spcAft>
                <a:spcPts val="300"/>
              </a:spcAft>
            </a:pPr>
            <a:r>
              <a:rPr sz="1700">
                <a:solidFill>
                  <a:srgbClr val="0065BD"/>
                </a:solidFill>
                <a:latin typeface="Arial"/>
              </a:rPr>
              <a:t>▪  </a:t>
            </a:r>
            <a:r>
              <a:rPr sz="1700" b="0">
                <a:solidFill>
                  <a:srgbClr val="222A35"/>
                </a:solidFill>
                <a:latin typeface="Arial"/>
              </a:rPr>
              <a:t>Label: verdict and speed-up (x2 = twice as fast)</a:t>
            </a:r>
          </a:p>
          <a:p>
            <a:pPr>
              <a:lnSpc>
                <a:spcPct val="108000"/>
              </a:lnSpc>
              <a:spcAft>
                <a:spcPts val="300"/>
              </a:spcAft>
            </a:pPr>
            <a:r>
              <a:rPr sz="1700">
                <a:solidFill>
                  <a:srgbClr val="0065BD"/>
                </a:solidFill>
                <a:latin typeface="Arial"/>
              </a:rPr>
              <a:t>▪  </a:t>
            </a:r>
            <a:r>
              <a:rPr sz="1700" b="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Same task, two seeds: one success, one failure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16</a:t>
            </a:r>
          </a:p>
        </p:txBody>
      </p:sp>
      <p:pic>
        <p:nvPicPr>
          <p:cNvPr id="9" name="featured_files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10" name="featured_files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76472" y="1508760"/>
            <a:ext cx="225856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Files, seed 42</a:t>
            </a:r>
          </a:p>
          <a:p>
            <a:pPr>
              <a:lnSpc>
                <a:spcPct val="108000"/>
              </a:lnSpc>
              <a:spcAft>
                <a:spcPts val="300"/>
              </a:spcAft>
            </a:pPr>
            <a:r>
              <a:rPr sz="1500">
                <a:solidFill>
                  <a:srgbClr val="0065BD"/>
                </a:solidFill>
                <a:latin typeface="Arial"/>
              </a:rPr>
              <a:t>▪  </a:t>
            </a:r>
            <a:r>
              <a:rPr sz="1500" b="0">
                <a:solidFill>
                  <a:srgbClr val="222A35"/>
                </a:solidFill>
                <a:latin typeface="Arial"/>
              </a:rPr>
              <a:t>17 steps, PASS</a:t>
            </a:r>
          </a:p>
          <a:p>
            <a:pPr>
              <a:lnSpc>
                <a:spcPct val="108000"/>
              </a:lnSpc>
              <a:spcAft>
                <a:spcPts val="300"/>
              </a:spcAft>
            </a:pPr>
            <a:r>
              <a:rPr sz="1500">
                <a:solidFill>
                  <a:srgbClr val="0065BD"/>
                </a:solidFill>
                <a:latin typeface="Arial"/>
              </a:rPr>
              <a:t>▪  </a:t>
            </a:r>
            <a:r>
              <a:rPr sz="1500" b="0">
                <a:solidFill>
                  <a:srgbClr val="222A35"/>
                </a:solidFill>
                <a:latin typeface="Arial"/>
              </a:rPr>
              <a:t>Chose the file whose full name was visible</a:t>
            </a:r>
          </a:p>
          <a:p>
            <a:pPr>
              <a:lnSpc>
                <a:spcPct val="108000"/>
              </a:lnSpc>
              <a:spcAft>
                <a:spcPts val="300"/>
              </a:spcAft>
            </a:pPr>
            <a:r>
              <a:rPr sz="1500">
                <a:solidFill>
                  <a:srgbClr val="0065BD"/>
                </a:solidFill>
                <a:latin typeface="Arial"/>
              </a:rPr>
              <a:t>▪  </a:t>
            </a:r>
            <a:r>
              <a:rPr sz="1500" b="0">
                <a:solidFill>
                  <a:srgbClr val="222A35"/>
                </a:solidFill>
                <a:latin typeface="Arial"/>
              </a:rPr>
              <a:t>x3 speed</a:t>
            </a:r>
          </a:p>
        </p:txBody>
      </p:sp>
      <p:sp>
        <p:nvSpPr>
          <p:cNvPr id="15" name="Rectangle 14"/>
          <p:cNvSpPr/>
          <p:nvPr/>
        </p:nvSpPr>
        <p:spPr>
          <a:xfrm>
            <a:off x="8778240" y="1417320"/>
            <a:ext cx="278892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942832" y="1508760"/>
            <a:ext cx="2532887"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Files, seed 43</a:t>
            </a:r>
          </a:p>
          <a:p>
            <a:pPr>
              <a:lnSpc>
                <a:spcPct val="108000"/>
              </a:lnSpc>
              <a:spcAft>
                <a:spcPts val="300"/>
              </a:spcAft>
            </a:pPr>
            <a:r>
              <a:rPr sz="1500">
                <a:solidFill>
                  <a:srgbClr val="0065BD"/>
                </a:solidFill>
                <a:latin typeface="Arial"/>
              </a:rPr>
              <a:t>▪  </a:t>
            </a:r>
            <a:r>
              <a:rPr sz="1500" b="0">
                <a:solidFill>
                  <a:srgbClr val="222A35"/>
                </a:solidFill>
                <a:latin typeface="Arial"/>
              </a:rPr>
              <a:t>13 steps, FAIL</a:t>
            </a:r>
          </a:p>
          <a:p>
            <a:pPr>
              <a:lnSpc>
                <a:spcPct val="108000"/>
              </a:lnSpc>
              <a:spcAft>
                <a:spcPts val="300"/>
              </a:spcAft>
            </a:pPr>
            <a:r>
              <a:rPr sz="1500">
                <a:solidFill>
                  <a:srgbClr val="0065BD"/>
                </a:solidFill>
                <a:latin typeface="Arial"/>
              </a:rPr>
              <a:t>▪  </a:t>
            </a:r>
            <a:r>
              <a:rPr sz="1500" b="0">
                <a:solidFill>
                  <a:srgbClr val="222A35"/>
                </a:solidFill>
                <a:latin typeface="Arial"/>
              </a:rPr>
              <a:t>Moved a look-alike file, then said done</a:t>
            </a:r>
          </a:p>
          <a:p>
            <a:pPr>
              <a:lnSpc>
                <a:spcPct val="108000"/>
              </a:lnSpc>
              <a:spcAft>
                <a:spcPts val="300"/>
              </a:spcAft>
            </a:pPr>
            <a:r>
              <a:rPr sz="1500">
                <a:solidFill>
                  <a:srgbClr val="0065BD"/>
                </a:solidFill>
                <a:latin typeface="Arial"/>
              </a:rPr>
              <a:t>▪  </a:t>
            </a:r>
            <a:r>
              <a:rPr sz="1500" b="0">
                <a:solidFill>
                  <a:srgbClr val="222A35"/>
                </a:solidFill>
                <a:latin typeface="Arial"/>
              </a:rPr>
              <a:t>x3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10"/>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275 project runs ended: the setup failed most often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17</a:t>
            </a:r>
          </a:p>
        </p:txBody>
      </p:sp>
      <p:graphicFrame>
        <p:nvGraphicFramePr>
          <p:cNvPr id="9" name="Chart 8"/>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r:id="rId3"/>
          </a:graphicData>
        </a:graphic>
      </p:graphicFrame>
      <p:sp>
        <p:nvSpPr>
          <p:cNvPr id="10" name="Rectangle 9"/>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91271" y="1645920"/>
            <a:ext cx="35844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The five failure classes (D1 p.50)</a:t>
            </a:r>
          </a:p>
        </p:txBody>
      </p:sp>
      <p:sp>
        <p:nvSpPr>
          <p:cNvPr id="13" name="TextBox 12"/>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1">
                <a:solidFill>
                  <a:srgbClr val="222A35"/>
                </a:solidFill>
                <a:latin typeface="Arial"/>
              </a:rPr>
              <a:t>grounding</a:t>
            </a:r>
            <a:r>
              <a:rPr sz="1500" b="0">
                <a:solidFill>
                  <a:srgbClr val="222A35"/>
                </a:solidFill>
                <a:latin typeface="Arial"/>
              </a:rPr>
              <a:t>: the tap lands on nothing</a:t>
            </a:r>
          </a:p>
          <a:p>
            <a:pPr>
              <a:lnSpc>
                <a:spcPct val="108000"/>
              </a:lnSpc>
              <a:spcAft>
                <a:spcPts val="300"/>
              </a:spcAft>
            </a:pPr>
            <a:r>
              <a:rPr sz="1500">
                <a:solidFill>
                  <a:srgbClr val="0065BD"/>
                </a:solidFill>
                <a:latin typeface="Arial"/>
              </a:rPr>
              <a:t>▪  </a:t>
            </a:r>
            <a:r>
              <a:rPr sz="1500" b="1">
                <a:solidFill>
                  <a:srgbClr val="222A35"/>
                </a:solidFill>
                <a:latin typeface="Arial"/>
              </a:rPr>
              <a:t>too_early</a:t>
            </a:r>
            <a:r>
              <a:rPr sz="1500" b="0">
                <a:solidFill>
                  <a:srgbClr val="222A35"/>
                </a:solidFill>
                <a:latin typeface="Arial"/>
              </a:rPr>
              <a:t>: acting on a loading screen</a:t>
            </a:r>
          </a:p>
          <a:p>
            <a:pPr>
              <a:lnSpc>
                <a:spcPct val="108000"/>
              </a:lnSpc>
              <a:spcAft>
                <a:spcPts val="300"/>
              </a:spcAft>
            </a:pPr>
            <a:r>
              <a:rPr sz="1500">
                <a:solidFill>
                  <a:srgbClr val="0065BD"/>
                </a:solidFill>
                <a:latin typeface="Arial"/>
              </a:rPr>
              <a:t>▪  </a:t>
            </a:r>
            <a:r>
              <a:rPr sz="1500" b="1">
                <a:solidFill>
                  <a:srgbClr val="222A35"/>
                </a:solidFill>
                <a:latin typeface="Arial"/>
              </a:rPr>
              <a:t>lost_value</a:t>
            </a:r>
            <a:r>
              <a:rPr sz="1500" b="0">
                <a:solidFill>
                  <a:srgbClr val="222A35"/>
                </a:solidFill>
                <a:latin typeface="Arial"/>
              </a:rPr>
              <a:t>: a value is lost or invented</a:t>
            </a:r>
          </a:p>
          <a:p>
            <a:pPr>
              <a:lnSpc>
                <a:spcPct val="108000"/>
              </a:lnSpc>
              <a:spcAft>
                <a:spcPts val="300"/>
              </a:spcAft>
            </a:pPr>
            <a:r>
              <a:rPr sz="1500">
                <a:solidFill>
                  <a:srgbClr val="0065BD"/>
                </a:solidFill>
                <a:latin typeface="Arial"/>
              </a:rPr>
              <a:t>▪  </a:t>
            </a:r>
            <a:r>
              <a:rPr sz="1500" b="1">
                <a:solidFill>
                  <a:srgbClr val="222A35"/>
                </a:solidFill>
                <a:latin typeface="Arial"/>
              </a:rPr>
              <a:t>wrong_app</a:t>
            </a:r>
            <a:r>
              <a:rPr sz="1500" b="0">
                <a:solidFill>
                  <a:srgbClr val="222A35"/>
                </a:solidFill>
                <a:latin typeface="Arial"/>
              </a:rPr>
              <a:t>: the wrong app is used</a:t>
            </a:r>
          </a:p>
          <a:p>
            <a:pPr>
              <a:lnSpc>
                <a:spcPct val="108000"/>
              </a:lnSpc>
              <a:spcAft>
                <a:spcPts val="300"/>
              </a:spcAft>
            </a:pPr>
            <a:r>
              <a:rPr sz="1500">
                <a:solidFill>
                  <a:srgbClr val="0065BD"/>
                </a:solidFill>
                <a:latin typeface="Arial"/>
              </a:rPr>
              <a:t>▪  </a:t>
            </a:r>
            <a:r>
              <a:rPr sz="1500" b="1">
                <a:solidFill>
                  <a:srgbClr val="222A35"/>
                </a:solidFill>
                <a:latin typeface="Arial"/>
              </a:rPr>
              <a:t>false_done</a:t>
            </a:r>
            <a:r>
              <a:rPr sz="1500" b="0">
                <a:solidFill>
                  <a:srgbClr val="222A35"/>
                </a:solidFill>
                <a:latin typeface="Arial"/>
              </a:rPr>
              <a:t>: says done, verifier fails</a:t>
            </a:r>
          </a:p>
          <a:p>
            <a:pPr>
              <a:lnSpc>
                <a:spcPct val="108000"/>
              </a:lnSpc>
              <a:spcAft>
                <a:spcPts val="300"/>
              </a:spcAft>
            </a:pPr>
            <a:r>
              <a:rPr sz="1500">
                <a:solidFill>
                  <a:srgbClr val="0065BD"/>
                </a:solidFill>
                <a:latin typeface="Arial"/>
              </a:rPr>
              <a:t>▪  </a:t>
            </a:r>
            <a:r>
              <a:rPr sz="1500" b="0">
                <a:solidFill>
                  <a:srgbClr val="222A35"/>
                </a:solidFill>
                <a:latin typeface="Arial"/>
              </a:rPr>
              <a:t>Final evaluation: false_done 1, grounding 1, other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Deep dive: a false finish caused by a look-alike file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18</a:t>
            </a:r>
          </a:p>
        </p:txBody>
      </p:sp>
      <p:pic>
        <p:nvPicPr>
          <p:cNvPr id="9" name="Picture 8" descr="files43_step5.png"/>
          <p:cNvPicPr>
            <a:picLocks noChangeAspect="1"/>
          </p:cNvPicPr>
          <p:nvPr/>
        </p:nvPicPr>
        <p:blipFill>
          <a:blip r:embed="rId3"/>
          <a:srcRect t="8000"/>
          <a:stretch>
            <a:fillRect/>
          </a:stretch>
        </p:blipFill>
        <p:spPr>
          <a:xfrm>
            <a:off x="640080" y="1463040"/>
            <a:ext cx="2180844" cy="4458614"/>
          </a:xfrm>
          <a:prstGeom prst="roundRect">
            <a:avLst/>
          </a:prstGeom>
          <a:ln w="44450">
            <a:solidFill>
              <a:srgbClr val="1B1F2A"/>
            </a:solidFill>
          </a:ln>
        </p:spPr>
      </p:pic>
      <p:pic>
        <p:nvPicPr>
          <p:cNvPr id="10" name="Picture 9" descr="files43_final.png"/>
          <p:cNvPicPr>
            <a:picLocks noChangeAspect="1"/>
          </p:cNvPicPr>
          <p:nvPr/>
        </p:nvPicPr>
        <p:blipFill>
          <a:blip r:embed="rId4"/>
          <a:srcRect t="8000"/>
          <a:stretch>
            <a:fillRect/>
          </a:stretch>
        </p:blipFill>
        <p:spPr>
          <a:xfrm>
            <a:off x="2971800" y="1463040"/>
            <a:ext cx="2180844" cy="4458614"/>
          </a:xfrm>
          <a:prstGeom prst="roundRect">
            <a:avLst/>
          </a:prstGeom>
          <a:ln w="44450">
            <a:solidFill>
              <a:srgbClr val="1B1F2A"/>
            </a:solidFill>
          </a:ln>
        </p:spPr>
      </p:pic>
      <p:graphicFrame>
        <p:nvGraphicFramePr>
          <p:cNvPr id="11" name="Table 10"/>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gridCol w="3749039"/>
                <a:gridCol w="1554480"/>
              </a:tblGrid>
              <a:tr h="457200">
                <a:tc>
                  <a:txBody>
                    <a:bodyPr wrap="square"/>
                    <a:lstStyle/>
                    <a:p>
                      <a:r>
                        <a:rPr sz="1300" b="1">
                          <a:solidFill>
                            <a:srgbClr val="FFFFFF"/>
                          </a:solidFill>
                          <a:latin typeface="Arial"/>
                        </a:rPr>
                        <a:t>Steps</a:t>
                      </a:r>
                    </a:p>
                  </a:txBody>
                  <a:tcPr marL="54864" marR="54864" marT="27432" marB="27432" anchor="ctr">
                    <a:solidFill>
                      <a:srgbClr val="072140"/>
                    </a:solidFill>
                  </a:tcPr>
                </a:tc>
                <a:tc>
                  <a:txBody>
                    <a:bodyPr wrap="square"/>
                    <a:lstStyle/>
                    <a:p>
                      <a:r>
                        <a:rPr sz="1300" b="1">
                          <a:solidFill>
                            <a:srgbClr val="FFFFFF"/>
                          </a:solidFill>
                          <a:latin typeface="Arial"/>
                        </a:rPr>
                        <a:t>What happened</a:t>
                      </a:r>
                    </a:p>
                  </a:txBody>
                  <a:tcPr marL="54864" marR="54864" marT="27432" marB="27432" anchor="ctr">
                    <a:solidFill>
                      <a:srgbClr val="072140"/>
                    </a:solidFill>
                  </a:tcPr>
                </a:tc>
                <a:tc>
                  <a:txBody>
                    <a:bodyPr wrap="square"/>
                    <a:lstStyle/>
                    <a:p>
                      <a:r>
                        <a:rPr sz="1300" b="1">
                          <a:solidFill>
                            <a:srgbClr val="FFFFFF"/>
                          </a:solidFill>
                          <a:latin typeface="Arial"/>
                        </a:rPr>
                        <a:t>Assessment</a:t>
                      </a:r>
                    </a:p>
                  </a:txBody>
                  <a:tcPr marL="54864" marR="54864" marT="27432" marB="27432" anchor="ctr">
                    <a:solidFill>
                      <a:srgbClr val="072140"/>
                    </a:solidFill>
                  </a:tcPr>
                </a:tc>
              </a:tr>
              <a:tr h="457200">
                <a:tc>
                  <a:txBody>
                    <a:bodyPr wrap="square"/>
                    <a:lstStyle/>
                    <a:p>
                      <a:r>
                        <a:rPr sz="1300" b="0">
                          <a:solidFill>
                            <a:srgbClr val="222A35"/>
                          </a:solidFill>
                          <a:latin typeface="Arial"/>
                        </a:rPr>
                        <a:t>1–4</a:t>
                      </a:r>
                    </a:p>
                  </a:txBody>
                  <a:tcPr marL="54864" marR="54864" marT="27432" marB="27432" anchor="ctr">
                    <a:solidFill>
                      <a:srgbClr val="FFFFFF"/>
                    </a:solidFill>
                  </a:tcPr>
                </a:tc>
                <a:tc>
                  <a:txBody>
                    <a:bodyPr wrap="square"/>
                    <a:lstStyle/>
                    <a:p>
                      <a:r>
                        <a:rPr sz="1300" b="0">
                          <a:solidFill>
                            <a:srgbClr val="222A35"/>
                          </a:solidFill>
                          <a:latin typeface="Arial"/>
                        </a:rPr>
                        <a:t>Opened Files, the storage root, then Alarms</a:t>
                      </a:r>
                    </a:p>
                  </a:txBody>
                  <a:tcPr marL="54864" marR="54864" marT="27432" marB="27432" anchor="ctr">
                    <a:solidFill>
                      <a:srgbClr val="FFFFFF"/>
                    </a:solidFill>
                  </a:tcPr>
                </a:tc>
                <a:tc>
                  <a:txBody>
                    <a:bodyPr wrap="square"/>
                    <a:lstStyle/>
                    <a:p>
                      <a:r>
                        <a:rPr sz="1300" b="0">
                          <a:solidFill>
                            <a:srgbClr val="222A35"/>
                          </a:solidFill>
                          <a:latin typeface="Arial"/>
                        </a:rPr>
                        <a:t>Correct</a:t>
                      </a:r>
                    </a:p>
                  </a:txBody>
                  <a:tcPr marL="54864" marR="54864" marT="27432" marB="27432" anchor="ctr">
                    <a:solidFill>
                      <a:srgbClr val="FFFFFF"/>
                    </a:solidFill>
                  </a:tcPr>
                </a:tc>
              </a:tr>
              <a:tr h="457200">
                <a:tc>
                  <a:txBody>
                    <a:bodyPr wrap="square"/>
                    <a:lstStyle/>
                    <a:p>
                      <a:r>
                        <a:rPr sz="1300" b="0">
                          <a:solidFill>
                            <a:srgbClr val="222A35"/>
                          </a:solidFill>
                          <a:latin typeface="Arial"/>
                        </a:rPr>
                        <a:t>5</a:t>
                      </a:r>
                    </a:p>
                  </a:txBody>
                  <a:tcPr marL="54864" marR="54864" marT="27432" marB="27432" anchor="ctr">
                    <a:solidFill>
                      <a:srgbClr val="F2F5F9"/>
                    </a:solidFill>
                  </a:tcPr>
                </a:tc>
                <a:tc>
                  <a:txBody>
                    <a:bodyPr wrap="square"/>
                    <a:lstStyle/>
                    <a:p>
                      <a:r>
                        <a:rPr sz="1300" b="0">
                          <a:solidFill>
                            <a:srgbClr val="222A35"/>
                          </a:solidFill>
                          <a:latin typeface="Arial"/>
                        </a:rPr>
                        <a:t>Grid with cut-off names; long-pressed “documentary_20…”</a:t>
                      </a:r>
                    </a:p>
                  </a:txBody>
                  <a:tcPr marL="54864" marR="54864" marT="27432" marB="27432" anchor="ctr">
                    <a:solidFill>
                      <a:srgbClr val="F2F5F9"/>
                    </a:solidFill>
                  </a:tcPr>
                </a:tc>
                <a:tc>
                  <a:txBody>
                    <a:bodyPr wrap="square"/>
                    <a:lstStyle/>
                    <a:p>
                      <a:r>
                        <a:rPr sz="1300" b="0">
                          <a:solidFill>
                            <a:srgbClr val="222A35"/>
                          </a:solidFill>
                          <a:latin typeface="Arial"/>
                        </a:rPr>
                        <a:t>Wrong object</a:t>
                      </a:r>
                    </a:p>
                  </a:txBody>
                  <a:tcPr marL="54864" marR="54864" marT="27432" marB="27432" anchor="ctr">
                    <a:solidFill>
                      <a:srgbClr val="F2F5F9"/>
                    </a:solidFill>
                  </a:tcPr>
                </a:tc>
              </a:tr>
              <a:tr h="457200">
                <a:tc>
                  <a:txBody>
                    <a:bodyPr wrap="square"/>
                    <a:lstStyle/>
                    <a:p>
                      <a:r>
                        <a:rPr sz="1300" b="0">
                          <a:solidFill>
                            <a:srgbClr val="222A35"/>
                          </a:solidFill>
                          <a:latin typeface="Arial"/>
                        </a:rPr>
                        <a:t>6–11</a:t>
                      </a:r>
                    </a:p>
                  </a:txBody>
                  <a:tcPr marL="54864" marR="54864" marT="27432" marB="27432" anchor="ctr">
                    <a:solidFill>
                      <a:srgbClr val="FFFFFF"/>
                    </a:solidFill>
                  </a:tcPr>
                </a:tc>
                <a:tc>
                  <a:txBody>
                    <a:bodyPr wrap="square"/>
                    <a:lstStyle/>
                    <a:p>
                      <a:r>
                        <a:rPr sz="1300" b="0">
                          <a:solidFill>
                            <a:srgbClr val="222A35"/>
                          </a:solidFill>
                          <a:latin typeface="Arial"/>
                        </a:rPr>
                        <a:t>More options &gt; Move to &gt; Movies &gt; MOVE</a:t>
                      </a:r>
                    </a:p>
                  </a:txBody>
                  <a:tcPr marL="54864" marR="54864" marT="27432" marB="27432" anchor="ctr">
                    <a:solidFill>
                      <a:srgbClr val="FFFFFF"/>
                    </a:solidFill>
                  </a:tcPr>
                </a:tc>
                <a:tc>
                  <a:txBody>
                    <a:bodyPr wrap="square"/>
                    <a:lstStyle/>
                    <a:p>
                      <a:r>
                        <a:rPr sz="1300" b="0">
                          <a:solidFill>
                            <a:srgbClr val="222A35"/>
                          </a:solidFill>
                          <a:latin typeface="Arial"/>
                        </a:rPr>
                        <a:t>Correct steps, wrong file</a:t>
                      </a:r>
                    </a:p>
                  </a:txBody>
                  <a:tcPr marL="54864" marR="54864" marT="27432" marB="27432" anchor="ctr">
                    <a:solidFill>
                      <a:srgbClr val="FFFFFF"/>
                    </a:solidFill>
                  </a:tcPr>
                </a:tc>
              </a:tr>
              <a:tr h="457200">
                <a:tc>
                  <a:txBody>
                    <a:bodyPr wrap="square"/>
                    <a:lstStyle/>
                    <a:p>
                      <a:r>
                        <a:rPr sz="1300" b="0">
                          <a:solidFill>
                            <a:srgbClr val="222A35"/>
                          </a:solidFill>
                          <a:latin typeface="Arial"/>
                        </a:rPr>
                        <a:t>12–13</a:t>
                      </a:r>
                    </a:p>
                  </a:txBody>
                  <a:tcPr marL="54864" marR="54864" marT="27432" marB="27432" anchor="ctr">
                    <a:solidFill>
                      <a:srgbClr val="F2F5F9"/>
                    </a:solidFill>
                  </a:tcPr>
                </a:tc>
                <a:tc>
                  <a:txBody>
                    <a:bodyPr wrap="square"/>
                    <a:lstStyle/>
                    <a:p>
                      <a:r>
                        <a:rPr sz="1300" b="0">
                          <a:solidFill>
                            <a:srgbClr val="222A35"/>
                          </a:solidFill>
                          <a:latin typeface="Arial"/>
                        </a:rPr>
                        <a:t>Waited for “Moving 1 item”, then finish</a:t>
                      </a:r>
                    </a:p>
                  </a:txBody>
                  <a:tcPr marL="54864" marR="54864" marT="27432" marB="27432" anchor="ctr">
                    <a:solidFill>
                      <a:srgbClr val="F2F5F9"/>
                    </a:solidFill>
                  </a:tcPr>
                </a:tc>
                <a:tc>
                  <a:txBody>
                    <a:bodyPr wrap="square"/>
                    <a:lstStyle/>
                    <a:p>
                      <a:r>
                        <a:rPr sz="1300" b="1">
                          <a:solidFill>
                            <a:srgbClr val="FFFFFF"/>
                          </a:solidFill>
                          <a:latin typeface="Arial"/>
                        </a:rPr>
                        <a:t>false_done</a:t>
                      </a:r>
                    </a:p>
                  </a:txBody>
                  <a:tcPr marL="54864" marR="54864" marT="27432" marB="27432" anchor="ctr">
                    <a:solidFill>
                      <a:srgbClr val="E37222"/>
                    </a:solidFill>
                  </a:tcPr>
                </a:tc>
              </a:tr>
            </a:tbl>
          </a:graphicData>
        </a:graphic>
      </p:graphicFrame>
      <p:sp>
        <p:nvSpPr>
          <p:cNvPr id="12" name="TextBox 11"/>
          <p:cNvSpPr txBox="1"/>
          <p:nvPr/>
        </p:nvSpPr>
        <p:spPr>
          <a:xfrm>
            <a:off x="5440680" y="3886200"/>
            <a:ext cx="6126480" cy="685800"/>
          </a:xfrm>
          <a:prstGeom prst="rect">
            <a:avLst/>
          </a:prstGeom>
          <a:noFill/>
        </p:spPr>
        <p:txBody>
          <a:bodyPr wrap="square" anchor="t" lIns="73152" rIns="73152">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3" name="Rectangle 12"/>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0527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Class</a:t>
            </a:r>
          </a:p>
        </p:txBody>
      </p:sp>
      <p:sp>
        <p:nvSpPr>
          <p:cNvPr id="16" name="TextBox 15"/>
          <p:cNvSpPr txBox="1"/>
          <p:nvPr/>
        </p:nvSpPr>
        <p:spPr>
          <a:xfrm>
            <a:off x="560527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false_done (D1 p.50); root cause: a look-alike chosen from a truncated name</a:t>
            </a:r>
          </a:p>
        </p:txBody>
      </p:sp>
      <p:sp>
        <p:nvSpPr>
          <p:cNvPr id="17" name="Rectangle 16"/>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5995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Fix layer</a:t>
            </a:r>
          </a:p>
        </p:txBody>
      </p:sp>
      <p:sp>
        <p:nvSpPr>
          <p:cNvPr id="20" name="TextBox 19"/>
          <p:cNvSpPr txBox="1"/>
          <p:nvPr/>
        </p:nvSpPr>
        <p:spPr>
          <a:xfrm>
            <a:off x="875995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Instruction: list view or exact search. Program: check the full name before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Two more failures, and why runs of one task differ</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19</a:t>
            </a:r>
          </a:p>
        </p:txBody>
      </p:sp>
      <p:pic>
        <p:nvPicPr>
          <p:cNvPr id="9" name="Picture 8" descr="contacts43_step9.png"/>
          <p:cNvPicPr>
            <a:picLocks noChangeAspect="1"/>
          </p:cNvPicPr>
          <p:nvPr/>
        </p:nvPicPr>
        <p:blipFill>
          <a:blip r:embed="rId3"/>
          <a:srcRect t="8000"/>
          <a:stretch>
            <a:fillRect/>
          </a:stretch>
        </p:blipFill>
        <p:spPr>
          <a:xfrm>
            <a:off x="640080" y="1463040"/>
            <a:ext cx="1769364" cy="3617366"/>
          </a:xfrm>
          <a:prstGeom prst="roundRect">
            <a:avLst/>
          </a:prstGeom>
          <a:ln w="44450">
            <a:solidFill>
              <a:srgbClr val="1B1F2A"/>
            </a:solidFill>
          </a:ln>
        </p:spPr>
      </p:pic>
      <p:pic>
        <p:nvPicPr>
          <p:cNvPr id="10" name="Picture 9" descr="osmand366_step15.png"/>
          <p:cNvPicPr>
            <a:picLocks noChangeAspect="1"/>
          </p:cNvPicPr>
          <p:nvPr/>
        </p:nvPicPr>
        <p:blipFill>
          <a:blip r:embed="rId4"/>
          <a:srcRect t="8000"/>
          <a:stretch>
            <a:fillRect/>
          </a:stretch>
        </p:blipFill>
        <p:spPr>
          <a:xfrm>
            <a:off x="2514600" y="1463040"/>
            <a:ext cx="1769364" cy="3617366"/>
          </a:xfrm>
          <a:prstGeom prst="roundRect">
            <a:avLst/>
          </a:prstGeom>
          <a:ln w="44450">
            <a:solidFill>
              <a:srgbClr val="1B1F2A"/>
            </a:solidFill>
          </a:ln>
        </p:spPr>
      </p:pic>
      <p:sp>
        <p:nvSpPr>
          <p:cNvPr id="11" name="TextBox 10"/>
          <p:cNvSpPr txBox="1"/>
          <p:nvPr/>
        </p:nvSpPr>
        <p:spPr>
          <a:xfrm>
            <a:off x="640080" y="5440680"/>
            <a:ext cx="3657600" cy="82296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2" name="Rectangle 11"/>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36592"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Contacts s43: other</a:t>
            </a:r>
          </a:p>
        </p:txBody>
      </p:sp>
      <p:sp>
        <p:nvSpPr>
          <p:cNvPr id="15" name="TextBox 14"/>
          <p:cNvSpPr txBox="1"/>
          <p:nvPr/>
        </p:nvSpPr>
        <p:spPr>
          <a:xfrm>
            <a:off x="4736592"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Two swipes went past the Phone field; four more changed only the blinking cursor, which our check counted as a change.</a:t>
            </a:r>
          </a:p>
        </p:txBody>
      </p:sp>
      <p:sp>
        <p:nvSpPr>
          <p:cNvPr id="16" name="Rectangle 15"/>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48471"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OsmAnd s366: grounding</a:t>
            </a:r>
          </a:p>
        </p:txBody>
      </p:sp>
      <p:sp>
        <p:nvSpPr>
          <p:cNvPr id="19" name="TextBox 18"/>
          <p:cNvSpPr txBox="1"/>
          <p:nvPr/>
        </p:nvSpPr>
        <p:spPr>
          <a:xfrm>
            <a:off x="8348471"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Code: “Tap Clear at [941, 83]”. Model tapped [941, 57], the top edge of the button, three times: no effect.</a:t>
            </a:r>
          </a:p>
        </p:txBody>
      </p:sp>
      <p:graphicFrame>
        <p:nvGraphicFramePr>
          <p:cNvPr id="20" name="Table 19"/>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gridCol w="1280160"/>
                <a:gridCol w="1280160"/>
                <a:gridCol w="1280160"/>
              </a:tblGrid>
              <a:tr h="402336">
                <a:tc>
                  <a:txBody>
                    <a:bodyPr wrap="square"/>
                    <a:lstStyle/>
                    <a:p>
                      <a:r>
                        <a:rPr sz="1300" b="1">
                          <a:solidFill>
                            <a:srgbClr val="FFFFFF"/>
                          </a:solidFill>
                          <a:latin typeface="Arial"/>
                        </a:rPr>
                        <a:t>Same task, two frozen evaluations</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r>
              <a:tr h="402336">
                <a:tc>
                  <a:txBody>
                    <a:bodyPr wrap="square"/>
                    <a:lstStyle/>
                    <a:p>
                      <a:r>
                        <a:rPr sz="1300" b="0">
                          <a:solidFill>
                            <a:srgbClr val="222A35"/>
                          </a:solidFill>
                          <a:latin typeface="Arial"/>
                        </a:rPr>
                        <a:t>OsmAnd v61 (Skill experiment)</a:t>
                      </a:r>
                    </a:p>
                  </a:txBody>
                  <a:tcPr marL="54864" marR="54864" marT="27432" marB="27432" anchor="ctr">
                    <a:solidFill>
                      <a:srgbClr val="FFFFFF"/>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OsmAnd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r>
              <a:tr h="402336">
                <a:tc>
                  <a:txBody>
                    <a:bodyPr wrap="square"/>
                    <a:lstStyle/>
                    <a:p>
                      <a:r>
                        <a:rPr sz="1300" b="0">
                          <a:solidFill>
                            <a:srgbClr val="222A35"/>
                          </a:solidFill>
                          <a:latin typeface="Arial"/>
                        </a:rPr>
                        <a:t>Contacts v42 (earlier)</a:t>
                      </a:r>
                    </a:p>
                  </a:txBody>
                  <a:tcPr marL="54864" marR="54864" marT="27432" marB="27432" anchor="ctr">
                    <a:solidFill>
                      <a:srgbClr val="FFFFFF"/>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Contacts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Not every failure is the model: test-setup problems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20</a:t>
            </a:r>
          </a:p>
        </p:txBody>
      </p:sp>
      <p:graphicFrame>
        <p:nvGraphicFramePr>
          <p:cNvPr id="9" name="Table 8"/>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gridCol w="2743200"/>
                <a:gridCol w="2743200"/>
              </a:tblGrid>
              <a:tr h="701040">
                <a:tc>
                  <a:txBody>
                    <a:bodyPr wrap="square"/>
                    <a:lstStyle/>
                    <a:p>
                      <a:r>
                        <a:rPr sz="1300" b="1">
                          <a:solidFill>
                            <a:srgbClr val="FFFFFF"/>
                          </a:solidFill>
                          <a:latin typeface="Arial"/>
                        </a:rPr>
                        <a:t>Symptom</a:t>
                      </a:r>
                    </a:p>
                  </a:txBody>
                  <a:tcPr marL="54864" marR="54864" marT="27432" marB="27432" anchor="ctr">
                    <a:solidFill>
                      <a:srgbClr val="072140"/>
                    </a:solidFill>
                  </a:tcPr>
                </a:tc>
                <a:tc>
                  <a:txBody>
                    <a:bodyPr wrap="square"/>
                    <a:lstStyle/>
                    <a:p>
                      <a:r>
                        <a:rPr sz="1300" b="1">
                          <a:solidFill>
                            <a:srgbClr val="FFFFFF"/>
                          </a:solidFill>
                          <a:latin typeface="Arial"/>
                        </a:rPr>
                        <a:t>Root cause</a:t>
                      </a:r>
                    </a:p>
                  </a:txBody>
                  <a:tcPr marL="54864" marR="54864" marT="27432" marB="27432" anchor="ctr">
                    <a:solidFill>
                      <a:srgbClr val="072140"/>
                    </a:solidFill>
                  </a:tcPr>
                </a:tc>
                <a:tc>
                  <a:txBody>
                    <a:bodyPr wrap="square"/>
                    <a:lstStyle/>
                    <a:p>
                      <a:r>
                        <a:rPr sz="1300" b="1">
                          <a:solidFill>
                            <a:srgbClr val="FFFFFF"/>
                          </a:solidFill>
                          <a:latin typeface="Arial"/>
                        </a:rPr>
                        <a:t>Fix</a:t>
                      </a:r>
                    </a:p>
                  </a:txBody>
                  <a:tcPr marL="54864" marR="54864" marT="27432" marB="27432" anchor="ctr">
                    <a:solidFill>
                      <a:srgbClr val="072140"/>
                    </a:solidFill>
                  </a:tcPr>
                </a:tc>
              </a:tr>
              <a:tr h="701040">
                <a:tc>
                  <a:txBody>
                    <a:bodyPr wrap="square"/>
                    <a:lstStyle/>
                    <a:p>
                      <a:r>
                        <a:rPr sz="1300" b="1">
                          <a:solidFill>
                            <a:srgbClr val="222A35"/>
                          </a:solidFill>
                          <a:latin typeface="Arial"/>
                        </a:rPr>
                        <a:t>Model “waited” on a black screen</a:t>
                      </a:r>
                    </a:p>
                  </a:txBody>
                  <a:tcPr marL="54864" marR="54864" marT="27432" marB="27432" anchor="ctr">
                    <a:solidFill>
                      <a:srgbClr val="FFFFFF"/>
                    </a:solidFill>
                  </a:tcPr>
                </a:tc>
                <a:tc>
                  <a:txBody>
                    <a:bodyPr wrap="square"/>
                    <a:lstStyle/>
                    <a:p>
                      <a:r>
                        <a:rPr sz="1300" b="0">
                          <a:solidFill>
                            <a:srgbClr val="222A35"/>
                          </a:solidFill>
                          <a:latin typeface="Arial"/>
                        </a:rPr>
                        <a:t>Emulator GPU mode returned all-black frames</a:t>
                      </a:r>
                    </a:p>
                  </a:txBody>
                  <a:tcPr marL="54864" marR="54864" marT="27432" marB="27432" anchor="ctr">
                    <a:solidFill>
                      <a:srgbClr val="FFFFFF"/>
                    </a:solidFill>
                  </a:tcPr>
                </a:tc>
                <a:tc>
                  <a:txBody>
                    <a:bodyPr wrap="square"/>
                    <a:lstStyle/>
                    <a:p>
                      <a:r>
                        <a:rPr sz="1300" b="0">
                          <a:solidFill>
                            <a:srgbClr val="222A35"/>
                          </a:solidFill>
                          <a:latin typeface="Arial"/>
                        </a:rPr>
                        <a:t>Headless host-GPU emulator; black frames stop the run</a:t>
                      </a:r>
                    </a:p>
                  </a:txBody>
                  <a:tcPr marL="54864" marR="54864" marT="27432" marB="27432" anchor="ctr">
                    <a:solidFill>
                      <a:srgbClr val="FFFFFF"/>
                    </a:solidFill>
                  </a:tcPr>
                </a:tc>
              </a:tr>
              <a:tr h="701040">
                <a:tc>
                  <a:txBody>
                    <a:bodyPr wrap="square"/>
                    <a:lstStyle/>
                    <a:p>
                      <a:r>
                        <a:rPr sz="1300" b="1">
                          <a:solidFill>
                            <a:srgbClr val="222A35"/>
                          </a:solidFill>
                          <a:latin typeface="Arial"/>
                        </a:rPr>
                        <a:t>Screen recording stopped</a:t>
                      </a:r>
                    </a:p>
                  </a:txBody>
                  <a:tcPr marL="54864" marR="54864" marT="27432" marB="27432" anchor="ctr">
                    <a:solidFill>
                      <a:srgbClr val="F2F5F9"/>
                    </a:solidFill>
                  </a:tcPr>
                </a:tc>
                <a:tc>
                  <a:txBody>
                    <a:bodyPr wrap="square"/>
                    <a:lstStyle/>
                    <a:p>
                      <a:r>
                        <a:rPr sz="1300" b="0">
                          <a:solidFill>
                            <a:srgbClr val="222A35"/>
                          </a:solidFill>
                          <a:latin typeface="Arial"/>
                        </a:rPr>
                        <a:t>Android tools restarted their server on a timeout</a:t>
                      </a:r>
                    </a:p>
                  </a:txBody>
                  <a:tcPr marL="54864" marR="54864" marT="27432" marB="27432" anchor="ctr">
                    <a:solidFill>
                      <a:srgbClr val="F2F5F9"/>
                    </a:solidFill>
                  </a:tcPr>
                </a:tc>
                <a:tc>
                  <a:txBody>
                    <a:bodyPr wrap="square"/>
                    <a:lstStyle/>
                    <a:p>
                      <a:r>
                        <a:rPr sz="1300" b="0">
                          <a:solidFill>
                            <a:srgbClr val="222A35"/>
                          </a:solidFill>
                          <a:latin typeface="Arial"/>
                        </a:rPr>
                        <a:t>Keep the server; longer app-start timeout</a:t>
                      </a:r>
                    </a:p>
                  </a:txBody>
                  <a:tcPr marL="54864" marR="54864" marT="27432" marB="27432" anchor="ctr">
                    <a:solidFill>
                      <a:srgbClr val="F2F5F9"/>
                    </a:solidFill>
                  </a:tcPr>
                </a:tc>
              </a:tr>
              <a:tr h="701040">
                <a:tc>
                  <a:txBody>
                    <a:bodyPr wrap="square"/>
                    <a:lstStyle/>
                    <a:p>
                      <a:r>
                        <a:rPr sz="1300" b="1">
                          <a:solidFill>
                            <a:srgbClr val="222A35"/>
                          </a:solidFill>
                          <a:latin typeface="Arial"/>
                        </a:rPr>
                        <a:t>App start timed out</a:t>
                      </a:r>
                    </a:p>
                  </a:txBody>
                  <a:tcPr marL="54864" marR="54864" marT="27432" marB="27432" anchor="ctr">
                    <a:solidFill>
                      <a:srgbClr val="FFFFFF"/>
                    </a:solidFill>
                  </a:tcPr>
                </a:tc>
                <a:tc>
                  <a:txBody>
                    <a:bodyPr wrap="square"/>
                    <a:lstStyle/>
                    <a:p>
                      <a:r>
                        <a:rPr sz="1300" b="0">
                          <a:solidFill>
                            <a:srgbClr val="222A35"/>
                          </a:solidFill>
                          <a:latin typeface="Arial"/>
                        </a:rPr>
                        <a:t>Cold start longer than 5 s</a:t>
                      </a:r>
                    </a:p>
                  </a:txBody>
                  <a:tcPr marL="54864" marR="54864" marT="27432" marB="27432" anchor="ctr">
                    <a:solidFill>
                      <a:srgbClr val="FFFFFF"/>
                    </a:solidFill>
                  </a:tcPr>
                </a:tc>
                <a:tc>
                  <a:txBody>
                    <a:bodyPr wrap="square"/>
                    <a:lstStyle/>
                    <a:p>
                      <a:r>
                        <a:rPr sz="1300" b="0">
                          <a:solidFill>
                            <a:srgbClr val="222A35"/>
                          </a:solidFill>
                          <a:latin typeface="Arial"/>
                        </a:rPr>
                        <a:t>30 s launch timeout</a:t>
                      </a:r>
                    </a:p>
                  </a:txBody>
                  <a:tcPr marL="54864" marR="54864" marT="27432" marB="27432" anchor="ctr">
                    <a:solidFill>
                      <a:srgbClr val="FFFFFF"/>
                    </a:solidFill>
                  </a:tcPr>
                </a:tc>
              </a:tr>
              <a:tr h="701040">
                <a:tc>
                  <a:txBody>
                    <a:bodyPr wrap="square"/>
                    <a:lstStyle/>
                    <a:p>
                      <a:r>
                        <a:rPr sz="1300" b="1">
                          <a:solidFill>
                            <a:srgbClr val="222A35"/>
                          </a:solidFill>
                          <a:latin typeface="Arial"/>
                        </a:rPr>
                        <a:t>“keeps stopping” dialog</a:t>
                      </a:r>
                    </a:p>
                  </a:txBody>
                  <a:tcPr marL="54864" marR="54864" marT="27432" marB="27432" anchor="ctr">
                    <a:solidFill>
                      <a:srgbClr val="F2F5F9"/>
                    </a:solidFill>
                  </a:tcPr>
                </a:tc>
                <a:tc>
                  <a:txBody>
                    <a:bodyPr wrap="square"/>
                    <a:lstStyle/>
                    <a:p>
                      <a:r>
                        <a:rPr sz="1300" b="0">
                          <a:solidFill>
                            <a:srgbClr val="222A35"/>
                          </a:solidFill>
                          <a:latin typeface="Arial"/>
                        </a:rPr>
                        <a:t>Accessibility service crash (11 of 25 OsmAnd runs)</a:t>
                      </a:r>
                    </a:p>
                  </a:txBody>
                  <a:tcPr marL="54864" marR="54864" marT="27432" marB="27432" anchor="ctr">
                    <a:solidFill>
                      <a:srgbClr val="F2F5F9"/>
                    </a:solidFill>
                  </a:tcPr>
                </a:tc>
                <a:tc>
                  <a:txBody>
                    <a:bodyPr wrap="square"/>
                    <a:lstStyle/>
                    <a:p>
                      <a:r>
                        <a:rPr sz="1300" b="0">
                          <a:solidFill>
                            <a:srgbClr val="222A35"/>
                          </a:solidFill>
                          <a:latin typeface="Arial"/>
                        </a:rPr>
                        <a:t>Model closes it; empty tree read again</a:t>
                      </a:r>
                    </a:p>
                  </a:txBody>
                  <a:tcPr marL="54864" marR="54864" marT="27432" marB="27432" anchor="ctr">
                    <a:solidFill>
                      <a:srgbClr val="F2F5F9"/>
                    </a:solidFill>
                  </a:tcPr>
                </a:tc>
              </a:tr>
              <a:tr h="701040">
                <a:tc>
                  <a:txBody>
                    <a:bodyPr wrap="square"/>
                    <a:lstStyle/>
                    <a:p>
                      <a:r>
                        <a:rPr sz="1300" b="1">
                          <a:solidFill>
                            <a:srgbClr val="222A35"/>
                          </a:solidFill>
                          <a:latin typeface="Arial"/>
                        </a:rPr>
                        <a:t>OsmAnd map missing</a:t>
                      </a:r>
                    </a:p>
                  </a:txBody>
                  <a:tcPr marL="54864" marR="54864" marT="27432" marB="27432" anchor="ctr">
                    <a:solidFill>
                      <a:srgbClr val="FFFFFF"/>
                    </a:solidFill>
                  </a:tcPr>
                </a:tc>
                <a:tc>
                  <a:txBody>
                    <a:bodyPr wrap="square"/>
                    <a:lstStyle/>
                    <a:p>
                      <a:r>
                        <a:rPr sz="1300" b="0">
                          <a:solidFill>
                            <a:srgbClr val="222A35"/>
                          </a:solidFill>
                          <a:latin typeface="Arial"/>
                        </a:rPr>
                        <a:t>Files task initialization deletes shared storage</a:t>
                      </a:r>
                    </a:p>
                  </a:txBody>
                  <a:tcPr marL="54864" marR="54864" marT="27432" marB="27432" anchor="ctr">
                    <a:solidFill>
                      <a:srgbClr val="FFFFFF"/>
                    </a:solidFill>
                  </a:tcPr>
                </a:tc>
                <a:tc>
                  <a:txBody>
                    <a:bodyPr wrap="square"/>
                    <a:lstStyle/>
                    <a:p>
                      <a:r>
                        <a:rPr sz="1300" b="0">
                          <a:solidFill>
                            <a:srgbClr val="222A35"/>
                          </a:solidFill>
                          <a:latin typeface="Arial"/>
                        </a:rPr>
                        <a:t>Check the map before OsmAnd; rerun official setup</a:t>
                      </a:r>
                    </a:p>
                  </a:txBody>
                  <a:tcPr marL="54864" marR="54864" marT="27432" marB="27432" anchor="ctr">
                    <a:solidFill>
                      <a:srgbClr val="FFFFFF"/>
                    </a:solidFill>
                  </a:tcPr>
                </a:tc>
              </a:tr>
            </a:tbl>
          </a:graphicData>
        </a:graphic>
      </p:graphicFrame>
      <p:pic>
        <p:nvPicPr>
          <p:cNvPr id="10" name="Picture 9" descr="forwarder_crash.png"/>
          <p:cNvPicPr>
            <a:picLocks noChangeAspect="1"/>
          </p:cNvPicPr>
          <p:nvPr/>
        </p:nvPicPr>
        <p:blipFill>
          <a:blip r:embed="rId3"/>
          <a:srcRect t="8000"/>
          <a:stretch>
            <a:fillRect/>
          </a:stretch>
        </p:blipFill>
        <p:spPr>
          <a:xfrm>
            <a:off x="8869680" y="1508760"/>
            <a:ext cx="1892808" cy="3869740"/>
          </a:xfrm>
          <a:prstGeom prst="roundRect">
            <a:avLst/>
          </a:prstGeom>
          <a:ln w="44450">
            <a:solidFill>
              <a:srgbClr val="1B1F2A"/>
            </a:solidFill>
          </a:ln>
        </p:spPr>
      </p:pic>
      <p:sp>
        <p:nvSpPr>
          <p:cNvPr id="11" name="TextBox 10"/>
          <p:cNvSpPr txBox="1"/>
          <p:nvPr/>
        </p:nvSpPr>
        <p:spPr>
          <a:xfrm>
            <a:off x="640080" y="5852160"/>
            <a:ext cx="10881360" cy="45720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The hardest task: from zero passes to two of three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21</a:t>
            </a:r>
          </a:p>
        </p:txBody>
      </p:sp>
      <p:graphicFrame>
        <p:nvGraphicFramePr>
          <p:cNvPr id="9" name="Chart 8"/>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r:id="rId3"/>
          </a:graphicData>
        </a:graphic>
      </p:graphicFrame>
      <p:sp>
        <p:nvSpPr>
          <p:cNvPr id="10" name="Rectangle 9"/>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94192" y="1645920"/>
            <a:ext cx="30815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changed</a:t>
            </a:r>
          </a:p>
        </p:txBody>
      </p:sp>
      <p:sp>
        <p:nvSpPr>
          <p:cNvPr id="13" name="TextBox 12"/>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Skill as text: the model often ignored it</a:t>
            </a:r>
          </a:p>
          <a:p>
            <a:pPr>
              <a:lnSpc>
                <a:spcPct val="108000"/>
              </a:lnSpc>
              <a:spcAft>
                <a:spcPts val="300"/>
              </a:spcAft>
            </a:pPr>
            <a:r>
              <a:rPr sz="1400">
                <a:solidFill>
                  <a:srgbClr val="0065BD"/>
                </a:solidFill>
                <a:latin typeface="Arial"/>
              </a:rPr>
              <a:t>▪  </a:t>
            </a:r>
            <a:r>
              <a:rPr sz="1400" b="0">
                <a:solidFill>
                  <a:srgbClr val="222A35"/>
                </a:solidFill>
                <a:latin typeface="Arial"/>
              </a:rPr>
              <a:t>Rules on the model’s words: bypassed</a:t>
            </a:r>
          </a:p>
          <a:p>
            <a:pPr>
              <a:lnSpc>
                <a:spcPct val="108000"/>
              </a:lnSpc>
              <a:spcAft>
                <a:spcPts val="300"/>
              </a:spcAft>
            </a:pPr>
            <a:r>
              <a:rPr sz="1400">
                <a:solidFill>
                  <a:srgbClr val="0065BD"/>
                </a:solidFill>
                <a:latin typeface="Arial"/>
              </a:rPr>
              <a:t>▪  </a:t>
            </a:r>
            <a:r>
              <a:rPr sz="1400" b="1">
                <a:solidFill>
                  <a:srgbClr val="222A35"/>
                </a:solidFill>
                <a:latin typeface="Arial"/>
              </a:rPr>
              <a:t>Program reads the screen</a:t>
            </a:r>
            <a:r>
              <a:rPr sz="1400" b="0">
                <a:solidFill>
                  <a:srgbClr val="222A35"/>
                </a:solidFill>
                <a:latin typeface="Arial"/>
              </a:rPr>
              <a:t> (accessibility tree)</a:t>
            </a:r>
          </a:p>
          <a:p>
            <a:pPr>
              <a:lnSpc>
                <a:spcPct val="108000"/>
              </a:lnSpc>
              <a:spcAft>
                <a:spcPts val="300"/>
              </a:spcAft>
            </a:pPr>
            <a:r>
              <a:rPr sz="1400">
                <a:solidFill>
                  <a:srgbClr val="0065BD"/>
                </a:solidFill>
                <a:latin typeface="Arial"/>
              </a:rPr>
              <a:t>▪  </a:t>
            </a:r>
            <a:r>
              <a:rPr sz="1400" b="1">
                <a:solidFill>
                  <a:srgbClr val="222A35"/>
                </a:solidFill>
                <a:latin typeface="Arial"/>
              </a:rPr>
              <a:t>Skill as code</a:t>
            </a:r>
            <a:r>
              <a:rPr sz="1400" b="0">
                <a:solidFill>
                  <a:srgbClr val="222A35"/>
                </a:solidFill>
                <a:latin typeface="Arial"/>
              </a:rPr>
              <a:t>: next step + tap centre</a:t>
            </a:r>
          </a:p>
          <a:p>
            <a:pPr>
              <a:lnSpc>
                <a:spcPct val="108000"/>
              </a:lnSpc>
              <a:spcAft>
                <a:spcPts val="300"/>
              </a:spcAft>
            </a:pPr>
            <a:r>
              <a:rPr sz="1400">
                <a:solidFill>
                  <a:srgbClr val="0065BD"/>
                </a:solidFill>
                <a:latin typeface="Arial"/>
              </a:rPr>
              <a:t>▪  </a:t>
            </a:r>
            <a:r>
              <a:rPr sz="1400" b="0">
                <a:solidFill>
                  <a:srgbClr val="222A35"/>
                </a:solidFill>
                <a:latin typeface="Arial"/>
              </a:rPr>
              <a:t>Each fix tested on practice seeds, never on the evaluation seeds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Before and after: only the Skill changed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22</a:t>
            </a:r>
          </a:p>
        </p:txBody>
      </p:sp>
      <p:graphicFrame>
        <p:nvGraphicFramePr>
          <p:cNvPr id="9" name="Table 8"/>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gridCol w="1188720"/>
                <a:gridCol w="1188720"/>
              </a:tblGrid>
              <a:tr h="502920">
                <a:tc>
                  <a:txBody>
                    <a:bodyPr wrap="square"/>
                    <a:lstStyle/>
                    <a:p>
                      <a:r>
                        <a:rPr sz="1400" b="1">
                          <a:solidFill>
                            <a:srgbClr val="FFFFFF"/>
                          </a:solidFill>
                          <a:latin typeface="Arial"/>
                        </a:rPr>
                        <a:t>OsmAnd, seeds 31 / 314 / 366</a:t>
                      </a:r>
                    </a:p>
                  </a:txBody>
                  <a:tcPr marL="54864" marR="54864" marT="27432" marB="27432" anchor="ctr">
                    <a:solidFill>
                      <a:srgbClr val="072140"/>
                    </a:solidFill>
                  </a:tcPr>
                </a:tc>
                <a:tc>
                  <a:txBody>
                    <a:bodyPr wrap="square"/>
                    <a:lstStyle/>
                    <a:p>
                      <a:pPr algn="ctr"/>
                      <a:r>
                        <a:rPr sz="1400" b="1">
                          <a:solidFill>
                            <a:srgbClr val="FFFFFF"/>
                          </a:solidFill>
                          <a:latin typeface="Arial"/>
                        </a:rPr>
                        <a:t>No Skill</a:t>
                      </a:r>
                    </a:p>
                  </a:txBody>
                  <a:tcPr marL="54864" marR="54864" marT="27432" marB="27432" anchor="ctr">
                    <a:solidFill>
                      <a:srgbClr val="072140"/>
                    </a:solidFill>
                  </a:tcPr>
                </a:tc>
                <a:tc>
                  <a:txBody>
                    <a:bodyPr wrap="square"/>
                    <a:lstStyle/>
                    <a:p>
                      <a:pPr algn="ctr"/>
                      <a:r>
                        <a:rPr sz="1400" b="1">
                          <a:solidFill>
                            <a:srgbClr val="FFFFFF"/>
                          </a:solidFill>
                          <a:latin typeface="Arial"/>
                        </a:rPr>
                        <a:t>Skill</a:t>
                      </a:r>
                    </a:p>
                  </a:txBody>
                  <a:tcPr marL="54864" marR="54864" marT="27432" marB="27432" anchor="ctr">
                    <a:solidFill>
                      <a:srgbClr val="072140"/>
                    </a:solidFill>
                  </a:tcPr>
                </a:tc>
              </a:tr>
              <a:tr h="502920">
                <a:tc>
                  <a:txBody>
                    <a:bodyPr wrap="square"/>
                    <a:lstStyle/>
                    <a:p>
                      <a:r>
                        <a:rPr sz="1400" b="1">
                          <a:solidFill>
                            <a:srgbClr val="222A35"/>
                          </a:solidFill>
                          <a:latin typeface="Arial"/>
                        </a:rPr>
                        <a:t>Official verifier PASS</a:t>
                      </a:r>
                    </a:p>
                  </a:txBody>
                  <a:tcPr marL="54864" marR="54864" marT="27432" marB="27432" anchor="ctr">
                    <a:solidFill>
                      <a:srgbClr val="FFFFFF"/>
                    </a:solidFill>
                  </a:tcPr>
                </a:tc>
                <a:tc>
                  <a:txBody>
                    <a:bodyPr wrap="square"/>
                    <a:lstStyle/>
                    <a:p>
                      <a:pPr algn="ctr"/>
                      <a:r>
                        <a:rPr sz="1400" b="1">
                          <a:solidFill>
                            <a:srgbClr val="FFFFFF"/>
                          </a:solidFill>
                          <a:latin typeface="Arial"/>
                        </a:rPr>
                        <a:t>0 / 3</a:t>
                      </a:r>
                    </a:p>
                  </a:txBody>
                  <a:tcPr marL="54864" marR="54864" marT="27432" marB="27432" anchor="ctr">
                    <a:solidFill>
                      <a:srgbClr val="E37222"/>
                    </a:solidFill>
                  </a:tcPr>
                </a:tc>
                <a:tc>
                  <a:txBody>
                    <a:bodyPr wrap="square"/>
                    <a:lstStyle/>
                    <a:p>
                      <a:pPr algn="ctr"/>
                      <a:r>
                        <a:rPr sz="1400" b="1">
                          <a:solidFill>
                            <a:srgbClr val="FFFFFF"/>
                          </a:solidFill>
                          <a:latin typeface="Arial"/>
                        </a:rPr>
                        <a:t>2 / 3</a:t>
                      </a:r>
                    </a:p>
                  </a:txBody>
                  <a:tcPr marL="54864" marR="54864" marT="27432" marB="27432" anchor="ctr">
                    <a:solidFill>
                      <a:srgbClr val="0065BD"/>
                    </a:solidFill>
                  </a:tcPr>
                </a:tc>
              </a:tr>
              <a:tr h="502920">
                <a:tc>
                  <a:txBody>
                    <a:bodyPr wrap="square"/>
                    <a:lstStyle/>
                    <a:p>
                      <a:r>
                        <a:rPr sz="1400" b="1">
                          <a:solidFill>
                            <a:srgbClr val="222A35"/>
                          </a:solidFill>
                          <a:latin typeface="Arial"/>
                        </a:rPr>
                        <a:t>Searched the place name only</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3 / 3</a:t>
                      </a:r>
                    </a:p>
                  </a:txBody>
                  <a:tcPr marL="54864" marR="54864" marT="27432" marB="27432" anchor="ctr">
                    <a:solidFill>
                      <a:srgbClr val="F2F5F9"/>
                    </a:solidFill>
                  </a:tcPr>
                </a:tc>
              </a:tr>
              <a:tr h="502920">
                <a:tc>
                  <a:txBody>
                    <a:bodyPr wrap="square"/>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wrap="square"/>
                    <a:lstStyle/>
                    <a:p>
                      <a:pPr algn="ctr"/>
                      <a:r>
                        <a:rPr sz="1400" b="0">
                          <a:solidFill>
                            <a:srgbClr val="222A35"/>
                          </a:solidFill>
                          <a:latin typeface="Arial"/>
                        </a:rPr>
                        <a:t>0 / 3</a:t>
                      </a:r>
                    </a:p>
                  </a:txBody>
                  <a:tcPr marL="54864" marR="54864" marT="27432" marB="27432" anchor="ctr">
                    <a:solidFill>
                      <a:srgbClr val="FFFFFF"/>
                    </a:solidFill>
                  </a:tcPr>
                </a:tc>
                <a:tc>
                  <a:txBody>
                    <a:bodyPr wrap="square"/>
                    <a:lstStyle/>
                    <a:p>
                      <a:pPr algn="ctr"/>
                      <a:r>
                        <a:rPr sz="1400" b="0">
                          <a:solidFill>
                            <a:srgbClr val="222A35"/>
                          </a:solidFill>
                          <a:latin typeface="Arial"/>
                        </a:rPr>
                        <a:t>2 / 3</a:t>
                      </a:r>
                    </a:p>
                  </a:txBody>
                  <a:tcPr marL="54864" marR="54864" marT="27432" marB="27432" anchor="ctr">
                    <a:solidFill>
                      <a:srgbClr val="FFFFFF"/>
                    </a:solidFill>
                  </a:tcPr>
                </a:tc>
              </a:tr>
              <a:tr h="502920">
                <a:tc>
                  <a:txBody>
                    <a:bodyPr wrap="square"/>
                    <a:lstStyle/>
                    <a:p>
                      <a:r>
                        <a:rPr sz="1400" b="1">
                          <a:solidFill>
                            <a:srgbClr val="222A35"/>
                          </a:solidFill>
                          <a:latin typeface="Arial"/>
                        </a:rPr>
                        <a:t>Saved a track</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2 / 3</a:t>
                      </a:r>
                    </a:p>
                  </a:txBody>
                  <a:tcPr marL="54864" marR="54864" marT="27432" marB="27432" anchor="ctr">
                    <a:solidFill>
                      <a:srgbClr val="F2F5F9"/>
                    </a:solidFill>
                  </a:tcPr>
                </a:tc>
              </a:tr>
              <a:tr h="502920">
                <a:tc>
                  <a:txBody>
                    <a:bodyPr wrap="square"/>
                    <a:lstStyle/>
                    <a:p>
                      <a:r>
                        <a:rPr sz="1400" b="1">
                          <a:solidFill>
                            <a:srgbClr val="222A35"/>
                          </a:solidFill>
                          <a:latin typeface="Arial"/>
                        </a:rPr>
                        <a:t>Mean steps</a:t>
                      </a:r>
                    </a:p>
                  </a:txBody>
                  <a:tcPr marL="54864" marR="54864" marT="27432" marB="27432" anchor="ctr">
                    <a:solidFill>
                      <a:srgbClr val="FFFFFF"/>
                    </a:solidFill>
                  </a:tcPr>
                </a:tc>
                <a:tc>
                  <a:txBody>
                    <a:bodyPr wrap="square"/>
                    <a:lstStyle/>
                    <a:p>
                      <a:pPr algn="ctr"/>
                      <a:r>
                        <a:rPr sz="1400" b="0">
                          <a:solidFill>
                            <a:srgbClr val="222A35"/>
                          </a:solidFill>
                          <a:latin typeface="Arial"/>
                        </a:rPr>
                        <a:t>23.3</a:t>
                      </a:r>
                    </a:p>
                  </a:txBody>
                  <a:tcPr marL="54864" marR="54864" marT="27432" marB="27432" anchor="ctr">
                    <a:solidFill>
                      <a:srgbClr val="FFFFFF"/>
                    </a:solidFill>
                  </a:tcPr>
                </a:tc>
                <a:tc>
                  <a:txBody>
                    <a:bodyPr wrap="square"/>
                    <a:lstStyle/>
                    <a:p>
                      <a:pPr algn="ctr"/>
                      <a:r>
                        <a:rPr sz="1400" b="0">
                          <a:solidFill>
                            <a:srgbClr val="222A35"/>
                          </a:solidFill>
                          <a:latin typeface="Arial"/>
                        </a:rPr>
                        <a:t>18.7</a:t>
                      </a:r>
                    </a:p>
                  </a:txBody>
                  <a:tcPr marL="54864" marR="54864" marT="27432" marB="27432" anchor="ctr">
                    <a:solidFill>
                      <a:srgbClr val="FFFFFF"/>
                    </a:solidFill>
                  </a:tcPr>
                </a:tc>
              </a:tr>
            </a:tbl>
          </a:graphicData>
        </a:graphic>
      </p:graphicFrame>
      <p:sp>
        <p:nvSpPr>
          <p:cNvPr id="10" name="TextBox 9"/>
          <p:cNvSpPr txBox="1"/>
          <p:nvPr/>
        </p:nvSpPr>
        <p:spPr>
          <a:xfrm>
            <a:off x="640080" y="4754880"/>
            <a:ext cx="5669280" cy="1463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1" name="Chart 10"/>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23</a:t>
            </a:r>
          </a:p>
        </p:txBody>
      </p:sp>
      <p:graphicFrame>
        <p:nvGraphicFramePr>
          <p:cNvPr id="9" name="Table 8"/>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gridCol w="2926080"/>
                <a:gridCol w="3291840"/>
                <a:gridCol w="2057400"/>
              </a:tblGrid>
              <a:tr h="624839">
                <a:tc>
                  <a:txBody>
                    <a:bodyPr wrap="square"/>
                    <a:lstStyle/>
                    <a:p>
                      <a:r>
                        <a:rPr sz="1300" b="1">
                          <a:solidFill>
                            <a:srgbClr val="FFFFFF"/>
                          </a:solidFill>
                          <a:latin typeface="Arial"/>
                        </a:rPr>
                        <a:t>Failure we saw</a:t>
                      </a:r>
                    </a:p>
                  </a:txBody>
                  <a:tcPr marL="54864" marR="54864" marT="27432" marB="27432" anchor="ctr">
                    <a:solidFill>
                      <a:srgbClr val="072140"/>
                    </a:solidFill>
                  </a:tcPr>
                </a:tc>
                <a:tc>
                  <a:txBody>
                    <a:bodyPr wrap="square"/>
                    <a:lstStyle/>
                    <a:p>
                      <a:r>
                        <a:rPr sz="1300" b="1">
                          <a:solidFill>
                            <a:srgbClr val="FFFFFF"/>
                          </a:solidFill>
                          <a:latin typeface="Arial"/>
                        </a:rPr>
                        <a:t>Cause</a:t>
                      </a:r>
                    </a:p>
                  </a:txBody>
                  <a:tcPr marL="54864" marR="54864" marT="27432" marB="27432" anchor="ctr">
                    <a:solidFill>
                      <a:srgbClr val="072140"/>
                    </a:solidFill>
                  </a:tcPr>
                </a:tc>
                <a:tc>
                  <a:txBody>
                    <a:bodyPr wrap="square"/>
                    <a:lstStyle/>
                    <a:p>
                      <a:r>
                        <a:rPr sz="1300" b="1">
                          <a:solidFill>
                            <a:srgbClr val="FFFFFF"/>
                          </a:solidFill>
                          <a:latin typeface="Arial"/>
                        </a:rPr>
                        <a:t>Change</a:t>
                      </a:r>
                    </a:p>
                  </a:txBody>
                  <a:tcPr marL="54864" marR="54864" marT="27432" marB="27432" anchor="ctr">
                    <a:solidFill>
                      <a:srgbClr val="072140"/>
                    </a:solidFill>
                  </a:tcPr>
                </a:tc>
                <a:tc>
                  <a:txBody>
                    <a:bodyPr wrap="square"/>
                    <a:lstStyle/>
                    <a:p>
                      <a:r>
                        <a:rPr sz="1300" b="1">
                          <a:solidFill>
                            <a:srgbClr val="FFFFFF"/>
                          </a:solidFill>
                          <a:latin typeface="Arial"/>
                        </a:rPr>
                        <a:t>Final result</a:t>
                      </a:r>
                    </a:p>
                  </a:txBody>
                  <a:tcPr marL="54864" marR="54864" marT="27432" marB="27432" anchor="ctr">
                    <a:solidFill>
                      <a:srgbClr val="072140"/>
                    </a:solidFill>
                  </a:tcPr>
                </a:tc>
              </a:tr>
              <a:tr h="624839">
                <a:tc>
                  <a:txBody>
                    <a:bodyPr wrap="square"/>
                    <a:lstStyle/>
                    <a:p>
                      <a:r>
                        <a:rPr sz="1300" b="1">
                          <a:solidFill>
                            <a:srgbClr val="222A35"/>
                          </a:solidFill>
                          <a:latin typeface="Arial"/>
                        </a:rPr>
                        <a:t>Markor: message “Not sent”</a:t>
                      </a:r>
                    </a:p>
                  </a:txBody>
                  <a:tcPr marL="54864" marR="54864" marT="27432" marB="27432" anchor="ctr">
                    <a:solidFill>
                      <a:srgbClr val="FFFFFF"/>
                    </a:solidFill>
                  </a:tcPr>
                </a:tc>
                <a:tc>
                  <a:txBody>
                    <a:bodyPr wrap="square"/>
                    <a:lstStyle/>
                    <a:p>
                      <a:r>
                        <a:rPr sz="1300" b="0">
                          <a:solidFill>
                            <a:srgbClr val="222A35"/>
                          </a:solidFill>
                          <a:latin typeface="Arial"/>
                        </a:rPr>
                        <a:t>Markor’s Share menu makes an MMS</a:t>
                      </a:r>
                    </a:p>
                  </a:txBody>
                  <a:tcPr marL="54864" marR="54864" marT="27432" marB="27432" anchor="ctr">
                    <a:solidFill>
                      <a:srgbClr val="FFFFFF"/>
                    </a:solidFill>
                  </a:tcPr>
                </a:tc>
                <a:tc>
                  <a:txBody>
                    <a:bodyPr wrap="square"/>
                    <a:lstStyle/>
                    <a:p>
                      <a:r>
                        <a:rPr sz="1300" b="0">
                          <a:solidFill>
                            <a:srgbClr val="222A35"/>
                          </a:solidFill>
                          <a:latin typeface="Arial"/>
                        </a:rPr>
                        <a:t>Markor Skill: plain SMS, SMS button</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Markor: typing refused</a:t>
                      </a:r>
                    </a:p>
                  </a:txBody>
                  <a:tcPr marL="54864" marR="54864" marT="27432" marB="27432" anchor="ctr">
                    <a:solidFill>
                      <a:srgbClr val="F2F5F9"/>
                    </a:solidFill>
                  </a:tcPr>
                </a:tc>
                <a:tc>
                  <a:txBody>
                    <a:bodyPr wrap="square"/>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wrap="square"/>
                    <a:lstStyle/>
                    <a:p>
                      <a:r>
                        <a:rPr sz="1300" b="0">
                          <a:solidFill>
                            <a:srgbClr val="222A35"/>
                          </a:solidFill>
                          <a:latin typeface="Arial"/>
                        </a:rPr>
                        <a:t>Focus check accepts the editor</a:t>
                      </a:r>
                    </a:p>
                  </a:txBody>
                  <a:tcPr marL="54864" marR="54864" marT="27432" marB="27432" anchor="ctr">
                    <a:solidFill>
                      <a:srgbClr val="F2F5F9"/>
                    </a:solidFill>
                  </a:tcPr>
                </a:tc>
                <a:tc>
                  <a:txBody>
                    <a:bodyPr wrap="square"/>
                    <a:lstStyle/>
                    <a:p>
                      <a:r>
                        <a:rPr sz="1300" b="0">
                          <a:solidFill>
                            <a:srgbClr val="222A35"/>
                          </a:solidFill>
                          <a:latin typeface="Arial"/>
                        </a:rPr>
                        <a:t>Markor 3 / 3</a:t>
                      </a:r>
                    </a:p>
                  </a:txBody>
                  <a:tcPr marL="54864" marR="54864" marT="27432" marB="27432" anchor="ctr">
                    <a:solidFill>
                      <a:srgbClr val="F2F5F9"/>
                    </a:solidFill>
                  </a:tcPr>
                </a:tc>
              </a:tr>
              <a:tr h="624839">
                <a:tc>
                  <a:txBody>
                    <a:bodyPr wrap="square"/>
                    <a:lstStyle/>
                    <a:p>
                      <a:r>
                        <a:rPr sz="1300" b="1">
                          <a:solidFill>
                            <a:srgbClr val="222A35"/>
                          </a:solidFill>
                          <a:latin typeface="Arial"/>
                        </a:rPr>
                        <a:t>SMS app name in Chinese</a:t>
                      </a:r>
                    </a:p>
                  </a:txBody>
                  <a:tcPr marL="54864" marR="54864" marT="27432" marB="27432" anchor="ctr">
                    <a:solidFill>
                      <a:srgbClr val="FFFFFF"/>
                    </a:solidFill>
                  </a:tcPr>
                </a:tc>
                <a:tc>
                  <a:txBody>
                    <a:bodyPr wrap="square"/>
                    <a:lstStyle/>
                    <a:p>
                      <a:r>
                        <a:rPr sz="1300" b="0">
                          <a:solidFill>
                            <a:srgbClr val="222A35"/>
                          </a:solidFill>
                          <a:latin typeface="Arial"/>
                        </a:rPr>
                        <a:t>Two apps allowed, name unclear</a:t>
                      </a:r>
                    </a:p>
                  </a:txBody>
                  <a:tcPr marL="54864" marR="54864" marT="27432" marB="27432" anchor="ctr">
                    <a:solidFill>
                      <a:srgbClr val="FFFFFF"/>
                    </a:solidFill>
                  </a:tcPr>
                </a:tc>
                <a:tc>
                  <a:txBody>
                    <a:bodyPr wrap="square"/>
                    <a:lstStyle/>
                    <a:p>
                      <a:r>
                        <a:rPr sz="1300" b="0">
                          <a:solidFill>
                            <a:srgbClr val="222A35"/>
                          </a:solidFill>
                          <a:latin typeface="Arial"/>
                        </a:rPr>
                        <a:t>Alias table for known translations</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OsmAnd map missing</a:t>
                      </a:r>
                    </a:p>
                  </a:txBody>
                  <a:tcPr marL="54864" marR="54864" marT="27432" marB="27432" anchor="ctr">
                    <a:solidFill>
                      <a:srgbClr val="F2F5F9"/>
                    </a:solidFill>
                  </a:tcPr>
                </a:tc>
                <a:tc>
                  <a:txBody>
                    <a:bodyPr wrap="square"/>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wrap="square"/>
                    <a:lstStyle/>
                    <a:p>
                      <a:r>
                        <a:rPr sz="1300" b="0">
                          <a:solidFill>
                            <a:srgbClr val="222A35"/>
                          </a:solidFill>
                          <a:latin typeface="Arial"/>
                        </a:rPr>
                        <a:t>Map check + official setup</a:t>
                      </a:r>
                    </a:p>
                  </a:txBody>
                  <a:tcPr marL="54864" marR="54864" marT="27432" marB="27432" anchor="ctr">
                    <a:solidFill>
                      <a:srgbClr val="F2F5F9"/>
                    </a:solidFill>
                  </a:tcPr>
                </a:tc>
                <a:tc>
                  <a:txBody>
                    <a:bodyPr wrap="square"/>
                    <a:lstStyle/>
                    <a:p>
                      <a:r>
                        <a:rPr sz="1300" b="0">
                          <a:solidFill>
                            <a:srgbClr val="222A35"/>
                          </a:solidFill>
                          <a:latin typeface="Arial"/>
                        </a:rPr>
                        <a:t>OsmAnd 2 / 3</a:t>
                      </a:r>
                    </a:p>
                  </a:txBody>
                  <a:tcPr marL="54864" marR="54864" marT="27432" marB="27432" anchor="ctr">
                    <a:solidFill>
                      <a:srgbClr val="F2F5F9"/>
                    </a:solidFill>
                  </a:tcPr>
                </a:tc>
              </a:tr>
              <a:tr h="624844">
                <a:tc>
                  <a:txBody>
                    <a:bodyPr wrap="square"/>
                    <a:lstStyle/>
                    <a:p>
                      <a:r>
                        <a:rPr sz="1300" b="1">
                          <a:solidFill>
                            <a:srgbClr val="222A35"/>
                          </a:solidFill>
                          <a:latin typeface="Arial"/>
                        </a:rPr>
                        <a:t>OsmAnd 0 / 3</a:t>
                      </a:r>
                    </a:p>
                  </a:txBody>
                  <a:tcPr marL="54864" marR="54864" marT="27432" marB="27432" anchor="ctr">
                    <a:solidFill>
                      <a:srgbClr val="FFFFFF"/>
                    </a:solidFill>
                  </a:tcPr>
                </a:tc>
                <a:tc>
                  <a:txBody>
                    <a:bodyPr wrap="square"/>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wrap="square"/>
                    <a:lstStyle/>
                    <a:p>
                      <a:r>
                        <a:rPr sz="1300" b="0">
                          <a:solidFill>
                            <a:srgbClr val="222A35"/>
                          </a:solidFill>
                          <a:latin typeface="Arial"/>
                        </a:rPr>
                        <a:t>Skill as code + GUI tree</a:t>
                      </a:r>
                    </a:p>
                  </a:txBody>
                  <a:tcPr marL="54864" marR="54864" marT="27432" marB="27432" anchor="ctr">
                    <a:solidFill>
                      <a:srgbClr val="FFFFFF"/>
                    </a:solidFill>
                  </a:tcPr>
                </a:tc>
                <a:tc>
                  <a:txBody>
                    <a:bodyPr wrap="square"/>
                    <a:lstStyle/>
                    <a:p>
                      <a:r>
                        <a:rPr sz="1300" b="0">
                          <a:solidFill>
                            <a:srgbClr val="222A35"/>
                          </a:solidFill>
                          <a:latin typeface="Arial"/>
                        </a:rPr>
                        <a:t>OsmAnd 2 / 3</a:t>
                      </a:r>
                    </a:p>
                  </a:txBody>
                  <a:tcPr marL="54864" marR="54864" marT="27432" marB="27432" anchor="ctr">
                    <a:solidFill>
                      <a:srgbClr val="FFFFFF"/>
                    </a:solidFill>
                  </a:tcPr>
                </a:tc>
              </a:tr>
            </a:tbl>
          </a:graphicData>
        </a:graphic>
      </p:graphicFrame>
      <p:sp>
        <p:nvSpPr>
          <p:cNvPr id="10" name="TextBox 9"/>
          <p:cNvSpPr txBox="1"/>
          <p:nvPr/>
        </p:nvSpPr>
        <p:spPr>
          <a:xfrm>
            <a:off x="640080" y="5486400"/>
            <a:ext cx="10927080" cy="73152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OUR WORK IN NUMBERS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Behind the final result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24</a:t>
            </a:r>
          </a:p>
        </p:txBody>
      </p:sp>
      <p:sp>
        <p:nvSpPr>
          <p:cNvPr id="9" name="Rectangle 8"/>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2" name="TextBox 11"/>
          <p:cNvSpPr txBox="1"/>
          <p:nvPr/>
        </p:nvSpPr>
        <p:spPr>
          <a:xfrm>
            <a:off x="86868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 the project</a:t>
            </a:r>
          </a:p>
        </p:txBody>
      </p:sp>
      <p:sp>
        <p:nvSpPr>
          <p:cNvPr id="13" name="Rectangle 12"/>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6" name="TextBox 15"/>
          <p:cNvSpPr txBox="1"/>
          <p:nvPr/>
        </p:nvSpPr>
        <p:spPr>
          <a:xfrm>
            <a:off x="457200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with a written reason</a:t>
            </a:r>
          </a:p>
        </p:txBody>
      </p:sp>
      <p:sp>
        <p:nvSpPr>
          <p:cNvPr id="17" name="Rectangle 16"/>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19"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75319"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1,453</a:t>
            </a:r>
          </a:p>
        </p:txBody>
      </p:sp>
      <p:sp>
        <p:nvSpPr>
          <p:cNvPr id="20" name="TextBox 19"/>
          <p:cNvSpPr txBox="1"/>
          <p:nvPr/>
        </p:nvSpPr>
        <p:spPr>
          <a:xfrm>
            <a:off x="8275319"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steps executed in this agent's runs</a:t>
            </a:r>
          </a:p>
        </p:txBody>
      </p:sp>
      <p:sp>
        <p:nvSpPr>
          <p:cNvPr id="21" name="Rectangle 20"/>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1,642</a:t>
            </a:r>
          </a:p>
        </p:txBody>
      </p:sp>
      <p:sp>
        <p:nvSpPr>
          <p:cNvPr id="24" name="TextBox 23"/>
          <p:cNvSpPr txBox="1"/>
          <p:nvPr/>
        </p:nvSpPr>
        <p:spPr>
          <a:xfrm>
            <a:off x="86868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calls in this agent's runs</a:t>
            </a:r>
          </a:p>
        </p:txBody>
      </p:sp>
      <p:sp>
        <p:nvSpPr>
          <p:cNvPr id="25" name="Rectangle 24"/>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4340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38</a:t>
            </a:r>
          </a:p>
        </p:txBody>
      </p:sp>
      <p:sp>
        <p:nvSpPr>
          <p:cNvPr id="28" name="TextBox 27"/>
          <p:cNvSpPr txBox="1"/>
          <p:nvPr/>
        </p:nvSpPr>
        <p:spPr>
          <a:xfrm>
            <a:off x="457200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automatic offline tests</a:t>
            </a:r>
          </a:p>
        </p:txBody>
      </p:sp>
      <p:sp>
        <p:nvSpPr>
          <p:cNvPr id="29" name="Rectangle 28"/>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046719"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75319"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€0.48</a:t>
            </a:r>
          </a:p>
        </p:txBody>
      </p:sp>
      <p:sp>
        <p:nvSpPr>
          <p:cNvPr id="32" name="TextBox 31"/>
          <p:cNvSpPr txBox="1"/>
          <p:nvPr/>
        </p:nvSpPr>
        <p:spPr>
          <a:xfrm>
            <a:off x="8275319"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all local runs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FINDINGS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we learned, and what is still limited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25</a:t>
            </a:r>
          </a:p>
        </p:txBody>
      </p:sp>
      <p:sp>
        <p:nvSpPr>
          <p:cNvPr id="9" name="Rectangle 8"/>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6053328"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Findings</a:t>
            </a:r>
          </a:p>
        </p:txBody>
      </p:sp>
      <p:sp>
        <p:nvSpPr>
          <p:cNvPr id="12" name="TextBox 11"/>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1">
                <a:solidFill>
                  <a:srgbClr val="222A35"/>
                </a:solidFill>
                <a:latin typeface="Arial"/>
              </a:rPr>
              <a:t>Trust the harness first</a:t>
            </a:r>
            <a:r>
              <a:rPr sz="1900" b="0">
                <a:solidFill>
                  <a:srgbClr val="222A35"/>
                </a:solidFill>
                <a:latin typeface="Arial"/>
              </a:rPr>
              <a:t>: setup faults looked like agent failures</a:t>
            </a:r>
          </a:p>
          <a:p>
            <a:pPr>
              <a:lnSpc>
                <a:spcPct val="108000"/>
              </a:lnSpc>
              <a:spcAft>
                <a:spcPts val="300"/>
              </a:spcAft>
            </a:pPr>
            <a:r>
              <a:rPr sz="1900">
                <a:solidFill>
                  <a:srgbClr val="0065BD"/>
                </a:solidFill>
                <a:latin typeface="Arial"/>
              </a:rPr>
              <a:t>▪  </a:t>
            </a:r>
            <a:r>
              <a:rPr sz="1900" b="1">
                <a:solidFill>
                  <a:srgbClr val="222A35"/>
                </a:solidFill>
                <a:latin typeface="Arial"/>
              </a:rPr>
              <a:t>The verifier decides</a:t>
            </a:r>
            <a:r>
              <a:rPr sz="1900" b="0">
                <a:solidFill>
                  <a:srgbClr val="222A35"/>
                </a:solidFill>
                <a:latin typeface="Arial"/>
              </a:rPr>
              <a:t>: false completions are real and dangerous</a:t>
            </a:r>
          </a:p>
          <a:p>
            <a:pPr>
              <a:lnSpc>
                <a:spcPct val="108000"/>
              </a:lnSpc>
              <a:spcAft>
                <a:spcPts val="300"/>
              </a:spcAft>
            </a:pPr>
            <a:r>
              <a:rPr sz="1900">
                <a:solidFill>
                  <a:srgbClr val="0065BD"/>
                </a:solidFill>
                <a:latin typeface="Arial"/>
              </a:rPr>
              <a:t>▪  </a:t>
            </a:r>
            <a:r>
              <a:rPr sz="1900" b="1">
                <a:solidFill>
                  <a:srgbClr val="222A35"/>
                </a:solidFill>
                <a:latin typeface="Arial"/>
              </a:rPr>
              <a:t>Where knowledge lives matters</a:t>
            </a:r>
            <a:r>
              <a:rPr sz="1900" b="0">
                <a:solidFill>
                  <a:srgbClr val="222A35"/>
                </a:solidFill>
                <a:latin typeface="Arial"/>
              </a:rPr>
              <a:t>: prompt &lt; reminder each step &lt; code</a:t>
            </a:r>
          </a:p>
          <a:p>
            <a:pPr>
              <a:lnSpc>
                <a:spcPct val="108000"/>
              </a:lnSpc>
              <a:spcAft>
                <a:spcPts val="300"/>
              </a:spcAft>
            </a:pPr>
            <a:r>
              <a:rPr sz="1900">
                <a:solidFill>
                  <a:srgbClr val="0065BD"/>
                </a:solidFill>
                <a:latin typeface="Arial"/>
              </a:rPr>
              <a:t>▪  </a:t>
            </a:r>
            <a:r>
              <a:rPr sz="1900" b="1">
                <a:solidFill>
                  <a:srgbClr val="222A35"/>
                </a:solidFill>
                <a:latin typeface="Arial"/>
              </a:rPr>
              <a:t>Long tasks fail by small errors</a:t>
            </a:r>
            <a:r>
              <a:rPr sz="1900" b="0">
                <a:solidFill>
                  <a:srgbClr val="222A35"/>
                </a:solidFill>
                <a:latin typeface="Arial"/>
              </a:rPr>
              <a:t>: one missed tap is enough</a:t>
            </a:r>
          </a:p>
          <a:p>
            <a:pPr>
              <a:lnSpc>
                <a:spcPct val="108000"/>
              </a:lnSpc>
              <a:spcAft>
                <a:spcPts val="300"/>
              </a:spcAft>
            </a:pPr>
            <a:r>
              <a:rPr sz="1900">
                <a:solidFill>
                  <a:srgbClr val="0065BD"/>
                </a:solidFill>
                <a:latin typeface="Arial"/>
              </a:rPr>
              <a:t>▪  </a:t>
            </a:r>
            <a:r>
              <a:rPr sz="1900" b="1">
                <a:solidFill>
                  <a:srgbClr val="222A35"/>
                </a:solidFill>
                <a:latin typeface="Arial"/>
              </a:rPr>
              <a:t>Checks catch traps</a:t>
            </a:r>
            <a:r>
              <a:rPr sz="1900" b="0">
                <a:solidFill>
                  <a:srgbClr val="222A35"/>
                </a:solidFill>
                <a:latin typeface="Arial"/>
              </a:rPr>
              <a:t>: 8 actions stopped in the final runs</a:t>
            </a:r>
          </a:p>
        </p:txBody>
      </p:sp>
      <p:sp>
        <p:nvSpPr>
          <p:cNvPr id="13" name="Rectangle 12"/>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42631" y="1645920"/>
            <a:ext cx="4133087"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Limitations</a:t>
            </a:r>
          </a:p>
        </p:txBody>
      </p:sp>
      <p:sp>
        <p:nvSpPr>
          <p:cNvPr id="16" name="TextBox 15"/>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0">
                <a:solidFill>
                  <a:srgbClr val="222A35"/>
                </a:solidFill>
                <a:latin typeface="Arial"/>
              </a:rPr>
              <a:t>Three runs per task: small sample</a:t>
            </a:r>
          </a:p>
          <a:p>
            <a:pPr>
              <a:lnSpc>
                <a:spcPct val="108000"/>
              </a:lnSpc>
              <a:spcAft>
                <a:spcPts val="300"/>
              </a:spcAft>
            </a:pPr>
            <a:r>
              <a:rPr sz="1900">
                <a:solidFill>
                  <a:srgbClr val="0065BD"/>
                </a:solidFill>
                <a:latin typeface="Arial"/>
              </a:rPr>
              <a:t>▪  </a:t>
            </a:r>
            <a:r>
              <a:rPr sz="1900" b="0">
                <a:solidFill>
                  <a:srgbClr val="222A35"/>
                </a:solidFill>
                <a:latin typeface="Arial"/>
              </a:rPr>
              <a:t>One model, one laptop, one emulator</a:t>
            </a:r>
          </a:p>
          <a:p>
            <a:pPr>
              <a:lnSpc>
                <a:spcPct val="108000"/>
              </a:lnSpc>
              <a:spcAft>
                <a:spcPts val="300"/>
              </a:spcAft>
            </a:pPr>
            <a:r>
              <a:rPr sz="1900">
                <a:solidFill>
                  <a:srgbClr val="0065BD"/>
                </a:solidFill>
                <a:latin typeface="Arial"/>
              </a:rPr>
              <a:t>▪  </a:t>
            </a:r>
            <a:r>
              <a:rPr sz="1900" b="0">
                <a:solidFill>
                  <a:srgbClr val="222A35"/>
                </a:solidFill>
                <a:latin typeface="Arial"/>
              </a:rPr>
              <a:t>OsmAnd Skill works only for OsmAnd</a:t>
            </a:r>
          </a:p>
          <a:p>
            <a:pPr>
              <a:lnSpc>
                <a:spcPct val="108000"/>
              </a:lnSpc>
              <a:spcAft>
                <a:spcPts val="300"/>
              </a:spcAft>
            </a:pPr>
            <a:r>
              <a:rPr sz="1900">
                <a:solidFill>
                  <a:srgbClr val="0065BD"/>
                </a:solidFill>
                <a:latin typeface="Arial"/>
              </a:rPr>
              <a:t>▪  </a:t>
            </a:r>
            <a:r>
              <a:rPr sz="1900" b="0">
                <a:solidFill>
                  <a:srgbClr val="222A35"/>
                </a:solidFill>
                <a:latin typeface="Arial"/>
              </a:rPr>
              <a:t>Two tasks used extra screen labels</a:t>
            </a:r>
          </a:p>
          <a:p>
            <a:pPr>
              <a:lnSpc>
                <a:spcPct val="108000"/>
              </a:lnSpc>
              <a:spcAft>
                <a:spcPts val="300"/>
              </a:spcAft>
            </a:pPr>
            <a:r>
              <a:rPr sz="1900">
                <a:solidFill>
                  <a:srgbClr val="0065BD"/>
                </a:solidFill>
                <a:latin typeface="Arial"/>
              </a:rPr>
              <a:t>▪  </a:t>
            </a:r>
            <a:r>
              <a:rPr sz="1900" b="0">
                <a:solidFill>
                  <a:srgbClr val="222A35"/>
                </a:solidFill>
                <a:latin typeface="Arial"/>
              </a:rPr>
              <a:t>After the freeze only the Markor fix was re-run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1691640"/>
            <a:ext cx="6309360" cy="1005840"/>
          </a:xfrm>
          <a:prstGeom prst="rect">
            <a:avLst/>
          </a:prstGeom>
          <a:noFill/>
        </p:spPr>
        <p:txBody>
          <a:bodyPr wrap="square" anchor="t" lIns="73152" rIns="73152">
            <a:spAutoFit/>
          </a:bodyPr>
          <a:lstStyle/>
          <a:p>
            <a:pPr algn="l">
              <a:lnSpc>
                <a:spcPct val="110000"/>
              </a:lnSpc>
            </a:pPr>
            <a:r>
              <a:rPr sz="5400" b="1" i="0">
                <a:solidFill>
                  <a:srgbClr val="FFFFFF"/>
                </a:solidFill>
                <a:latin typeface="Arial"/>
              </a:rPr>
              <a:t>Thank you</a:t>
            </a:r>
          </a:p>
        </p:txBody>
      </p:sp>
      <p:sp>
        <p:nvSpPr>
          <p:cNvPr id="7" name="TextBox 6"/>
          <p:cNvSpPr txBox="1"/>
          <p:nvPr/>
        </p:nvSpPr>
        <p:spPr>
          <a:xfrm>
            <a:off x="685800" y="2743200"/>
            <a:ext cx="6309360" cy="457200"/>
          </a:xfrm>
          <a:prstGeom prst="rect">
            <a:avLst/>
          </a:prstGeom>
          <a:noFill/>
        </p:spPr>
        <p:txBody>
          <a:bodyPr wrap="square" anchor="t" lIns="73152" rIns="73152">
            <a:spAutoFit/>
          </a:bodyPr>
          <a:lstStyle/>
          <a:p>
            <a:pPr algn="l">
              <a:lnSpc>
                <a:spcPct val="110000"/>
              </a:lnSpc>
            </a:pPr>
            <a:r>
              <a:rPr sz="2200" b="0" i="0">
                <a:solidFill>
                  <a:srgbClr val="B9C4D6"/>
                </a:solidFill>
                <a:latin typeface="Arial"/>
              </a:rPr>
              <a:t>Questions are welcome</a:t>
            </a:r>
          </a:p>
        </p:txBody>
      </p:sp>
      <p:sp>
        <p:nvSpPr>
          <p:cNvPr id="8" name="Rectangle 7"/>
          <p:cNvSpPr/>
          <p:nvPr/>
        </p:nvSpPr>
        <p:spPr>
          <a:xfrm>
            <a:off x="685800" y="352044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3840480"/>
            <a:ext cx="6309360" cy="822960"/>
          </a:xfrm>
          <a:prstGeom prst="rect">
            <a:avLst/>
          </a:prstGeom>
          <a:noFill/>
        </p:spPr>
        <p:txBody>
          <a:bodyPr wrap="square" anchor="t" lIns="73152" rIns="73152">
            <a:spAutoFit/>
          </a:bodyPr>
          <a:lstStyle/>
          <a:p>
            <a:pPr algn="l">
              <a:lnSpc>
                <a:spcPct val="120000"/>
              </a:lnSpc>
            </a:pPr>
            <a:r>
              <a:rPr sz="1500" b="0" i="0">
                <a:solidFill>
                  <a:srgbClr val="F09A5B"/>
                </a:solidFill>
                <a:latin typeface="Arial"/>
              </a:rPr>
              <a:t>github.com/Chenschenschen/androidworld-gui-agent</a:t>
            </a:r>
          </a:p>
          <a:p>
            <a:pPr algn="l">
              <a:lnSpc>
                <a:spcPct val="120000"/>
              </a:lnSpc>
            </a:pPr>
            <a:r>
              <a:rPr sz="1500" b="0" i="0">
                <a:solidFill>
                  <a:srgbClr val="F09A5B"/>
                </a:solidFill>
                <a:latin typeface="Arial"/>
              </a:rPr>
              <a:t>branch team-agent  ·  tag team-agent-final-v65</a:t>
            </a:r>
          </a:p>
        </p:txBody>
      </p:sp>
      <p:sp>
        <p:nvSpPr>
          <p:cNvPr id="10" name="TextBox 9"/>
          <p:cNvSpPr txBox="1"/>
          <p:nvPr/>
        </p:nvSpPr>
        <p:spPr>
          <a:xfrm>
            <a:off x="685800" y="4846320"/>
            <a:ext cx="6309360" cy="822960"/>
          </a:xfrm>
          <a:prstGeom prst="rect">
            <a:avLst/>
          </a:prstGeom>
          <a:noFill/>
        </p:spPr>
        <p:txBody>
          <a:bodyPr wrap="square" anchor="t" lIns="73152" rIns="73152">
            <a:spAutoFit/>
          </a:bodyPr>
          <a:lstStyle/>
          <a:p>
            <a:pPr algn="l">
              <a:lnSpc>
                <a:spcPct val="120000"/>
              </a:lnSpc>
            </a:pPr>
            <a:r>
              <a:rPr sz="1400" b="0" i="0">
                <a:solidFill>
                  <a:srgbClr val="B9C4D6"/>
                </a:solidFill>
                <a:latin typeface="Arial"/>
              </a:rPr>
              <a:t>Model: AutoGLM-Phone-9B-Multilingual (Z.ai)</a:t>
            </a:r>
          </a:p>
          <a:p>
            <a:pPr algn="l">
              <a:lnSpc>
                <a:spcPct val="120000"/>
              </a:lnSpc>
            </a:pPr>
            <a:r>
              <a:rPr sz="1400" b="0" i="0">
                <a:solidFill>
                  <a:srgbClr val="B9C4D6"/>
                </a:solidFill>
                <a:latin typeface="Arial"/>
              </a:rPr>
              <a:t>Benchmark: AndroidWorld (Google Research)</a:t>
            </a:r>
          </a:p>
        </p:txBody>
      </p:sp>
      <p:pic>
        <p:nvPicPr>
          <p:cNvPr id="11" name="Picture 10" descr="traj_2.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2" name="Picture 11" descr="traj_5.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3" name="Picture 12" descr="osmand_pass_3.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the agent can do, and what it sees in each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27</a:t>
            </a:r>
          </a:p>
        </p:txBody>
      </p:sp>
      <p:graphicFrame>
        <p:nvGraphicFramePr>
          <p:cNvPr id="9" name="Table 8"/>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gridCol w="3840480"/>
              </a:tblGrid>
              <a:tr h="522514">
                <a:tc>
                  <a:txBody>
                    <a:bodyPr wrap="square"/>
                    <a:lstStyle/>
                    <a:p>
                      <a:r>
                        <a:rPr sz="1300" b="1">
                          <a:solidFill>
                            <a:srgbClr val="FFFFFF"/>
                          </a:solidFill>
                          <a:latin typeface="Arial"/>
                        </a:rPr>
                        <a:t>Action</a:t>
                      </a:r>
                    </a:p>
                  </a:txBody>
                  <a:tcPr marL="54864" marR="54864" marT="27432" marB="27432" anchor="ctr">
                    <a:solidFill>
                      <a:srgbClr val="072140"/>
                    </a:solidFill>
                  </a:tcPr>
                </a:tc>
                <a:tc>
                  <a:txBody>
                    <a:bodyPr wrap="square"/>
                    <a:lstStyle/>
                    <a:p>
                      <a:r>
                        <a:rPr sz="1300" b="1">
                          <a:solidFill>
                            <a:srgbClr val="FFFFFF"/>
                          </a:solidFill>
                          <a:latin typeface="Arial"/>
                        </a:rPr>
                        <a:t>Example</a:t>
                      </a:r>
                    </a:p>
                  </a:txBody>
                  <a:tcPr marL="54864" marR="54864" marT="27432" marB="27432" anchor="ctr">
                    <a:solidFill>
                      <a:srgbClr val="072140"/>
                    </a:solidFill>
                  </a:tcPr>
                </a:tc>
              </a:tr>
              <a:tr h="522514">
                <a:tc>
                  <a:txBody>
                    <a:bodyPr wrap="square"/>
                    <a:lstStyle/>
                    <a:p>
                      <a:r>
                        <a:rPr sz="1300" b="1">
                          <a:solidFill>
                            <a:srgbClr val="222A35"/>
                          </a:solidFill>
                          <a:latin typeface="Arial"/>
                        </a:rPr>
                        <a:t>Tap</a:t>
                      </a:r>
                    </a:p>
                  </a:txBody>
                  <a:tcPr marL="54864" marR="54864" marT="27432" marB="27432" anchor="ctr">
                    <a:solidFill>
                      <a:srgbClr val="FFFFFF"/>
                    </a:solidFill>
                  </a:tcPr>
                </a:tc>
                <a:tc>
                  <a:txBody>
                    <a:bodyPr wrap="square"/>
                    <a:lstStyle/>
                    <a:p>
                      <a:r>
                        <a:rPr sz="1300" b="0">
                          <a:solidFill>
                            <a:srgbClr val="222A35"/>
                          </a:solidFill>
                          <a:latin typeface="Arial"/>
                        </a:rPr>
                        <a:t>do(action="Tap", element=[500, 335])</a:t>
                      </a:r>
                    </a:p>
                  </a:txBody>
                  <a:tcPr marL="54864" marR="54864" marT="27432" marB="27432" anchor="ctr">
                    <a:solidFill>
                      <a:srgbClr val="FFFFFF"/>
                    </a:solidFill>
                  </a:tcPr>
                </a:tc>
              </a:tr>
              <a:tr h="522514">
                <a:tc>
                  <a:txBody>
                    <a:bodyPr wrap="square"/>
                    <a:lstStyle/>
                    <a:p>
                      <a:r>
                        <a:rPr sz="1300" b="1">
                          <a:solidFill>
                            <a:srgbClr val="222A35"/>
                          </a:solidFill>
                          <a:latin typeface="Arial"/>
                        </a:rPr>
                        <a:t>Type</a:t>
                      </a:r>
                    </a:p>
                  </a:txBody>
                  <a:tcPr marL="54864" marR="54864" marT="27432" marB="27432" anchor="ctr">
                    <a:solidFill>
                      <a:srgbClr val="F2F5F9"/>
                    </a:solidFill>
                  </a:tcPr>
                </a:tc>
                <a:tc>
                  <a:txBody>
                    <a:bodyPr wrap="square"/>
                    <a:lstStyle/>
                    <a:p>
                      <a:r>
                        <a:rPr sz="1300" b="0">
                          <a:solidFill>
                            <a:srgbClr val="222A35"/>
                          </a:solidFill>
                          <a:latin typeface="Arial"/>
                        </a:rPr>
                        <a:t>do(action="Type", text="Ruggell")</a:t>
                      </a:r>
                    </a:p>
                  </a:txBody>
                  <a:tcPr marL="54864" marR="54864" marT="27432" marB="27432" anchor="ctr">
                    <a:solidFill>
                      <a:srgbClr val="F2F5F9"/>
                    </a:solidFill>
                  </a:tcPr>
                </a:tc>
              </a:tr>
              <a:tr h="522514">
                <a:tc>
                  <a:txBody>
                    <a:bodyPr wrap="square"/>
                    <a:lstStyle/>
                    <a:p>
                      <a:r>
                        <a:rPr sz="1300" b="1">
                          <a:solidFill>
                            <a:srgbClr val="222A35"/>
                          </a:solidFill>
                          <a:latin typeface="Arial"/>
                        </a:rPr>
                        <a:t>Swipe</a:t>
                      </a:r>
                    </a:p>
                  </a:txBody>
                  <a:tcPr marL="54864" marR="54864" marT="27432" marB="27432" anchor="ctr">
                    <a:solidFill>
                      <a:srgbClr val="FFFFFF"/>
                    </a:solidFill>
                  </a:tcPr>
                </a:tc>
                <a:tc>
                  <a:txBody>
                    <a:bodyPr wrap="square"/>
                    <a:lstStyle/>
                    <a:p>
                      <a:r>
                        <a:rPr sz="1300" b="0">
                          <a:solidFill>
                            <a:srgbClr val="222A35"/>
                          </a:solidFill>
                          <a:latin typeface="Arial"/>
                        </a:rPr>
                        <a:t>do(action="Swipe", start=[500,560], end=[500,260])</a:t>
                      </a:r>
                    </a:p>
                  </a:txBody>
                  <a:tcPr marL="54864" marR="54864" marT="27432" marB="27432" anchor="ctr">
                    <a:solidFill>
                      <a:srgbClr val="FFFFFF"/>
                    </a:solidFill>
                  </a:tcPr>
                </a:tc>
              </a:tr>
              <a:tr h="522514">
                <a:tc>
                  <a:txBody>
                    <a:bodyPr wrap="square"/>
                    <a:lstStyle/>
                    <a:p>
                      <a:r>
                        <a:rPr sz="1300" b="1">
                          <a:solidFill>
                            <a:srgbClr val="222A35"/>
                          </a:solidFill>
                          <a:latin typeface="Arial"/>
                        </a:rPr>
                        <a:t>Launch</a:t>
                      </a:r>
                    </a:p>
                  </a:txBody>
                  <a:tcPr marL="54864" marR="54864" marT="27432" marB="27432" anchor="ctr">
                    <a:solidFill>
                      <a:srgbClr val="F2F5F9"/>
                    </a:solidFill>
                  </a:tcPr>
                </a:tc>
                <a:tc>
                  <a:txBody>
                    <a:bodyPr wrap="square"/>
                    <a:lstStyle/>
                    <a:p>
                      <a:r>
                        <a:rPr sz="1300" b="0">
                          <a:solidFill>
                            <a:srgbClr val="222A35"/>
                          </a:solidFill>
                          <a:latin typeface="Arial"/>
                        </a:rPr>
                        <a:t>do(action="Launch", app="markor")</a:t>
                      </a:r>
                    </a:p>
                  </a:txBody>
                  <a:tcPr marL="54864" marR="54864" marT="27432" marB="27432" anchor="ctr">
                    <a:solidFill>
                      <a:srgbClr val="F2F5F9"/>
                    </a:solidFill>
                  </a:tcPr>
                </a:tc>
              </a:tr>
              <a:tr h="522514">
                <a:tc>
                  <a:txBody>
                    <a:bodyPr wrap="square"/>
                    <a:lstStyle/>
                    <a:p>
                      <a:r>
                        <a:rPr sz="1300" b="1">
                          <a:solidFill>
                            <a:srgbClr val="222A35"/>
                          </a:solidFill>
                          <a:latin typeface="Arial"/>
                        </a:rPr>
                        <a:t>Back / Wait</a:t>
                      </a:r>
                    </a:p>
                  </a:txBody>
                  <a:tcPr marL="54864" marR="54864" marT="27432" marB="27432" anchor="ctr">
                    <a:solidFill>
                      <a:srgbClr val="FFFFFF"/>
                    </a:solidFill>
                  </a:tcPr>
                </a:tc>
                <a:tc>
                  <a:txBody>
                    <a:bodyPr wrap="square"/>
                    <a:lstStyle/>
                    <a:p>
                      <a:r>
                        <a:rPr sz="1300" b="0">
                          <a:solidFill>
                            <a:srgbClr val="222A35"/>
                          </a:solidFill>
                          <a:latin typeface="Arial"/>
                        </a:rPr>
                        <a:t>do(action="Back")</a:t>
                      </a:r>
                    </a:p>
                  </a:txBody>
                  <a:tcPr marL="54864" marR="54864" marT="27432" marB="27432" anchor="ctr">
                    <a:solidFill>
                      <a:srgbClr val="FFFFFF"/>
                    </a:solidFill>
                  </a:tcPr>
                </a:tc>
              </a:tr>
              <a:tr h="522516">
                <a:tc>
                  <a:txBody>
                    <a:bodyPr wrap="square"/>
                    <a:lstStyle/>
                    <a:p>
                      <a:r>
                        <a:rPr sz="1300" b="1">
                          <a:solidFill>
                            <a:srgbClr val="222A35"/>
                          </a:solidFill>
                          <a:latin typeface="Arial"/>
                        </a:rPr>
                        <a:t>Finish</a:t>
                      </a:r>
                    </a:p>
                  </a:txBody>
                  <a:tcPr marL="54864" marR="54864" marT="27432" marB="27432" anchor="ctr">
                    <a:solidFill>
                      <a:srgbClr val="F2F5F9"/>
                    </a:solidFill>
                  </a:tcPr>
                </a:tc>
                <a:tc>
                  <a:txBody>
                    <a:bodyPr wrap="square"/>
                    <a:lstStyle/>
                    <a:p>
                      <a:r>
                        <a:rPr sz="1300" b="0">
                          <a:solidFill>
                            <a:srgbClr val="222A35"/>
                          </a:solidFill>
                          <a:latin typeface="Arial"/>
                        </a:rPr>
                        <a:t>finish(message="Track saved")</a:t>
                      </a:r>
                    </a:p>
                  </a:txBody>
                  <a:tcPr marL="54864" marR="54864" marT="27432" marB="27432" anchor="ctr">
                    <a:solidFill>
                      <a:srgbClr val="F2F5F9"/>
                    </a:solidFill>
                  </a:tcPr>
                </a:tc>
              </a:tr>
            </a:tbl>
          </a:graphicData>
        </a:graphic>
      </p:graphicFrame>
      <p:graphicFrame>
        <p:nvGraphicFramePr>
          <p:cNvPr id="10" name="Table 9"/>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gridCol w="3840480"/>
              </a:tblGrid>
              <a:tr h="457200">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r>
                        <a:rPr sz="1300" b="1">
                          <a:solidFill>
                            <a:srgbClr val="FFFFFF"/>
                          </a:solidFill>
                          <a:latin typeface="Arial"/>
                        </a:rPr>
                        <a:t>Observation</a:t>
                      </a:r>
                    </a:p>
                  </a:txBody>
                  <a:tcPr marL="54864" marR="54864" marT="27432" marB="27432" anchor="ctr">
                    <a:solidFill>
                      <a:srgbClr val="072140"/>
                    </a:solidFill>
                  </a:tcPr>
                </a:tc>
              </a:tr>
              <a:tr h="457200">
                <a:tc>
                  <a:txBody>
                    <a:bodyPr wrap="square"/>
                    <a:lstStyle/>
                    <a:p>
                      <a:r>
                        <a:rPr sz="1300" b="1">
                          <a:solidFill>
                            <a:srgbClr val="222A35"/>
                          </a:solidFill>
                          <a:latin typeface="Arial"/>
                        </a:rPr>
                        <a:t>Wi-Fi</a:t>
                      </a:r>
                    </a:p>
                  </a:txBody>
                  <a:tcPr marL="54864" marR="54864" marT="27432" marB="27432" anchor="ctr">
                    <a:solidFill>
                      <a:srgbClr val="FFFFFF"/>
                    </a:solidFill>
                  </a:tcPr>
                </a:tc>
                <a:tc>
                  <a:txBody>
                    <a:bodyPr wrap="square"/>
                    <a:lstStyle/>
                    <a:p>
                      <a:r>
                        <a:rPr sz="1300" b="0">
                          <a:solidFill>
                            <a:srgbClr val="222A35"/>
                          </a:solidFill>
                          <a:latin typeface="Arial"/>
                        </a:rPr>
                        <a:t>Screenshot + Settings labels</a:t>
                      </a:r>
                    </a:p>
                  </a:txBody>
                  <a:tcPr marL="54864" marR="54864" marT="27432" marB="27432" anchor="ctr">
                    <a:solidFill>
                      <a:srgbClr val="E5EFF8"/>
                    </a:solidFill>
                  </a:tcPr>
                </a:tc>
              </a:tr>
              <a:tr h="457200">
                <a:tc>
                  <a:txBody>
                    <a:bodyPr wrap="square"/>
                    <a:lstStyle/>
                    <a:p>
                      <a:r>
                        <a:rPr sz="1300" b="1">
                          <a:solidFill>
                            <a:srgbClr val="222A35"/>
                          </a:solidFill>
                          <a:latin typeface="Arial"/>
                        </a:rPr>
                        <a:t>Contacts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SMS</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Files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Calendar</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Markor + SMS</a:t>
                      </a:r>
                    </a:p>
                  </a:txBody>
                  <a:tcPr marL="54864" marR="54864" marT="27432" marB="27432" anchor="ctr">
                    <a:solidFill>
                      <a:srgbClr val="F2F5F9"/>
                    </a:solidFill>
                  </a:tcPr>
                </a:tc>
                <a:tc>
                  <a:txBody>
                    <a:bodyPr wrap="square"/>
                    <a:lstStyle/>
                    <a:p>
                      <a:r>
                        <a:rPr sz="1300" b="0">
                          <a:solidFill>
                            <a:srgbClr val="222A35"/>
                          </a:solidFill>
                          <a:latin typeface="Arial"/>
                        </a:rPr>
                        <a:t>Screenshot only (+ text Skill)</a:t>
                      </a:r>
                    </a:p>
                  </a:txBody>
                  <a:tcPr marL="54864" marR="54864" marT="27432" marB="27432" anchor="ctr">
                    <a:solidFill>
                      <a:srgbClr val="F2F5F9"/>
                    </a:solidFill>
                  </a:tcPr>
                </a:tc>
              </a:tr>
              <a:tr h="457200">
                <a:tc>
                  <a:txBody>
                    <a:bodyPr wrap="square"/>
                    <a:lstStyle/>
                    <a:p>
                      <a:r>
                        <a:rPr sz="1300" b="1">
                          <a:solidFill>
                            <a:srgbClr val="222A35"/>
                          </a:solidFill>
                          <a:latin typeface="Arial"/>
                        </a:rPr>
                        <a:t>OsmAnd</a:t>
                      </a:r>
                    </a:p>
                  </a:txBody>
                  <a:tcPr marL="54864" marR="54864" marT="27432" marB="27432" anchor="ctr">
                    <a:solidFill>
                      <a:srgbClr val="FFFFFF"/>
                    </a:solidFill>
                  </a:tcPr>
                </a:tc>
                <a:tc>
                  <a:txBody>
                    <a:bodyPr wrap="square"/>
                    <a:lstStyle/>
                    <a:p>
                      <a:r>
                        <a:rPr sz="1300" b="0">
                          <a:solidFill>
                            <a:srgbClr val="222A35"/>
                          </a:solidFill>
                          <a:latin typeface="Arial"/>
                        </a:rPr>
                        <a:t>Screenshot + accessibility tree (+ coded Skill)</a:t>
                      </a:r>
                    </a:p>
                  </a:txBody>
                  <a:tcPr marL="54864" marR="54864" marT="27432" marB="27432" anchor="ctr">
                    <a:solidFill>
                      <a:srgbClr val="FCECE0"/>
                    </a:solidFill>
                  </a:tcPr>
                </a:tc>
              </a:tr>
            </a:tbl>
          </a:graphicData>
        </a:graphic>
      </p:graphicFrame>
      <p:sp>
        <p:nvSpPr>
          <p:cNvPr id="11" name="TextBox 10"/>
          <p:cNvSpPr txBox="1"/>
          <p:nvPr/>
        </p:nvSpPr>
        <p:spPr>
          <a:xfrm>
            <a:off x="640080" y="5440680"/>
            <a:ext cx="10881360" cy="82296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Steps used versus the course's reference steps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28</a:t>
            </a:r>
          </a:p>
        </p:txBody>
      </p:sp>
      <p:graphicFrame>
        <p:nvGraphicFramePr>
          <p:cNvPr id="9" name="Chart 8"/>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Speed and cost: about 0.065 € for all 21 runs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29</a:t>
            </a:r>
          </a:p>
        </p:txBody>
      </p:sp>
      <p:graphicFrame>
        <p:nvGraphicFramePr>
          <p:cNvPr id="9" name="Chart 8"/>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8001000" y="160020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1.45 M</a:t>
            </a:r>
          </a:p>
        </p:txBody>
      </p:sp>
      <p:sp>
        <p:nvSpPr>
          <p:cNvPr id="11" name="TextBox 10"/>
          <p:cNvSpPr txBox="1"/>
          <p:nvPr/>
        </p:nvSpPr>
        <p:spPr>
          <a:xfrm>
            <a:off x="8001000" y="231343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tokens for all 21 final runs</a:t>
            </a:r>
          </a:p>
        </p:txBody>
      </p:sp>
      <p:sp>
        <p:nvSpPr>
          <p:cNvPr id="12" name="TextBox 11"/>
          <p:cNvSpPr txBox="1"/>
          <p:nvPr/>
        </p:nvSpPr>
        <p:spPr>
          <a:xfrm>
            <a:off x="8001000" y="306324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€0.065</a:t>
            </a:r>
          </a:p>
        </p:txBody>
      </p:sp>
      <p:sp>
        <p:nvSpPr>
          <p:cNvPr id="13" name="TextBox 12"/>
          <p:cNvSpPr txBox="1"/>
          <p:nvPr/>
        </p:nvSpPr>
        <p:spPr>
          <a:xfrm>
            <a:off x="8001000" y="377647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the final evaluation</a:t>
            </a:r>
          </a:p>
          <a:p>
            <a:pPr algn="l">
              <a:lnSpc>
                <a:spcPct val="110000"/>
              </a:lnSpc>
            </a:pPr>
            <a:r>
              <a:rPr sz="1400" b="0" i="0">
                <a:solidFill>
                  <a:srgbClr val="5E6773"/>
                </a:solidFill>
                <a:latin typeface="Arial"/>
              </a:rPr>
              <a:t>(€0.045 per million tokens)</a:t>
            </a:r>
          </a:p>
        </p:txBody>
      </p:sp>
      <p:sp>
        <p:nvSpPr>
          <p:cNvPr id="14" name="TextBox 13"/>
          <p:cNvSpPr txBox="1"/>
          <p:nvPr/>
        </p:nvSpPr>
        <p:spPr>
          <a:xfrm>
            <a:off x="8001000" y="452628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1.77 s</a:t>
            </a:r>
          </a:p>
        </p:txBody>
      </p:sp>
      <p:sp>
        <p:nvSpPr>
          <p:cNvPr id="15" name="TextBox 14"/>
          <p:cNvSpPr txBox="1"/>
          <p:nvPr/>
        </p:nvSpPr>
        <p:spPr>
          <a:xfrm>
            <a:off x="8001000" y="523951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median time per model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