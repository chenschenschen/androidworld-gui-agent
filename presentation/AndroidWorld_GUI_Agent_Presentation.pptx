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handoutMasterIdLst>
    <p:handoutMasterId r:id="rId3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2" r:id="rId17"/>
    <p:sldId id="313" r:id="rId18"/>
    <p:sldId id="314" r:id="rId19"/>
    <p:sldId id="315" r:id="rId20"/>
    <p:sldId id="309" r:id="rId21"/>
    <p:sldId id="310" r:id="rId22"/>
    <p:sldId id="31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116" y="52"/>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handoutMaster" Target="handoutMasters/handout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Runs</c:v>
                </c:pt>
              </c:strCache>
            </c:strRef>
          </c:tx>
          <c:spPr>
            <a:solidFill>
              <a:srgbClr val="0065BD"/>
            </a:solidFill>
          </c:spPr>
          <c:invertIfNegative val="1"/>
          <c:dPt>
            <c:idx val="0"/>
            <c:invertIfNegative val="1"/>
            <c:bubble3D val="0"/>
            <c:spPr>
              <a:solidFill>
                <a:srgbClr val="A7B1BD"/>
              </a:solidFill>
            </c:spPr>
            <c:extLst>
              <c:ext xmlns:c16="http://schemas.microsoft.com/office/drawing/2014/chart" uri="{C3380CC4-5D6E-409C-BE32-E72D297353CC}">
                <c16:uniqueId val="{00000001-6AE9-4AB0-B423-EB92CFB3C156}"/>
              </c:ext>
            </c:extLst>
          </c:dPt>
          <c:dPt>
            <c:idx val="1"/>
            <c:invertIfNegative val="1"/>
            <c:bubble3D val="0"/>
            <c:spPr>
              <a:solidFill>
                <a:srgbClr val="A7B1BD"/>
              </a:solidFill>
            </c:spPr>
            <c:extLst>
              <c:ext xmlns:c16="http://schemas.microsoft.com/office/drawing/2014/chart" uri="{C3380CC4-5D6E-409C-BE32-E72D297353CC}">
                <c16:uniqueId val="{00000003-6AE9-4AB0-B423-EB92CFB3C156}"/>
              </c:ext>
            </c:extLst>
          </c:dPt>
          <c:dPt>
            <c:idx val="2"/>
            <c:invertIfNegative val="1"/>
            <c:bubble3D val="0"/>
            <c:spPr>
              <a:solidFill>
                <a:srgbClr val="A7B1BD"/>
              </a:solidFill>
            </c:spPr>
            <c:extLst>
              <c:ext xmlns:c16="http://schemas.microsoft.com/office/drawing/2014/chart" uri="{C3380CC4-5D6E-409C-BE32-E72D297353CC}">
                <c16:uniqueId val="{00000005-6AE9-4AB0-B423-EB92CFB3C156}"/>
              </c:ext>
            </c:extLst>
          </c:dPt>
          <c:dPt>
            <c:idx val="3"/>
            <c:invertIfNegative val="1"/>
            <c:bubble3D val="0"/>
            <c:spPr>
              <a:solidFill>
                <a:srgbClr val="E37222"/>
              </a:solidFill>
            </c:spPr>
            <c:extLst>
              <c:ext xmlns:c16="http://schemas.microsoft.com/office/drawing/2014/chart" uri="{C3380CC4-5D6E-409C-BE32-E72D297353CC}">
                <c16:uniqueId val="{00000007-6AE9-4AB0-B423-EB92CFB3C156}"/>
              </c:ext>
            </c:extLst>
          </c:dPt>
          <c:dPt>
            <c:idx val="4"/>
            <c:invertIfNegative val="1"/>
            <c:bubble3D val="0"/>
            <c:spPr>
              <a:solidFill>
                <a:srgbClr val="A7B1BD"/>
              </a:solidFill>
            </c:spPr>
            <c:extLst>
              <c:ext xmlns:c16="http://schemas.microsoft.com/office/drawing/2014/chart" uri="{C3380CC4-5D6E-409C-BE32-E72D297353CC}">
                <c16:uniqueId val="{00000009-6AE9-4AB0-B423-EB92CFB3C156}"/>
              </c:ext>
            </c:extLst>
          </c:dPt>
          <c:dPt>
            <c:idx val="5"/>
            <c:invertIfNegative val="1"/>
            <c:bubble3D val="0"/>
            <c:spPr>
              <a:solidFill>
                <a:srgbClr val="0065BD"/>
              </a:solidFill>
            </c:spPr>
            <c:extLst>
              <c:ext xmlns:c16="http://schemas.microsoft.com/office/drawing/2014/chart" uri="{C3380CC4-5D6E-409C-BE32-E72D297353CC}">
                <c16:uniqueId val="{0000000B-6AE9-4AB0-B423-EB92CFB3C156}"/>
              </c:ext>
            </c:extLst>
          </c:dPt>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65</c:v>
                </c:pt>
                <c:pt idx="1">
                  <c:v>21</c:v>
                </c:pt>
                <c:pt idx="2">
                  <c:v>32</c:v>
                </c:pt>
                <c:pt idx="3">
                  <c:v>19</c:v>
                </c:pt>
                <c:pt idx="4">
                  <c:v>48</c:v>
                </c:pt>
                <c:pt idx="5">
                  <c:v>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AE9-4AB0-B423-EB92CFB3C156}"/>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in val="0"/>
        </c:scaling>
        <c:delete val="0"/>
        <c:axPos val="b"/>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valAx>
    </c:plotArea>
    <c:plotVisOnly val="1"/>
    <c:dispBlanksAs val="gap"/>
    <c:showDLblsOverMax val="1"/>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Runs</c:v>
                </c:pt>
              </c:strCache>
            </c:strRef>
          </c:tx>
          <c:spPr>
            <a:solidFill>
              <a:srgbClr val="D9DEE5"/>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B77-4BD6-9AA8-ECF17B33DC83}"/>
            </c:ext>
          </c:extLst>
        </c:ser>
        <c:ser>
          <c:idx val="1"/>
          <c:order val="1"/>
          <c:tx>
            <c:strRef>
              <c:f>Sheet1!$C$1</c:f>
              <c:strCache>
                <c:ptCount val="1"/>
                <c:pt idx="0">
                  <c:v>Passed</c:v>
                </c:pt>
              </c:strCache>
            </c:strRef>
          </c:tx>
          <c:spPr>
            <a:solidFill>
              <a:srgbClr val="0065BD"/>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B77-4BD6-9AA8-ECF17B33DC83}"/>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valAx>
    </c:plotArea>
    <c:legend>
      <c:legendPos val="t"/>
      <c:overlay val="0"/>
    </c:legend>
    <c:plotVisOnly val="1"/>
    <c:dispBlanksAs val="gap"/>
    <c:showDLblsOverMax val="1"/>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Passed of 3</c:v>
                </c:pt>
              </c:strCache>
            </c:strRef>
          </c:tx>
          <c:spPr>
            <a:solidFill>
              <a:srgbClr val="0065BD"/>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0E6-41F9-BDFF-3D4BB2FF02B8}"/>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ax val="3"/>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majorUnit val="1"/>
      </c:valAx>
    </c:plotArea>
    <c:plotVisOnly val="1"/>
    <c:dispBlanksAs val="gap"/>
    <c:showDLblsOverMax val="1"/>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Our agent (mean of passing runs)</c:v>
                </c:pt>
              </c:strCache>
            </c:strRef>
          </c:tx>
          <c:spPr>
            <a:solidFill>
              <a:srgbClr val="0065BD"/>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5.0</c:v>
                </c:pt>
                <c:pt idx="1">
                  <c:v>11.5</c:v>
                </c:pt>
                <c:pt idx="2">
                  <c:v>7.7</c:v>
                </c:pt>
                <c:pt idx="3">
                  <c:v>15.0</c:v>
                </c:pt>
                <c:pt idx="4">
                  <c:v>19.0</c:v>
                </c:pt>
                <c:pt idx="5">
                  <c:v>18.0</c:v>
                </c:pt>
                <c:pt idx="6">
                  <c:v>22.5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0AD-403F-8612-D75A4BD3EE24}"/>
            </c:ext>
          </c:extLst>
        </c:ser>
        <c:ser>
          <c:idx val="1"/>
          <c:order val="1"/>
          <c:tx>
            <c:strRef>
              <c:f>Sheet1!$C$1</c:f>
              <c:strCache>
                <c:ptCount val="1"/>
                <c:pt idx="0">
                  <c:v>Reference steps (course list)</c:v>
                </c:pt>
              </c:strCache>
            </c:strRef>
          </c:tx>
          <c:spPr>
            <a:solidFill>
              <a:srgbClr val="072140"/>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3.0</c:v>
                </c:pt>
                <c:pt idx="1">
                  <c:v>5.0</c:v>
                </c:pt>
                <c:pt idx="2">
                  <c:v>6.0</c:v>
                </c:pt>
                <c:pt idx="3">
                  <c:v>10.0</c:v>
                </c:pt>
                <c:pt idx="4">
                  <c:v>17.0</c:v>
                </c:pt>
                <c:pt idx="5">
                  <c:v>9.0</c:v>
                </c:pt>
                <c:pt idx="6">
                  <c:v>60.0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0AD-403F-8612-D75A4BD3EE24}"/>
            </c:ext>
          </c:extLst>
        </c:ser>
        <c:ser>
          <c:idx val="2"/>
          <c:order val="2"/>
          <c:tx>
            <c:strRef>
              <c:f>Sheet1!$D$1</c:f>
              <c:strCache>
                <c:ptCount val="1"/>
                <c:pt idx="0">
                  <c:v>Step budget</c:v>
                </c:pt>
              </c:strCache>
            </c:strRef>
          </c:tx>
          <c:spPr>
            <a:solidFill>
              <a:srgbClr val="D9DEE5"/>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12.0</c:v>
                </c:pt>
                <c:pt idx="1">
                  <c:v>16.0</c:v>
                </c:pt>
                <c:pt idx="2">
                  <c:v>20.0</c:v>
                </c:pt>
                <c:pt idx="3">
                  <c:v>25.0</c:v>
                </c:pt>
                <c:pt idx="4">
                  <c:v>35.0</c:v>
                </c:pt>
                <c:pt idx="5">
                  <c:v>40.0</c:v>
                </c:pt>
                <c:pt idx="6">
                  <c:v>90.0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00AD-403F-8612-D75A4BD3EE24}"/>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valAx>
    </c:plotArea>
    <c:legend>
      <c:legendPos val="t"/>
      <c:overlay val="0"/>
    </c:legend>
    <c:plotVisOnly val="1"/>
    <c:dispBlanksAs val="gap"/>
    <c:showDLblsOverMax val="1"/>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Mean run time (s)</c:v>
                </c:pt>
              </c:strCache>
            </c:strRef>
          </c:tx>
          <c:spPr>
            <a:solidFill>
              <a:srgbClr val="0065BD"/>
            </a:solidFill>
          </c:spPr>
          <c:invertIfNegative val="1"/>
          <c:dLbls>
            <c:numFmt formatCode="General" sourceLinked="0"/>
            <c:spPr>
              <a:noFill/>
              <a:ln>
                <a:noFill/>
              </a:ln>
              <a:effectLst/>
            </c:spPr>
            <c:txPr>
              <a:bodyPr/>
              <a:lstStyle/>
              <a:p>
                <a:pPr>
                  <a:defRPr sz="10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71.0</c:v>
                </c:pt>
                <c:pt idx="1">
                  <c:v>95.0</c:v>
                </c:pt>
                <c:pt idx="2">
                  <c:v>71.0</c:v>
                </c:pt>
                <c:pt idx="3">
                  <c:v>109.0</c:v>
                </c:pt>
                <c:pt idx="4">
                  <c:v>153.0</c:v>
                </c:pt>
                <c:pt idx="5">
                  <c:v>202.0</c:v>
                </c:pt>
                <c:pt idx="6">
                  <c:v>537.0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A22-4075-9359-7C282AF96C8E}"/>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200"/>
            </a:pPr>
            <a:endParaRPr lang="en-DE"/>
          </a:p>
        </c:txPr>
        <c:crossAx val="-2113994440"/>
        <c:crosses val="autoZero"/>
        <c:auto val="1"/>
        <c:lblAlgn val="ctr"/>
        <c:lblOffset val="100"/>
        <c:noMultiLvlLbl val="0"/>
      </c:catAx>
      <c:valAx>
        <c:axId val="-2113994440"/>
        <c:scaling>
          <c:orientation val="minMax"/>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000"/>
            </a:pPr>
            <a:endParaRPr lang="en-DE"/>
          </a:p>
        </c:txPr>
        <c:crossAx val="-2068027336"/>
        <c:crosses val="autoZero"/>
        <c:crossBetween val="between"/>
      </c:valAx>
    </c:plotArea>
    <c:plotVisOnly val="1"/>
    <c:dispBlanksAs val="gap"/>
    <c:showDLblsOverMax val="1"/>
  </c:chart>
  <c:txPr>
    <a:bodyPr/>
    <a:lstStyle/>
    <a:p>
      <a:pPr>
        <a:defRPr sz="1100">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B5F9247-1F47-3863-FBA6-42E896724B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20B1D243-83BE-B220-A765-E3C765780D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05B9E57-32ED-4905-A57B-6A7B0B2A064A}" type="datetimeFigureOut">
              <a:rPr lang="en-DE" smtClean="0"/>
              <a:t>10/10/2026</a:t>
            </a:fld>
            <a:endParaRPr lang="en-DE"/>
          </a:p>
        </p:txBody>
      </p:sp>
      <p:sp>
        <p:nvSpPr>
          <p:cNvPr id="4" name="Footer Placeholder 3">
            <a:extLst>
              <a:ext uri="{FF2B5EF4-FFF2-40B4-BE49-F238E27FC236}">
                <a16:creationId xmlns:a16="http://schemas.microsoft.com/office/drawing/2014/main" id="{B42E29D0-3AC6-2FF9-1161-1BF5CC73A52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F0C8DBA8-B400-D2D2-449F-7C52CF2E7B2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4CA3EE7-BACA-45CB-8706-C49B797DE635}" type="slidenum">
              <a:rPr lang="en-DE" smtClean="0"/>
              <a:t>‹#›</a:t>
            </a:fld>
            <a:endParaRPr lang="en-DE"/>
          </a:p>
        </p:txBody>
      </p:sp>
    </p:spTree>
    <p:extLst>
      <p:ext uri="{BB962C8B-B14F-4D97-AF65-F5344CB8AC3E}">
        <p14:creationId xmlns:p14="http://schemas.microsoft.com/office/powerpoint/2010/main" val="43817748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41952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short version.</a:t>
            </a:r>
          </a:p>
          <a:p>
            <a:r>
              <a:t>We built one agent and gave it seven tasks from AndroidWorld, from easy to the hardest one on the course list. Each task ran three times on frozen, git-tagged code, and every run was screen-recorded.</a:t>
            </a:r>
          </a:p>
          <a:p>
            <a:r>
              <a:t>17 of the 21 runs passed. Pass means the official AndroidWorld checker looked at the phone's data and confirmed the task was done. The model's own "I am done" does not count.</a:t>
            </a:r>
          </a:p>
          <a:p>
            <a:r>
              <a:t>Behind this result there is a lot of work: about 300 recorded runs across the project and 66 versions of the agent.</a:t>
            </a:r>
          </a:p>
          <a:p>
            <a:r>
              <a:t>And it was cheap: the model cost for all 21 final runs was about 0.066 euro.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1.75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how the agent works. It is one Python class with one method, step, as the course asks.</a:t>
            </a:r>
          </a:p>
          <a:p>
            <a:r>
              <a:t>Each step does five things.</a:t>
            </a:r>
          </a:p>
          <a:p>
            <a:r>
              <a:t>First, observe: take a screenshot of the phone. For Wi-Fi and OsmAnd it also gets text labels of the screen, and we report this for every run.</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share the note with Share, Plain Text. Share, File would attach the file and turn the message into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7 actions. Without them, some of these passing runs would have failed.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is it implemented? Four parts work together.</a:t>
            </a:r>
          </a:p>
          <a:p>
            <a:r>
              <a:t>The Android emulator runs a Pixel 6 phone with Android 13, without a window. AndroidWorld sets up each task from its seed and, at the end, its official verifier checks the result.</a:t>
            </a:r>
          </a:p>
          <a:p>
            <a:r>
              <a:t>Our runner, run_task.py, prepares the task, starts the screen recorder, calls the agent step by step, then asks the verifier and writes the logs.</a:t>
            </a:r>
          </a:p>
          <a:p>
            <a:r>
              <a:t>The agent, the AutoGLMAgent class in autoglm_agent.py, builds each request and checks each answer. The model itself runs behind the Z.ai API.</a:t>
            </a:r>
          </a:p>
          <a:p>
            <a:r>
              <a:t>Around this, evaluate_tasks.py runs whole batches and stops if the code changes during a batch, and 38 offline tests protect every fix. One command reproduces the whole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one full run from the final evaluation: the hardest task, OsmAnd, with seed 314. It passed in 23 steps.</a:t>
            </a:r>
          </a:p>
          <a:p>
            <a:r>
              <a:t>The model searched for Ruggell. The first search found nothing nearby, so it increased the search radius three times, scrolled the results, and picked the row labelled Village.</a:t>
            </a:r>
          </a:p>
          <a:p>
            <a:r>
              <a:t>From the place menu it chose Plan a route, so Ruggell became the first point of the route.</a:t>
            </a:r>
          </a:p>
          <a:p>
            <a:r>
              <a:t>Then it searched for Bendern, picked the village, went back to the route panel and tapped Add. The panel showed two points. It tapped Done, which saves the track, and called finish.</a:t>
            </a:r>
          </a:p>
          <a:p>
            <a:r>
              <a:t>On the way it closed a crash dialog, and our check refused one Type because no text field was focused.</a:t>
            </a:r>
          </a:p>
          <a:p>
            <a:r>
              <a:t>The official checker then read the saved track and confirmed both points in the right order. Under each picture is a sentence from the model's own reasoning, taken from the log.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did we test?</a:t>
            </a:r>
          </a:p>
          <a:p>
            <a:r>
              <a:t>First, we froze the code with a git tag before every batch, and nothing changed during a batch. The final agent is version 66. Six tasks were run with version 65; version 66 only changed the Markor Skill, which these tasks never load, so they ran the same code. Markor was run again with version 66 after we fixed its Skill.</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keeps three records: a summary row with the fields from the course, written by our runner while the run happens; a step-by-step trajectory log; and a screen recording. You will see all 21 rows right after the results.</a:t>
            </a:r>
          </a:p>
          <a:p>
            <a:r>
              <a:t>We did not rerun failures. A rerun of the same code only measures luck.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all 21 runs. Blue is pass, orange is fail.</a:t>
            </a:r>
          </a:p>
          <a:p>
            <a:r>
              <a:t>Wi-Fi, SMS and Calendar passed all three runs.</a:t>
            </a:r>
          </a:p>
          <a:p>
            <a:r>
              <a:t>Contacts, Files, Markor and OsmAnd passed two of three.</a:t>
            </a:r>
          </a:p>
          <a:p>
            <a:r>
              <a:t>Both multi-app tasks together passed four of six, including OsmAndTrack, the hardest task on the list.</a:t>
            </a:r>
          </a:p>
          <a:p>
            <a:r>
              <a:t>There are four failures: one false finish, two missed taps, and one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full log, one row per run, sorted by task, as the course asks.</a:t>
            </a:r>
          </a:p>
          <a:p>
            <a:r>
              <a:t>Each row has the course's fields: task, run, the observation, steps against the budget, the verifier result, the failure class, the recording and a short note. The model, version and grounding are the same for every run, so they are in the line above the table.</a:t>
            </a:r>
          </a:p>
          <a:p>
            <a:r>
              <a:t>Our runner writes these rows while each run happens, so nothing is filled in from memory. Each run number links to its full step-by-step log on GitHub.</a:t>
            </a:r>
          </a:p>
          <a:p>
            <a:r>
              <a:t>The notes show small things the checks handled, for example the SMS runs where the model wrote the app name in Chinese and our runner still understood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part shows the two hard tasks, with longer notes.</a:t>
            </a:r>
          </a:p>
          <a:p>
            <a:r>
              <a:t>All three Markor runs saved the note and then shared its text with Markor's Share, Plain Text; none typed the text again. Run 1 failed on the very last tap: it looked for the SMS button at the top right instead of next to the message.</a:t>
            </a:r>
          </a:p>
          <a:p>
            <a:r>
              <a:t>The first OsmAnd run had to restore the map first, because the Files task had cleared the phone's storage. The other failure here, OsmAnd run 3, reached the first route point and then missed the Clear button. We come back to it in the failure analysis.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Markor seed 42 and OsmAnd seed 366. These are the four failures we explain next.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the warm-up tasks, sped up so you can follow. Wi-Fi, seed 42: the agent opens Settings, Network and internet, then Internet, switches Wi-Fi on, and finishes on its own when it sees the switch on. Five steps.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Contacts. On the left, seed 42: it types the name, scrolls once to the phone field, types the number and saves. On the right, seed 43: two swipes go past the phone field, and four more swipes only move the blinking cursor, so our no-progress rule stops the run.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real-work tasks. SMS, seed 42: a new conversation, the number, the message, and send. Nine steps.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two runs of the same task, Files, at a speed you can follow. Both are three times faster.</a:t>
            </a:r>
          </a:p>
          <a:p>
            <a:r>
              <a:t>On the left, seed 42. The folder holds look-alike files whose names are cut off. The agent scrolls until it sees the full name, sci_fi_book.mp3, selects exactly that file and moves it to Audiobooks. The file disappears from Recordings, and the agent goes to Audiobooks to check before it says done. The checker says pass.</a:t>
            </a:r>
          </a:p>
          <a:p>
            <a:r>
              <a:t>On the right, seed 43. Everything looks right: it opens the folder, selects a file, and moves it to Movies. But watch the file name in the grid. The name is cut off, and the agent picks a file that only looks like the right one. Then it says it is done. The checker says fail.</a:t>
            </a:r>
          </a:p>
          <a:p>
            <a:r>
              <a:t>Same app, same kind of screen, one different choice. This brings us to the failure analysis.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Calendar, seed 44: the title and the description, then the date, the start hour and the length, and save. Sixteen steps, with no refused action.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Markor plus SMS, four times faster. On the left, seed 43: the agent creates the note and saves it. Then it uses Markor's own Share, Plain Text, picks SMS Messenger and enters the number. The message box already holds the note's text, so it only taps SMS. Pass. On the right, seed 42: the same path works until the very last tap. The model says the SMS button is at the top right and taps there four times, but the button is next to the message. The run stops: fail, a grounding error.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OsmAnd, the hardest task. On the left, seed 314, the run you saw step by step: Ruggell, Plan a route, Bendern, Done, in 23 steps, and it closed a crash dialog on the way. On the right, seed 366: Ruggell became the first point, but then the model tapped just above the Clear button three times, and the run stopped.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look at single failures, here is the bigger picture: all 284 runs in our project that have a machine-readable summary, from the first tests to the final evaluation.</a:t>
            </a:r>
          </a:p>
          <a:p>
            <a:r>
              <a:t>99 runs passed. Among the rest, the largest group is not the model at all: 65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more failures. The fourth one, Markor seed 42, you saw in its demo: it missed the SMS button.</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share the note as plain text. The final runs passed two of three; the failure was a missed tap at the very end.</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few numbers show the work behind the result.</a:t>
            </a:r>
          </a:p>
          <a:p>
            <a:r>
              <a:t>About 300 recorded runs across the project, 66 versions of the agent, 38 automatic tests, and 1531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the note's name and extension take several steps, and sharing goes through a menu, the share sheet and the number.</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long and how expensive was it?</a:t>
            </a:r>
          </a:p>
          <a:p>
            <a:r>
              <a:t>Simple tasks finished in about one to two minutes. Markor took about three and a half minutes and OsmAnd about nine, including app start and setup time.</a:t>
            </a:r>
          </a:p>
          <a:p>
            <a:r>
              <a:t>All 21 runs together used about 1.47 million tokens. At 0.045 euro per million tokens, that is about 0.066 euro.</a:t>
            </a:r>
          </a:p>
          <a:p>
            <a:r>
              <a:t>Even the whole project, all local development runs together, cost only about 0.51 euro in model calls.</a:t>
            </a:r>
          </a:p>
          <a:p>
            <a:r>
              <a:t>The model answers fast, 1.75 seconds per call at the median. Most of the time per step is the phone: waiting for screens to load, typing, and saving logs and video.</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Chenschenschen/androidworld-gui-agent/blob/team-agent/docs/evidence/team/runs/trial_SystemWifiTurnOn_20261008T215130_600754Z/trajectory.txt" TargetMode="External"/><Relationship Id="rId4" Type="http://schemas.openxmlformats.org/officeDocument/2006/relationships/hyperlink" Target="https://github.com/Chenschenschen/androidworld-gui-agent/blob/team-agent/docs/evidence/team/runs/trial_SystemWifiTurnOn_20261008T215246_616671Z/trajectory.txt" TargetMode="External"/><Relationship Id="rId5" Type="http://schemas.openxmlformats.org/officeDocument/2006/relationships/hyperlink" Target="https://github.com/Chenschenschen/androidworld-gui-agent/blob/team-agent/docs/evidence/team/runs/trial_SystemWifiTurnOn_20261008T215358_472883Z/trajectory.txt" TargetMode="External"/><Relationship Id="rId6" Type="http://schemas.openxmlformats.org/officeDocument/2006/relationships/hyperlink" Target="https://github.com/Chenschenschen/androidworld-gui-agent/blob/team-agent/docs/evidence/team/runs/trial_ContactsAddContact_20261008T215508_628423Z/trajectory.txt" TargetMode="External"/><Relationship Id="rId7" Type="http://schemas.openxmlformats.org/officeDocument/2006/relationships/hyperlink" Target="https://github.com/Chenschenschen/androidworld-gui-agent/blob/team-agent/docs/evidence/team/runs/trial_ContactsAddContact_20261008T215709_244163Z/trajectory.txt" TargetMode="External"/><Relationship Id="rId8" Type="http://schemas.openxmlformats.org/officeDocument/2006/relationships/hyperlink" Target="https://github.com/Chenschenschen/androidworld-gui-agent/blob/team-agent/docs/evidence/team/runs/trial_ContactsAddContact_20261008T215831_022667Z/trajectory.txt" TargetMode="External"/><Relationship Id="rId9" Type="http://schemas.openxmlformats.org/officeDocument/2006/relationships/hyperlink" Target="https://github.com/Chenschenschen/androidworld-gui-agent/blob/team-agent/docs/evidence/team/runs/trial_SimpleSmsSend_20261008T215957_234873Z/trajectory.txt" TargetMode="External"/><Relationship Id="rId10" Type="http://schemas.openxmlformats.org/officeDocument/2006/relationships/hyperlink" Target="https://github.com/Chenschenschen/androidworld-gui-agent/blob/team-agent/docs/evidence/team/runs/trial_SimpleSmsSend_20261008T220116_423331Z/trajectory.txt" TargetMode="External"/><Relationship Id="rId11" Type="http://schemas.openxmlformats.org/officeDocument/2006/relationships/hyperlink" Target="https://github.com/Chenschenschen/androidworld-gui-agent/blob/team-agent/docs/evidence/team/runs/trial_SimpleSmsSend_20261008T220223_867500Z/trajectory.txt" TargetMode="External"/><Relationship Id="rId12" Type="http://schemas.openxmlformats.org/officeDocument/2006/relationships/hyperlink" Target="https://github.com/Chenschenschen/androidworld-gui-agent/blob/team-agent/docs/evidence/team/runs/trial_FilesMoveFile_20261008T220333_997891Z/trajectory.txt" TargetMode="External"/><Relationship Id="rId13" Type="http://schemas.openxmlformats.org/officeDocument/2006/relationships/hyperlink" Target="https://github.com/Chenschenschen/androidworld-gui-agent/blob/team-agent/docs/evidence/team/runs/trial_FilesMoveFile_20261008T220533_834164Z/trajectory.txt" TargetMode="External"/><Relationship Id="rId14" Type="http://schemas.openxmlformats.org/officeDocument/2006/relationships/hyperlink" Target="https://github.com/Chenschenschen/androidworld-gui-agent/blob/team-agent/docs/evidence/team/runs/trial_FilesMoveFile_20261008T220713_812951Z/trajectory.txt" TargetMode="External"/><Relationship Id="rId15" Type="http://schemas.openxmlformats.org/officeDocument/2006/relationships/hyperlink" Target="https://github.com/Chenschenschen/androidworld-gui-agent/blob/team-agent/docs/evidence/team/runs/trial_SimpleCalendarAddOneEvent_20261008T220904_772591Z/trajectory.txt" TargetMode="External"/><Relationship Id="rId16" Type="http://schemas.openxmlformats.org/officeDocument/2006/relationships/hyperlink" Target="https://github.com/Chenschenschen/androidworld-gui-agent/blob/team-agent/docs/evidence/team/runs/trial_SimpleCalendarAddOneEvent_20261008T221147_529159Z/trajectory.txt" TargetMode="External"/><Relationship Id="rId17" Type="http://schemas.openxmlformats.org/officeDocument/2006/relationships/hyperlink" Target="https://github.com/Chenschenschen/androidworld-gui-agent/blob/team-agent/docs/evidence/team/runs/trial_SimpleCalendarAddOneEvent_20261008T221423_161758Z/trajectory.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henschenschen/androidworld-gui-agent/blob/team-agent/docs/evidence/markor_v66/runs/trial_MarkorCreateNoteAndSms_20261009T125039_586151Z/trajectory.txt" TargetMode="External"/><Relationship Id="rId4" Type="http://schemas.openxmlformats.org/officeDocument/2006/relationships/hyperlink" Target="https://github.com/Chenschenschen/androidworld-gui-agent/blob/team-agent/docs/evidence/markor_v66/runs/trial_MarkorCreateNoteAndSms_20261009T125401_048355Z/trajectory.txt" TargetMode="External"/><Relationship Id="rId5" Type="http://schemas.openxmlformats.org/officeDocument/2006/relationships/hyperlink" Target="https://github.com/Chenschenschen/androidworld-gui-agent/blob/team-agent/docs/evidence/markor_v66/runs/trial_MarkorCreateNoteAndSms_20261009T125719_921778Z/trajectory.txt" TargetMode="External"/><Relationship Id="rId6" Type="http://schemas.openxmlformats.org/officeDocument/2006/relationships/hyperlink" Target="https://github.com/Chenschenschen/androidworld-gui-agent/blob/team-agent/docs/evidence/team/runs/trial_OsmAndTrack_20261008T223004_312422Z/trajectory.txt" TargetMode="External"/><Relationship Id="rId7" Type="http://schemas.openxmlformats.org/officeDocument/2006/relationships/hyperlink" Target="https://github.com/Chenschenschen/androidworld-gui-agent/blob/team-agent/docs/evidence/team/runs/trial_OsmAndTrack_20261008T224202_113624Z/trajectory.txt" TargetMode="External"/><Relationship Id="rId8" Type="http://schemas.openxmlformats.org/officeDocument/2006/relationships/hyperlink" Target="https://github.com/Chenschenschen/androidworld-gui-agent/blob/team-agent/docs/evidence/team/runs/trial_OsmAndTrack_20261008T225108_345362Z/trajectory.txt" TargetMode="External"/></Relationships>
</file>

<file path=ppt/slides/_rels/slide15.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slideLayout" Target="../slideLayouts/slideLayout7.xml"/><Relationship Id="rId6" Type="http://schemas.openxmlformats.org/officeDocument/2006/relationships/notesSlide" Target="../notesSlides/notesSlide17.xml"/><Relationship Id="rId7" Type="http://schemas.openxmlformats.org/officeDocument/2006/relationships/image" Target="../media/image13.png"/><Relationship Id="rId8"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7.xml"/><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slideLayout" Target="../slideLayouts/slideLayout7.xml"/><Relationship Id="rId6" Type="http://schemas.openxmlformats.org/officeDocument/2006/relationships/notesSlide" Target="../notesSlides/notesSlide19.xml"/><Relationship Id="rId7" Type="http://schemas.openxmlformats.org/officeDocument/2006/relationships/image" Target="../media/image16.png"/><Relationship Id="rId8"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microsoft.com/office/2007/relationships/media" Target="../media/media8.mp4"/><Relationship Id="rId2" Type="http://schemas.openxmlformats.org/officeDocument/2006/relationships/video" Target="../media/media8.mp4"/><Relationship Id="rId3" Type="http://schemas.openxmlformats.org/officeDocument/2006/relationships/slideLayout" Target="../slideLayouts/slideLayout7.xml"/><Relationship Id="rId4" Type="http://schemas.openxmlformats.org/officeDocument/2006/relationships/notesSlide" Target="../notesSlides/notesSlide20.xml"/><Relationship Id="rId5"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microsoft.com/office/2007/relationships/media" Target="../media/media11.mp4"/><Relationship Id="rId4" Type="http://schemas.openxmlformats.org/officeDocument/2006/relationships/video" Target="../media/media11.mp4"/><Relationship Id="rId5" Type="http://schemas.openxmlformats.org/officeDocument/2006/relationships/image" Target="../media/image29.png"/><Relationship Id="rId6" Type="http://schemas.microsoft.com/office/2007/relationships/media" Target="../media/media12.mp4"/><Relationship Id="rId7" Type="http://schemas.openxmlformats.org/officeDocument/2006/relationships/video" Target="../media/media12.mp4"/><Relationship Id="rId8"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slideLayout" Target="../slideLayouts/slideLayout7.xml"/><Relationship Id="rId6" Type="http://schemas.openxmlformats.org/officeDocument/2006/relationships/notesSlide" Target="../notesSlides/notesSlide22.xml"/><Relationship Id="rId7" Type="http://schemas.openxmlformats.org/officeDocument/2006/relationships/image" Target="../media/image19.png"/><Relationship Id="rId8"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chart" Target="../charts/char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Chenschenschen/androidworld-gui-agent/tree/team-agent" TargetMode="External"/><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chart" Target="../charts/char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85800" y="640080"/>
            <a:ext cx="6217920" cy="320040"/>
          </a:xfrm>
          <a:prstGeom prst="rect">
            <a:avLst/>
          </a:prstGeom>
          <a:noFill/>
        </p:spPr>
        <p:txBody>
          <a:bodyPr wrap="square" lIns="73152" rIns="73152" anchor="t">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lIns="73152" rIns="73152" anchor="t">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lIns="73152" rIns="73152" anchor="t">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lIns="73152" rIns="73152" anchor="t">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85800" y="4251960"/>
            <a:ext cx="3474720" cy="274320"/>
          </a:xfrm>
          <a:prstGeom prst="rect">
            <a:avLst/>
          </a:prstGeom>
          <a:noFill/>
        </p:spPr>
        <p:txBody>
          <a:bodyPr wrap="square" lIns="73152" rIns="73152" anchor="t">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lIns="73152" rIns="73152" anchor="t">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lIns="73152" rIns="73152" anchor="t">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lIns="73152" rIns="73152" anchor="t">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lIns="73152" rIns="73152" anchor="t">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lIns="73152" rIns="73152" anchor="t">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AT A GLANCE</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One agent, seven tasks: 17 of 21 runs passed the official check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2</a:t>
            </a:r>
          </a:p>
        </p:txBody>
      </p:sp>
      <p:sp>
        <p:nvSpPr>
          <p:cNvPr id="9" name="Rectangle 8"/>
          <p:cNvSpPr/>
          <p:nvPr/>
        </p:nvSpPr>
        <p:spPr>
          <a:xfrm>
            <a:off x="640080" y="1463040"/>
            <a:ext cx="2606040" cy="1874519"/>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59" y="1691640"/>
            <a:ext cx="2331720" cy="685800"/>
          </a:xfrm>
          <a:prstGeom prst="rect">
            <a:avLst/>
          </a:prstGeom>
          <a:noFill/>
        </p:spPr>
        <p:txBody>
          <a:bodyPr wrap="square" lIns="73152" rIns="73152" anchor="t">
            <a:spAutoFit/>
          </a:bodyPr>
          <a:lstStyle/>
          <a:p>
            <a:pPr algn="l">
              <a:lnSpc>
                <a:spcPct val="110000"/>
              </a:lnSpc>
            </a:pPr>
            <a:r>
              <a:rPr sz="4400" b="1" i="0">
                <a:solidFill>
                  <a:srgbClr val="0065BD"/>
                </a:solidFill>
                <a:latin typeface="Arial"/>
              </a:rPr>
              <a:t>17 / 21</a:t>
            </a:r>
          </a:p>
        </p:txBody>
      </p:sp>
      <p:sp>
        <p:nvSpPr>
          <p:cNvPr id="12" name="TextBox 11"/>
          <p:cNvSpPr txBox="1"/>
          <p:nvPr/>
        </p:nvSpPr>
        <p:spPr>
          <a:xfrm>
            <a:off x="822959"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runs passed the official</a:t>
            </a:r>
          </a:p>
          <a:p>
            <a:pPr algn="l">
              <a:lnSpc>
                <a:spcPct val="110000"/>
              </a:lnSpc>
            </a:pPr>
            <a:r>
              <a:rPr sz="1400" b="0" i="0">
                <a:solidFill>
                  <a:srgbClr val="5E6773"/>
                </a:solidFill>
                <a:latin typeface="Arial"/>
              </a:rPr>
              <a:t>AndroidWorld verifier</a:t>
            </a:r>
          </a:p>
        </p:txBody>
      </p:sp>
      <p:sp>
        <p:nvSpPr>
          <p:cNvPr id="13" name="Rectangle 12"/>
          <p:cNvSpPr/>
          <p:nvPr/>
        </p:nvSpPr>
        <p:spPr>
          <a:xfrm>
            <a:off x="3401568"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401568"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584448" y="1691640"/>
            <a:ext cx="2331720" cy="685800"/>
          </a:xfrm>
          <a:prstGeom prst="rect">
            <a:avLst/>
          </a:prstGeom>
          <a:noFill/>
        </p:spPr>
        <p:txBody>
          <a:bodyPr wrap="square" lIns="73152" rIns="73152" anchor="t">
            <a:spAutoFit/>
          </a:bodyPr>
          <a:lstStyle/>
          <a:p>
            <a:pPr algn="l">
              <a:lnSpc>
                <a:spcPct val="110000"/>
              </a:lnSpc>
            </a:pPr>
            <a:r>
              <a:rPr sz="3800" b="1" i="0">
                <a:solidFill>
                  <a:srgbClr val="0065BD"/>
                </a:solidFill>
                <a:latin typeface="Arial"/>
              </a:rPr>
              <a:t>7 tasks</a:t>
            </a:r>
          </a:p>
        </p:txBody>
      </p:sp>
      <p:sp>
        <p:nvSpPr>
          <p:cNvPr id="16" name="TextBox 15"/>
          <p:cNvSpPr txBox="1"/>
          <p:nvPr/>
        </p:nvSpPr>
        <p:spPr>
          <a:xfrm>
            <a:off x="3584448"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covering easy, medium</a:t>
            </a:r>
          </a:p>
          <a:p>
            <a:pPr algn="l">
              <a:lnSpc>
                <a:spcPct val="110000"/>
              </a:lnSpc>
            </a:pPr>
            <a:r>
              <a:rPr sz="1400" b="0" i="0">
                <a:solidFill>
                  <a:srgbClr val="5E6773"/>
                </a:solidFill>
                <a:latin typeface="Arial"/>
              </a:rPr>
              <a:t>and hard (D1 task list)</a:t>
            </a:r>
          </a:p>
        </p:txBody>
      </p:sp>
      <p:sp>
        <p:nvSpPr>
          <p:cNvPr id="17" name="Rectangle 16"/>
          <p:cNvSpPr/>
          <p:nvPr/>
        </p:nvSpPr>
        <p:spPr>
          <a:xfrm>
            <a:off x="6163056"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163056"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45936" y="1691640"/>
            <a:ext cx="2331720" cy="685800"/>
          </a:xfrm>
          <a:prstGeom prst="rect">
            <a:avLst/>
          </a:prstGeom>
          <a:noFill/>
        </p:spPr>
        <p:txBody>
          <a:bodyPr wrap="square" lIns="73152" rIns="73152" anchor="t">
            <a:spAutoFit/>
          </a:bodyPr>
          <a:lstStyle/>
          <a:p>
            <a:pPr algn="l">
              <a:lnSpc>
                <a:spcPct val="110000"/>
              </a:lnSpc>
            </a:pPr>
            <a:r>
              <a:rPr sz="3800" b="1" i="0">
                <a:solidFill>
                  <a:srgbClr val="0065BD"/>
                </a:solidFill>
                <a:latin typeface="Arial"/>
              </a:rPr>
              <a:t>~300</a:t>
            </a:r>
          </a:p>
        </p:txBody>
      </p:sp>
      <p:sp>
        <p:nvSpPr>
          <p:cNvPr id="20" name="TextBox 19"/>
          <p:cNvSpPr txBox="1"/>
          <p:nvPr/>
        </p:nvSpPr>
        <p:spPr>
          <a:xfrm>
            <a:off x="6345936"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recorded runs across</a:t>
            </a:r>
          </a:p>
          <a:p>
            <a:pPr algn="l">
              <a:lnSpc>
                <a:spcPct val="110000"/>
              </a:lnSpc>
            </a:pPr>
            <a:r>
              <a:rPr sz="1400" b="0" i="0">
                <a:solidFill>
                  <a:srgbClr val="5E6773"/>
                </a:solidFill>
                <a:latin typeface="Arial"/>
              </a:rPr>
              <a:t>the whole project</a:t>
            </a:r>
          </a:p>
        </p:txBody>
      </p:sp>
      <p:sp>
        <p:nvSpPr>
          <p:cNvPr id="21" name="Rectangle 20"/>
          <p:cNvSpPr/>
          <p:nvPr/>
        </p:nvSpPr>
        <p:spPr>
          <a:xfrm>
            <a:off x="8924544"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924544"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107424" y="1691640"/>
            <a:ext cx="2331720" cy="685800"/>
          </a:xfrm>
          <a:prstGeom prst="rect">
            <a:avLst/>
          </a:prstGeom>
          <a:noFill/>
        </p:spPr>
        <p:txBody>
          <a:bodyPr wrap="square" lIns="73152" rIns="73152" anchor="t">
            <a:spAutoFit/>
          </a:bodyPr>
          <a:lstStyle/>
          <a:p>
            <a:pPr algn="l">
              <a:lnSpc>
                <a:spcPct val="110000"/>
              </a:lnSpc>
            </a:pPr>
            <a:r>
              <a:rPr sz="3800" b="1" i="0">
                <a:solidFill>
                  <a:srgbClr val="0065BD"/>
                </a:solidFill>
                <a:latin typeface="Arial"/>
              </a:rPr>
              <a:t>66</a:t>
            </a:r>
          </a:p>
        </p:txBody>
      </p:sp>
      <p:sp>
        <p:nvSpPr>
          <p:cNvPr id="24" name="TextBox 23"/>
          <p:cNvSpPr txBox="1"/>
          <p:nvPr/>
        </p:nvSpPr>
        <p:spPr>
          <a:xfrm>
            <a:off x="9107424"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agent versions, each</a:t>
            </a:r>
          </a:p>
          <a:p>
            <a:pPr algn="l">
              <a:lnSpc>
                <a:spcPct val="110000"/>
              </a:lnSpc>
            </a:pPr>
            <a:r>
              <a:rPr sz="1400" b="0" i="0">
                <a:solidFill>
                  <a:srgbClr val="5E6773"/>
                </a:solidFill>
                <a:latin typeface="Arial"/>
              </a:rPr>
              <a:t>change tested and logged</a:t>
            </a:r>
          </a:p>
        </p:txBody>
      </p:sp>
      <p:sp>
        <p:nvSpPr>
          <p:cNvPr id="25" name="Rectangle 24"/>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04671" y="3749039"/>
            <a:ext cx="3218687"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Rigorous</a:t>
            </a:r>
          </a:p>
        </p:txBody>
      </p:sp>
      <p:sp>
        <p:nvSpPr>
          <p:cNvPr id="28" name="TextBox 27"/>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Frozen, git-tagged code for all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9" name="Rectangle 28"/>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507992" y="3749039"/>
            <a:ext cx="3218687"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Cheap and fast</a:t>
            </a:r>
          </a:p>
        </p:txBody>
      </p:sp>
      <p:sp>
        <p:nvSpPr>
          <p:cNvPr id="32" name="TextBox 31"/>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0.066 €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1.75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33" name="Rectangle 32"/>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211312" y="3749039"/>
            <a:ext cx="3218687"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Honest</a:t>
            </a:r>
          </a:p>
        </p:txBody>
      </p:sp>
      <p:sp>
        <p:nvSpPr>
          <p:cNvPr id="36" name="TextBox 35"/>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USE CASE</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A phone assistant that uses apps the way a person does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3</a:t>
            </a:r>
          </a:p>
        </p:txBody>
      </p:sp>
      <p:sp>
        <p:nvSpPr>
          <p:cNvPr id="9" name="Rectangle 8"/>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0020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Who it helps</a:t>
            </a:r>
          </a:p>
        </p:txBody>
      </p:sp>
      <p:sp>
        <p:nvSpPr>
          <p:cNvPr id="12" name="TextBox 11"/>
          <p:cNvSpPr txBox="1"/>
          <p:nvPr/>
        </p:nvSpPr>
        <p:spPr>
          <a:xfrm>
            <a:off x="804671" y="2011680"/>
            <a:ext cx="3291840" cy="86868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People who find phones hard to use, busy users with repeated tasks, teams that test apps.</a:t>
            </a:r>
          </a:p>
        </p:txBody>
      </p:sp>
      <p:sp>
        <p:nvSpPr>
          <p:cNvPr id="13" name="Rectangle 12"/>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04671" y="320040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What it needs</a:t>
            </a:r>
          </a:p>
        </p:txBody>
      </p:sp>
      <p:sp>
        <p:nvSpPr>
          <p:cNvPr id="16" name="TextBox 15"/>
          <p:cNvSpPr txBox="1"/>
          <p:nvPr/>
        </p:nvSpPr>
        <p:spPr>
          <a:xfrm>
            <a:off x="804671" y="3611880"/>
            <a:ext cx="3291840" cy="86868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Only the screen: no special app interface. It reads, taps, types and swipes like a person.</a:t>
            </a:r>
          </a:p>
        </p:txBody>
      </p:sp>
      <p:sp>
        <p:nvSpPr>
          <p:cNvPr id="17" name="Rectangle 16"/>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4671" y="480060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What it is told</a:t>
            </a:r>
          </a:p>
        </p:txBody>
      </p:sp>
      <p:sp>
        <p:nvSpPr>
          <p:cNvPr id="20" name="TextBox 19"/>
          <p:cNvSpPr txBox="1"/>
          <p:nvPr/>
        </p:nvSpPr>
        <p:spPr>
          <a:xfrm>
            <a:off x="804671" y="5212080"/>
            <a:ext cx="3291840" cy="86868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One sentence in plain English, for example: “Create a note named … and share its content via SMS.”</a:t>
            </a:r>
          </a:p>
        </p:txBody>
      </p:sp>
      <p:pic>
        <p:nvPicPr>
          <p:cNvPr id="21" name="Picture 20" descr="traj_1.png"/>
          <p:cNvPicPr>
            <a:picLocks noChangeAspect="1"/>
          </p:cNvPicPr>
          <p:nvPr/>
        </p:nvPicPr>
        <p:blipFill>
          <a:blip r:embed="rId3"/>
          <a:srcRect t="8000"/>
          <a:stretch>
            <a:fillRect/>
          </a:stretch>
        </p:blipFill>
        <p:spPr>
          <a:xfrm>
            <a:off x="4572000" y="1508760"/>
            <a:ext cx="2077974" cy="4248302"/>
          </a:xfrm>
          <a:prstGeom prst="roundRect">
            <a:avLst/>
          </a:prstGeom>
          <a:ln w="44450">
            <a:solidFill>
              <a:srgbClr val="1B1F2A"/>
            </a:solidFill>
          </a:ln>
        </p:spPr>
      </p:pic>
      <p:pic>
        <p:nvPicPr>
          <p:cNvPr id="22" name="Picture 21" descr="traj_3.png"/>
          <p:cNvPicPr>
            <a:picLocks noChangeAspect="1"/>
          </p:cNvPicPr>
          <p:nvPr/>
        </p:nvPicPr>
        <p:blipFill>
          <a:blip r:embed="rId4"/>
          <a:srcRect t="8000"/>
          <a:stretch>
            <a:fillRect/>
          </a:stretch>
        </p:blipFill>
        <p:spPr>
          <a:xfrm>
            <a:off x="6995160" y="1508760"/>
            <a:ext cx="2077974" cy="4248302"/>
          </a:xfrm>
          <a:prstGeom prst="roundRect">
            <a:avLst/>
          </a:prstGeom>
          <a:ln w="44450">
            <a:solidFill>
              <a:srgbClr val="1B1F2A"/>
            </a:solidFill>
          </a:ln>
        </p:spPr>
      </p:pic>
      <p:pic>
        <p:nvPicPr>
          <p:cNvPr id="23" name="Picture 22" descr="traj_6.png"/>
          <p:cNvPicPr>
            <a:picLocks noChangeAspect="1"/>
          </p:cNvPicPr>
          <p:nvPr/>
        </p:nvPicPr>
        <p:blipFill>
          <a:blip r:embed="rId5"/>
          <a:srcRect t="8000"/>
          <a:stretch>
            <a:fillRect/>
          </a:stretch>
        </p:blipFill>
        <p:spPr>
          <a:xfrm>
            <a:off x="9418320" y="1508760"/>
            <a:ext cx="2077974" cy="4248302"/>
          </a:xfrm>
          <a:prstGeom prst="roundRect">
            <a:avLst/>
          </a:prstGeom>
          <a:ln w="44450">
            <a:solidFill>
              <a:srgbClr val="1B1F2A"/>
            </a:solidFill>
          </a:ln>
        </p:spPr>
      </p:pic>
      <p:sp>
        <p:nvSpPr>
          <p:cNvPr id="24" name="TextBox 23"/>
          <p:cNvSpPr txBox="1"/>
          <p:nvPr/>
        </p:nvSpPr>
        <p:spPr>
          <a:xfrm>
            <a:off x="4572000" y="6144768"/>
            <a:ext cx="6949440" cy="27432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One of our runs: a note in Markor, shared as an SMS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TASKS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4</a:t>
            </a:r>
          </a:p>
        </p:txBody>
      </p:sp>
      <p:graphicFrame>
        <p:nvGraphicFramePr>
          <p:cNvPr id="9" name="Table 8"/>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502920">
                <a:tc>
                  <a:txBody>
                    <a:bodyPr/>
                    <a:lstStyle/>
                    <a:p>
                      <a:r>
                        <a:rPr sz="1400" b="1">
                          <a:solidFill>
                            <a:srgbClr val="FFFFFF"/>
                          </a:solidFill>
                          <a:latin typeface="Arial"/>
                        </a:rPr>
                        <a:t>Row</a:t>
                      </a:r>
                    </a:p>
                  </a:txBody>
                  <a:tcPr marL="54864" marR="54864" marT="27432" marB="27432" anchor="ctr">
                    <a:solidFill>
                      <a:srgbClr val="072140"/>
                    </a:solidFill>
                  </a:tcPr>
                </a:tc>
                <a:tc>
                  <a:txBody>
                    <a:bodyPr/>
                    <a:lstStyle/>
                    <a:p>
                      <a:r>
                        <a:rPr sz="1400" b="1">
                          <a:solidFill>
                            <a:srgbClr val="FFFFFF"/>
                          </a:solidFill>
                          <a:latin typeface="Arial"/>
                        </a:rPr>
                        <a:t>Task</a:t>
                      </a:r>
                    </a:p>
                  </a:txBody>
                  <a:tcPr marL="54864" marR="54864" marT="27432" marB="27432" anchor="ctr">
                    <a:solidFill>
                      <a:srgbClr val="072140"/>
                    </a:solidFill>
                  </a:tcPr>
                </a:tc>
                <a:tc>
                  <a:txBody>
                    <a:bodyPr/>
                    <a:lstStyle/>
                    <a:p>
                      <a:r>
                        <a:rPr sz="1400" b="1">
                          <a:solidFill>
                            <a:srgbClr val="FFFFFF"/>
                          </a:solidFill>
                          <a:latin typeface="Arial"/>
                        </a:rPr>
                        <a:t>What the agent is told (short)</a:t>
                      </a:r>
                    </a:p>
                  </a:txBody>
                  <a:tcPr marL="54864" marR="54864" marT="27432" marB="27432" anchor="ctr">
                    <a:solidFill>
                      <a:srgbClr val="072140"/>
                    </a:solidFill>
                  </a:tcPr>
                </a:tc>
                <a:tc>
                  <a:txBody>
                    <a:bodyPr/>
                    <a:lstStyle/>
                    <a:p>
                      <a:pPr algn="ctr"/>
                      <a:r>
                        <a:rPr sz="1400" b="1">
                          <a:solidFill>
                            <a:srgbClr val="FFFFFF"/>
                          </a:solidFill>
                          <a:latin typeface="Arial"/>
                        </a:rPr>
                        <a:t>Reference steps</a:t>
                      </a:r>
                    </a:p>
                  </a:txBody>
                  <a:tcPr marL="54864" marR="54864" marT="27432" marB="27432" anchor="ctr">
                    <a:solidFill>
                      <a:srgbClr val="072140"/>
                    </a:solidFill>
                  </a:tcPr>
                </a:tc>
                <a:extLst>
                  <a:ext uri="{0D108BD9-81ED-4DB2-BD59-A6C34878D82A}">
                    <a16:rowId xmlns:a16="http://schemas.microsoft.com/office/drawing/2014/main" val="10000"/>
                  </a:ext>
                </a:extLst>
              </a:tr>
              <a:tr h="502920">
                <a:tc>
                  <a:txBody>
                    <a:bodyPr/>
                    <a:lstStyle/>
                    <a:p>
                      <a:r>
                        <a:rPr sz="1400" b="0">
                          <a:solidFill>
                            <a:srgbClr val="222A35"/>
                          </a:solidFill>
                          <a:latin typeface="Arial"/>
                        </a:rPr>
                        <a:t>Warm-up</a:t>
                      </a:r>
                    </a:p>
                  </a:txBody>
                  <a:tcPr marL="54864" marR="54864" marT="27432" marB="27432" anchor="ctr">
                    <a:solidFill>
                      <a:srgbClr val="E5EFF8"/>
                    </a:solidFill>
                  </a:tcPr>
                </a:tc>
                <a:tc>
                  <a:txBody>
                    <a:bodyPr/>
                    <a:lstStyle/>
                    <a:p>
                      <a:r>
                        <a:rPr sz="1400" b="0">
                          <a:solidFill>
                            <a:srgbClr val="222A35"/>
                          </a:solidFill>
                          <a:latin typeface="Arial"/>
                        </a:rPr>
                        <a:t>SystemWifiTurnOn</a:t>
                      </a:r>
                    </a:p>
                  </a:txBody>
                  <a:tcPr marL="54864" marR="54864" marT="27432" marB="27432" anchor="ctr">
                    <a:solidFill>
                      <a:srgbClr val="E5EFF8"/>
                    </a:solidFill>
                  </a:tcPr>
                </a:tc>
                <a:tc>
                  <a:txBody>
                    <a:bodyPr/>
                    <a:lstStyle/>
                    <a:p>
                      <a:r>
                        <a:rPr sz="1400" b="0">
                          <a:solidFill>
                            <a:srgbClr val="222A35"/>
                          </a:solidFill>
                          <a:latin typeface="Arial"/>
                        </a:rPr>
                        <a:t>Turn Wi-Fi on</a:t>
                      </a:r>
                    </a:p>
                  </a:txBody>
                  <a:tcPr marL="54864" marR="54864" marT="27432" marB="27432" anchor="ctr">
                    <a:solidFill>
                      <a:srgbClr val="E5EFF8"/>
                    </a:solidFill>
                  </a:tcPr>
                </a:tc>
                <a:tc>
                  <a:txBody>
                    <a:bodyPr/>
                    <a:lstStyle/>
                    <a:p>
                      <a:pPr algn="ctr"/>
                      <a:r>
                        <a:rPr sz="1400" b="0">
                          <a:solidFill>
                            <a:srgbClr val="222A35"/>
                          </a:solidFill>
                          <a:latin typeface="Arial"/>
                        </a:rPr>
                        <a:t>3</a:t>
                      </a:r>
                    </a:p>
                  </a:txBody>
                  <a:tcPr marL="54864" marR="54864" marT="27432" marB="27432" anchor="ctr">
                    <a:solidFill>
                      <a:srgbClr val="E5EFF8"/>
                    </a:solidFill>
                  </a:tcPr>
                </a:tc>
                <a:extLst>
                  <a:ext uri="{0D108BD9-81ED-4DB2-BD59-A6C34878D82A}">
                    <a16:rowId xmlns:a16="http://schemas.microsoft.com/office/drawing/2014/main" val="10001"/>
                  </a:ext>
                </a:extLst>
              </a:tr>
              <a:tr h="502920">
                <a:tc>
                  <a:txBody>
                    <a:bodyPr/>
                    <a:lstStyle/>
                    <a:p>
                      <a:r>
                        <a:rPr sz="1400" b="0">
                          <a:solidFill>
                            <a:srgbClr val="222A35"/>
                          </a:solidFill>
                          <a:latin typeface="Arial"/>
                        </a:rPr>
                        <a:t>Warm-up</a:t>
                      </a:r>
                    </a:p>
                  </a:txBody>
                  <a:tcPr marL="54864" marR="54864" marT="27432" marB="27432" anchor="ctr">
                    <a:solidFill>
                      <a:srgbClr val="E5EFF8"/>
                    </a:solidFill>
                  </a:tcPr>
                </a:tc>
                <a:tc>
                  <a:txBody>
                    <a:bodyPr/>
                    <a:lstStyle/>
                    <a:p>
                      <a:r>
                        <a:rPr sz="1400" b="0">
                          <a:solidFill>
                            <a:srgbClr val="222A35"/>
                          </a:solidFill>
                          <a:latin typeface="Arial"/>
                        </a:rPr>
                        <a:t>ContactsAddContact</a:t>
                      </a:r>
                    </a:p>
                  </a:txBody>
                  <a:tcPr marL="54864" marR="54864" marT="27432" marB="27432" anchor="ctr">
                    <a:solidFill>
                      <a:srgbClr val="E5EFF8"/>
                    </a:solidFill>
                  </a:tcPr>
                </a:tc>
                <a:tc>
                  <a:txBody>
                    <a:bodyPr/>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a:lstStyle/>
                    <a:p>
                      <a:pPr algn="ctr"/>
                      <a:r>
                        <a:rPr sz="1400" b="0">
                          <a:solidFill>
                            <a:srgbClr val="222A35"/>
                          </a:solidFill>
                          <a:latin typeface="Arial"/>
                        </a:rPr>
                        <a:t>5</a:t>
                      </a:r>
                    </a:p>
                  </a:txBody>
                  <a:tcPr marL="54864" marR="54864" marT="27432" marB="27432" anchor="ctr">
                    <a:solidFill>
                      <a:srgbClr val="E5EFF8"/>
                    </a:solidFill>
                  </a:tcPr>
                </a:tc>
                <a:extLst>
                  <a:ext uri="{0D108BD9-81ED-4DB2-BD59-A6C34878D82A}">
                    <a16:rowId xmlns:a16="http://schemas.microsoft.com/office/drawing/2014/main" val="10002"/>
                  </a:ext>
                </a:extLst>
              </a:tr>
              <a:tr h="502920">
                <a:tc>
                  <a:txBody>
                    <a:bodyPr/>
                    <a:lstStyle/>
                    <a:p>
                      <a:r>
                        <a:rPr sz="1400" b="0">
                          <a:solidFill>
                            <a:srgbClr val="222A35"/>
                          </a:solidFill>
                          <a:latin typeface="Arial"/>
                        </a:rPr>
                        <a:t>Real work</a:t>
                      </a:r>
                    </a:p>
                  </a:txBody>
                  <a:tcPr marL="54864" marR="54864" marT="27432" marB="27432" anchor="ctr">
                    <a:solidFill>
                      <a:srgbClr val="F2F5F9"/>
                    </a:solidFill>
                  </a:tcPr>
                </a:tc>
                <a:tc>
                  <a:txBody>
                    <a:bodyPr/>
                    <a:lstStyle/>
                    <a:p>
                      <a:r>
                        <a:rPr sz="1400" b="0">
                          <a:solidFill>
                            <a:srgbClr val="222A35"/>
                          </a:solidFill>
                          <a:latin typeface="Arial"/>
                        </a:rPr>
                        <a:t>SimpleSmsSend</a:t>
                      </a:r>
                    </a:p>
                  </a:txBody>
                  <a:tcPr marL="54864" marR="54864" marT="27432" marB="27432" anchor="ctr">
                    <a:solidFill>
                      <a:srgbClr val="F2F5F9"/>
                    </a:solidFill>
                  </a:tcPr>
                </a:tc>
                <a:tc>
                  <a:txBody>
                    <a:bodyPr/>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a:lstStyle/>
                    <a:p>
                      <a:pPr algn="ctr"/>
                      <a:r>
                        <a:rPr sz="1400" b="0">
                          <a:solidFill>
                            <a:srgbClr val="222A35"/>
                          </a:solidFill>
                          <a:latin typeface="Arial"/>
                        </a:rPr>
                        <a:t>6</a:t>
                      </a:r>
                    </a:p>
                  </a:txBody>
                  <a:tcPr marL="54864" marR="54864" marT="27432" marB="27432" anchor="ctr">
                    <a:solidFill>
                      <a:srgbClr val="F2F5F9"/>
                    </a:solidFill>
                  </a:tcPr>
                </a:tc>
                <a:extLst>
                  <a:ext uri="{0D108BD9-81ED-4DB2-BD59-A6C34878D82A}">
                    <a16:rowId xmlns:a16="http://schemas.microsoft.com/office/drawing/2014/main" val="10003"/>
                  </a:ext>
                </a:extLst>
              </a:tr>
              <a:tr h="502920">
                <a:tc>
                  <a:txBody>
                    <a:bodyPr/>
                    <a:lstStyle/>
                    <a:p>
                      <a:r>
                        <a:rPr sz="1400" b="0">
                          <a:solidFill>
                            <a:srgbClr val="222A35"/>
                          </a:solidFill>
                          <a:latin typeface="Arial"/>
                        </a:rPr>
                        <a:t>Real work</a:t>
                      </a:r>
                    </a:p>
                  </a:txBody>
                  <a:tcPr marL="54864" marR="54864" marT="27432" marB="27432" anchor="ctr">
                    <a:solidFill>
                      <a:srgbClr val="F2F5F9"/>
                    </a:solidFill>
                  </a:tcPr>
                </a:tc>
                <a:tc>
                  <a:txBody>
                    <a:bodyPr/>
                    <a:lstStyle/>
                    <a:p>
                      <a:r>
                        <a:rPr sz="1400" b="0">
                          <a:solidFill>
                            <a:srgbClr val="222A35"/>
                          </a:solidFill>
                          <a:latin typeface="Arial"/>
                        </a:rPr>
                        <a:t>FilesMoveFile</a:t>
                      </a:r>
                    </a:p>
                  </a:txBody>
                  <a:tcPr marL="54864" marR="54864" marT="27432" marB="27432" anchor="ctr">
                    <a:solidFill>
                      <a:srgbClr val="F2F5F9"/>
                    </a:solidFill>
                  </a:tcPr>
                </a:tc>
                <a:tc>
                  <a:txBody>
                    <a:bodyPr/>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a:lstStyle/>
                    <a:p>
                      <a:pPr algn="ctr"/>
                      <a:r>
                        <a:rPr sz="1400" b="0">
                          <a:solidFill>
                            <a:srgbClr val="222A35"/>
                          </a:solidFill>
                          <a:latin typeface="Arial"/>
                        </a:rPr>
                        <a:t>10</a:t>
                      </a:r>
                    </a:p>
                  </a:txBody>
                  <a:tcPr marL="54864" marR="54864" marT="27432" marB="27432" anchor="ctr">
                    <a:solidFill>
                      <a:srgbClr val="F2F5F9"/>
                    </a:solidFill>
                  </a:tcPr>
                </a:tc>
                <a:extLst>
                  <a:ext uri="{0D108BD9-81ED-4DB2-BD59-A6C34878D82A}">
                    <a16:rowId xmlns:a16="http://schemas.microsoft.com/office/drawing/2014/main" val="10004"/>
                  </a:ext>
                </a:extLst>
              </a:tr>
              <a:tr h="502920">
                <a:tc>
                  <a:txBody>
                    <a:bodyPr/>
                    <a:lstStyle/>
                    <a:p>
                      <a:r>
                        <a:rPr sz="1400" b="0">
                          <a:solidFill>
                            <a:srgbClr val="222A35"/>
                          </a:solidFill>
                          <a:latin typeface="Arial"/>
                        </a:rPr>
                        <a:t>Real work</a:t>
                      </a:r>
                    </a:p>
                  </a:txBody>
                  <a:tcPr marL="54864" marR="54864" marT="27432" marB="27432" anchor="ctr">
                    <a:solidFill>
                      <a:srgbClr val="F2F5F9"/>
                    </a:solidFill>
                  </a:tcPr>
                </a:tc>
                <a:tc>
                  <a:txBody>
                    <a:bodyPr/>
                    <a:lstStyle/>
                    <a:p>
                      <a:r>
                        <a:rPr sz="1400" b="0">
                          <a:solidFill>
                            <a:srgbClr val="222A35"/>
                          </a:solidFill>
                          <a:latin typeface="Arial"/>
                        </a:rPr>
                        <a:t>SimpleCalendarAddOneEvent</a:t>
                      </a:r>
                    </a:p>
                  </a:txBody>
                  <a:tcPr marL="54864" marR="54864" marT="27432" marB="27432" anchor="ctr">
                    <a:solidFill>
                      <a:srgbClr val="F2F5F9"/>
                    </a:solidFill>
                  </a:tcPr>
                </a:tc>
                <a:tc>
                  <a:txBody>
                    <a:bodyPr/>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a:lstStyle/>
                    <a:p>
                      <a:pPr algn="ctr"/>
                      <a:r>
                        <a:rPr sz="1400" b="0">
                          <a:solidFill>
                            <a:srgbClr val="222A35"/>
                          </a:solidFill>
                          <a:latin typeface="Arial"/>
                        </a:rPr>
                        <a:t>17</a:t>
                      </a:r>
                    </a:p>
                  </a:txBody>
                  <a:tcPr marL="54864" marR="54864" marT="27432" marB="27432" anchor="ctr">
                    <a:solidFill>
                      <a:srgbClr val="F2F5F9"/>
                    </a:solidFill>
                  </a:tcPr>
                </a:tc>
                <a:extLst>
                  <a:ext uri="{0D108BD9-81ED-4DB2-BD59-A6C34878D82A}">
                    <a16:rowId xmlns:a16="http://schemas.microsoft.com/office/drawing/2014/main" val="10005"/>
                  </a:ext>
                </a:extLst>
              </a:tr>
              <a:tr h="502920">
                <a:tc>
                  <a:txBody>
                    <a:bodyPr/>
                    <a:lstStyle/>
                    <a:p>
                      <a:r>
                        <a:rPr sz="1400" b="0">
                          <a:solidFill>
                            <a:srgbClr val="222A35"/>
                          </a:solidFill>
                          <a:latin typeface="Arial"/>
                        </a:rPr>
                        <a:t>Multi-app</a:t>
                      </a:r>
                    </a:p>
                  </a:txBody>
                  <a:tcPr marL="54864" marR="54864" marT="27432" marB="27432" anchor="ctr">
                    <a:solidFill>
                      <a:srgbClr val="FCECE0"/>
                    </a:solidFill>
                  </a:tcPr>
                </a:tc>
                <a:tc>
                  <a:txBody>
                    <a:bodyPr/>
                    <a:lstStyle/>
                    <a:p>
                      <a:r>
                        <a:rPr sz="1400" b="0">
                          <a:solidFill>
                            <a:srgbClr val="222A35"/>
                          </a:solidFill>
                          <a:latin typeface="Arial"/>
                        </a:rPr>
                        <a:t>MarkorCreateNoteAndSms</a:t>
                      </a:r>
                    </a:p>
                  </a:txBody>
                  <a:tcPr marL="54864" marR="54864" marT="27432" marB="27432" anchor="ctr">
                    <a:solidFill>
                      <a:srgbClr val="FCECE0"/>
                    </a:solidFill>
                  </a:tcPr>
                </a:tc>
                <a:tc>
                  <a:txBody>
                    <a:bodyPr/>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a:lstStyle/>
                    <a:p>
                      <a:pPr algn="ctr"/>
                      <a:r>
                        <a:rPr sz="1400" b="0">
                          <a:solidFill>
                            <a:srgbClr val="222A35"/>
                          </a:solidFill>
                          <a:latin typeface="Arial"/>
                        </a:rPr>
                        <a:t>9</a:t>
                      </a:r>
                    </a:p>
                  </a:txBody>
                  <a:tcPr marL="54864" marR="54864" marT="27432" marB="27432" anchor="ctr">
                    <a:solidFill>
                      <a:srgbClr val="FCECE0"/>
                    </a:solidFill>
                  </a:tcPr>
                </a:tc>
                <a:extLst>
                  <a:ext uri="{0D108BD9-81ED-4DB2-BD59-A6C34878D82A}">
                    <a16:rowId xmlns:a16="http://schemas.microsoft.com/office/drawing/2014/main" val="10006"/>
                  </a:ext>
                </a:extLst>
              </a:tr>
              <a:tr h="502920">
                <a:tc>
                  <a:txBody>
                    <a:bodyPr/>
                    <a:lstStyle/>
                    <a:p>
                      <a:r>
                        <a:rPr sz="1400" b="0">
                          <a:solidFill>
                            <a:srgbClr val="222A35"/>
                          </a:solidFill>
                          <a:latin typeface="Arial"/>
                        </a:rPr>
                        <a:t>Multi-app</a:t>
                      </a:r>
                    </a:p>
                  </a:txBody>
                  <a:tcPr marL="54864" marR="54864" marT="27432" marB="27432" anchor="ctr">
                    <a:solidFill>
                      <a:srgbClr val="FCECE0"/>
                    </a:solidFill>
                  </a:tcPr>
                </a:tc>
                <a:tc>
                  <a:txBody>
                    <a:bodyPr/>
                    <a:lstStyle/>
                    <a:p>
                      <a:r>
                        <a:rPr sz="1400" b="0">
                          <a:solidFill>
                            <a:srgbClr val="222A35"/>
                          </a:solidFill>
                          <a:latin typeface="Arial"/>
                        </a:rPr>
                        <a:t>OsmAndTrack</a:t>
                      </a:r>
                    </a:p>
                  </a:txBody>
                  <a:tcPr marL="54864" marR="54864" marT="27432" marB="27432" anchor="ctr">
                    <a:solidFill>
                      <a:srgbClr val="FCECE0"/>
                    </a:solidFill>
                  </a:tcPr>
                </a:tc>
                <a:tc>
                  <a:txBody>
                    <a:bodyPr/>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a:lstStyle/>
                    <a:p>
                      <a:pPr algn="ctr"/>
                      <a:r>
                        <a:rPr sz="1400" b="0">
                          <a:solidFill>
                            <a:srgbClr val="222A35"/>
                          </a:solidFill>
                          <a:latin typeface="Arial"/>
                        </a:rPr>
                        <a:t>60</a:t>
                      </a:r>
                    </a:p>
                  </a:txBody>
                  <a:tcPr marL="54864" marR="54864" marT="27432" marB="27432" anchor="ctr">
                    <a:solidFill>
                      <a:srgbClr val="FCECE0"/>
                    </a:solidFill>
                  </a:tcPr>
                </a:tc>
                <a:extLst>
                  <a:ext uri="{0D108BD9-81ED-4DB2-BD59-A6C34878D82A}">
                    <a16:rowId xmlns:a16="http://schemas.microsoft.com/office/drawing/2014/main" val="10007"/>
                  </a:ext>
                </a:extLst>
              </a:tr>
            </a:tbl>
          </a:graphicData>
        </a:graphic>
      </p:graphicFrame>
      <p:sp>
        <p:nvSpPr>
          <p:cNvPr id="10" name="TextBox 9"/>
          <p:cNvSpPr txBox="1"/>
          <p:nvPr/>
        </p:nvSpPr>
        <p:spPr>
          <a:xfrm>
            <a:off x="640080" y="5760720"/>
            <a:ext cx="10881360" cy="5486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MODEL</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Why AutoGLM-Phone-9B, and what we tried first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5</a:t>
            </a:r>
          </a:p>
        </p:txBody>
      </p:sp>
      <p:graphicFrame>
        <p:nvGraphicFramePr>
          <p:cNvPr id="9" name="Table 8"/>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08635">
                <a:tc>
                  <a:txBody>
                    <a:bodyPr/>
                    <a:lstStyle/>
                    <a:p>
                      <a:endParaRPr/>
                    </a:p>
                  </a:txBody>
                  <a:tcPr marL="54864" marR="54864" marT="27432" marB="27432" anchor="ctr">
                    <a:solidFill>
                      <a:srgbClr val="072140"/>
                    </a:solidFill>
                  </a:tcPr>
                </a:tc>
                <a:tc>
                  <a:txBody>
                    <a:bodyPr/>
                    <a:lstStyle/>
                    <a:p>
                      <a:r>
                        <a:rPr sz="1300" b="1">
                          <a:solidFill>
                            <a:srgbClr val="FFFFFF"/>
                          </a:solidFill>
                          <a:latin typeface="Arial"/>
                        </a:rPr>
                        <a:t>AutoGLM-Phone-9B (Z.ai API)</a:t>
                      </a:r>
                    </a:p>
                  </a:txBody>
                  <a:tcPr marL="54864" marR="54864" marT="27432" marB="27432" anchor="ctr">
                    <a:solidFill>
                      <a:srgbClr val="072140"/>
                    </a:solidFill>
                  </a:tcPr>
                </a:tc>
                <a:tc>
                  <a:txBody>
                    <a:bodyPr/>
                    <a:lstStyle/>
                    <a:p>
                      <a:r>
                        <a:rPr sz="1300" b="1">
                          <a:solidFill>
                            <a:srgbClr val="FFFFFF"/>
                          </a:solidFill>
                          <a:latin typeface="Arial"/>
                        </a:rPr>
                        <a:t>GELab-Zero 4B (local, Ollama)</a:t>
                      </a:r>
                    </a:p>
                  </a:txBody>
                  <a:tcPr marL="54864" marR="54864" marT="27432" marB="27432" anchor="ctr">
                    <a:solidFill>
                      <a:srgbClr val="072140"/>
                    </a:solidFill>
                  </a:tcPr>
                </a:tc>
                <a:extLst>
                  <a:ext uri="{0D108BD9-81ED-4DB2-BD59-A6C34878D82A}">
                    <a16:rowId xmlns:a16="http://schemas.microsoft.com/office/drawing/2014/main" val="10000"/>
                  </a:ext>
                </a:extLst>
              </a:tr>
              <a:tr h="508635">
                <a:tc>
                  <a:txBody>
                    <a:bodyPr/>
                    <a:lstStyle/>
                    <a:p>
                      <a:r>
                        <a:rPr sz="1300" b="1">
                          <a:solidFill>
                            <a:srgbClr val="222A35"/>
                          </a:solidFill>
                          <a:latin typeface="Arial"/>
                        </a:rPr>
                        <a:t>Built for</a:t>
                      </a:r>
                    </a:p>
                  </a:txBody>
                  <a:tcPr marL="54864" marR="54864" marT="27432" marB="27432" anchor="ctr">
                    <a:solidFill>
                      <a:srgbClr val="FFFFFF"/>
                    </a:solidFill>
                  </a:tcPr>
                </a:tc>
                <a:tc>
                  <a:txBody>
                    <a:bodyPr/>
                    <a:lstStyle/>
                    <a:p>
                      <a:r>
                        <a:rPr sz="1300" b="0">
                          <a:solidFill>
                            <a:srgbClr val="222A35"/>
                          </a:solidFill>
                          <a:latin typeface="Arial"/>
                        </a:rPr>
                        <a:t>Phone GUI control</a:t>
                      </a:r>
                    </a:p>
                  </a:txBody>
                  <a:tcPr marL="54864" marR="54864" marT="27432" marB="27432" anchor="ctr">
                    <a:solidFill>
                      <a:srgbClr val="FFFFFF"/>
                    </a:solidFill>
                  </a:tcPr>
                </a:tc>
                <a:tc>
                  <a:txBody>
                    <a:bodyPr/>
                    <a:lstStyle/>
                    <a:p>
                      <a:r>
                        <a:rPr sz="1300" b="0">
                          <a:solidFill>
                            <a:srgbClr val="222A35"/>
                          </a:solidFill>
                          <a:latin typeface="Arial"/>
                        </a:rPr>
                        <a:t>Phone GUI control</a:t>
                      </a:r>
                    </a:p>
                  </a:txBody>
                  <a:tcPr marL="54864" marR="54864" marT="27432" marB="27432" anchor="ctr">
                    <a:solidFill>
                      <a:srgbClr val="FFFFFF"/>
                    </a:solidFill>
                  </a:tcPr>
                </a:tc>
                <a:extLst>
                  <a:ext uri="{0D108BD9-81ED-4DB2-BD59-A6C34878D82A}">
                    <a16:rowId xmlns:a16="http://schemas.microsoft.com/office/drawing/2014/main" val="10001"/>
                  </a:ext>
                </a:extLst>
              </a:tr>
              <a:tr h="508635">
                <a:tc>
                  <a:txBody>
                    <a:bodyPr/>
                    <a:lstStyle/>
                    <a:p>
                      <a:r>
                        <a:rPr sz="1300" b="1">
                          <a:solidFill>
                            <a:srgbClr val="222A35"/>
                          </a:solidFill>
                          <a:latin typeface="Arial"/>
                        </a:rPr>
                        <a:t>Where it runs</a:t>
                      </a:r>
                    </a:p>
                  </a:txBody>
                  <a:tcPr marL="54864" marR="54864" marT="27432" marB="27432" anchor="ctr">
                    <a:solidFill>
                      <a:srgbClr val="F2F5F9"/>
                    </a:solidFill>
                  </a:tcPr>
                </a:tc>
                <a:tc>
                  <a:txBody>
                    <a:bodyPr/>
                    <a:lstStyle/>
                    <a:p>
                      <a:r>
                        <a:rPr sz="1300" b="0">
                          <a:solidFill>
                            <a:srgbClr val="222A35"/>
                          </a:solidFill>
                          <a:latin typeface="Arial"/>
                        </a:rPr>
                        <a:t>Hosted API</a:t>
                      </a:r>
                    </a:p>
                  </a:txBody>
                  <a:tcPr marL="54864" marR="54864" marT="27432" marB="27432" anchor="ctr">
                    <a:solidFill>
                      <a:srgbClr val="F2F5F9"/>
                    </a:solidFill>
                  </a:tcPr>
                </a:tc>
                <a:tc>
                  <a:txBody>
                    <a:bodyPr/>
                    <a:lstStyle/>
                    <a:p>
                      <a:r>
                        <a:rPr sz="1300" b="0">
                          <a:solidFill>
                            <a:srgbClr val="222A35"/>
                          </a:solidFill>
                          <a:latin typeface="Arial"/>
                        </a:rPr>
                        <a:t>Laptop GPU (8 GB), partial offload</a:t>
                      </a:r>
                    </a:p>
                  </a:txBody>
                  <a:tcPr marL="54864" marR="54864" marT="27432" marB="27432" anchor="ctr">
                    <a:solidFill>
                      <a:srgbClr val="F2F5F9"/>
                    </a:solidFill>
                  </a:tcPr>
                </a:tc>
                <a:extLst>
                  <a:ext uri="{0D108BD9-81ED-4DB2-BD59-A6C34878D82A}">
                    <a16:rowId xmlns:a16="http://schemas.microsoft.com/office/drawing/2014/main" val="10002"/>
                  </a:ext>
                </a:extLst>
              </a:tr>
              <a:tr h="508635">
                <a:tc>
                  <a:txBody>
                    <a:bodyPr/>
                    <a:lstStyle/>
                    <a:p>
                      <a:r>
                        <a:rPr sz="1300" b="1">
                          <a:solidFill>
                            <a:srgbClr val="222A35"/>
                          </a:solidFill>
                          <a:latin typeface="Arial"/>
                        </a:rPr>
                        <a:t>Speed per model call</a:t>
                      </a:r>
                    </a:p>
                  </a:txBody>
                  <a:tcPr marL="54864" marR="54864" marT="27432" marB="27432" anchor="ctr">
                    <a:solidFill>
                      <a:srgbClr val="FFFFFF"/>
                    </a:solidFill>
                  </a:tcPr>
                </a:tc>
                <a:tc>
                  <a:txBody>
                    <a:bodyPr/>
                    <a:lstStyle/>
                    <a:p>
                      <a:r>
                        <a:rPr sz="1300" b="0">
                          <a:solidFill>
                            <a:srgbClr val="222A35"/>
                          </a:solidFill>
                          <a:latin typeface="Arial"/>
                        </a:rPr>
                        <a:t>1.75 s median (297 calls)</a:t>
                      </a:r>
                    </a:p>
                  </a:txBody>
                  <a:tcPr marL="54864" marR="54864" marT="27432" marB="27432" anchor="ctr">
                    <a:solidFill>
                      <a:srgbClr val="FFFFFF"/>
                    </a:solidFill>
                  </a:tcPr>
                </a:tc>
                <a:tc>
                  <a:txBody>
                    <a:bodyPr/>
                    <a:lstStyle/>
                    <a:p>
                      <a:r>
                        <a:rPr sz="1300" b="0">
                          <a:solidFill>
                            <a:srgbClr val="222A35"/>
                          </a:solidFill>
                          <a:latin typeface="Arial"/>
                        </a:rPr>
                        <a:t>19–21 s per screenshot request</a:t>
                      </a:r>
                    </a:p>
                  </a:txBody>
                  <a:tcPr marL="54864" marR="54864" marT="27432" marB="27432" anchor="ctr">
                    <a:solidFill>
                      <a:srgbClr val="FFFFFF"/>
                    </a:solidFill>
                  </a:tcPr>
                </a:tc>
                <a:extLst>
                  <a:ext uri="{0D108BD9-81ED-4DB2-BD59-A6C34878D82A}">
                    <a16:rowId xmlns:a16="http://schemas.microsoft.com/office/drawing/2014/main" val="10003"/>
                  </a:ext>
                </a:extLst>
              </a:tr>
              <a:tr h="508635">
                <a:tc>
                  <a:txBody>
                    <a:bodyPr/>
                    <a:lstStyle/>
                    <a:p>
                      <a:r>
                        <a:rPr sz="1300" b="1">
                          <a:solidFill>
                            <a:srgbClr val="222A35"/>
                          </a:solidFill>
                          <a:latin typeface="Arial"/>
                        </a:rPr>
                        <a:t>Action format</a:t>
                      </a:r>
                    </a:p>
                  </a:txBody>
                  <a:tcPr marL="54864" marR="54864" marT="27432" marB="27432" anchor="ctr">
                    <a:solidFill>
                      <a:srgbClr val="F2F5F9"/>
                    </a:solidFill>
                  </a:tcPr>
                </a:tc>
                <a:tc>
                  <a:txBody>
                    <a:bodyPr/>
                    <a:lstStyle/>
                    <a:p>
                      <a:r>
                        <a:rPr sz="1300" b="0">
                          <a:solidFill>
                            <a:srgbClr val="222A35"/>
                          </a:solidFill>
                          <a:latin typeface="Arial"/>
                        </a:rPr>
                        <a:t>Native do(...) / finish(...), parsed reliably</a:t>
                      </a:r>
                    </a:p>
                  </a:txBody>
                  <a:tcPr marL="54864" marR="54864" marT="27432" marB="27432" anchor="ctr">
                    <a:solidFill>
                      <a:srgbClr val="F2F5F9"/>
                    </a:solidFill>
                  </a:tcPr>
                </a:tc>
                <a:tc>
                  <a:txBody>
                    <a:bodyPr/>
                    <a:lstStyle/>
                    <a:p>
                      <a:r>
                        <a:rPr sz="1300" b="0">
                          <a:solidFill>
                            <a:srgbClr val="222A35"/>
                          </a:solidFill>
                          <a:latin typeface="Arial"/>
                        </a:rPr>
                        <a:t>Bare tokens our parser rejected</a:t>
                      </a:r>
                    </a:p>
                  </a:txBody>
                  <a:tcPr marL="54864" marR="54864" marT="27432" marB="27432" anchor="ctr">
                    <a:solidFill>
                      <a:srgbClr val="F2F5F9"/>
                    </a:solidFill>
                  </a:tcPr>
                </a:tc>
                <a:extLst>
                  <a:ext uri="{0D108BD9-81ED-4DB2-BD59-A6C34878D82A}">
                    <a16:rowId xmlns:a16="http://schemas.microsoft.com/office/drawing/2014/main" val="10004"/>
                  </a:ext>
                </a:extLst>
              </a:tr>
              <a:tr h="508635">
                <a:tc>
                  <a:txBody>
                    <a:bodyPr/>
                    <a:lstStyle/>
                    <a:p>
                      <a:r>
                        <a:rPr sz="1300" b="1">
                          <a:solidFill>
                            <a:srgbClr val="222A35"/>
                          </a:solidFill>
                          <a:latin typeface="Arial"/>
                        </a:rPr>
                        <a:t>Cost</a:t>
                      </a:r>
                    </a:p>
                  </a:txBody>
                  <a:tcPr marL="54864" marR="54864" marT="27432" marB="27432" anchor="ctr">
                    <a:solidFill>
                      <a:srgbClr val="FFFFFF"/>
                    </a:solidFill>
                  </a:tcPr>
                </a:tc>
                <a:tc>
                  <a:txBody>
                    <a:bodyPr/>
                    <a:lstStyle/>
                    <a:p>
                      <a:r>
                        <a:rPr sz="1300" b="0">
                          <a:solidFill>
                            <a:srgbClr val="222A35"/>
                          </a:solidFill>
                          <a:latin typeface="Arial"/>
                        </a:rPr>
                        <a:t>€0.045 per million tokens</a:t>
                      </a:r>
                    </a:p>
                  </a:txBody>
                  <a:tcPr marL="54864" marR="54864" marT="27432" marB="27432" anchor="ctr">
                    <a:solidFill>
                      <a:srgbClr val="FFFFFF"/>
                    </a:solidFill>
                  </a:tcPr>
                </a:tc>
                <a:tc>
                  <a:txBody>
                    <a:bodyPr/>
                    <a:lstStyle/>
                    <a:p>
                      <a:r>
                        <a:rPr sz="1300" b="0">
                          <a:solidFill>
                            <a:srgbClr val="222A35"/>
                          </a:solidFill>
                          <a:latin typeface="Arial"/>
                        </a:rPr>
                        <a:t>Free, but slow</a:t>
                      </a:r>
                    </a:p>
                  </a:txBody>
                  <a:tcPr marL="54864" marR="54864" marT="27432" marB="27432" anchor="ctr">
                    <a:solidFill>
                      <a:srgbClr val="FFFFFF"/>
                    </a:solidFill>
                  </a:tcPr>
                </a:tc>
                <a:extLst>
                  <a:ext uri="{0D108BD9-81ED-4DB2-BD59-A6C34878D82A}">
                    <a16:rowId xmlns:a16="http://schemas.microsoft.com/office/drawing/2014/main" val="10005"/>
                  </a:ext>
                </a:extLst>
              </a:tr>
              <a:tr h="508635">
                <a:tc>
                  <a:txBody>
                    <a:bodyPr/>
                    <a:lstStyle/>
                    <a:p>
                      <a:r>
                        <a:rPr sz="1300" b="1">
                          <a:solidFill>
                            <a:srgbClr val="222A35"/>
                          </a:solidFill>
                          <a:latin typeface="Arial"/>
                        </a:rPr>
                        <a:t>Our results</a:t>
                      </a:r>
                    </a:p>
                  </a:txBody>
                  <a:tcPr marL="54864" marR="54864" marT="27432" marB="27432" anchor="ctr">
                    <a:solidFill>
                      <a:srgbClr val="F2F5F9"/>
                    </a:solidFill>
                  </a:tcPr>
                </a:tc>
                <a:tc>
                  <a:txBody>
                    <a:bodyPr/>
                    <a:lstStyle/>
                    <a:p>
                      <a:r>
                        <a:rPr sz="1300" b="0">
                          <a:solidFill>
                            <a:srgbClr val="222A35"/>
                          </a:solidFill>
                          <a:latin typeface="Arial"/>
                        </a:rPr>
                        <a:t>17 / 21 in the final evaluation</a:t>
                      </a:r>
                    </a:p>
                  </a:txBody>
                  <a:tcPr marL="54864" marR="54864" marT="27432" marB="27432" anchor="ctr">
                    <a:solidFill>
                      <a:srgbClr val="F2F5F9"/>
                    </a:solidFill>
                  </a:tcPr>
                </a:tc>
                <a:tc>
                  <a:txBody>
                    <a:bodyPr/>
                    <a:lstStyle/>
                    <a:p>
                      <a:r>
                        <a:rPr sz="1300" b="0">
                          <a:solidFill>
                            <a:srgbClr val="222A35"/>
                          </a:solidFill>
                          <a:latin typeface="Arial"/>
                        </a:rPr>
                        <a:t>Contacts: 1 PASS in 6 trials</a:t>
                      </a:r>
                    </a:p>
                  </a:txBody>
                  <a:tcPr marL="54864" marR="54864" marT="27432" marB="27432" anchor="ctr">
                    <a:solidFill>
                      <a:srgbClr val="F2F5F9"/>
                    </a:solidFill>
                  </a:tcPr>
                </a:tc>
                <a:extLst>
                  <a:ext uri="{0D108BD9-81ED-4DB2-BD59-A6C34878D82A}">
                    <a16:rowId xmlns:a16="http://schemas.microsoft.com/office/drawing/2014/main" val="10006"/>
                  </a:ext>
                </a:extLst>
              </a:tr>
              <a:tr h="508635">
                <a:tc>
                  <a:txBody>
                    <a:bodyPr/>
                    <a:lstStyle/>
                    <a:p>
                      <a:r>
                        <a:rPr sz="1300" b="1">
                          <a:solidFill>
                            <a:srgbClr val="222A35"/>
                          </a:solidFill>
                          <a:latin typeface="Arial"/>
                        </a:rPr>
                        <a:t>Leaderboard</a:t>
                      </a:r>
                    </a:p>
                  </a:txBody>
                  <a:tcPr marL="54864" marR="54864" marT="27432" marB="27432" anchor="ctr">
                    <a:solidFill>
                      <a:srgbClr val="FFFFFF"/>
                    </a:solidFill>
                  </a:tcPr>
                </a:tc>
                <a:tc>
                  <a:txBody>
                    <a:bodyPr/>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a:lstStyle/>
                    <a:p>
                      <a:r>
                        <a:rPr sz="1300" b="0">
                          <a:solidFill>
                            <a:srgbClr val="222A35"/>
                          </a:solidFill>
                          <a:latin typeface="Arial"/>
                        </a:rPr>
                        <a:t>—</a:t>
                      </a:r>
                    </a:p>
                  </a:txBody>
                  <a:tcPr marL="54864" marR="54864"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10" name="Rectangle 9"/>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85632" y="1645920"/>
            <a:ext cx="2990087"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Our first attempt (v1–v10)</a:t>
            </a:r>
          </a:p>
        </p:txBody>
      </p:sp>
      <p:sp>
        <p:nvSpPr>
          <p:cNvPr id="13" name="TextBox 12"/>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4" name="TextBox 13"/>
          <p:cNvSpPr txBox="1"/>
          <p:nvPr/>
        </p:nvSpPr>
        <p:spPr>
          <a:xfrm>
            <a:off x="640080" y="5715000"/>
            <a:ext cx="10881360" cy="64008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One class, one step(): observe, decide, check, act, record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6</a:t>
            </a:r>
          </a:p>
        </p:txBody>
      </p:sp>
      <p:sp>
        <p:nvSpPr>
          <p:cNvPr id="9" name="Rounded Rectangle 8"/>
          <p:cNvSpPr/>
          <p:nvPr/>
        </p:nvSpPr>
        <p:spPr>
          <a:xfrm>
            <a:off x="64008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19"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1  Observe</a:t>
            </a:r>
          </a:p>
        </p:txBody>
      </p:sp>
      <p:sp>
        <p:nvSpPr>
          <p:cNvPr id="11" name="TextBox 10"/>
          <p:cNvSpPr txBox="1"/>
          <p:nvPr/>
        </p:nvSpPr>
        <p:spPr>
          <a:xfrm>
            <a:off x="713231"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Screenshot</a:t>
            </a:r>
          </a:p>
          <a:p>
            <a:pPr algn="ctr">
              <a:lnSpc>
                <a:spcPct val="110000"/>
              </a:lnSpc>
            </a:pPr>
            <a:r>
              <a:rPr sz="1400" b="0" i="0">
                <a:solidFill>
                  <a:srgbClr val="222A35"/>
                </a:solidFill>
                <a:latin typeface="Arial"/>
              </a:rPr>
              <a:t>(+ GUI labels for</a:t>
            </a:r>
          </a:p>
          <a:p>
            <a:pPr algn="ctr">
              <a:lnSpc>
                <a:spcPct val="110000"/>
              </a:lnSpc>
            </a:pPr>
            <a:r>
              <a:rPr sz="1400" b="0" i="0">
                <a:solidFill>
                  <a:srgbClr val="222A35"/>
                </a:solidFill>
                <a:latin typeface="Arial"/>
              </a:rPr>
              <a:t>some tasks)</a:t>
            </a:r>
          </a:p>
        </p:txBody>
      </p:sp>
      <p:cxnSp>
        <p:nvCxnSpPr>
          <p:cNvPr id="12" name="Connector 11"/>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97180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2  Decide</a:t>
            </a:r>
          </a:p>
        </p:txBody>
      </p:sp>
      <p:sp>
        <p:nvSpPr>
          <p:cNvPr id="15" name="TextBox 14"/>
          <p:cNvSpPr txBox="1"/>
          <p:nvPr/>
        </p:nvSpPr>
        <p:spPr>
          <a:xfrm>
            <a:off x="295351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AutoGLM picks</a:t>
            </a:r>
          </a:p>
          <a:p>
            <a:pPr algn="ctr">
              <a:lnSpc>
                <a:spcPct val="110000"/>
              </a:lnSpc>
            </a:pPr>
            <a:r>
              <a:rPr sz="1400" b="0" i="0">
                <a:solidFill>
                  <a:srgbClr val="222A35"/>
                </a:solidFill>
                <a:latin typeface="Arial"/>
              </a:rPr>
              <a:t>one action</a:t>
            </a:r>
          </a:p>
        </p:txBody>
      </p:sp>
      <p:cxnSp>
        <p:nvCxnSpPr>
          <p:cNvPr id="16" name="Connector 15"/>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737360"/>
            <a:ext cx="1874519" cy="18288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21208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3  Check</a:t>
            </a:r>
          </a:p>
        </p:txBody>
      </p:sp>
      <p:sp>
        <p:nvSpPr>
          <p:cNvPr id="19" name="TextBox 18"/>
          <p:cNvSpPr txBox="1"/>
          <p:nvPr/>
        </p:nvSpPr>
        <p:spPr>
          <a:xfrm>
            <a:off x="519379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Format, screen point,</a:t>
            </a:r>
          </a:p>
          <a:p>
            <a:pPr algn="ctr">
              <a:lnSpc>
                <a:spcPct val="110000"/>
              </a:lnSpc>
            </a:pPr>
            <a:r>
              <a:rPr sz="1400" b="0" i="0">
                <a:solidFill>
                  <a:srgbClr val="222A35"/>
                </a:solidFill>
                <a:latin typeface="Arial"/>
              </a:rPr>
              <a:t>focus, task rules</a:t>
            </a:r>
          </a:p>
        </p:txBody>
      </p:sp>
      <p:cxnSp>
        <p:nvCxnSpPr>
          <p:cNvPr id="20" name="Connector 19"/>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6092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45236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4  Act</a:t>
            </a:r>
          </a:p>
        </p:txBody>
      </p:sp>
      <p:sp>
        <p:nvSpPr>
          <p:cNvPr id="23" name="TextBox 22"/>
          <p:cNvSpPr txBox="1"/>
          <p:nvPr/>
        </p:nvSpPr>
        <p:spPr>
          <a:xfrm>
            <a:off x="743407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Tap, type, swipe,</a:t>
            </a:r>
          </a:p>
          <a:p>
            <a:pPr algn="ctr">
              <a:lnSpc>
                <a:spcPct val="110000"/>
              </a:lnSpc>
            </a:pPr>
            <a:r>
              <a:rPr sz="1400" b="0" i="0">
                <a:solidFill>
                  <a:srgbClr val="222A35"/>
                </a:solidFill>
                <a:latin typeface="Arial"/>
              </a:rPr>
              <a:t>launch, back</a:t>
            </a:r>
          </a:p>
        </p:txBody>
      </p:sp>
      <p:cxnSp>
        <p:nvCxnSpPr>
          <p:cNvPr id="24" name="Connector 23"/>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69264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5  Record</a:t>
            </a:r>
          </a:p>
        </p:txBody>
      </p:sp>
      <p:sp>
        <p:nvSpPr>
          <p:cNvPr id="27" name="TextBox 26"/>
          <p:cNvSpPr txBox="1"/>
          <p:nvPr/>
        </p:nvSpPr>
        <p:spPr>
          <a:xfrm>
            <a:off x="967435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Trajectory log</a:t>
            </a:r>
          </a:p>
          <a:p>
            <a:pPr algn="ctr">
              <a:lnSpc>
                <a:spcPct val="110000"/>
              </a:lnSpc>
            </a:pPr>
            <a:r>
              <a:rPr sz="1400" b="0" i="0">
                <a:solidFill>
                  <a:srgbClr val="222A35"/>
                </a:solidFill>
                <a:latin typeface="Arial"/>
              </a:rPr>
              <a:t>+ screen video</a:t>
            </a:r>
          </a:p>
        </p:txBody>
      </p:sp>
      <p:sp>
        <p:nvSpPr>
          <p:cNvPr id="28" name="TextBox 27"/>
          <p:cNvSpPr txBox="1"/>
          <p:nvPr/>
        </p:nvSpPr>
        <p:spPr>
          <a:xfrm>
            <a:off x="640080" y="3931920"/>
            <a:ext cx="10881360" cy="411480"/>
          </a:xfrm>
          <a:prstGeom prst="rect">
            <a:avLst/>
          </a:prstGeom>
          <a:solidFill>
            <a:srgbClr val="F2F5F9"/>
          </a:solidFill>
        </p:spPr>
        <p:txBody>
          <a:bodyPr wrap="square" lIns="73152" rIns="73152" anchor="t">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04671" y="4709159"/>
            <a:ext cx="504748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82512" y="4709159"/>
            <a:ext cx="504748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Context and Skills: what goes into each model request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7</a:t>
            </a:r>
          </a:p>
        </p:txBody>
      </p:sp>
      <p:sp>
        <p:nvSpPr>
          <p:cNvPr id="9" name="Rectangle 8"/>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45920"/>
            <a:ext cx="3264408"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Every request</a:t>
            </a:r>
          </a:p>
        </p:txBody>
      </p:sp>
      <p:sp>
        <p:nvSpPr>
          <p:cNvPr id="12" name="TextBox 11"/>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3" name="Rectangle 12"/>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07992" y="1645920"/>
            <a:ext cx="3264408"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Markor Skill (text)</a:t>
            </a:r>
          </a:p>
        </p:txBody>
      </p:sp>
      <p:sp>
        <p:nvSpPr>
          <p:cNvPr id="16" name="TextBox 15"/>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&gt; File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Share &gt; Plain Text, SMS Messenger, number, SMS</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7" name="Rectangle 16"/>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11312" y="1645920"/>
            <a:ext cx="3264408"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OsmAnd Skill (code)</a:t>
            </a:r>
          </a:p>
        </p:txBody>
      </p:sp>
      <p:sp>
        <p:nvSpPr>
          <p:cNvPr id="20" name="TextBox 19"/>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1" name="TextBox 20"/>
          <p:cNvSpPr txBox="1"/>
          <p:nvPr/>
        </p:nvSpPr>
        <p:spPr>
          <a:xfrm>
            <a:off x="640080" y="5394960"/>
            <a:ext cx="10927080" cy="685800"/>
          </a:xfrm>
          <a:prstGeom prst="rect">
            <a:avLst/>
          </a:prstGeom>
          <a:solidFill>
            <a:srgbClr val="F2F5F9"/>
          </a:solidFill>
        </p:spPr>
        <p:txBody>
          <a:bodyPr wrap="square" lIns="73152" rIns="73152" anchor="ctr">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A safety net: actions are checked before they reach the phone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8</a:t>
            </a:r>
          </a:p>
        </p:txBody>
      </p:sp>
      <p:graphicFrame>
        <p:nvGraphicFramePr>
          <p:cNvPr id="9" name="Table 8"/>
          <p:cNvGraphicFramePr>
            <a:graphicFrameLocks noGrp="1"/>
          </p:cNvGraphicFramePr>
          <p:nvPr/>
        </p:nvGraphicFramePr>
        <p:xfrm>
          <a:off x="640080" y="1554480"/>
          <a:ext cx="6675120" cy="2508504"/>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411480">
                <a:tc>
                  <a:txBody>
                    <a:bodyPr/>
                    <a:lstStyle/>
                    <a:p>
                      <a:r>
                        <a:rPr sz="1300" b="1">
                          <a:solidFill>
                            <a:srgbClr val="FFFFFF"/>
                          </a:solidFill>
                          <a:latin typeface="Arial"/>
                        </a:rPr>
                        <a:t>Check</a:t>
                      </a:r>
                    </a:p>
                  </a:txBody>
                  <a:tcPr marL="54864" marR="54864" marT="27432" marB="27432" anchor="ctr">
                    <a:solidFill>
                      <a:srgbClr val="072140"/>
                    </a:solidFill>
                  </a:tcPr>
                </a:tc>
                <a:tc>
                  <a:txBody>
                    <a:bodyPr/>
                    <a:lstStyle/>
                    <a:p>
                      <a:r>
                        <a:rPr sz="1300" b="1">
                          <a:solidFill>
                            <a:srgbClr val="FFFFFF"/>
                          </a:solidFill>
                          <a:latin typeface="Arial"/>
                        </a:rPr>
                        <a:t>Why</a:t>
                      </a:r>
                    </a:p>
                  </a:txBody>
                  <a:tcPr marL="54864" marR="54864" marT="27432" marB="27432" anchor="ctr">
                    <a:solidFill>
                      <a:srgbClr val="072140"/>
                    </a:solidFill>
                  </a:tcPr>
                </a:tc>
                <a:tc>
                  <a:txBody>
                    <a:bodyPr/>
                    <a:lstStyle/>
                    <a:p>
                      <a:pPr algn="ctr"/>
                      <a:r>
                        <a:rPr sz="1300" b="1">
                          <a:solidFill>
                            <a:srgbClr val="FFFFFF"/>
                          </a:solidFill>
                          <a:latin typeface="Arial"/>
                        </a:rPr>
                        <a:t>Final runs</a:t>
                      </a:r>
                    </a:p>
                  </a:txBody>
                  <a:tcPr marL="54864" marR="54864" marT="27432" marB="27432" anchor="ctr">
                    <a:solidFill>
                      <a:srgbClr val="072140"/>
                    </a:solidFill>
                  </a:tcPr>
                </a:tc>
                <a:extLst>
                  <a:ext uri="{0D108BD9-81ED-4DB2-BD59-A6C34878D82A}">
                    <a16:rowId xmlns:a16="http://schemas.microsoft.com/office/drawing/2014/main" val="10000"/>
                  </a:ext>
                </a:extLst>
              </a:tr>
              <a:tr h="411480">
                <a:tc>
                  <a:txBody>
                    <a:bodyPr/>
                    <a:lstStyle/>
                    <a:p>
                      <a:r>
                        <a:rPr sz="1300" b="1">
                          <a:solidFill>
                            <a:srgbClr val="222A35"/>
                          </a:solidFill>
                          <a:latin typeface="Arial"/>
                        </a:rPr>
                        <a:t>Type with no focused text field</a:t>
                      </a:r>
                    </a:p>
                  </a:txBody>
                  <a:tcPr marL="54864" marR="54864" marT="27432" marB="27432" anchor="ctr">
                    <a:solidFill>
                      <a:srgbClr val="FFFFFF"/>
                    </a:solidFill>
                  </a:tcPr>
                </a:tc>
                <a:tc>
                  <a:txBody>
                    <a:bodyPr/>
                    <a:lstStyle/>
                    <a:p>
                      <a:r>
                        <a:rPr sz="1300" b="0">
                          <a:solidFill>
                            <a:srgbClr val="222A35"/>
                          </a:solidFill>
                          <a:latin typeface="Arial"/>
                        </a:rPr>
                        <a:t>Text would go nowhere</a:t>
                      </a:r>
                    </a:p>
                  </a:txBody>
                  <a:tcPr marL="54864" marR="54864" marT="27432" marB="27432" anchor="ctr">
                    <a:solidFill>
                      <a:srgbClr val="FFFFFF"/>
                    </a:solidFill>
                  </a:tcPr>
                </a:tc>
                <a:tc>
                  <a:txBody>
                    <a:bodyPr/>
                    <a:lstStyle/>
                    <a:p>
                      <a:pPr algn="ctr"/>
                      <a:r>
                        <a:rPr sz="1300" b="0">
                          <a:solidFill>
                            <a:srgbClr val="222A35"/>
                          </a:solidFill>
                          <a:latin typeface="Arial"/>
                        </a:rPr>
                        <a:t>3</a:t>
                      </a:r>
                    </a:p>
                  </a:txBody>
                  <a:tcPr marL="54864" marR="54864" marT="27432" marB="27432" anchor="ctr">
                    <a:solidFill>
                      <a:srgbClr val="FFFFFF"/>
                    </a:solidFill>
                  </a:tcPr>
                </a:tc>
                <a:extLst>
                  <a:ext uri="{0D108BD9-81ED-4DB2-BD59-A6C34878D82A}">
                    <a16:rowId xmlns:a16="http://schemas.microsoft.com/office/drawing/2014/main" val="10001"/>
                  </a:ext>
                </a:extLst>
              </a:tr>
              <a:tr h="411480">
                <a:tc>
                  <a:txBody>
                    <a:bodyPr/>
                    <a:lstStyle/>
                    <a:p>
                      <a:r>
                        <a:rPr sz="1300" b="1">
                          <a:solidFill>
                            <a:srgbClr val="222A35"/>
                          </a:solidFill>
                          <a:latin typeface="Arial"/>
                        </a:rPr>
                        <a:t>Malformed reply</a:t>
                      </a:r>
                    </a:p>
                  </a:txBody>
                  <a:tcPr marL="54864" marR="54864" marT="27432" marB="27432" anchor="ctr">
                    <a:solidFill>
                      <a:srgbClr val="F2F5F9"/>
                    </a:solidFill>
                  </a:tcPr>
                </a:tc>
                <a:tc>
                  <a:txBody>
                    <a:bodyPr/>
                    <a:lstStyle/>
                    <a:p>
                      <a:r>
                        <a:rPr sz="1300" b="0">
                          <a:solidFill>
                            <a:srgbClr val="222A35"/>
                          </a:solidFill>
                          <a:latin typeface="Arial"/>
                        </a:rPr>
                        <a:t>Not exactly one action</a:t>
                      </a:r>
                    </a:p>
                  </a:txBody>
                  <a:tcPr marL="54864" marR="54864" marT="27432" marB="27432" anchor="ctr">
                    <a:solidFill>
                      <a:srgbClr val="F2F5F9"/>
                    </a:solidFill>
                  </a:tcPr>
                </a:tc>
                <a:tc>
                  <a:txBody>
                    <a:bodyPr/>
                    <a:lstStyle/>
                    <a:p>
                      <a:pPr algn="ctr"/>
                      <a:r>
                        <a:rPr sz="1300" b="0">
                          <a:solidFill>
                            <a:srgbClr val="222A35"/>
                          </a:solidFill>
                          <a:latin typeface="Arial"/>
                        </a:rPr>
                        <a:t>2</a:t>
                      </a:r>
                    </a:p>
                  </a:txBody>
                  <a:tcPr marL="54864" marR="54864" marT="27432" marB="27432" anchor="ctr">
                    <a:solidFill>
                      <a:srgbClr val="F2F5F9"/>
                    </a:solidFill>
                  </a:tcPr>
                </a:tc>
                <a:extLst>
                  <a:ext uri="{0D108BD9-81ED-4DB2-BD59-A6C34878D82A}">
                    <a16:rowId xmlns:a16="http://schemas.microsoft.com/office/drawing/2014/main" val="10002"/>
                  </a:ext>
                </a:extLst>
              </a:tr>
              <a:tr h="411480">
                <a:tc>
                  <a:txBody>
                    <a:bodyPr/>
                    <a:lstStyle/>
                    <a:p>
                      <a:r>
                        <a:rPr sz="1300" b="1">
                          <a:solidFill>
                            <a:srgbClr val="222A35"/>
                          </a:solidFill>
                          <a:latin typeface="Arial"/>
                        </a:rPr>
                        <a:t>Unsupported action</a:t>
                      </a:r>
                    </a:p>
                  </a:txBody>
                  <a:tcPr marL="54864" marR="54864" marT="27432" marB="27432" anchor="ctr">
                    <a:solidFill>
                      <a:srgbClr val="FFFFFF"/>
                    </a:solidFill>
                  </a:tcPr>
                </a:tc>
                <a:tc>
                  <a:txBody>
                    <a:bodyPr/>
                    <a:lstStyle/>
                    <a:p>
                      <a:r>
                        <a:rPr sz="1300" b="0">
                          <a:solidFill>
                            <a:srgbClr val="222A35"/>
                          </a:solidFill>
                          <a:latin typeface="Arial"/>
                        </a:rPr>
                        <a:t>Not in the action list</a:t>
                      </a:r>
                    </a:p>
                  </a:txBody>
                  <a:tcPr marL="54864" marR="54864" marT="27432" marB="27432" anchor="ctr">
                    <a:solidFill>
                      <a:srgbClr val="FFFFFF"/>
                    </a:solidFill>
                  </a:tcPr>
                </a:tc>
                <a:tc>
                  <a:txBody>
                    <a:bodyPr/>
                    <a:lstStyle/>
                    <a:p>
                      <a:pPr algn="ctr"/>
                      <a:r>
                        <a:rPr sz="1300" b="0">
                          <a:solidFill>
                            <a:srgbClr val="222A35"/>
                          </a:solidFill>
                          <a:latin typeface="Arial"/>
                        </a:rPr>
                        <a:t>1</a:t>
                      </a:r>
                    </a:p>
                  </a:txBody>
                  <a:tcPr marL="54864" marR="54864" marT="27432" marB="27432" anchor="ctr">
                    <a:solidFill>
                      <a:srgbClr val="FFFFFF"/>
                    </a:solidFill>
                  </a:tcPr>
                </a:tc>
                <a:extLst>
                  <a:ext uri="{0D108BD9-81ED-4DB2-BD59-A6C34878D82A}">
                    <a16:rowId xmlns:a16="http://schemas.microsoft.com/office/drawing/2014/main" val="10003"/>
                  </a:ext>
                </a:extLst>
              </a:tr>
              <a:tr h="411480">
                <a:tc>
                  <a:txBody>
                    <a:bodyPr/>
                    <a:lstStyle/>
                    <a:p>
                      <a:r>
                        <a:rPr sz="1300" b="1">
                          <a:solidFill>
                            <a:srgbClr val="222A35"/>
                          </a:solidFill>
                          <a:latin typeface="Arial"/>
                        </a:rPr>
                        <a:t>OsmAnd Favorite button</a:t>
                      </a:r>
                    </a:p>
                  </a:txBody>
                  <a:tcPr marL="54864" marR="54864" marT="27432" marB="27432" anchor="ctr">
                    <a:solidFill>
                      <a:srgbClr val="FFFFFF"/>
                    </a:solidFill>
                  </a:tcPr>
                </a:tc>
                <a:tc>
                  <a:txBody>
                    <a:bodyPr/>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a:lstStyle/>
                    <a:p>
                      <a:pPr algn="ctr"/>
                      <a:r>
                        <a:rPr sz="1300" b="0">
                          <a:solidFill>
                            <a:srgbClr val="222A35"/>
                          </a:solidFill>
                          <a:latin typeface="Arial"/>
                        </a:rPr>
                        <a:t>1</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754112" y="1645920"/>
            <a:ext cx="3721607"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How a refusal works</a:t>
            </a:r>
          </a:p>
        </p:txBody>
      </p:sp>
      <p:sp>
        <p:nvSpPr>
          <p:cNvPr id="13" name="TextBox 12"/>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4" name="TextBox 13"/>
          <p:cNvSpPr txBox="1"/>
          <p:nvPr/>
        </p:nvSpPr>
        <p:spPr>
          <a:xfrm>
            <a:off x="640080" y="4526280"/>
            <a:ext cx="320040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7</a:t>
            </a:r>
          </a:p>
        </p:txBody>
      </p:sp>
      <p:sp>
        <p:nvSpPr>
          <p:cNvPr id="15" name="TextBox 14"/>
          <p:cNvSpPr txBox="1"/>
          <p:nvPr/>
        </p:nvSpPr>
        <p:spPr>
          <a:xfrm>
            <a:off x="640080" y="5239512"/>
            <a:ext cx="320040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actions stopped in the final runs</a:t>
            </a:r>
          </a:p>
          <a:p>
            <a:pPr algn="l">
              <a:lnSpc>
                <a:spcPct val="110000"/>
              </a:lnSpc>
            </a:pPr>
            <a:r>
              <a:rPr sz="1400" b="0" i="0">
                <a:solidFill>
                  <a:srgbClr val="5E6773"/>
                </a:solidFill>
                <a:latin typeface="Arial"/>
              </a:rPr>
              <a:t>(6 of 21 runs had one or more)</a:t>
            </a:r>
          </a:p>
        </p:txBody>
      </p:sp>
      <p:sp>
        <p:nvSpPr>
          <p:cNvPr id="16" name="TextBox 15"/>
          <p:cNvSpPr txBox="1"/>
          <p:nvPr/>
        </p:nvSpPr>
        <p:spPr>
          <a:xfrm>
            <a:off x="4023360" y="4617720"/>
            <a:ext cx="7543800" cy="1371600"/>
          </a:xfrm>
          <a:prstGeom prst="rect">
            <a:avLst/>
          </a:prstGeom>
          <a:noFill/>
        </p:spPr>
        <p:txBody>
          <a:bodyPr wrap="square" lIns="73152" rIns="73152" anchor="t">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Five of the six runs with a refusal still passed.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IMPLEMENTATION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Implementation: four parts and how they talk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9</a:t>
            </a:r>
          </a:p>
        </p:txBody>
      </p:sp>
      <p:sp>
        <p:nvSpPr>
          <p:cNvPr id="9" name="Rounded Rectangle 8"/>
          <p:cNvSpPr/>
          <p:nvPr/>
        </p:nvSpPr>
        <p:spPr>
          <a:xfrm>
            <a:off x="64008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19"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AutoGLM model</a:t>
            </a:r>
          </a:p>
        </p:txBody>
      </p:sp>
      <p:sp>
        <p:nvSpPr>
          <p:cNvPr id="11" name="TextBox 10"/>
          <p:cNvSpPr txBox="1"/>
          <p:nvPr/>
        </p:nvSpPr>
        <p:spPr>
          <a:xfrm>
            <a:off x="731519"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Z.ai API (HTTPS)</a:t>
            </a:r>
          </a:p>
          <a:p>
            <a:pPr algn="ctr">
              <a:lnSpc>
                <a:spcPct val="115000"/>
              </a:lnSpc>
            </a:pPr>
            <a:r>
              <a:rPr sz="1300" b="0" i="0">
                <a:solidFill>
                  <a:srgbClr val="222A35"/>
                </a:solidFill>
                <a:latin typeface="Arial"/>
              </a:rPr>
              <a:t>autoglm-phone-multilingual</a:t>
            </a:r>
          </a:p>
          <a:p>
            <a:pPr algn="ctr">
              <a:lnSpc>
                <a:spcPct val="115000"/>
              </a:lnSpc>
            </a:pPr>
            <a:r>
              <a:rPr sz="1300" b="0" i="0">
                <a:solidFill>
                  <a:srgbClr val="222A35"/>
                </a:solidFill>
                <a:latin typeface="Arial"/>
              </a:rPr>
              <a:t>key kept in .env, not in git</a:t>
            </a:r>
          </a:p>
        </p:txBody>
      </p:sp>
      <p:cxnSp>
        <p:nvCxnSpPr>
          <p:cNvPr id="12" name="Connector 11"/>
          <p:cNvCxnSpPr/>
          <p:nvPr/>
        </p:nvCxnSpPr>
        <p:spPr>
          <a:xfrm>
            <a:off x="299923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99923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926080" y="2926080"/>
            <a:ext cx="594360" cy="548640"/>
          </a:xfrm>
          <a:prstGeom prst="rect">
            <a:avLst/>
          </a:prstGeom>
          <a:noFill/>
        </p:spPr>
        <p:txBody>
          <a:bodyPr wrap="square" lIns="73152" rIns="73152" anchor="t">
            <a:spAutoFit/>
          </a:bodyPr>
          <a:lstStyle/>
          <a:p>
            <a:pPr algn="ctr">
              <a:lnSpc>
                <a:spcPct val="110000"/>
              </a:lnSpc>
            </a:pPr>
            <a:r>
              <a:rPr sz="900" b="0" i="0">
                <a:solidFill>
                  <a:srgbClr val="5E6773"/>
                </a:solidFill>
                <a:latin typeface="Arial"/>
              </a:rPr>
              <a:t>request /</a:t>
            </a:r>
          </a:p>
          <a:p>
            <a:pPr algn="ctr">
              <a:lnSpc>
                <a:spcPct val="110000"/>
              </a:lnSpc>
            </a:pPr>
            <a:r>
              <a:rPr sz="900" b="0" i="0">
                <a:solidFill>
                  <a:srgbClr val="5E6773"/>
                </a:solidFill>
                <a:latin typeface="Arial"/>
              </a:rPr>
              <a:t>one action</a:t>
            </a:r>
          </a:p>
        </p:txBody>
      </p:sp>
      <p:sp>
        <p:nvSpPr>
          <p:cNvPr id="15" name="Rounded Rectangle 14"/>
          <p:cNvSpPr/>
          <p:nvPr/>
        </p:nvSpPr>
        <p:spPr>
          <a:xfrm>
            <a:off x="347472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66160"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Agent</a:t>
            </a:r>
          </a:p>
        </p:txBody>
      </p:sp>
      <p:sp>
        <p:nvSpPr>
          <p:cNvPr id="17" name="TextBox 16"/>
          <p:cNvSpPr txBox="1"/>
          <p:nvPr/>
        </p:nvSpPr>
        <p:spPr>
          <a:xfrm>
            <a:off x="3566160"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AutoGLMAgent.step()</a:t>
            </a:r>
          </a:p>
          <a:p>
            <a:pPr algn="ctr">
              <a:lnSpc>
                <a:spcPct val="115000"/>
              </a:lnSpc>
            </a:pPr>
            <a:r>
              <a:rPr sz="1300" b="0" i="0">
                <a:solidFill>
                  <a:srgbClr val="222A35"/>
                </a:solidFill>
                <a:latin typeface="Arial"/>
              </a:rPr>
              <a:t>autoglm_agent.py</a:t>
            </a:r>
          </a:p>
          <a:p>
            <a:pPr algn="ctr">
              <a:lnSpc>
                <a:spcPct val="115000"/>
              </a:lnSpc>
            </a:pPr>
            <a:r>
              <a:rPr sz="1300" b="0" i="0">
                <a:solidFill>
                  <a:srgbClr val="222A35"/>
                </a:solidFill>
                <a:latin typeface="Arial"/>
              </a:rPr>
              <a:t>prompt, Skills, task config</a:t>
            </a:r>
          </a:p>
        </p:txBody>
      </p:sp>
      <p:cxnSp>
        <p:nvCxnSpPr>
          <p:cNvPr id="18" name="Connector 17"/>
          <p:cNvCxnSpPr/>
          <p:nvPr/>
        </p:nvCxnSpPr>
        <p:spPr>
          <a:xfrm>
            <a:off x="583387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3387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0720" y="2926080"/>
            <a:ext cx="594360" cy="548640"/>
          </a:xfrm>
          <a:prstGeom prst="rect">
            <a:avLst/>
          </a:prstGeom>
          <a:noFill/>
        </p:spPr>
        <p:txBody>
          <a:bodyPr wrap="square" lIns="73152" rIns="73152" anchor="t">
            <a:spAutoFit/>
          </a:bodyPr>
          <a:lstStyle/>
          <a:p>
            <a:pPr algn="ctr">
              <a:lnSpc>
                <a:spcPct val="110000"/>
              </a:lnSpc>
            </a:pPr>
            <a:r>
              <a:rPr sz="900" b="0" i="0">
                <a:solidFill>
                  <a:srgbClr val="5E6773"/>
                </a:solidFill>
                <a:latin typeface="Arial"/>
              </a:rPr>
              <a:t>step() /</a:t>
            </a:r>
          </a:p>
          <a:p>
            <a:pPr algn="ctr">
              <a:lnSpc>
                <a:spcPct val="110000"/>
              </a:lnSpc>
            </a:pPr>
            <a:r>
              <a:rPr sz="900" b="0" i="0">
                <a:solidFill>
                  <a:srgbClr val="5E6773"/>
                </a:solidFill>
                <a:latin typeface="Arial"/>
              </a:rPr>
              <a:t>result</a:t>
            </a:r>
          </a:p>
        </p:txBody>
      </p:sp>
      <p:sp>
        <p:nvSpPr>
          <p:cNvPr id="21" name="Rounded Rectangle 20"/>
          <p:cNvSpPr/>
          <p:nvPr/>
        </p:nvSpPr>
        <p:spPr>
          <a:xfrm>
            <a:off x="630936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00800"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Runner</a:t>
            </a:r>
          </a:p>
        </p:txBody>
      </p:sp>
      <p:sp>
        <p:nvSpPr>
          <p:cNvPr id="23" name="TextBox 22"/>
          <p:cNvSpPr txBox="1"/>
          <p:nvPr/>
        </p:nvSpPr>
        <p:spPr>
          <a:xfrm>
            <a:off x="6400800"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run_task.py</a:t>
            </a:r>
          </a:p>
          <a:p>
            <a:pPr algn="ctr">
              <a:lnSpc>
                <a:spcPct val="115000"/>
              </a:lnSpc>
            </a:pPr>
            <a:r>
              <a:rPr sz="1300" b="0" i="0">
                <a:solidFill>
                  <a:srgbClr val="222A35"/>
                </a:solidFill>
                <a:latin typeface="Arial"/>
              </a:rPr>
              <a:t>task setup, recorder, loop,</a:t>
            </a:r>
          </a:p>
          <a:p>
            <a:pPr algn="ctr">
              <a:lnSpc>
                <a:spcPct val="115000"/>
              </a:lnSpc>
            </a:pPr>
            <a:r>
              <a:rPr sz="1300" b="0" i="0">
                <a:solidFill>
                  <a:srgbClr val="222A35"/>
                </a:solidFill>
                <a:latin typeface="Arial"/>
              </a:rPr>
              <a:t>verifier, logs</a:t>
            </a:r>
          </a:p>
        </p:txBody>
      </p:sp>
      <p:cxnSp>
        <p:nvCxnSpPr>
          <p:cNvPr id="24" name="Connector 23"/>
          <p:cNvCxnSpPr/>
          <p:nvPr/>
        </p:nvCxnSpPr>
        <p:spPr>
          <a:xfrm>
            <a:off x="8668512" y="246888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668512" y="283464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0" y="2926080"/>
            <a:ext cx="594360" cy="548640"/>
          </a:xfrm>
          <a:prstGeom prst="rect">
            <a:avLst/>
          </a:prstGeom>
          <a:noFill/>
        </p:spPr>
        <p:txBody>
          <a:bodyPr wrap="square" lIns="73152" rIns="73152" anchor="t">
            <a:spAutoFit/>
          </a:bodyPr>
          <a:lstStyle/>
          <a:p>
            <a:pPr algn="ctr">
              <a:lnSpc>
                <a:spcPct val="110000"/>
              </a:lnSpc>
            </a:pPr>
            <a:r>
              <a:rPr sz="900" b="0" i="0">
                <a:solidFill>
                  <a:srgbClr val="5E6773"/>
                </a:solidFill>
                <a:latin typeface="Arial"/>
              </a:rPr>
              <a:t>adb: screen,</a:t>
            </a:r>
          </a:p>
          <a:p>
            <a:pPr algn="ctr">
              <a:lnSpc>
                <a:spcPct val="110000"/>
              </a:lnSpc>
            </a:pPr>
            <a:r>
              <a:rPr sz="900" b="0" i="0">
                <a:solidFill>
                  <a:srgbClr val="5E6773"/>
                </a:solidFill>
                <a:latin typeface="Arial"/>
              </a:rPr>
              <a:t>tap, type</a:t>
            </a:r>
          </a:p>
        </p:txBody>
      </p:sp>
      <p:sp>
        <p:nvSpPr>
          <p:cNvPr id="27" name="Rounded Rectangle 26"/>
          <p:cNvSpPr/>
          <p:nvPr/>
        </p:nvSpPr>
        <p:spPr>
          <a:xfrm>
            <a:off x="9144000" y="1600200"/>
            <a:ext cx="2331720" cy="20574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235440"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Phone</a:t>
            </a:r>
          </a:p>
        </p:txBody>
      </p:sp>
      <p:sp>
        <p:nvSpPr>
          <p:cNvPr id="29" name="TextBox 28"/>
          <p:cNvSpPr txBox="1"/>
          <p:nvPr/>
        </p:nvSpPr>
        <p:spPr>
          <a:xfrm>
            <a:off x="9235440"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Android emulator: Pixel 6,</a:t>
            </a:r>
          </a:p>
          <a:p>
            <a:pPr algn="ctr">
              <a:lnSpc>
                <a:spcPct val="115000"/>
              </a:lnSpc>
            </a:pPr>
            <a:r>
              <a:rPr sz="1300" b="0" i="0">
                <a:solidFill>
                  <a:srgbClr val="222A35"/>
                </a:solidFill>
                <a:latin typeface="Arial"/>
              </a:rPr>
              <a:t>Android 13, headless</a:t>
            </a:r>
          </a:p>
          <a:p>
            <a:pPr algn="ctr">
              <a:lnSpc>
                <a:spcPct val="115000"/>
              </a:lnSpc>
            </a:pPr>
            <a:r>
              <a:rPr sz="1300" b="0" i="0">
                <a:solidFill>
                  <a:srgbClr val="222A35"/>
                </a:solidFill>
                <a:latin typeface="Arial"/>
              </a:rPr>
              <a:t>AndroidWorld setup + verifier</a:t>
            </a:r>
          </a:p>
        </p:txBody>
      </p:sp>
      <p:sp>
        <p:nvSpPr>
          <p:cNvPr id="30" name="Rectangle 29"/>
          <p:cNvSpPr/>
          <p:nvPr/>
        </p:nvSpPr>
        <p:spPr>
          <a:xfrm>
            <a:off x="64008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4008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04671" y="411480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Batch evaluation</a:t>
            </a:r>
          </a:p>
        </p:txBody>
      </p:sp>
      <p:sp>
        <p:nvSpPr>
          <p:cNvPr id="33" name="TextBox 32"/>
          <p:cNvSpPr txBox="1"/>
          <p:nvPr/>
        </p:nvSpPr>
        <p:spPr>
          <a:xfrm>
            <a:off x="804671"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evaluate_tasks.py runs task x seed batches</a:t>
            </a:r>
          </a:p>
          <a:p>
            <a:pPr>
              <a:lnSpc>
                <a:spcPct val="108000"/>
              </a:lnSpc>
              <a:spcAft>
                <a:spcPts val="300"/>
              </a:spcAft>
            </a:pPr>
            <a:r>
              <a:rPr sz="1400">
                <a:solidFill>
                  <a:srgbClr val="0065BD"/>
                </a:solidFill>
                <a:latin typeface="Arial"/>
              </a:rPr>
              <a:t>▪  </a:t>
            </a:r>
            <a:r>
              <a:rPr sz="1400" b="0">
                <a:solidFill>
                  <a:srgbClr val="222A35"/>
                </a:solidFill>
                <a:latin typeface="Arial"/>
              </a:rPr>
              <a:t>Records a source fingerprint</a:t>
            </a:r>
          </a:p>
          <a:p>
            <a:pPr>
              <a:lnSpc>
                <a:spcPct val="108000"/>
              </a:lnSpc>
              <a:spcAft>
                <a:spcPts val="300"/>
              </a:spcAft>
            </a:pPr>
            <a:r>
              <a:rPr sz="1400">
                <a:solidFill>
                  <a:srgbClr val="0065BD"/>
                </a:solidFill>
                <a:latin typeface="Arial"/>
              </a:rPr>
              <a:t>▪  </a:t>
            </a:r>
            <a:r>
              <a:rPr sz="1400" b="0">
                <a:solidFill>
                  <a:srgbClr val="222A35"/>
                </a:solidFill>
                <a:latin typeface="Arial"/>
              </a:rPr>
              <a:t>Stops if the code changes mid-batch</a:t>
            </a:r>
          </a:p>
        </p:txBody>
      </p:sp>
      <p:sp>
        <p:nvSpPr>
          <p:cNvPr id="34" name="Rectangle 33"/>
          <p:cNvSpPr/>
          <p:nvPr/>
        </p:nvSpPr>
        <p:spPr>
          <a:xfrm>
            <a:off x="434340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434340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507992" y="411480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Quality</a:t>
            </a:r>
          </a:p>
        </p:txBody>
      </p:sp>
      <p:sp>
        <p:nvSpPr>
          <p:cNvPr id="37" name="TextBox 36"/>
          <p:cNvSpPr txBox="1"/>
          <p:nvPr/>
        </p:nvSpPr>
        <p:spPr>
          <a:xfrm>
            <a:off x="4507992"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38 offline tests (no phone needed)</a:t>
            </a:r>
          </a:p>
          <a:p>
            <a:pPr>
              <a:lnSpc>
                <a:spcPct val="108000"/>
              </a:lnSpc>
              <a:spcAft>
                <a:spcPts val="300"/>
              </a:spcAft>
            </a:pPr>
            <a:r>
              <a:rPr sz="1400">
                <a:solidFill>
                  <a:srgbClr val="0065BD"/>
                </a:solidFill>
                <a:latin typeface="Arial"/>
              </a:rPr>
              <a:t>▪  </a:t>
            </a:r>
            <a:r>
              <a:rPr sz="1400" b="0">
                <a:solidFill>
                  <a:srgbClr val="222A35"/>
                </a:solidFill>
                <a:latin typeface="Arial"/>
              </a:rPr>
              <a:t>Frozen git tag for the evaluation</a:t>
            </a:r>
          </a:p>
          <a:p>
            <a:pPr>
              <a:lnSpc>
                <a:spcPct val="108000"/>
              </a:lnSpc>
              <a:spcAft>
                <a:spcPts val="300"/>
              </a:spcAft>
            </a:pPr>
            <a:r>
              <a:rPr sz="1400">
                <a:solidFill>
                  <a:srgbClr val="0065BD"/>
                </a:solidFill>
                <a:latin typeface="Arial"/>
              </a:rPr>
              <a:t>▪  </a:t>
            </a:r>
            <a:r>
              <a:rPr sz="1400" b="0">
                <a:solidFill>
                  <a:srgbClr val="222A35"/>
                </a:solidFill>
                <a:latin typeface="Arial"/>
              </a:rPr>
              <a:t>Every run: summary, log, video</a:t>
            </a:r>
          </a:p>
        </p:txBody>
      </p:sp>
      <p:sp>
        <p:nvSpPr>
          <p:cNvPr id="38" name="Rectangle 37"/>
          <p:cNvSpPr/>
          <p:nvPr/>
        </p:nvSpPr>
        <p:spPr>
          <a:xfrm>
            <a:off x="804672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804672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211312" y="411480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Reproduce</a:t>
            </a:r>
          </a:p>
        </p:txBody>
      </p:sp>
      <p:sp>
        <p:nvSpPr>
          <p:cNvPr id="41" name="TextBox 40"/>
          <p:cNvSpPr txBox="1"/>
          <p:nvPr/>
        </p:nvSpPr>
        <p:spPr>
          <a:xfrm>
            <a:off x="8211312" y="4526280"/>
            <a:ext cx="3246120" cy="1554479"/>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git checkout team-agent-final-v66</a:t>
            </a:r>
          </a:p>
          <a:p>
            <a:pPr>
              <a:lnSpc>
                <a:spcPct val="108000"/>
              </a:lnSpc>
              <a:spcAft>
                <a:spcPts val="300"/>
              </a:spcAft>
            </a:pPr>
            <a:r>
              <a:rPr sz="1300">
                <a:solidFill>
                  <a:srgbClr val="0065BD"/>
                </a:solidFill>
                <a:latin typeface="Arial"/>
              </a:rPr>
              <a:t>▪  </a:t>
            </a:r>
            <a:r>
              <a:rPr sz="1300" b="0">
                <a:solidFill>
                  <a:srgbClr val="222A35"/>
                </a:solidFill>
                <a:latin typeface="Arial"/>
              </a:rPr>
              <a:t>evaluate_tasks.py --tasks ... --seeds 42 43 44 --run-all-seeds</a:t>
            </a:r>
          </a:p>
          <a:p>
            <a:pPr>
              <a:lnSpc>
                <a:spcPct val="108000"/>
              </a:lnSpc>
              <a:spcAft>
                <a:spcPts val="300"/>
              </a:spcAft>
            </a:pPr>
            <a:r>
              <a:rPr sz="1300">
                <a:solidFill>
                  <a:srgbClr val="0065BD"/>
                </a:solidFill>
                <a:latin typeface="Arial"/>
              </a:rPr>
              <a:t>▪  </a:t>
            </a:r>
            <a:r>
              <a:rPr sz="1300" b="0">
                <a:solidFill>
                  <a:srgbClr val="222A35"/>
                </a:solidFill>
                <a:latin typeface="Arial"/>
              </a:rPr>
              <a:t>Python 3.11, Windows laptop, no GPU needed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TRAJECTORY</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One run, step by step: the OsmAnd track Ruggell to Bendern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10</a:t>
            </a:r>
          </a:p>
        </p:txBody>
      </p:sp>
      <p:pic>
        <p:nvPicPr>
          <p:cNvPr id="9" name="Picture 8" descr="osm_traj_1.png"/>
          <p:cNvPicPr>
            <a:picLocks noChangeAspect="1"/>
          </p:cNvPicPr>
          <p:nvPr/>
        </p:nvPicPr>
        <p:blipFill>
          <a:blip r:embed="rId3"/>
          <a:srcRect t="8000"/>
          <a:stretch>
            <a:fillRect/>
          </a:stretch>
        </p:blipFill>
        <p:spPr>
          <a:xfrm>
            <a:off x="576072" y="1417320"/>
            <a:ext cx="1522476" cy="3112617"/>
          </a:xfrm>
          <a:prstGeom prst="roundRect">
            <a:avLst/>
          </a:prstGeom>
          <a:ln w="44450">
            <a:solidFill>
              <a:srgbClr val="1B1F2A"/>
            </a:solidFill>
          </a:ln>
        </p:spPr>
      </p:pic>
      <p:sp>
        <p:nvSpPr>
          <p:cNvPr id="10" name="Rectangle 9"/>
          <p:cNvSpPr/>
          <p:nvPr/>
        </p:nvSpPr>
        <p:spPr>
          <a:xfrm>
            <a:off x="46634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39496"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5</a:t>
            </a:r>
          </a:p>
        </p:txBody>
      </p:sp>
      <p:sp>
        <p:nvSpPr>
          <p:cNvPr id="12" name="TextBox 11"/>
          <p:cNvSpPr txBox="1"/>
          <p:nvPr/>
        </p:nvSpPr>
        <p:spPr>
          <a:xfrm>
            <a:off x="539496"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“I need to tap "INCREASE SEARCH RADIUS" to expand the search area and find the place.”</a:t>
            </a:r>
          </a:p>
        </p:txBody>
      </p:sp>
      <p:pic>
        <p:nvPicPr>
          <p:cNvPr id="13" name="Picture 12" descr="osm_traj_2.png"/>
          <p:cNvPicPr>
            <a:picLocks noChangeAspect="1"/>
          </p:cNvPicPr>
          <p:nvPr/>
        </p:nvPicPr>
        <p:blipFill>
          <a:blip r:embed="rId4"/>
          <a:srcRect t="8000"/>
          <a:stretch>
            <a:fillRect/>
          </a:stretch>
        </p:blipFill>
        <p:spPr>
          <a:xfrm>
            <a:off x="2478024" y="1417320"/>
            <a:ext cx="1522476" cy="3112617"/>
          </a:xfrm>
          <a:prstGeom prst="roundRect">
            <a:avLst/>
          </a:prstGeom>
          <a:ln w="44450">
            <a:solidFill>
              <a:srgbClr val="1B1F2A"/>
            </a:solidFill>
          </a:ln>
        </p:spPr>
      </p:pic>
      <p:sp>
        <p:nvSpPr>
          <p:cNvPr id="14" name="Rectangle 13"/>
          <p:cNvSpPr/>
          <p:nvPr/>
        </p:nvSpPr>
        <p:spPr>
          <a:xfrm>
            <a:off x="2368296"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441448"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9</a:t>
            </a:r>
          </a:p>
        </p:txBody>
      </p:sp>
      <p:sp>
        <p:nvSpPr>
          <p:cNvPr id="16" name="TextBox 15"/>
          <p:cNvSpPr txBox="1"/>
          <p:nvPr/>
        </p:nvSpPr>
        <p:spPr>
          <a:xfrm>
            <a:off x="2441448"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“The "Ruggell" row labeled "Village" is visible and is the correct location.”</a:t>
            </a:r>
          </a:p>
        </p:txBody>
      </p:sp>
      <p:pic>
        <p:nvPicPr>
          <p:cNvPr id="17" name="Picture 16" descr="osm_traj_3.png"/>
          <p:cNvPicPr>
            <a:picLocks noChangeAspect="1"/>
          </p:cNvPicPr>
          <p:nvPr/>
        </p:nvPicPr>
        <p:blipFill>
          <a:blip r:embed="rId5"/>
          <a:srcRect t="8000"/>
          <a:stretch>
            <a:fillRect/>
          </a:stretch>
        </p:blipFill>
        <p:spPr>
          <a:xfrm>
            <a:off x="4379976" y="1417320"/>
            <a:ext cx="1522476" cy="3112617"/>
          </a:xfrm>
          <a:prstGeom prst="roundRect">
            <a:avLst/>
          </a:prstGeom>
          <a:ln w="44450">
            <a:solidFill>
              <a:srgbClr val="1B1F2A"/>
            </a:solidFill>
          </a:ln>
        </p:spPr>
      </p:pic>
      <p:sp>
        <p:nvSpPr>
          <p:cNvPr id="18" name="Rectangle 17"/>
          <p:cNvSpPr/>
          <p:nvPr/>
        </p:nvSpPr>
        <p:spPr>
          <a:xfrm>
            <a:off x="4270248"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343400"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11</a:t>
            </a:r>
          </a:p>
        </p:txBody>
      </p:sp>
      <p:sp>
        <p:nvSpPr>
          <p:cNvPr id="20" name="TextBox 19"/>
          <p:cNvSpPr txBox="1"/>
          <p:nvPr/>
        </p:nvSpPr>
        <p:spPr>
          <a:xfrm>
            <a:off x="4343400"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“I should tap it to start creating the route, which will allow me to add the next waypoint "Bendern" in the correct order.”</a:t>
            </a:r>
          </a:p>
        </p:txBody>
      </p:sp>
      <p:pic>
        <p:nvPicPr>
          <p:cNvPr id="21" name="Picture 20" descr="osm_traj_4.png"/>
          <p:cNvPicPr>
            <a:picLocks noChangeAspect="1"/>
          </p:cNvPicPr>
          <p:nvPr/>
        </p:nvPicPr>
        <p:blipFill>
          <a:blip r:embed="rId6"/>
          <a:srcRect t="8000"/>
          <a:stretch>
            <a:fillRect/>
          </a:stretch>
        </p:blipFill>
        <p:spPr>
          <a:xfrm>
            <a:off x="6281928" y="1417320"/>
            <a:ext cx="1522476" cy="3112617"/>
          </a:xfrm>
          <a:prstGeom prst="roundRect">
            <a:avLst/>
          </a:prstGeom>
          <a:ln w="44450">
            <a:solidFill>
              <a:srgbClr val="1B1F2A"/>
            </a:solidFill>
          </a:ln>
        </p:spPr>
      </p:pic>
      <p:sp>
        <p:nvSpPr>
          <p:cNvPr id="22" name="Rectangle 21"/>
          <p:cNvSpPr/>
          <p:nvPr/>
        </p:nvSpPr>
        <p:spPr>
          <a:xfrm>
            <a:off x="6172200"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6245352"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16</a:t>
            </a:r>
          </a:p>
        </p:txBody>
      </p:sp>
      <p:sp>
        <p:nvSpPr>
          <p:cNvPr id="24" name="TextBox 23"/>
          <p:cNvSpPr txBox="1"/>
          <p:nvPr/>
        </p:nvSpPr>
        <p:spPr>
          <a:xfrm>
            <a:off x="6245352"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“I should tap this row to select it as the second waypoint for the track.”</a:t>
            </a:r>
          </a:p>
        </p:txBody>
      </p:sp>
      <p:pic>
        <p:nvPicPr>
          <p:cNvPr id="25" name="Picture 24" descr="osm_traj_5.png"/>
          <p:cNvPicPr>
            <a:picLocks noChangeAspect="1"/>
          </p:cNvPicPr>
          <p:nvPr/>
        </p:nvPicPr>
        <p:blipFill>
          <a:blip r:embed="rId7"/>
          <a:srcRect t="8000"/>
          <a:stretch>
            <a:fillRect/>
          </a:stretch>
        </p:blipFill>
        <p:spPr>
          <a:xfrm>
            <a:off x="8183880" y="1417320"/>
            <a:ext cx="1522476" cy="3112617"/>
          </a:xfrm>
          <a:prstGeom prst="roundRect">
            <a:avLst/>
          </a:prstGeom>
          <a:ln w="44450">
            <a:solidFill>
              <a:srgbClr val="1B1F2A"/>
            </a:solidFill>
          </a:ln>
        </p:spPr>
      </p:pic>
      <p:sp>
        <p:nvSpPr>
          <p:cNvPr id="26" name="Rectangle 25"/>
          <p:cNvSpPr/>
          <p:nvPr/>
        </p:nvSpPr>
        <p:spPr>
          <a:xfrm>
            <a:off x="8074152"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147304"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22</a:t>
            </a:r>
          </a:p>
        </p:txBody>
      </p:sp>
      <p:sp>
        <p:nvSpPr>
          <p:cNvPr id="28" name="TextBox 27"/>
          <p:cNvSpPr txBox="1"/>
          <p:nvPr/>
        </p:nvSpPr>
        <p:spPr>
          <a:xfrm>
            <a:off x="8147304"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“To save the track with both waypoints in the correct order, I should tap "Done" to complete the route creation and save the track.”</a:t>
            </a:r>
          </a:p>
        </p:txBody>
      </p:sp>
      <p:pic>
        <p:nvPicPr>
          <p:cNvPr id="29" name="Picture 28" descr="osm_traj_6.png"/>
          <p:cNvPicPr>
            <a:picLocks noChangeAspect="1"/>
          </p:cNvPicPr>
          <p:nvPr/>
        </p:nvPicPr>
        <p:blipFill>
          <a:blip r:embed="rId8"/>
          <a:srcRect t="8000"/>
          <a:stretch>
            <a:fillRect/>
          </a:stretch>
        </p:blipFill>
        <p:spPr>
          <a:xfrm>
            <a:off x="10085832" y="1417320"/>
            <a:ext cx="1522476" cy="3112617"/>
          </a:xfrm>
          <a:prstGeom prst="roundRect">
            <a:avLst/>
          </a:prstGeom>
          <a:ln w="44450">
            <a:solidFill>
              <a:srgbClr val="1B1F2A"/>
            </a:solidFill>
          </a:ln>
        </p:spPr>
      </p:pic>
      <p:sp>
        <p:nvSpPr>
          <p:cNvPr id="30" name="Rectangle 29"/>
          <p:cNvSpPr/>
          <p:nvPr/>
        </p:nvSpPr>
        <p:spPr>
          <a:xfrm>
            <a:off x="997610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049256"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23</a:t>
            </a:r>
          </a:p>
        </p:txBody>
      </p:sp>
      <p:sp>
        <p:nvSpPr>
          <p:cNvPr id="32" name="TextBox 31"/>
          <p:cNvSpPr txBox="1"/>
          <p:nvPr/>
        </p:nvSpPr>
        <p:spPr>
          <a:xfrm>
            <a:off x="10049256"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“The track has been created with both waypoints "Ruggell" and "Bendern" in the correct order and is now saved.”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EVALUATION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How we tested: frozen code, three runs per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11</a:t>
            </a:r>
          </a:p>
        </p:txBody>
      </p:sp>
      <p:sp>
        <p:nvSpPr>
          <p:cNvPr id="9" name="Rectangle 8"/>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4592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Frozen</a:t>
            </a:r>
          </a:p>
        </p:txBody>
      </p:sp>
      <p:sp>
        <p:nvSpPr>
          <p:cNvPr id="12" name="TextBox 11"/>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Final agent: tag team-agent-final-v66</a:t>
            </a:r>
          </a:p>
          <a:p>
            <a:pPr>
              <a:lnSpc>
                <a:spcPct val="108000"/>
              </a:lnSpc>
              <a:spcAft>
                <a:spcPts val="300"/>
              </a:spcAft>
            </a:pPr>
            <a:r>
              <a:rPr sz="1500">
                <a:solidFill>
                  <a:srgbClr val="0065BD"/>
                </a:solidFill>
                <a:latin typeface="Arial"/>
              </a:rPr>
              <a:t>▪  </a:t>
            </a:r>
            <a:r>
              <a:rPr sz="1500" b="0">
                <a:solidFill>
                  <a:srgbClr val="222A35"/>
                </a:solidFill>
                <a:latin typeface="Arial"/>
              </a:rPr>
              <a:t>Six tasks run on v65: same code</a:t>
            </a:r>
          </a:p>
          <a:p>
            <a:pPr>
              <a:lnSpc>
                <a:spcPct val="108000"/>
              </a:lnSpc>
              <a:spcAft>
                <a:spcPts val="300"/>
              </a:spcAft>
            </a:pPr>
            <a:r>
              <a:rPr sz="1500">
                <a:solidFill>
                  <a:srgbClr val="0065BD"/>
                </a:solidFill>
                <a:latin typeface="Arial"/>
              </a:rPr>
              <a:t>▪  </a:t>
            </a:r>
            <a:r>
              <a:rPr sz="1500" b="0">
                <a:solidFill>
                  <a:srgbClr val="222A35"/>
                </a:solidFill>
                <a:latin typeface="Arial"/>
              </a:rPr>
              <a:t>Markor re-run on v66 after a Skill fix</a:t>
            </a:r>
          </a:p>
        </p:txBody>
      </p:sp>
      <p:sp>
        <p:nvSpPr>
          <p:cNvPr id="13" name="Rectangle 12"/>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07992" y="164592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Three runs per task</a:t>
            </a:r>
          </a:p>
        </p:txBody>
      </p:sp>
      <p:sp>
        <p:nvSpPr>
          <p:cNvPr id="16" name="TextBox 15"/>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7" name="Rectangle 16"/>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11312" y="164592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Judged independently</a:t>
            </a:r>
          </a:p>
        </p:txBody>
      </p:sp>
      <p:sp>
        <p:nvSpPr>
          <p:cNvPr id="20" name="TextBox 19"/>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sp>
        <p:nvSpPr>
          <p:cNvPr id="21" name="Rectangle 20"/>
          <p:cNvSpPr/>
          <p:nvPr/>
        </p:nvSpPr>
        <p:spPr>
          <a:xfrm>
            <a:off x="64008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2959" y="4160520"/>
            <a:ext cx="3108960"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Summary row</a:t>
            </a:r>
          </a:p>
        </p:txBody>
      </p:sp>
      <p:sp>
        <p:nvSpPr>
          <p:cNvPr id="23" name="TextBox 22"/>
          <p:cNvSpPr txBox="1"/>
          <p:nvPr/>
        </p:nvSpPr>
        <p:spPr>
          <a:xfrm>
            <a:off x="822959" y="4553712"/>
            <a:ext cx="3108960" cy="7772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Course fields (D1 p.49), written by the runner during the run</a:t>
            </a:r>
          </a:p>
        </p:txBody>
      </p:sp>
      <p:sp>
        <p:nvSpPr>
          <p:cNvPr id="24" name="Rectangle 23"/>
          <p:cNvSpPr/>
          <p:nvPr/>
        </p:nvSpPr>
        <p:spPr>
          <a:xfrm>
            <a:off x="434340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526280" y="4160520"/>
            <a:ext cx="3108960"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Trajectory log</a:t>
            </a:r>
          </a:p>
        </p:txBody>
      </p:sp>
      <p:sp>
        <p:nvSpPr>
          <p:cNvPr id="26" name="TextBox 25"/>
          <p:cNvSpPr txBox="1"/>
          <p:nvPr/>
        </p:nvSpPr>
        <p:spPr>
          <a:xfrm>
            <a:off x="4526280" y="4553712"/>
            <a:ext cx="3108960" cy="7772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Every screenshot, model reply, check and result, step by step</a:t>
            </a:r>
          </a:p>
        </p:txBody>
      </p:sp>
      <p:sp>
        <p:nvSpPr>
          <p:cNvPr id="27" name="Rectangle 26"/>
          <p:cNvSpPr/>
          <p:nvPr/>
        </p:nvSpPr>
        <p:spPr>
          <a:xfrm>
            <a:off x="8046719"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229599" y="4160520"/>
            <a:ext cx="3108960"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Screen recording</a:t>
            </a:r>
          </a:p>
        </p:txBody>
      </p:sp>
      <p:sp>
        <p:nvSpPr>
          <p:cNvPr id="29" name="TextBox 28"/>
          <p:cNvSpPr txBox="1"/>
          <p:nvPr/>
        </p:nvSpPr>
        <p:spPr>
          <a:xfrm>
            <a:off x="8229599" y="4553712"/>
            <a:ext cx="3108960" cy="7772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The whole run on video, in one or more clips</a:t>
            </a:r>
          </a:p>
        </p:txBody>
      </p:sp>
      <p:sp>
        <p:nvSpPr>
          <p:cNvPr id="30" name="TextBox 29"/>
          <p:cNvSpPr txBox="1"/>
          <p:nvPr/>
        </p:nvSpPr>
        <p:spPr>
          <a:xfrm>
            <a:off x="640080" y="5577840"/>
            <a:ext cx="10927080" cy="548640"/>
          </a:xfrm>
          <a:prstGeom prst="rect">
            <a:avLst/>
          </a:prstGeom>
          <a:noFill/>
        </p:spPr>
        <p:txBody>
          <a:bodyPr wrap="square" lIns="73152" rIns="73152" anchor="t">
            <a:spAutoFit/>
          </a:bodyPr>
          <a:lstStyle/>
          <a:p>
            <a:pPr algn="l">
              <a:lnSpc>
                <a:spcPct val="110000"/>
              </a:lnSpc>
            </a:pPr>
            <a:r>
              <a:rPr sz="1500" b="1" i="0">
                <a:solidFill>
                  <a:srgbClr val="0065BD"/>
                </a:solidFill>
                <a:latin typeface="Arial"/>
              </a:rPr>
              <a:t>Kept for every one of the 21 runs. The full run log follows right after the results.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17 of 21 runs passed; every task passed at least twice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12</a:t>
            </a:r>
          </a:p>
        </p:txBody>
      </p:sp>
      <p:graphicFrame>
        <p:nvGraphicFramePr>
          <p:cNvPr id="9" name="Table 8"/>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tblGrid>
              <a:tr h="565785">
                <a:tc>
                  <a:txBody>
                    <a:bodyPr/>
                    <a:lstStyle/>
                    <a:p>
                      <a:r>
                        <a:rPr sz="1300" b="1">
                          <a:solidFill>
                            <a:srgbClr val="FFFFFF"/>
                          </a:solidFill>
                          <a:latin typeface="Arial"/>
                        </a:rPr>
                        <a:t>Row</a:t>
                      </a:r>
                    </a:p>
                  </a:txBody>
                  <a:tcPr marL="54864" marR="54864" marT="27432" marB="27432" anchor="ctr">
                    <a:solidFill>
                      <a:srgbClr val="072140"/>
                    </a:solidFill>
                  </a:tcPr>
                </a:tc>
                <a:tc>
                  <a:txBody>
                    <a:bodyPr/>
                    <a:lstStyle/>
                    <a:p>
                      <a:r>
                        <a:rPr sz="1300" b="1">
                          <a:solidFill>
                            <a:srgbClr val="FFFFFF"/>
                          </a:solidFill>
                          <a:latin typeface="Arial"/>
                        </a:rPr>
                        <a:t>Task</a:t>
                      </a:r>
                    </a:p>
                  </a:txBody>
                  <a:tcPr marL="54864" marR="54864" marT="27432" marB="27432" anchor="ctr">
                    <a:solidFill>
                      <a:srgbClr val="072140"/>
                    </a:solidFill>
                  </a:tcPr>
                </a:tc>
                <a:tc>
                  <a:txBody>
                    <a:bodyPr/>
                    <a:lstStyle/>
                    <a:p>
                      <a:pPr algn="ctr"/>
                      <a:r>
                        <a:rPr sz="1300" b="1">
                          <a:solidFill>
                            <a:srgbClr val="FFFFFF"/>
                          </a:solidFill>
                          <a:latin typeface="Arial"/>
                        </a:rPr>
                        <a:t>Run 1</a:t>
                      </a:r>
                    </a:p>
                  </a:txBody>
                  <a:tcPr marL="54864" marR="54864" marT="27432" marB="27432" anchor="ctr">
                    <a:solidFill>
                      <a:srgbClr val="072140"/>
                    </a:solidFill>
                  </a:tcPr>
                </a:tc>
                <a:tc>
                  <a:txBody>
                    <a:bodyPr/>
                    <a:lstStyle/>
                    <a:p>
                      <a:pPr algn="ctr"/>
                      <a:r>
                        <a:rPr sz="1300" b="1">
                          <a:solidFill>
                            <a:srgbClr val="FFFFFF"/>
                          </a:solidFill>
                          <a:latin typeface="Arial"/>
                        </a:rPr>
                        <a:t>Run 2</a:t>
                      </a:r>
                    </a:p>
                  </a:txBody>
                  <a:tcPr marL="54864" marR="54864" marT="27432" marB="27432" anchor="ctr">
                    <a:solidFill>
                      <a:srgbClr val="072140"/>
                    </a:solidFill>
                  </a:tcPr>
                </a:tc>
                <a:tc>
                  <a:txBody>
                    <a:bodyPr/>
                    <a:lstStyle/>
                    <a:p>
                      <a:pPr algn="ctr"/>
                      <a:r>
                        <a:rPr sz="1300" b="1">
                          <a:solidFill>
                            <a:srgbClr val="FFFFFF"/>
                          </a:solidFill>
                          <a:latin typeface="Arial"/>
                        </a:rPr>
                        <a:t>Run 3</a:t>
                      </a:r>
                    </a:p>
                  </a:txBody>
                  <a:tcPr marL="54864" marR="54864" marT="27432" marB="27432" anchor="ctr">
                    <a:solidFill>
                      <a:srgbClr val="072140"/>
                    </a:solidFill>
                  </a:tcPr>
                </a:tc>
                <a:tc>
                  <a:txBody>
                    <a:bodyPr/>
                    <a:lstStyle/>
                    <a:p>
                      <a:pPr algn="ctr"/>
                      <a:r>
                        <a:rPr sz="1300" b="1">
                          <a:solidFill>
                            <a:srgbClr val="FFFFFF"/>
                          </a:solidFill>
                          <a:latin typeface="Arial"/>
                        </a:rPr>
                        <a:t>Passed</a:t>
                      </a:r>
                    </a:p>
                  </a:txBody>
                  <a:tcPr marL="54864" marR="54864" marT="27432" marB="27432" anchor="ctr">
                    <a:solidFill>
                      <a:srgbClr val="072140"/>
                    </a:solidFill>
                  </a:tcPr>
                </a:tc>
                <a:extLst>
                  <a:ext uri="{0D108BD9-81ED-4DB2-BD59-A6C34878D82A}">
                    <a16:rowId xmlns:a16="http://schemas.microsoft.com/office/drawing/2014/main" val="10000"/>
                  </a:ext>
                </a:extLst>
              </a:tr>
              <a:tr h="565785">
                <a:tc>
                  <a:txBody>
                    <a:bodyPr/>
                    <a:lstStyle/>
                    <a:p>
                      <a:r>
                        <a:rPr sz="1300" b="0">
                          <a:solidFill>
                            <a:srgbClr val="222A35"/>
                          </a:solidFill>
                          <a:latin typeface="Arial"/>
                        </a:rPr>
                        <a:t>Warm-up</a:t>
                      </a:r>
                    </a:p>
                  </a:txBody>
                  <a:tcPr marL="54864" marR="54864" marT="27432" marB="27432" anchor="ctr">
                    <a:solidFill>
                      <a:srgbClr val="FFFFFF"/>
                    </a:solidFill>
                  </a:tcPr>
                </a:tc>
                <a:tc>
                  <a:txBody>
                    <a:bodyPr/>
                    <a:lstStyle/>
                    <a:p>
                      <a:r>
                        <a:rPr sz="1300" b="0">
                          <a:solidFill>
                            <a:srgbClr val="222A35"/>
                          </a:solidFill>
                          <a:latin typeface="Arial"/>
                        </a:rPr>
                        <a:t>SystemWifiTurnOn</a:t>
                      </a:r>
                    </a:p>
                  </a:txBody>
                  <a:tcPr marL="54864" marR="54864" marT="27432" marB="27432" anchor="ctr">
                    <a:solidFill>
                      <a:srgbClr val="FFFFFF"/>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3/3</a:t>
                      </a:r>
                    </a:p>
                  </a:txBody>
                  <a:tcPr marL="54864" marR="54864" marT="27432" marB="27432" anchor="ctr">
                    <a:solidFill>
                      <a:srgbClr val="FFFFFF"/>
                    </a:solidFill>
                  </a:tcPr>
                </a:tc>
                <a:extLst>
                  <a:ext uri="{0D108BD9-81ED-4DB2-BD59-A6C34878D82A}">
                    <a16:rowId xmlns:a16="http://schemas.microsoft.com/office/drawing/2014/main" val="10001"/>
                  </a:ext>
                </a:extLst>
              </a:tr>
              <a:tr h="565785">
                <a:tc>
                  <a:txBody>
                    <a:bodyPr/>
                    <a:lstStyle/>
                    <a:p>
                      <a:r>
                        <a:rPr sz="1300" b="0">
                          <a:solidFill>
                            <a:srgbClr val="222A35"/>
                          </a:solidFill>
                          <a:latin typeface="Arial"/>
                        </a:rPr>
                        <a:t>Warm-up</a:t>
                      </a:r>
                    </a:p>
                  </a:txBody>
                  <a:tcPr marL="54864" marR="54864" marT="27432" marB="27432" anchor="ctr">
                    <a:solidFill>
                      <a:srgbClr val="F2F5F9"/>
                    </a:solidFill>
                  </a:tcPr>
                </a:tc>
                <a:tc>
                  <a:txBody>
                    <a:bodyPr/>
                    <a:lstStyle/>
                    <a:p>
                      <a:r>
                        <a:rPr sz="1300" b="0">
                          <a:solidFill>
                            <a:srgbClr val="222A35"/>
                          </a:solidFill>
                          <a:latin typeface="Arial"/>
                        </a:rPr>
                        <a:t>ContactsAddContact</a:t>
                      </a:r>
                    </a:p>
                  </a:txBody>
                  <a:tcPr marL="54864" marR="54864" marT="27432" marB="27432" anchor="ctr">
                    <a:solidFill>
                      <a:srgbClr val="F2F5F9"/>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2/3</a:t>
                      </a:r>
                    </a:p>
                  </a:txBody>
                  <a:tcPr marL="54864" marR="54864" marT="27432" marB="27432" anchor="ctr">
                    <a:solidFill>
                      <a:srgbClr val="F2F5F9"/>
                    </a:solidFill>
                  </a:tcPr>
                </a:tc>
                <a:extLst>
                  <a:ext uri="{0D108BD9-81ED-4DB2-BD59-A6C34878D82A}">
                    <a16:rowId xmlns:a16="http://schemas.microsoft.com/office/drawing/2014/main" val="10002"/>
                  </a:ext>
                </a:extLst>
              </a:tr>
              <a:tr h="565785">
                <a:tc>
                  <a:txBody>
                    <a:bodyPr/>
                    <a:lstStyle/>
                    <a:p>
                      <a:r>
                        <a:rPr sz="1300" b="0">
                          <a:solidFill>
                            <a:srgbClr val="222A35"/>
                          </a:solidFill>
                          <a:latin typeface="Arial"/>
                        </a:rPr>
                        <a:t>Real work</a:t>
                      </a:r>
                    </a:p>
                  </a:txBody>
                  <a:tcPr marL="54864" marR="54864" marT="27432" marB="27432" anchor="ctr">
                    <a:solidFill>
                      <a:srgbClr val="FFFFFF"/>
                    </a:solidFill>
                  </a:tcPr>
                </a:tc>
                <a:tc>
                  <a:txBody>
                    <a:bodyPr/>
                    <a:lstStyle/>
                    <a:p>
                      <a:r>
                        <a:rPr sz="1300" b="0">
                          <a:solidFill>
                            <a:srgbClr val="222A35"/>
                          </a:solidFill>
                          <a:latin typeface="Arial"/>
                        </a:rPr>
                        <a:t>SimpleSmsSend</a:t>
                      </a:r>
                    </a:p>
                  </a:txBody>
                  <a:tcPr marL="54864" marR="54864" marT="27432" marB="27432" anchor="ctr">
                    <a:solidFill>
                      <a:srgbClr val="FFFFFF"/>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3/3</a:t>
                      </a:r>
                    </a:p>
                  </a:txBody>
                  <a:tcPr marL="54864" marR="54864" marT="27432" marB="27432" anchor="ctr">
                    <a:solidFill>
                      <a:srgbClr val="FFFFFF"/>
                    </a:solidFill>
                  </a:tcPr>
                </a:tc>
                <a:extLst>
                  <a:ext uri="{0D108BD9-81ED-4DB2-BD59-A6C34878D82A}">
                    <a16:rowId xmlns:a16="http://schemas.microsoft.com/office/drawing/2014/main" val="10003"/>
                  </a:ext>
                </a:extLst>
              </a:tr>
              <a:tr h="565785">
                <a:tc>
                  <a:txBody>
                    <a:bodyPr/>
                    <a:lstStyle/>
                    <a:p>
                      <a:r>
                        <a:rPr sz="1300" b="0">
                          <a:solidFill>
                            <a:srgbClr val="222A35"/>
                          </a:solidFill>
                          <a:latin typeface="Arial"/>
                        </a:rPr>
                        <a:t>Real work</a:t>
                      </a:r>
                    </a:p>
                  </a:txBody>
                  <a:tcPr marL="54864" marR="54864" marT="27432" marB="27432" anchor="ctr">
                    <a:solidFill>
                      <a:srgbClr val="F2F5F9"/>
                    </a:solidFill>
                  </a:tcPr>
                </a:tc>
                <a:tc>
                  <a:txBody>
                    <a:bodyPr/>
                    <a:lstStyle/>
                    <a:p>
                      <a:r>
                        <a:rPr sz="1300" b="0">
                          <a:solidFill>
                            <a:srgbClr val="222A35"/>
                          </a:solidFill>
                          <a:latin typeface="Arial"/>
                        </a:rPr>
                        <a:t>FilesMoveFile</a:t>
                      </a:r>
                    </a:p>
                  </a:txBody>
                  <a:tcPr marL="54864" marR="54864" marT="27432" marB="27432" anchor="ctr">
                    <a:solidFill>
                      <a:srgbClr val="F2F5F9"/>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FAIL  s43
false_done</a:t>
                      </a:r>
                    </a:p>
                  </a:txBody>
                  <a:tcPr marL="54864" marR="54864" marT="27432" marB="27432" anchor="ctr">
                    <a:solidFill>
                      <a:srgbClr val="E37222"/>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2/3</a:t>
                      </a:r>
                    </a:p>
                  </a:txBody>
                  <a:tcPr marL="54864" marR="54864" marT="27432" marB="27432" anchor="ctr">
                    <a:solidFill>
                      <a:srgbClr val="F2F5F9"/>
                    </a:solidFill>
                  </a:tcPr>
                </a:tc>
                <a:extLst>
                  <a:ext uri="{0D108BD9-81ED-4DB2-BD59-A6C34878D82A}">
                    <a16:rowId xmlns:a16="http://schemas.microsoft.com/office/drawing/2014/main" val="10004"/>
                  </a:ext>
                </a:extLst>
              </a:tr>
              <a:tr h="565785">
                <a:tc>
                  <a:txBody>
                    <a:bodyPr/>
                    <a:lstStyle/>
                    <a:p>
                      <a:r>
                        <a:rPr sz="1300" b="0">
                          <a:solidFill>
                            <a:srgbClr val="222A35"/>
                          </a:solidFill>
                          <a:latin typeface="Arial"/>
                        </a:rPr>
                        <a:t>Real work</a:t>
                      </a:r>
                    </a:p>
                  </a:txBody>
                  <a:tcPr marL="54864" marR="54864" marT="27432" marB="27432" anchor="ctr">
                    <a:solidFill>
                      <a:srgbClr val="FFFFFF"/>
                    </a:solidFill>
                  </a:tcPr>
                </a:tc>
                <a:tc>
                  <a:txBody>
                    <a:bodyPr/>
                    <a:lstStyle/>
                    <a:p>
                      <a:r>
                        <a:rPr sz="1300" b="0">
                          <a:solidFill>
                            <a:srgbClr val="222A35"/>
                          </a:solidFill>
                          <a:latin typeface="Arial"/>
                        </a:rPr>
                        <a:t>SimpleCalendarAddOneEvent</a:t>
                      </a:r>
                    </a:p>
                  </a:txBody>
                  <a:tcPr marL="54864" marR="54864" marT="27432" marB="27432" anchor="ctr">
                    <a:solidFill>
                      <a:srgbClr val="FFFFFF"/>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3/3</a:t>
                      </a:r>
                    </a:p>
                  </a:txBody>
                  <a:tcPr marL="54864" marR="54864" marT="27432" marB="27432" anchor="ctr">
                    <a:solidFill>
                      <a:srgbClr val="FFFFFF"/>
                    </a:solidFill>
                  </a:tcPr>
                </a:tc>
                <a:extLst>
                  <a:ext uri="{0D108BD9-81ED-4DB2-BD59-A6C34878D82A}">
                    <a16:rowId xmlns:a16="http://schemas.microsoft.com/office/drawing/2014/main" val="10005"/>
                  </a:ext>
                </a:extLst>
              </a:tr>
              <a:tr h="565785">
                <a:tc>
                  <a:txBody>
                    <a:bodyPr/>
                    <a:lstStyle/>
                    <a:p>
                      <a:r>
                        <a:rPr sz="1300" b="0">
                          <a:solidFill>
                            <a:srgbClr val="222A35"/>
                          </a:solidFill>
                          <a:latin typeface="Arial"/>
                        </a:rPr>
                        <a:t>Multi-app</a:t>
                      </a:r>
                    </a:p>
                  </a:txBody>
                  <a:tcPr marL="54864" marR="54864" marT="27432" marB="27432" anchor="ctr">
                    <a:solidFill>
                      <a:srgbClr val="F2F5F9"/>
                    </a:solidFill>
                  </a:tcPr>
                </a:tc>
                <a:tc>
                  <a:txBody>
                    <a:bodyPr/>
                    <a:lstStyle/>
                    <a:p>
                      <a:r>
                        <a:rPr sz="1300" b="0">
                          <a:solidFill>
                            <a:srgbClr val="222A35"/>
                          </a:solidFill>
                          <a:latin typeface="Arial"/>
                        </a:rPr>
                        <a:t>MarkorCreateNoteAndSms</a:t>
                      </a:r>
                    </a:p>
                  </a:txBody>
                  <a:tcPr marL="54864" marR="54864" marT="27432" marB="27432" anchor="ctr">
                    <a:solidFill>
                      <a:srgbClr val="F2F5F9"/>
                    </a:solidFill>
                  </a:tcPr>
                </a:tc>
                <a:tc>
                  <a:txBody>
                    <a:bodyPr/>
                    <a:lstStyle/>
                    <a:p>
                      <a:pPr algn="ctr"/>
                      <a:r>
                        <a:rPr sz="1300" b="1">
                          <a:solidFill>
                            <a:srgbClr val="FFFFFF"/>
                          </a:solidFill>
                          <a:latin typeface="Arial"/>
                        </a:rPr>
                        <a:t>FAIL  s42
grounding</a:t>
                      </a:r>
                    </a:p>
                  </a:txBody>
                  <a:tcPr marL="54864" marR="54864" marT="27432" marB="27432" anchor="ctr">
                    <a:solidFill>
                      <a:srgbClr val="E37222"/>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2/3</a:t>
                      </a:r>
                    </a:p>
                  </a:txBody>
                  <a:tcPr marL="54864" marR="54864" marT="27432" marB="27432" anchor="ctr">
                    <a:solidFill>
                      <a:srgbClr val="F2F5F9"/>
                    </a:solidFill>
                  </a:tcPr>
                </a:tc>
                <a:extLst>
                  <a:ext uri="{0D108BD9-81ED-4DB2-BD59-A6C34878D82A}">
                    <a16:rowId xmlns:a16="http://schemas.microsoft.com/office/drawing/2014/main" val="10006"/>
                  </a:ext>
                </a:extLst>
              </a:tr>
              <a:tr h="565785">
                <a:tc>
                  <a:txBody>
                    <a:bodyPr/>
                    <a:lstStyle/>
                    <a:p>
                      <a:r>
                        <a:rPr sz="1300" b="0">
                          <a:solidFill>
                            <a:srgbClr val="222A35"/>
                          </a:solidFill>
                          <a:latin typeface="Arial"/>
                        </a:rPr>
                        <a:t>Multi-app</a:t>
                      </a:r>
                    </a:p>
                  </a:txBody>
                  <a:tcPr marL="54864" marR="54864" marT="27432" marB="27432" anchor="ctr">
                    <a:solidFill>
                      <a:srgbClr val="FFFFFF"/>
                    </a:solidFill>
                  </a:tcPr>
                </a:tc>
                <a:tc>
                  <a:txBody>
                    <a:bodyPr/>
                    <a:lstStyle/>
                    <a:p>
                      <a:r>
                        <a:rPr sz="1300" b="0">
                          <a:solidFill>
                            <a:srgbClr val="222A35"/>
                          </a:solidFill>
                          <a:latin typeface="Arial"/>
                        </a:rPr>
                        <a:t>OsmAndTrack</a:t>
                      </a:r>
                    </a:p>
                  </a:txBody>
                  <a:tcPr marL="54864" marR="54864" marT="27432" marB="27432" anchor="ctr">
                    <a:solidFill>
                      <a:srgbClr val="FFFFFF"/>
                    </a:solidFill>
                  </a:tcPr>
                </a:tc>
                <a:tc>
                  <a:txBody>
                    <a:bodyPr/>
                    <a:lstStyle/>
                    <a:p>
                      <a:pPr algn="ctr"/>
                      <a:r>
                        <a:rPr sz="1300" b="1">
                          <a:solidFill>
                            <a:srgbClr val="FFFFFF"/>
                          </a:solidFill>
                          <a:latin typeface="Arial"/>
                        </a:rPr>
                        <a:t>PASS  s31</a:t>
                      </a:r>
                    </a:p>
                  </a:txBody>
                  <a:tcPr marL="54864" marR="54864" marT="27432" marB="27432" anchor="ctr">
                    <a:solidFill>
                      <a:srgbClr val="0065BD"/>
                    </a:solidFill>
                  </a:tcPr>
                </a:tc>
                <a:tc>
                  <a:txBody>
                    <a:bodyPr/>
                    <a:lstStyle/>
                    <a:p>
                      <a:pPr algn="ctr"/>
                      <a:r>
                        <a:rPr sz="1300" b="1">
                          <a:solidFill>
                            <a:srgbClr val="FFFFFF"/>
                          </a:solidFill>
                          <a:latin typeface="Arial"/>
                        </a:rPr>
                        <a:t>PASS  s314</a:t>
                      </a:r>
                    </a:p>
                  </a:txBody>
                  <a:tcPr marL="54864" marR="54864" marT="27432" marB="27432" anchor="ctr">
                    <a:solidFill>
                      <a:srgbClr val="0065BD"/>
                    </a:solidFill>
                  </a:tcPr>
                </a:tc>
                <a:tc>
                  <a:txBody>
                    <a:bodyPr/>
                    <a:lstStyle/>
                    <a:p>
                      <a:pPr algn="ctr"/>
                      <a:r>
                        <a:rPr sz="1300" b="1">
                          <a:solidFill>
                            <a:srgbClr val="FFFFFF"/>
                          </a:solidFill>
                          <a:latin typeface="Arial"/>
                        </a:rPr>
                        <a:t>FAIL  s366
grounding</a:t>
                      </a:r>
                    </a:p>
                  </a:txBody>
                  <a:tcPr marL="54864" marR="54864" marT="27432" marB="27432" anchor="ctr">
                    <a:solidFill>
                      <a:srgbClr val="E37222"/>
                    </a:solidFill>
                  </a:tcPr>
                </a:tc>
                <a:tc>
                  <a:txBody>
                    <a:bodyPr/>
                    <a:lstStyle/>
                    <a:p>
                      <a:pPr algn="ctr"/>
                      <a:r>
                        <a:rPr sz="1300" b="0">
                          <a:solidFill>
                            <a:srgbClr val="222A35"/>
                          </a:solidFill>
                          <a:latin typeface="Arial"/>
                        </a:rPr>
                        <a:t>2/3</a:t>
                      </a:r>
                    </a:p>
                  </a:txBody>
                  <a:tcPr marL="54864" marR="54864"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10" name="TextBox 9"/>
          <p:cNvSpPr txBox="1"/>
          <p:nvPr/>
        </p:nvSpPr>
        <p:spPr>
          <a:xfrm>
            <a:off x="640080" y="6080760"/>
            <a:ext cx="10927080" cy="32004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s = task seed. Official AndroidWorld verifier. Tag team-agent-final-v66 (six tasks run on v65, same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Run log (1/2): one row per run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13</a:t>
            </a:r>
          </a:p>
        </p:txBody>
      </p:sp>
      <p:sp>
        <p:nvSpPr>
          <p:cNvPr id="9" name="TextBox 8"/>
          <p:cNvSpPr txBox="1"/>
          <p:nvPr/>
        </p:nvSpPr>
        <p:spPr>
          <a:xfrm>
            <a:off x="548640" y="1188720"/>
            <a:ext cx="11064240" cy="3200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4489704"/>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502920">
                  <a:extLst>
                    <a:ext uri="{9D8B030D-6E8A-4147-A177-3AD203B41FA5}">
                      <a16:colId xmlns:a16="http://schemas.microsoft.com/office/drawing/2014/main" val="20007"/>
                    </a:ext>
                  </a:extLst>
                </a:gridCol>
                <a:gridCol w="3337560">
                  <a:extLst>
                    <a:ext uri="{9D8B030D-6E8A-4147-A177-3AD203B41FA5}">
                      <a16:colId xmlns:a16="http://schemas.microsoft.com/office/drawing/2014/main" val="20008"/>
                    </a:ext>
                  </a:extLst>
                </a:gridCol>
              </a:tblGrid>
              <a:tr h="274320">
                <a:tc>
                  <a:txBody>
                    <a:bodyPr/>
                    <a:lstStyle/>
                    <a:p>
                      <a:r>
                        <a:rPr sz="1050" b="1">
                          <a:solidFill>
                            <a:srgbClr val="FFFFFF"/>
                          </a:solidFill>
                          <a:latin typeface="Arial"/>
                        </a:rPr>
                        <a:t>Task</a:t>
                      </a:r>
                    </a:p>
                  </a:txBody>
                  <a:tcPr marL="54864" marR="54864" marT="27432" marB="27432" anchor="ctr">
                    <a:solidFill>
                      <a:srgbClr val="072140"/>
                    </a:solidFill>
                  </a:tcPr>
                </a:tc>
                <a:tc>
                  <a:txBody>
                    <a:bodyPr/>
                    <a:lstStyle/>
                    <a:p>
                      <a:r>
                        <a:rPr sz="1050" b="1">
                          <a:solidFill>
                            <a:srgbClr val="FFFFFF"/>
                          </a:solidFill>
                          <a:latin typeface="Arial"/>
                        </a:rPr>
                        <a:t>Run</a:t>
                      </a:r>
                    </a:p>
                  </a:txBody>
                  <a:tcPr marL="54864" marR="54864" marT="27432" marB="27432" anchor="ctr">
                    <a:solidFill>
                      <a:srgbClr val="072140"/>
                    </a:solidFill>
                  </a:tcPr>
                </a:tc>
                <a:tc>
                  <a:txBody>
                    <a:bodyPr/>
                    <a:lstStyle/>
                    <a:p>
                      <a:r>
                        <a:rPr sz="1050" b="1">
                          <a:solidFill>
                            <a:srgbClr val="FFFFFF"/>
                          </a:solidFill>
                          <a:latin typeface="Arial"/>
                        </a:rPr>
                        <a:t>Seed</a:t>
                      </a:r>
                    </a:p>
                  </a:txBody>
                  <a:tcPr marL="54864" marR="54864" marT="27432" marB="27432" anchor="ctr">
                    <a:solidFill>
                      <a:srgbClr val="072140"/>
                    </a:solidFill>
                  </a:tcPr>
                </a:tc>
                <a:tc>
                  <a:txBody>
                    <a:bodyPr/>
                    <a:lstStyle/>
                    <a:p>
                      <a:r>
                        <a:rPr sz="1050" b="1">
                          <a:solidFill>
                            <a:srgbClr val="FFFFFF"/>
                          </a:solidFill>
                          <a:latin typeface="Arial"/>
                        </a:rPr>
                        <a:t>Observation</a:t>
                      </a:r>
                    </a:p>
                  </a:txBody>
                  <a:tcPr marL="54864" marR="54864" marT="27432" marB="27432" anchor="ctr">
                    <a:solidFill>
                      <a:srgbClr val="072140"/>
                    </a:solidFill>
                  </a:tcPr>
                </a:tc>
                <a:tc>
                  <a:txBody>
                    <a:bodyPr/>
                    <a:lstStyle/>
                    <a:p>
                      <a:r>
                        <a:rPr sz="1050" b="1">
                          <a:solidFill>
                            <a:srgbClr val="FFFFFF"/>
                          </a:solidFill>
                          <a:latin typeface="Arial"/>
                        </a:rPr>
                        <a:t>Steps / budget</a:t>
                      </a:r>
                    </a:p>
                  </a:txBody>
                  <a:tcPr marL="54864" marR="54864" marT="27432" marB="27432" anchor="ctr">
                    <a:solidFill>
                      <a:srgbClr val="072140"/>
                    </a:solidFill>
                  </a:tcPr>
                </a:tc>
                <a:tc>
                  <a:txBody>
                    <a:bodyPr/>
                    <a:lstStyle/>
                    <a:p>
                      <a:r>
                        <a:rPr sz="1050" b="1">
                          <a:solidFill>
                            <a:srgbClr val="FFFFFF"/>
                          </a:solidFill>
                          <a:latin typeface="Arial"/>
                        </a:rPr>
                        <a:t>Verifier</a:t>
                      </a:r>
                    </a:p>
                  </a:txBody>
                  <a:tcPr marL="54864" marR="54864" marT="27432" marB="27432" anchor="ctr">
                    <a:solidFill>
                      <a:srgbClr val="072140"/>
                    </a:solidFill>
                  </a:tcPr>
                </a:tc>
                <a:tc>
                  <a:txBody>
                    <a:bodyPr/>
                    <a:lstStyle/>
                    <a:p>
                      <a:r>
                        <a:rPr sz="1050" b="1">
                          <a:solidFill>
                            <a:srgbClr val="FFFFFF"/>
                          </a:solidFill>
                          <a:latin typeface="Arial"/>
                        </a:rPr>
                        <a:t>Failure class</a:t>
                      </a:r>
                    </a:p>
                  </a:txBody>
                  <a:tcPr marL="54864" marR="54864" marT="27432" marB="27432" anchor="ctr">
                    <a:solidFill>
                      <a:srgbClr val="072140"/>
                    </a:solidFill>
                  </a:tcPr>
                </a:tc>
                <a:tc>
                  <a:txBody>
                    <a:bodyPr/>
                    <a:lstStyle/>
                    <a:p>
                      <a:r>
                        <a:rPr sz="1050" b="1">
                          <a:solidFill>
                            <a:srgbClr val="FFFFFF"/>
                          </a:solidFill>
                          <a:latin typeface="Arial"/>
                        </a:rPr>
                        <a:t>Clips</a:t>
                      </a:r>
                    </a:p>
                  </a:txBody>
                  <a:tcPr marL="54864" marR="54864" marT="27432" marB="27432" anchor="ctr">
                    <a:solidFill>
                      <a:srgbClr val="072140"/>
                    </a:solidFill>
                  </a:tcPr>
                </a:tc>
                <a:tc>
                  <a:txBody>
                    <a:bodyPr/>
                    <a:lstStyle/>
                    <a:p>
                      <a:r>
                        <a:rPr sz="1050" b="1">
                          <a:solidFill>
                            <a:srgbClr val="FFFFFF"/>
                          </a:solidFill>
                          <a:latin typeface="Arial"/>
                        </a:rPr>
                        <a:t>Note</a:t>
                      </a:r>
                    </a:p>
                  </a:txBody>
                  <a:tcPr marL="54864" marR="54864" marT="27432" marB="27432" anchor="ctr">
                    <a:solidFill>
                      <a:srgbClr val="072140"/>
                    </a:solidFill>
                  </a:tcPr>
                </a:tc>
                <a:extLst>
                  <a:ext uri="{0D108BD9-81ED-4DB2-BD59-A6C34878D82A}">
                    <a16:rowId xmlns:a16="http://schemas.microsoft.com/office/drawing/2014/main" val="10000"/>
                  </a:ext>
                </a:extLst>
              </a:tr>
              <a:tr h="274320">
                <a:tc>
                  <a:txBody>
                    <a:bodyPr/>
                    <a:lstStyle/>
                    <a:p>
                      <a:r>
                        <a:rPr sz="1050" b="0">
                          <a:solidFill>
                            <a:srgbClr val="222A35"/>
                          </a:solidFill>
                          <a:latin typeface="Arial"/>
                        </a:rPr>
                        <a:t>SystemWifiTurnOn</a:t>
                      </a:r>
                    </a:p>
                  </a:txBody>
                  <a:tcPr marL="54864" marR="54864" marT="27432" marB="27432" anchor="ctr">
                    <a:solidFill>
                      <a:srgbClr val="FFFFFF"/>
                    </a:solidFill>
                  </a:tcPr>
                </a:tc>
                <a:tc>
                  <a:txBody>
                    <a:bodyPr/>
                    <a:lstStyle/>
                    <a:p>
                      <a:r>
                        <a:rPr sz="1050" b="0" u="sng">
                          <a:solidFill>
                            <a:srgbClr val="0065BD"/>
                          </a:solidFill>
                          <a:latin typeface="Arial"/>
                          <a:hlinkClick r:id="rId3"/>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 + labels</a:t>
                      </a:r>
                    </a:p>
                  </a:txBody>
                  <a:tcPr marL="54864" marR="54864" marT="27432" marB="27432" anchor="ctr">
                    <a:solidFill>
                      <a:srgbClr val="FFFFFF"/>
                    </a:solidFill>
                  </a:tcPr>
                </a:tc>
                <a:tc>
                  <a:txBody>
                    <a:bodyPr/>
                    <a:lstStyle/>
                    <a:p>
                      <a:r>
                        <a:rPr sz="1050" b="0">
                          <a:solidFill>
                            <a:srgbClr val="222A35"/>
                          </a:solidFill>
                          <a:latin typeface="Arial"/>
                        </a:rPr>
                        <a:t>5 / 12</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Settings &gt; Internet &gt; Wi-Fi on; finished</a:t>
                      </a:r>
                    </a:p>
                  </a:txBody>
                  <a:tcPr marL="54864" marR="54864" marT="27432" marB="27432" anchor="ctr">
                    <a:solidFill>
                      <a:srgbClr val="FFFFFF"/>
                    </a:solidFill>
                  </a:tcPr>
                </a:tc>
                <a:extLst>
                  <a:ext uri="{0D108BD9-81ED-4DB2-BD59-A6C34878D82A}">
                    <a16:rowId xmlns:a16="http://schemas.microsoft.com/office/drawing/2014/main" val="10001"/>
                  </a:ext>
                </a:extLst>
              </a:tr>
              <a:tr h="274320">
                <a:tc>
                  <a:txBody>
                    <a:bodyPr/>
                    <a:lstStyle/>
                    <a:p>
                      <a:r>
                        <a:rPr sz="1050" b="0">
                          <a:solidFill>
                            <a:srgbClr val="222A35"/>
                          </a:solidFill>
                          <a:latin typeface="Arial"/>
                        </a:rPr>
                        <a:t>SystemWifiTurnOn</a:t>
                      </a:r>
                    </a:p>
                  </a:txBody>
                  <a:tcPr marL="54864" marR="54864" marT="27432" marB="27432" anchor="ctr">
                    <a:solidFill>
                      <a:srgbClr val="F2F5F9"/>
                    </a:solidFill>
                  </a:tcPr>
                </a:tc>
                <a:tc>
                  <a:txBody>
                    <a:bodyPr/>
                    <a:lstStyle/>
                    <a:p>
                      <a:r>
                        <a:rPr sz="1050" b="0" u="sng">
                          <a:solidFill>
                            <a:srgbClr val="0065BD"/>
                          </a:solidFill>
                          <a:latin typeface="Arial"/>
                          <a:hlinkClick r:id="rId4"/>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 + labels</a:t>
                      </a:r>
                    </a:p>
                  </a:txBody>
                  <a:tcPr marL="54864" marR="54864" marT="27432" marB="27432" anchor="ctr">
                    <a:solidFill>
                      <a:srgbClr val="F2F5F9"/>
                    </a:solidFill>
                  </a:tcPr>
                </a:tc>
                <a:tc>
                  <a:txBody>
                    <a:bodyPr/>
                    <a:lstStyle/>
                    <a:p>
                      <a:r>
                        <a:rPr sz="1050" b="0">
                          <a:solidFill>
                            <a:srgbClr val="222A35"/>
                          </a:solidFill>
                          <a:latin typeface="Arial"/>
                        </a:rPr>
                        <a:t>5 / 12</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Same 5-step path; finished</a:t>
                      </a:r>
                    </a:p>
                  </a:txBody>
                  <a:tcPr marL="54864" marR="54864" marT="27432" marB="27432" anchor="ctr">
                    <a:solidFill>
                      <a:srgbClr val="F2F5F9"/>
                    </a:solidFill>
                  </a:tcPr>
                </a:tc>
                <a:extLst>
                  <a:ext uri="{0D108BD9-81ED-4DB2-BD59-A6C34878D82A}">
                    <a16:rowId xmlns:a16="http://schemas.microsoft.com/office/drawing/2014/main" val="10002"/>
                  </a:ext>
                </a:extLst>
              </a:tr>
              <a:tr h="274320">
                <a:tc>
                  <a:txBody>
                    <a:bodyPr/>
                    <a:lstStyle/>
                    <a:p>
                      <a:r>
                        <a:rPr sz="1050" b="0">
                          <a:solidFill>
                            <a:srgbClr val="222A35"/>
                          </a:solidFill>
                          <a:latin typeface="Arial"/>
                        </a:rPr>
                        <a:t>SystemWifiTurnOn</a:t>
                      </a:r>
                    </a:p>
                  </a:txBody>
                  <a:tcPr marL="54864" marR="54864" marT="27432" marB="27432" anchor="ctr">
                    <a:solidFill>
                      <a:srgbClr val="FFFFFF"/>
                    </a:solidFill>
                  </a:tcPr>
                </a:tc>
                <a:tc>
                  <a:txBody>
                    <a:bodyPr/>
                    <a:lstStyle/>
                    <a:p>
                      <a:r>
                        <a:rPr sz="1050" b="0" u="sng">
                          <a:solidFill>
                            <a:srgbClr val="0065BD"/>
                          </a:solidFill>
                          <a:latin typeface="Arial"/>
                          <a:hlinkClick r:id="rId5"/>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 + labels</a:t>
                      </a:r>
                    </a:p>
                  </a:txBody>
                  <a:tcPr marL="54864" marR="54864" marT="27432" marB="27432" anchor="ctr">
                    <a:solidFill>
                      <a:srgbClr val="FFFFFF"/>
                    </a:solidFill>
                  </a:tcPr>
                </a:tc>
                <a:tc>
                  <a:txBody>
                    <a:bodyPr/>
                    <a:lstStyle/>
                    <a:p>
                      <a:r>
                        <a:rPr sz="1050" b="0">
                          <a:solidFill>
                            <a:srgbClr val="222A35"/>
                          </a:solidFill>
                          <a:latin typeface="Arial"/>
                        </a:rPr>
                        <a:t>5 / 12</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Same 5-step path; finished</a:t>
                      </a:r>
                    </a:p>
                  </a:txBody>
                  <a:tcPr marL="54864" marR="54864" marT="27432" marB="27432" anchor="ctr">
                    <a:solidFill>
                      <a:srgbClr val="FFFFFF"/>
                    </a:solidFill>
                  </a:tcPr>
                </a:tc>
                <a:extLst>
                  <a:ext uri="{0D108BD9-81ED-4DB2-BD59-A6C34878D82A}">
                    <a16:rowId xmlns:a16="http://schemas.microsoft.com/office/drawing/2014/main" val="10003"/>
                  </a:ext>
                </a:extLst>
              </a:tr>
              <a:tr h="274320">
                <a:tc>
                  <a:txBody>
                    <a:bodyPr/>
                    <a:lstStyle/>
                    <a:p>
                      <a:r>
                        <a:rPr sz="1050" b="0">
                          <a:solidFill>
                            <a:srgbClr val="222A35"/>
                          </a:solidFill>
                          <a:latin typeface="Arial"/>
                        </a:rPr>
                        <a:t>ContactsAddContact</a:t>
                      </a:r>
                    </a:p>
                  </a:txBody>
                  <a:tcPr marL="54864" marR="54864" marT="27432" marB="27432" anchor="ctr">
                    <a:solidFill>
                      <a:srgbClr val="F2F5F9"/>
                    </a:solidFill>
                  </a:tcPr>
                </a:tc>
                <a:tc>
                  <a:txBody>
                    <a:bodyPr/>
                    <a:lstStyle/>
                    <a:p>
                      <a:r>
                        <a:rPr sz="1050" b="0" u="sng">
                          <a:solidFill>
                            <a:srgbClr val="0065BD"/>
                          </a:solidFill>
                          <a:latin typeface="Arial"/>
                          <a:hlinkClick r:id="rId6"/>
                        </a:rPr>
                        <a:t>1 of 3</a:t>
                      </a:r>
                    </a:p>
                  </a:txBody>
                  <a:tcPr marL="54864" marR="54864" marT="27432" marB="27432" anchor="ctr">
                    <a:solidFill>
                      <a:srgbClr val="F2F5F9"/>
                    </a:solidFill>
                  </a:tcPr>
                </a:tc>
                <a:tc>
                  <a:txBody>
                    <a:bodyPr/>
                    <a:lstStyle/>
                    <a:p>
                      <a:r>
                        <a:rPr sz="1050" b="0">
                          <a:solidFill>
                            <a:srgbClr val="222A35"/>
                          </a:solidFill>
                          <a:latin typeface="Arial"/>
                        </a:rPr>
                        <a:t>42</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12 / 16</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Name, scroll, number, Save; finished</a:t>
                      </a:r>
                    </a:p>
                  </a:txBody>
                  <a:tcPr marL="54864" marR="54864" marT="27432" marB="27432" anchor="ctr">
                    <a:solidFill>
                      <a:srgbClr val="F2F5F9"/>
                    </a:solidFill>
                  </a:tcPr>
                </a:tc>
                <a:extLst>
                  <a:ext uri="{0D108BD9-81ED-4DB2-BD59-A6C34878D82A}">
                    <a16:rowId xmlns:a16="http://schemas.microsoft.com/office/drawing/2014/main" val="10004"/>
                  </a:ext>
                </a:extLst>
              </a:tr>
              <a:tr h="274320">
                <a:tc>
                  <a:txBody>
                    <a:bodyPr/>
                    <a:lstStyle/>
                    <a:p>
                      <a:r>
                        <a:rPr sz="1050" b="0">
                          <a:solidFill>
                            <a:srgbClr val="222A35"/>
                          </a:solidFill>
                          <a:latin typeface="Arial"/>
                        </a:rPr>
                        <a:t>ContactsAddContact</a:t>
                      </a:r>
                    </a:p>
                  </a:txBody>
                  <a:tcPr marL="54864" marR="54864" marT="27432" marB="27432" anchor="ctr">
                    <a:solidFill>
                      <a:srgbClr val="FFFFFF"/>
                    </a:solidFill>
                  </a:tcPr>
                </a:tc>
                <a:tc>
                  <a:txBody>
                    <a:bodyPr/>
                    <a:lstStyle/>
                    <a:p>
                      <a:r>
                        <a:rPr sz="1050" b="0" u="sng">
                          <a:solidFill>
                            <a:srgbClr val="0065BD"/>
                          </a:solidFill>
                          <a:latin typeface="Arial"/>
                          <a:hlinkClick r:id="rId7"/>
                        </a:rPr>
                        <a:t>2 of 3</a:t>
                      </a:r>
                    </a:p>
                  </a:txBody>
                  <a:tcPr marL="54864" marR="54864" marT="27432" marB="27432" anchor="ctr">
                    <a:solidFill>
                      <a:srgbClr val="FFFFFF"/>
                    </a:solidFill>
                  </a:tcPr>
                </a:tc>
                <a:tc>
                  <a:txBody>
                    <a:bodyPr/>
                    <a:lstStyle/>
                    <a:p>
                      <a:r>
                        <a:rPr sz="1050" b="0">
                          <a:solidFill>
                            <a:srgbClr val="222A35"/>
                          </a:solidFill>
                          <a:latin typeface="Arial"/>
                        </a:rPr>
                        <a:t>43</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11 / 16</a:t>
                      </a:r>
                    </a:p>
                  </a:txBody>
                  <a:tcPr marL="54864" marR="54864" marT="27432" marB="27432" anchor="ctr">
                    <a:solidFill>
                      <a:srgbClr val="FFFFFF"/>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other: navigation</a:t>
                      </a:r>
                    </a:p>
                  </a:txBody>
                  <a:tcPr marL="54864" marR="54864" marT="27432" marB="27432" anchor="ctr">
                    <a:solidFill>
                      <a:srgbClr val="FCECE0"/>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Swiped past Phone field; no-progress stop</a:t>
                      </a:r>
                    </a:p>
                  </a:txBody>
                  <a:tcPr marL="54864" marR="54864" marT="27432" marB="27432" anchor="ctr">
                    <a:solidFill>
                      <a:srgbClr val="FFFFFF"/>
                    </a:solidFill>
                  </a:tcPr>
                </a:tc>
                <a:extLst>
                  <a:ext uri="{0D108BD9-81ED-4DB2-BD59-A6C34878D82A}">
                    <a16:rowId xmlns:a16="http://schemas.microsoft.com/office/drawing/2014/main" val="10005"/>
                  </a:ext>
                </a:extLst>
              </a:tr>
              <a:tr h="274320">
                <a:tc>
                  <a:txBody>
                    <a:bodyPr/>
                    <a:lstStyle/>
                    <a:p>
                      <a:r>
                        <a:rPr sz="1050" b="0">
                          <a:solidFill>
                            <a:srgbClr val="222A35"/>
                          </a:solidFill>
                          <a:latin typeface="Arial"/>
                        </a:rPr>
                        <a:t>ContactsAddContact</a:t>
                      </a:r>
                    </a:p>
                  </a:txBody>
                  <a:tcPr marL="54864" marR="54864" marT="27432" marB="27432" anchor="ctr">
                    <a:solidFill>
                      <a:srgbClr val="F2F5F9"/>
                    </a:solidFill>
                  </a:tcPr>
                </a:tc>
                <a:tc>
                  <a:txBody>
                    <a:bodyPr/>
                    <a:lstStyle/>
                    <a:p>
                      <a:r>
                        <a:rPr sz="1050" b="0" u="sng">
                          <a:solidFill>
                            <a:srgbClr val="0065BD"/>
                          </a:solidFill>
                          <a:latin typeface="Arial"/>
                          <a:hlinkClick r:id="rId8"/>
                        </a:rPr>
                        <a:t>3 of 3</a:t>
                      </a:r>
                    </a:p>
                  </a:txBody>
                  <a:tcPr marL="54864" marR="54864" marT="27432" marB="27432" anchor="ctr">
                    <a:solidFill>
                      <a:srgbClr val="F2F5F9"/>
                    </a:solidFill>
                  </a:tcPr>
                </a:tc>
                <a:tc>
                  <a:txBody>
                    <a:bodyPr/>
                    <a:lstStyle/>
                    <a:p>
                      <a:r>
                        <a:rPr sz="1050" b="0">
                          <a:solidFill>
                            <a:srgbClr val="222A35"/>
                          </a:solidFill>
                          <a:latin typeface="Arial"/>
                        </a:rPr>
                        <a:t>44</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11 / 16</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Name, scroll, number, Save; finished</a:t>
                      </a:r>
                    </a:p>
                  </a:txBody>
                  <a:tcPr marL="54864" marR="54864" marT="27432" marB="27432" anchor="ctr">
                    <a:solidFill>
                      <a:srgbClr val="F2F5F9"/>
                    </a:solidFill>
                  </a:tcPr>
                </a:tc>
                <a:extLst>
                  <a:ext uri="{0D108BD9-81ED-4DB2-BD59-A6C34878D82A}">
                    <a16:rowId xmlns:a16="http://schemas.microsoft.com/office/drawing/2014/main" val="10006"/>
                  </a:ext>
                </a:extLst>
              </a:tr>
              <a:tr h="274320">
                <a:tc>
                  <a:txBody>
                    <a:bodyPr/>
                    <a:lstStyle/>
                    <a:p>
                      <a:r>
                        <a:rPr sz="1050" b="0">
                          <a:solidFill>
                            <a:srgbClr val="222A35"/>
                          </a:solidFill>
                          <a:latin typeface="Arial"/>
                        </a:rPr>
                        <a:t>SimpleSmsSend</a:t>
                      </a:r>
                    </a:p>
                  </a:txBody>
                  <a:tcPr marL="54864" marR="54864" marT="27432" marB="27432" anchor="ctr">
                    <a:solidFill>
                      <a:srgbClr val="FFFFFF"/>
                    </a:solidFill>
                  </a:tcPr>
                </a:tc>
                <a:tc>
                  <a:txBody>
                    <a:bodyPr/>
                    <a:lstStyle/>
                    <a:p>
                      <a:r>
                        <a:rPr sz="1050" b="0" u="sng">
                          <a:solidFill>
                            <a:srgbClr val="0065BD"/>
                          </a:solidFill>
                          <a:latin typeface="Arial"/>
                          <a:hlinkClick r:id="rId9"/>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9 / 20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New conversation, number, message, send</a:t>
                      </a:r>
                    </a:p>
                  </a:txBody>
                  <a:tcPr marL="54864" marR="54864" marT="27432" marB="27432" anchor="ctr">
                    <a:solidFill>
                      <a:srgbClr val="FFFFFF"/>
                    </a:solidFill>
                  </a:tcPr>
                </a:tc>
                <a:extLst>
                  <a:ext uri="{0D108BD9-81ED-4DB2-BD59-A6C34878D82A}">
                    <a16:rowId xmlns:a16="http://schemas.microsoft.com/office/drawing/2014/main" val="10007"/>
                  </a:ext>
                </a:extLst>
              </a:tr>
              <a:tr h="274320">
                <a:tc>
                  <a:txBody>
                    <a:bodyPr/>
                    <a:lstStyle/>
                    <a:p>
                      <a:r>
                        <a:rPr sz="1050" b="0">
                          <a:solidFill>
                            <a:srgbClr val="222A35"/>
                          </a:solidFill>
                          <a:latin typeface="Arial"/>
                        </a:rPr>
                        <a:t>SimpleSmsSend</a:t>
                      </a:r>
                    </a:p>
                  </a:txBody>
                  <a:tcPr marL="54864" marR="54864" marT="27432" marB="27432" anchor="ctr">
                    <a:solidFill>
                      <a:srgbClr val="F2F5F9"/>
                    </a:solidFill>
                  </a:tcPr>
                </a:tc>
                <a:tc>
                  <a:txBody>
                    <a:bodyPr/>
                    <a:lstStyle/>
                    <a:p>
                      <a:r>
                        <a:rPr sz="1050" b="0" u="sng">
                          <a:solidFill>
                            <a:srgbClr val="0065BD"/>
                          </a:solidFill>
                          <a:latin typeface="Arial"/>
                          <a:hlinkClick r:id="rId10"/>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7 / 20</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Chinese app name resolved; sent in 7 steps</a:t>
                      </a:r>
                    </a:p>
                  </a:txBody>
                  <a:tcPr marL="54864" marR="54864" marT="27432" marB="27432" anchor="ctr">
                    <a:solidFill>
                      <a:srgbClr val="F2F5F9"/>
                    </a:solidFill>
                  </a:tcPr>
                </a:tc>
                <a:extLst>
                  <a:ext uri="{0D108BD9-81ED-4DB2-BD59-A6C34878D82A}">
                    <a16:rowId xmlns:a16="http://schemas.microsoft.com/office/drawing/2014/main" val="10008"/>
                  </a:ext>
                </a:extLst>
              </a:tr>
              <a:tr h="274320">
                <a:tc>
                  <a:txBody>
                    <a:bodyPr/>
                    <a:lstStyle/>
                    <a:p>
                      <a:r>
                        <a:rPr sz="1050" b="0">
                          <a:solidFill>
                            <a:srgbClr val="222A35"/>
                          </a:solidFill>
                          <a:latin typeface="Arial"/>
                        </a:rPr>
                        <a:t>SimpleSmsSend</a:t>
                      </a:r>
                    </a:p>
                  </a:txBody>
                  <a:tcPr marL="54864" marR="54864" marT="27432" marB="27432" anchor="ctr">
                    <a:solidFill>
                      <a:srgbClr val="FFFFFF"/>
                    </a:solidFill>
                  </a:tcPr>
                </a:tc>
                <a:tc>
                  <a:txBody>
                    <a:bodyPr/>
                    <a:lstStyle/>
                    <a:p>
                      <a:r>
                        <a:rPr sz="1050" b="0" u="sng">
                          <a:solidFill>
                            <a:srgbClr val="0065BD"/>
                          </a:solidFill>
                          <a:latin typeface="Arial"/>
                          <a:hlinkClick r:id="rId11"/>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7 / 20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Chinese app name resolved; sent in 7 steps</a:t>
                      </a:r>
                    </a:p>
                  </a:txBody>
                  <a:tcPr marL="54864" marR="54864" marT="27432" marB="27432" anchor="ctr">
                    <a:solidFill>
                      <a:srgbClr val="FFFFFF"/>
                    </a:solidFill>
                  </a:tcPr>
                </a:tc>
                <a:extLst>
                  <a:ext uri="{0D108BD9-81ED-4DB2-BD59-A6C34878D82A}">
                    <a16:rowId xmlns:a16="http://schemas.microsoft.com/office/drawing/2014/main" val="10009"/>
                  </a:ext>
                </a:extLst>
              </a:tr>
              <a:tr h="274320">
                <a:tc>
                  <a:txBody>
                    <a:bodyPr/>
                    <a:lstStyle/>
                    <a:p>
                      <a:r>
                        <a:rPr sz="1050" b="0">
                          <a:solidFill>
                            <a:srgbClr val="222A35"/>
                          </a:solidFill>
                          <a:latin typeface="Arial"/>
                        </a:rPr>
                        <a:t>FilesMoveFile</a:t>
                      </a:r>
                    </a:p>
                  </a:txBody>
                  <a:tcPr marL="54864" marR="54864" marT="27432" marB="27432" anchor="ctr">
                    <a:solidFill>
                      <a:srgbClr val="F2F5F9"/>
                    </a:solidFill>
                  </a:tcPr>
                </a:tc>
                <a:tc>
                  <a:txBody>
                    <a:bodyPr/>
                    <a:lstStyle/>
                    <a:p>
                      <a:r>
                        <a:rPr sz="1050" b="0" u="sng">
                          <a:solidFill>
                            <a:srgbClr val="0065BD"/>
                          </a:solidFill>
                          <a:latin typeface="Arial"/>
                          <a:hlinkClick r:id="rId12"/>
                        </a:rPr>
                        <a:t>1 of 3</a:t>
                      </a:r>
                    </a:p>
                  </a:txBody>
                  <a:tcPr marL="54864" marR="54864" marT="27432" marB="27432" anchor="ctr">
                    <a:solidFill>
                      <a:srgbClr val="F2F5F9"/>
                    </a:solidFill>
                  </a:tcPr>
                </a:tc>
                <a:tc>
                  <a:txBody>
                    <a:bodyPr/>
                    <a:lstStyle/>
                    <a:p>
                      <a:r>
                        <a:rPr sz="1050" b="0">
                          <a:solidFill>
                            <a:srgbClr val="222A35"/>
                          </a:solidFill>
                          <a:latin typeface="Arial"/>
                        </a:rPr>
                        <a:t>42</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17 / 25</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Scrolled to file, Move to, MOVE; finished</a:t>
                      </a:r>
                    </a:p>
                  </a:txBody>
                  <a:tcPr marL="54864" marR="54864" marT="27432" marB="27432" anchor="ctr">
                    <a:solidFill>
                      <a:srgbClr val="F2F5F9"/>
                    </a:solidFill>
                  </a:tcPr>
                </a:tc>
                <a:extLst>
                  <a:ext uri="{0D108BD9-81ED-4DB2-BD59-A6C34878D82A}">
                    <a16:rowId xmlns:a16="http://schemas.microsoft.com/office/drawing/2014/main" val="10010"/>
                  </a:ext>
                </a:extLst>
              </a:tr>
              <a:tr h="274320">
                <a:tc>
                  <a:txBody>
                    <a:bodyPr/>
                    <a:lstStyle/>
                    <a:p>
                      <a:r>
                        <a:rPr sz="1050" b="0">
                          <a:solidFill>
                            <a:srgbClr val="222A35"/>
                          </a:solidFill>
                          <a:latin typeface="Arial"/>
                        </a:rPr>
                        <a:t>FilesMoveFile</a:t>
                      </a:r>
                    </a:p>
                  </a:txBody>
                  <a:tcPr marL="54864" marR="54864" marT="27432" marB="27432" anchor="ctr">
                    <a:solidFill>
                      <a:srgbClr val="FFFFFF"/>
                    </a:solidFill>
                  </a:tcPr>
                </a:tc>
                <a:tc>
                  <a:txBody>
                    <a:bodyPr/>
                    <a:lstStyle/>
                    <a:p>
                      <a:r>
                        <a:rPr sz="1050" b="0" u="sng">
                          <a:solidFill>
                            <a:srgbClr val="0065BD"/>
                          </a:solidFill>
                          <a:latin typeface="Arial"/>
                          <a:hlinkClick r:id="rId13"/>
                        </a:rPr>
                        <a:t>2 of 3</a:t>
                      </a:r>
                    </a:p>
                  </a:txBody>
                  <a:tcPr marL="54864" marR="54864" marT="27432" marB="27432" anchor="ctr">
                    <a:solidFill>
                      <a:srgbClr val="FFFFFF"/>
                    </a:solidFill>
                  </a:tcPr>
                </a:tc>
                <a:tc>
                  <a:txBody>
                    <a:bodyPr/>
                    <a:lstStyle/>
                    <a:p>
                      <a:r>
                        <a:rPr sz="1050" b="0">
                          <a:solidFill>
                            <a:srgbClr val="222A35"/>
                          </a:solidFill>
                          <a:latin typeface="Arial"/>
                        </a:rPr>
                        <a:t>43</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13 / 25</a:t>
                      </a:r>
                    </a:p>
                  </a:txBody>
                  <a:tcPr marL="54864" marR="54864" marT="27432" marB="27432" anchor="ctr">
                    <a:solidFill>
                      <a:srgbClr val="FFFFFF"/>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false_done</a:t>
                      </a:r>
                    </a:p>
                  </a:txBody>
                  <a:tcPr marL="54864" marR="54864" marT="27432" marB="27432" anchor="ctr">
                    <a:solidFill>
                      <a:srgbClr val="FCECE0"/>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Moved look-alike file, then finished</a:t>
                      </a:r>
                    </a:p>
                  </a:txBody>
                  <a:tcPr marL="54864" marR="54864" marT="27432" marB="27432" anchor="ctr">
                    <a:solidFill>
                      <a:srgbClr val="FFFFFF"/>
                    </a:solidFill>
                  </a:tcPr>
                </a:tc>
                <a:extLst>
                  <a:ext uri="{0D108BD9-81ED-4DB2-BD59-A6C34878D82A}">
                    <a16:rowId xmlns:a16="http://schemas.microsoft.com/office/drawing/2014/main" val="10011"/>
                  </a:ext>
                </a:extLst>
              </a:tr>
              <a:tr h="274320">
                <a:tc>
                  <a:txBody>
                    <a:bodyPr/>
                    <a:lstStyle/>
                    <a:p>
                      <a:r>
                        <a:rPr sz="1050" b="0">
                          <a:solidFill>
                            <a:srgbClr val="222A35"/>
                          </a:solidFill>
                          <a:latin typeface="Arial"/>
                        </a:rPr>
                        <a:t>FilesMoveFile</a:t>
                      </a:r>
                    </a:p>
                  </a:txBody>
                  <a:tcPr marL="54864" marR="54864" marT="27432" marB="27432" anchor="ctr">
                    <a:solidFill>
                      <a:srgbClr val="F2F5F9"/>
                    </a:solidFill>
                  </a:tcPr>
                </a:tc>
                <a:tc>
                  <a:txBody>
                    <a:bodyPr/>
                    <a:lstStyle/>
                    <a:p>
                      <a:r>
                        <a:rPr sz="1050" b="0" u="sng">
                          <a:solidFill>
                            <a:srgbClr val="0065BD"/>
                          </a:solidFill>
                          <a:latin typeface="Arial"/>
                          <a:hlinkClick r:id="rId14"/>
                        </a:rPr>
                        <a:t>3 of 3</a:t>
                      </a:r>
                    </a:p>
                  </a:txBody>
                  <a:tcPr marL="54864" marR="54864" marT="27432" marB="27432" anchor="ctr">
                    <a:solidFill>
                      <a:srgbClr val="F2F5F9"/>
                    </a:solidFill>
                  </a:tcPr>
                </a:tc>
                <a:tc>
                  <a:txBody>
                    <a:bodyPr/>
                    <a:lstStyle/>
                    <a:p>
                      <a:r>
                        <a:rPr sz="1050" b="0">
                          <a:solidFill>
                            <a:srgbClr val="222A35"/>
                          </a:solidFill>
                          <a:latin typeface="Arial"/>
                        </a:rPr>
                        <a:t>44</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13 / 25</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Same procedure; 1 malformed reply corrected</a:t>
                      </a:r>
                    </a:p>
                  </a:txBody>
                  <a:tcPr marL="54864" marR="54864" marT="27432" marB="27432" anchor="ctr">
                    <a:solidFill>
                      <a:srgbClr val="F2F5F9"/>
                    </a:solidFill>
                  </a:tcPr>
                </a:tc>
                <a:extLst>
                  <a:ext uri="{0D108BD9-81ED-4DB2-BD59-A6C34878D82A}">
                    <a16:rowId xmlns:a16="http://schemas.microsoft.com/office/drawing/2014/main" val="10012"/>
                  </a:ext>
                </a:extLst>
              </a:tr>
              <a:tr h="274320">
                <a:tc>
                  <a:txBody>
                    <a:bodyPr/>
                    <a:lstStyle/>
                    <a:p>
                      <a:r>
                        <a:rPr sz="1050" b="0">
                          <a:solidFill>
                            <a:srgbClr val="222A35"/>
                          </a:solidFill>
                          <a:latin typeface="Arial"/>
                        </a:rPr>
                        <a:t>SimpleCalendarAddOneEvent</a:t>
                      </a:r>
                    </a:p>
                  </a:txBody>
                  <a:tcPr marL="54864" marR="54864" marT="27432" marB="27432" anchor="ctr">
                    <a:solidFill>
                      <a:srgbClr val="FFFFFF"/>
                    </a:solidFill>
                  </a:tcPr>
                </a:tc>
                <a:tc>
                  <a:txBody>
                    <a:bodyPr/>
                    <a:lstStyle/>
                    <a:p>
                      <a:r>
                        <a:rPr sz="1050" b="0" u="sng">
                          <a:solidFill>
                            <a:srgbClr val="0065BD"/>
                          </a:solidFill>
                          <a:latin typeface="Arial"/>
                          <a:hlinkClick r:id="rId15"/>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20 / 35</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Title, text, date, time, length; 1 fix</a:t>
                      </a:r>
                    </a:p>
                  </a:txBody>
                  <a:tcPr marL="54864" marR="54864" marT="27432" marB="27432" anchor="ctr">
                    <a:solidFill>
                      <a:srgbClr val="FFFFFF"/>
                    </a:solidFill>
                  </a:tcPr>
                </a:tc>
                <a:extLst>
                  <a:ext uri="{0D108BD9-81ED-4DB2-BD59-A6C34878D82A}">
                    <a16:rowId xmlns:a16="http://schemas.microsoft.com/office/drawing/2014/main" val="10013"/>
                  </a:ext>
                </a:extLst>
              </a:tr>
              <a:tr h="274320">
                <a:tc>
                  <a:txBody>
                    <a:bodyPr/>
                    <a:lstStyle/>
                    <a:p>
                      <a:r>
                        <a:rPr sz="1050" b="0">
                          <a:solidFill>
                            <a:srgbClr val="222A35"/>
                          </a:solidFill>
                          <a:latin typeface="Arial"/>
                        </a:rPr>
                        <a:t>SimpleCalendarAddOneEvent</a:t>
                      </a:r>
                    </a:p>
                  </a:txBody>
                  <a:tcPr marL="54864" marR="54864" marT="27432" marB="27432" anchor="ctr">
                    <a:solidFill>
                      <a:srgbClr val="F2F5F9"/>
                    </a:solidFill>
                  </a:tcPr>
                </a:tc>
                <a:tc>
                  <a:txBody>
                    <a:bodyPr/>
                    <a:lstStyle/>
                    <a:p>
                      <a:r>
                        <a:rPr sz="1050" b="0" u="sng">
                          <a:solidFill>
                            <a:srgbClr val="0065BD"/>
                          </a:solidFill>
                          <a:latin typeface="Arial"/>
                          <a:hlinkClick r:id="rId16"/>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21 / 35</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Saved event; 1 unsupported action fixed</a:t>
                      </a:r>
                    </a:p>
                  </a:txBody>
                  <a:tcPr marL="54864" marR="54864" marT="27432" marB="27432" anchor="ctr">
                    <a:solidFill>
                      <a:srgbClr val="F2F5F9"/>
                    </a:solidFill>
                  </a:tcPr>
                </a:tc>
                <a:extLst>
                  <a:ext uri="{0D108BD9-81ED-4DB2-BD59-A6C34878D82A}">
                    <a16:rowId xmlns:a16="http://schemas.microsoft.com/office/drawing/2014/main" val="10014"/>
                  </a:ext>
                </a:extLst>
              </a:tr>
              <a:tr h="274320">
                <a:tc>
                  <a:txBody>
                    <a:bodyPr/>
                    <a:lstStyle/>
                    <a:p>
                      <a:r>
                        <a:rPr sz="1050" b="0">
                          <a:solidFill>
                            <a:srgbClr val="222A35"/>
                          </a:solidFill>
                          <a:latin typeface="Arial"/>
                        </a:rPr>
                        <a:t>SimpleCalendarAddOneEvent</a:t>
                      </a:r>
                    </a:p>
                  </a:txBody>
                  <a:tcPr marL="54864" marR="54864" marT="27432" marB="27432" anchor="ctr">
                    <a:solidFill>
                      <a:srgbClr val="FFFFFF"/>
                    </a:solidFill>
                  </a:tcPr>
                </a:tc>
                <a:tc>
                  <a:txBody>
                    <a:bodyPr/>
                    <a:lstStyle/>
                    <a:p>
                      <a:r>
                        <a:rPr sz="1050" b="0" u="sng">
                          <a:solidFill>
                            <a:srgbClr val="0065BD"/>
                          </a:solidFill>
                          <a:latin typeface="Arial"/>
                          <a:hlinkClick r:id="rId17"/>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16 / 35</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Saved event in 16 steps; no refusals</a:t>
                      </a:r>
                    </a:p>
                  </a:txBody>
                  <a:tcPr marL="54864" marR="54864" marT="27432" marB="27432" anchor="ctr">
                    <a:solidFill>
                      <a:srgbClr val="FFFFFF"/>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Run log (2/2): the two multi-app tasks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14</a:t>
            </a:r>
          </a:p>
        </p:txBody>
      </p:sp>
      <p:sp>
        <p:nvSpPr>
          <p:cNvPr id="9" name="TextBox 8"/>
          <p:cNvSpPr txBox="1"/>
          <p:nvPr/>
        </p:nvSpPr>
        <p:spPr>
          <a:xfrm>
            <a:off x="548640" y="1188720"/>
            <a:ext cx="11064240" cy="3200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Model AutoGLM-Phone-9B (Z.ai), grounding by coordinates; Markor rows v66, OsmAnd v65 (same code). Click a run to open its log.</a:t>
            </a:r>
          </a:p>
        </p:txBody>
      </p:sp>
      <p:graphicFrame>
        <p:nvGraphicFramePr>
          <p:cNvPr id="10" name="Table 9"/>
          <p:cNvGraphicFramePr>
            <a:graphicFrameLocks noGrp="1"/>
          </p:cNvGraphicFramePr>
          <p:nvPr/>
        </p:nvGraphicFramePr>
        <p:xfrm>
          <a:off x="548640" y="1572768"/>
          <a:ext cx="11064240" cy="4224528"/>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502920">
                  <a:extLst>
                    <a:ext uri="{9D8B030D-6E8A-4147-A177-3AD203B41FA5}">
                      <a16:colId xmlns:a16="http://schemas.microsoft.com/office/drawing/2014/main" val="20007"/>
                    </a:ext>
                  </a:extLst>
                </a:gridCol>
                <a:gridCol w="3703320">
                  <a:extLst>
                    <a:ext uri="{9D8B030D-6E8A-4147-A177-3AD203B41FA5}">
                      <a16:colId xmlns:a16="http://schemas.microsoft.com/office/drawing/2014/main" val="20008"/>
                    </a:ext>
                  </a:extLst>
                </a:gridCol>
              </a:tblGrid>
              <a:tr h="274320">
                <a:tc>
                  <a:txBody>
                    <a:bodyPr/>
                    <a:lstStyle/>
                    <a:p>
                      <a:r>
                        <a:rPr sz="1050" b="1">
                          <a:solidFill>
                            <a:srgbClr val="FFFFFF"/>
                          </a:solidFill>
                          <a:latin typeface="Arial"/>
                        </a:rPr>
                        <a:t>Task</a:t>
                      </a:r>
                    </a:p>
                  </a:txBody>
                  <a:tcPr marL="54864" marR="54864" marT="27432" marB="27432" anchor="ctr">
                    <a:solidFill>
                      <a:srgbClr val="072140"/>
                    </a:solidFill>
                  </a:tcPr>
                </a:tc>
                <a:tc>
                  <a:txBody>
                    <a:bodyPr/>
                    <a:lstStyle/>
                    <a:p>
                      <a:r>
                        <a:rPr sz="1050" b="1">
                          <a:solidFill>
                            <a:srgbClr val="FFFFFF"/>
                          </a:solidFill>
                          <a:latin typeface="Arial"/>
                        </a:rPr>
                        <a:t>Run</a:t>
                      </a:r>
                    </a:p>
                  </a:txBody>
                  <a:tcPr marL="54864" marR="54864" marT="27432" marB="27432" anchor="ctr">
                    <a:solidFill>
                      <a:srgbClr val="072140"/>
                    </a:solidFill>
                  </a:tcPr>
                </a:tc>
                <a:tc>
                  <a:txBody>
                    <a:bodyPr/>
                    <a:lstStyle/>
                    <a:p>
                      <a:r>
                        <a:rPr sz="1050" b="1">
                          <a:solidFill>
                            <a:srgbClr val="FFFFFF"/>
                          </a:solidFill>
                          <a:latin typeface="Arial"/>
                        </a:rPr>
                        <a:t>Seed</a:t>
                      </a:r>
                    </a:p>
                  </a:txBody>
                  <a:tcPr marL="54864" marR="54864" marT="27432" marB="27432" anchor="ctr">
                    <a:solidFill>
                      <a:srgbClr val="072140"/>
                    </a:solidFill>
                  </a:tcPr>
                </a:tc>
                <a:tc>
                  <a:txBody>
                    <a:bodyPr/>
                    <a:lstStyle/>
                    <a:p>
                      <a:r>
                        <a:rPr sz="1050" b="1">
                          <a:solidFill>
                            <a:srgbClr val="FFFFFF"/>
                          </a:solidFill>
                          <a:latin typeface="Arial"/>
                        </a:rPr>
                        <a:t>Observation</a:t>
                      </a:r>
                    </a:p>
                  </a:txBody>
                  <a:tcPr marL="54864" marR="54864" marT="27432" marB="27432" anchor="ctr">
                    <a:solidFill>
                      <a:srgbClr val="072140"/>
                    </a:solidFill>
                  </a:tcPr>
                </a:tc>
                <a:tc>
                  <a:txBody>
                    <a:bodyPr/>
                    <a:lstStyle/>
                    <a:p>
                      <a:r>
                        <a:rPr sz="1050" b="1">
                          <a:solidFill>
                            <a:srgbClr val="FFFFFF"/>
                          </a:solidFill>
                          <a:latin typeface="Arial"/>
                        </a:rPr>
                        <a:t>Steps / budget</a:t>
                      </a:r>
                    </a:p>
                  </a:txBody>
                  <a:tcPr marL="54864" marR="54864" marT="27432" marB="27432" anchor="ctr">
                    <a:solidFill>
                      <a:srgbClr val="072140"/>
                    </a:solidFill>
                  </a:tcPr>
                </a:tc>
                <a:tc>
                  <a:txBody>
                    <a:bodyPr/>
                    <a:lstStyle/>
                    <a:p>
                      <a:r>
                        <a:rPr sz="1050" b="1">
                          <a:solidFill>
                            <a:srgbClr val="FFFFFF"/>
                          </a:solidFill>
                          <a:latin typeface="Arial"/>
                        </a:rPr>
                        <a:t>Verifier</a:t>
                      </a:r>
                    </a:p>
                  </a:txBody>
                  <a:tcPr marL="54864" marR="54864" marT="27432" marB="27432" anchor="ctr">
                    <a:solidFill>
                      <a:srgbClr val="072140"/>
                    </a:solidFill>
                  </a:tcPr>
                </a:tc>
                <a:tc>
                  <a:txBody>
                    <a:bodyPr/>
                    <a:lstStyle/>
                    <a:p>
                      <a:r>
                        <a:rPr sz="1050" b="1">
                          <a:solidFill>
                            <a:srgbClr val="FFFFFF"/>
                          </a:solidFill>
                          <a:latin typeface="Arial"/>
                        </a:rPr>
                        <a:t>Failure class</a:t>
                      </a:r>
                    </a:p>
                  </a:txBody>
                  <a:tcPr marL="54864" marR="54864" marT="27432" marB="27432" anchor="ctr">
                    <a:solidFill>
                      <a:srgbClr val="072140"/>
                    </a:solidFill>
                  </a:tcPr>
                </a:tc>
                <a:tc>
                  <a:txBody>
                    <a:bodyPr/>
                    <a:lstStyle/>
                    <a:p>
                      <a:r>
                        <a:rPr sz="1050" b="1">
                          <a:solidFill>
                            <a:srgbClr val="FFFFFF"/>
                          </a:solidFill>
                          <a:latin typeface="Arial"/>
                        </a:rPr>
                        <a:t>Clips</a:t>
                      </a:r>
                    </a:p>
                  </a:txBody>
                  <a:tcPr marL="54864" marR="54864" marT="27432" marB="27432" anchor="ctr">
                    <a:solidFill>
                      <a:srgbClr val="072140"/>
                    </a:solidFill>
                  </a:tcPr>
                </a:tc>
                <a:tc>
                  <a:txBody>
                    <a:bodyPr/>
                    <a:lstStyle/>
                    <a:p>
                      <a:r>
                        <a:rPr sz="1050" b="1">
                          <a:solidFill>
                            <a:srgbClr val="FFFFFF"/>
                          </a:solidFill>
                          <a:latin typeface="Arial"/>
                        </a:rPr>
                        <a:t>Note</a:t>
                      </a:r>
                    </a:p>
                  </a:txBody>
                  <a:tcPr marL="54864" marR="54864" marT="27432" marB="27432" anchor="ctr">
                    <a:solidFill>
                      <a:srgbClr val="072140"/>
                    </a:solidFill>
                  </a:tcPr>
                </a:tc>
                <a:extLst>
                  <a:ext uri="{0D108BD9-81ED-4DB2-BD59-A6C34878D82A}">
                    <a16:rowId xmlns:a16="http://schemas.microsoft.com/office/drawing/2014/main" val="10000"/>
                  </a:ext>
                </a:extLst>
              </a:tr>
              <a:tr h="274320">
                <a:tc>
                  <a:txBody>
                    <a:bodyPr/>
                    <a:lstStyle/>
                    <a:p>
                      <a:r>
                        <a:rPr sz="1050" b="0">
                          <a:solidFill>
                            <a:srgbClr val="222A35"/>
                          </a:solidFill>
                          <a:latin typeface="Arial"/>
                        </a:rPr>
                        <a:t>MarkorCreateNoteAndSms</a:t>
                      </a:r>
                    </a:p>
                  </a:txBody>
                  <a:tcPr marL="54864" marR="54864" marT="27432" marB="27432" anchor="ctr">
                    <a:solidFill>
                      <a:srgbClr val="FFFFFF"/>
                    </a:solidFill>
                  </a:tcPr>
                </a:tc>
                <a:tc>
                  <a:txBody>
                    <a:bodyPr/>
                    <a:lstStyle/>
                    <a:p>
                      <a:r>
                        <a:rPr sz="1050" b="0" u="sng">
                          <a:solidFill>
                            <a:srgbClr val="0065BD"/>
                          </a:solidFill>
                          <a:latin typeface="Arial"/>
                          <a:hlinkClick r:id="rId3"/>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 + Skill</a:t>
                      </a:r>
                    </a:p>
                  </a:txBody>
                  <a:tcPr marL="54864" marR="54864" marT="27432" marB="27432" anchor="ctr">
                    <a:solidFill>
                      <a:srgbClr val="FFFFFF"/>
                    </a:solidFill>
                  </a:tcPr>
                </a:tc>
                <a:tc>
                  <a:txBody>
                    <a:bodyPr/>
                    <a:lstStyle/>
                    <a:p>
                      <a:r>
                        <a:rPr sz="1050" b="0">
                          <a:solidFill>
                            <a:srgbClr val="222A35"/>
                          </a:solidFill>
                          <a:latin typeface="Arial"/>
                        </a:rPr>
                        <a:t>18 / 40</a:t>
                      </a:r>
                    </a:p>
                  </a:txBody>
                  <a:tcPr marL="54864" marR="54864" marT="27432" marB="27432" anchor="ctr">
                    <a:solidFill>
                      <a:srgbClr val="FFFFFF"/>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grounding</a:t>
                      </a:r>
                    </a:p>
                  </a:txBody>
                  <a:tcPr marL="54864" marR="54864" marT="27432" marB="27432" anchor="ctr">
                    <a:solidFill>
                      <a:srgbClr val="FCECE0"/>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Note saved; Share &gt; Plain Text sent its text to SMS Messenger; number confirmed. The model then said the SMS button was at the top right and tapped [940, 60] four times; the button was at the right of the message bar. No-progress stop.</a:t>
                      </a:r>
                    </a:p>
                  </a:txBody>
                  <a:tcPr marL="54864" marR="54864" marT="27432" marB="27432" anchor="ctr">
                    <a:solidFill>
                      <a:srgbClr val="FFFFFF"/>
                    </a:solidFill>
                  </a:tcPr>
                </a:tc>
                <a:extLst>
                  <a:ext uri="{0D108BD9-81ED-4DB2-BD59-A6C34878D82A}">
                    <a16:rowId xmlns:a16="http://schemas.microsoft.com/office/drawing/2014/main" val="10001"/>
                  </a:ext>
                </a:extLst>
              </a:tr>
              <a:tr h="274320">
                <a:tc>
                  <a:txBody>
                    <a:bodyPr/>
                    <a:lstStyle/>
                    <a:p>
                      <a:r>
                        <a:rPr sz="1050" b="0">
                          <a:solidFill>
                            <a:srgbClr val="222A35"/>
                          </a:solidFill>
                          <a:latin typeface="Arial"/>
                        </a:rPr>
                        <a:t>MarkorCreateNoteAndSms</a:t>
                      </a:r>
                    </a:p>
                  </a:txBody>
                  <a:tcPr marL="54864" marR="54864" marT="27432" marB="27432" anchor="ctr">
                    <a:solidFill>
                      <a:srgbClr val="F2F5F9"/>
                    </a:solidFill>
                  </a:tcPr>
                </a:tc>
                <a:tc>
                  <a:txBody>
                    <a:bodyPr/>
                    <a:lstStyle/>
                    <a:p>
                      <a:r>
                        <a:rPr sz="1050" b="0" u="sng">
                          <a:solidFill>
                            <a:srgbClr val="0065BD"/>
                          </a:solidFill>
                          <a:latin typeface="Arial"/>
                          <a:hlinkClick r:id="rId4"/>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 + Skill</a:t>
                      </a:r>
                    </a:p>
                  </a:txBody>
                  <a:tcPr marL="54864" marR="54864" marT="27432" marB="27432" anchor="ctr">
                    <a:solidFill>
                      <a:srgbClr val="F2F5F9"/>
                    </a:solidFill>
                  </a:tcPr>
                </a:tc>
                <a:tc>
                  <a:txBody>
                    <a:bodyPr/>
                    <a:lstStyle/>
                    <a:p>
                      <a:r>
                        <a:rPr sz="1050" b="0">
                          <a:solidFill>
                            <a:srgbClr val="222A35"/>
                          </a:solidFill>
                          <a:latin typeface="Arial"/>
                        </a:rPr>
                        <a:t>18 / 40</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New file, name and .txt, text, Save; More options &gt; Share &gt; Plain Text &gt; SMS Messenger; number and checkmark; the text was already in the message field, so it only tapped SMS.</a:t>
                      </a:r>
                    </a:p>
                  </a:txBody>
                  <a:tcPr marL="54864" marR="54864" marT="27432" marB="27432" anchor="ctr">
                    <a:solidFill>
                      <a:srgbClr val="F2F5F9"/>
                    </a:solidFill>
                  </a:tcPr>
                </a:tc>
                <a:extLst>
                  <a:ext uri="{0D108BD9-81ED-4DB2-BD59-A6C34878D82A}">
                    <a16:rowId xmlns:a16="http://schemas.microsoft.com/office/drawing/2014/main" val="10002"/>
                  </a:ext>
                </a:extLst>
              </a:tr>
              <a:tr h="274320">
                <a:tc>
                  <a:txBody>
                    <a:bodyPr/>
                    <a:lstStyle/>
                    <a:p>
                      <a:r>
                        <a:rPr sz="1050" b="0">
                          <a:solidFill>
                            <a:srgbClr val="222A35"/>
                          </a:solidFill>
                          <a:latin typeface="Arial"/>
                        </a:rPr>
                        <a:t>MarkorCreateNoteAndSms</a:t>
                      </a:r>
                    </a:p>
                  </a:txBody>
                  <a:tcPr marL="54864" marR="54864" marT="27432" marB="27432" anchor="ctr">
                    <a:solidFill>
                      <a:srgbClr val="FFFFFF"/>
                    </a:solidFill>
                  </a:tcPr>
                </a:tc>
                <a:tc>
                  <a:txBody>
                    <a:bodyPr/>
                    <a:lstStyle/>
                    <a:p>
                      <a:r>
                        <a:rPr sz="1050" b="0" u="sng">
                          <a:solidFill>
                            <a:srgbClr val="0065BD"/>
                          </a:solidFill>
                          <a:latin typeface="Arial"/>
                          <a:hlinkClick r:id="rId5"/>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 + Skill</a:t>
                      </a:r>
                    </a:p>
                  </a:txBody>
                  <a:tcPr marL="54864" marR="54864" marT="27432" marB="27432" anchor="ctr">
                    <a:solidFill>
                      <a:srgbClr val="FFFFFF"/>
                    </a:solidFill>
                  </a:tcPr>
                </a:tc>
                <a:tc>
                  <a:txBody>
                    <a:bodyPr/>
                    <a:lstStyle/>
                    <a:p>
                      <a:r>
                        <a:rPr sz="1050" b="0">
                          <a:solidFill>
                            <a:srgbClr val="222A35"/>
                          </a:solidFill>
                          <a:latin typeface="Arial"/>
                        </a:rPr>
                        <a:t>18 / 40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2</a:t>
                      </a:r>
                    </a:p>
                  </a:txBody>
                  <a:tcPr marL="54864" marR="54864" marT="27432" marB="27432" anchor="ctr">
                    <a:solidFill>
                      <a:srgbClr val="FFFFFF"/>
                    </a:solidFill>
                  </a:tcPr>
                </a:tc>
                <a:tc>
                  <a:txBody>
                    <a:bodyPr/>
                    <a:lstStyle/>
                    <a:p>
                      <a:r>
                        <a:rPr sz="1050" b="0">
                          <a:solidFill>
                            <a:srgbClr val="222A35"/>
                          </a:solidFill>
                          <a:latin typeface="Arial"/>
                        </a:rPr>
                        <a:t>Same path as run 2: the note's text was shared with Share &gt; Plain Text, not typed again; SMS sent in 18 steps.</a:t>
                      </a:r>
                    </a:p>
                  </a:txBody>
                  <a:tcPr marL="54864" marR="54864" marT="27432" marB="27432" anchor="ctr">
                    <a:solidFill>
                      <a:srgbClr val="FFFFFF"/>
                    </a:solidFill>
                  </a:tcPr>
                </a:tc>
                <a:extLst>
                  <a:ext uri="{0D108BD9-81ED-4DB2-BD59-A6C34878D82A}">
                    <a16:rowId xmlns:a16="http://schemas.microsoft.com/office/drawing/2014/main" val="10003"/>
                  </a:ext>
                </a:extLst>
              </a:tr>
              <a:tr h="274320">
                <a:tc>
                  <a:txBody>
                    <a:bodyPr/>
                    <a:lstStyle/>
                    <a:p>
                      <a:r>
                        <a:rPr sz="1050" b="0">
                          <a:solidFill>
                            <a:srgbClr val="222A35"/>
                          </a:solidFill>
                          <a:latin typeface="Arial"/>
                        </a:rPr>
                        <a:t>OsmAndTrack</a:t>
                      </a:r>
                    </a:p>
                  </a:txBody>
                  <a:tcPr marL="54864" marR="54864" marT="27432" marB="27432" anchor="ctr">
                    <a:solidFill>
                      <a:srgbClr val="F2F5F9"/>
                    </a:solidFill>
                  </a:tcPr>
                </a:tc>
                <a:tc>
                  <a:txBody>
                    <a:bodyPr/>
                    <a:lstStyle/>
                    <a:p>
                      <a:r>
                        <a:rPr sz="1050" b="0" u="sng">
                          <a:solidFill>
                            <a:srgbClr val="0065BD"/>
                          </a:solidFill>
                          <a:latin typeface="Arial"/>
                          <a:hlinkClick r:id="rId6"/>
                        </a:rPr>
                        <a:t>1 of 3</a:t>
                      </a:r>
                    </a:p>
                  </a:txBody>
                  <a:tcPr marL="54864" marR="54864" marT="27432" marB="27432" anchor="ctr">
                    <a:solidFill>
                      <a:srgbClr val="F2F5F9"/>
                    </a:solidFill>
                  </a:tcPr>
                </a:tc>
                <a:tc>
                  <a:txBody>
                    <a:bodyPr/>
                    <a:lstStyle/>
                    <a:p>
                      <a:r>
                        <a:rPr sz="1050" b="0">
                          <a:solidFill>
                            <a:srgbClr val="222A35"/>
                          </a:solidFill>
                          <a:latin typeface="Arial"/>
                        </a:rPr>
                        <a:t>31</a:t>
                      </a:r>
                    </a:p>
                  </a:txBody>
                  <a:tcPr marL="54864" marR="54864" marT="27432" marB="27432" anchor="ctr">
                    <a:solidFill>
                      <a:srgbClr val="F2F5F9"/>
                    </a:solidFill>
                  </a:tcPr>
                </a:tc>
                <a:tc>
                  <a:txBody>
                    <a:bodyPr/>
                    <a:lstStyle/>
                    <a:p>
                      <a:r>
                        <a:rPr sz="1050" b="0">
                          <a:solidFill>
                            <a:srgbClr val="222A35"/>
                          </a:solidFill>
                          <a:latin typeface="Arial"/>
                        </a:rPr>
                        <a:t>screenshot + tree + Skill</a:t>
                      </a:r>
                    </a:p>
                  </a:txBody>
                  <a:tcPr marL="54864" marR="54864" marT="27432" marB="27432" anchor="ctr">
                    <a:solidFill>
                      <a:srgbClr val="F2F5F9"/>
                    </a:solidFill>
                  </a:tcPr>
                </a:tc>
                <a:tc>
                  <a:txBody>
                    <a:bodyPr/>
                    <a:lstStyle/>
                    <a:p>
                      <a:r>
                        <a:rPr sz="1050" b="0">
                          <a:solidFill>
                            <a:srgbClr val="222A35"/>
                          </a:solidFill>
                          <a:latin typeface="Arial"/>
                        </a:rPr>
                        <a:t>22 / 90</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4</a:t>
                      </a:r>
                    </a:p>
                  </a:txBody>
                  <a:tcPr marL="54864" marR="54864" marT="27432" marB="27432" anchor="ctr">
                    <a:solidFill>
                      <a:srgbClr val="F2F5F9"/>
                    </a:solidFill>
                  </a:tcPr>
                </a:tc>
                <a:tc>
                  <a:txBody>
                    <a:bodyPr/>
                    <a:lstStyle/>
                    <a:p>
                      <a:r>
                        <a:rPr sz="1050" b="0">
                          <a:solidFill>
                            <a:srgbClr val="222A35"/>
                          </a:solidFill>
                          <a:latin typeface="Arial"/>
                        </a:rPr>
                        <a:t>Before the run the runner restored OsmAnd's map (the Files runs had cleared storage). Three radius increases and one scroll found the Ruggell village; Actions &gt; Plan a route; searched Bendern, SHOW ON THE MAP, Back x3, Add, Done. The Favorite button and one unfocused Type were refused.</a:t>
                      </a:r>
                    </a:p>
                  </a:txBody>
                  <a:tcPr marL="54864" marR="54864" marT="27432" marB="27432" anchor="ctr">
                    <a:solidFill>
                      <a:srgbClr val="F2F5F9"/>
                    </a:solidFill>
                  </a:tcPr>
                </a:tc>
                <a:extLst>
                  <a:ext uri="{0D108BD9-81ED-4DB2-BD59-A6C34878D82A}">
                    <a16:rowId xmlns:a16="http://schemas.microsoft.com/office/drawing/2014/main" val="10004"/>
                  </a:ext>
                </a:extLst>
              </a:tr>
              <a:tr h="274320">
                <a:tc>
                  <a:txBody>
                    <a:bodyPr/>
                    <a:lstStyle/>
                    <a:p>
                      <a:r>
                        <a:rPr sz="1050" b="0">
                          <a:solidFill>
                            <a:srgbClr val="222A35"/>
                          </a:solidFill>
                          <a:latin typeface="Arial"/>
                        </a:rPr>
                        <a:t>OsmAndTrack</a:t>
                      </a:r>
                    </a:p>
                  </a:txBody>
                  <a:tcPr marL="54864" marR="54864" marT="27432" marB="27432" anchor="ctr">
                    <a:solidFill>
                      <a:srgbClr val="FFFFFF"/>
                    </a:solidFill>
                  </a:tcPr>
                </a:tc>
                <a:tc>
                  <a:txBody>
                    <a:bodyPr/>
                    <a:lstStyle/>
                    <a:p>
                      <a:r>
                        <a:rPr sz="1050" b="0" u="sng">
                          <a:solidFill>
                            <a:srgbClr val="0065BD"/>
                          </a:solidFill>
                          <a:latin typeface="Arial"/>
                          <a:hlinkClick r:id="rId7"/>
                        </a:rPr>
                        <a:t>2 of 3</a:t>
                      </a:r>
                    </a:p>
                  </a:txBody>
                  <a:tcPr marL="54864" marR="54864" marT="27432" marB="27432" anchor="ctr">
                    <a:solidFill>
                      <a:srgbClr val="FFFFFF"/>
                    </a:solidFill>
                  </a:tcPr>
                </a:tc>
                <a:tc>
                  <a:txBody>
                    <a:bodyPr/>
                    <a:lstStyle/>
                    <a:p>
                      <a:r>
                        <a:rPr sz="1050" b="0">
                          <a:solidFill>
                            <a:srgbClr val="222A35"/>
                          </a:solidFill>
                          <a:latin typeface="Arial"/>
                        </a:rPr>
                        <a:t>314</a:t>
                      </a:r>
                    </a:p>
                  </a:txBody>
                  <a:tcPr marL="54864" marR="54864" marT="27432" marB="27432" anchor="ctr">
                    <a:solidFill>
                      <a:srgbClr val="FFFFFF"/>
                    </a:solidFill>
                  </a:tcPr>
                </a:tc>
                <a:tc>
                  <a:txBody>
                    <a:bodyPr/>
                    <a:lstStyle/>
                    <a:p>
                      <a:r>
                        <a:rPr sz="1050" b="0">
                          <a:solidFill>
                            <a:srgbClr val="222A35"/>
                          </a:solidFill>
                          <a:latin typeface="Arial"/>
                        </a:rPr>
                        <a:t>screenshot + tree + Skill</a:t>
                      </a:r>
                    </a:p>
                  </a:txBody>
                  <a:tcPr marL="54864" marR="54864" marT="27432" marB="27432" anchor="ctr">
                    <a:solidFill>
                      <a:srgbClr val="FFFFFF"/>
                    </a:solidFill>
                  </a:tcPr>
                </a:tc>
                <a:tc>
                  <a:txBody>
                    <a:bodyPr/>
                    <a:lstStyle/>
                    <a:p>
                      <a:r>
                        <a:rPr sz="1050" b="0">
                          <a:solidFill>
                            <a:srgbClr val="222A35"/>
                          </a:solidFill>
                          <a:latin typeface="Arial"/>
                        </a:rPr>
                        <a:t>23 / 90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3</a:t>
                      </a:r>
                    </a:p>
                  </a:txBody>
                  <a:tcPr marL="54864" marR="54864" marT="27432" marB="27432" anchor="ctr">
                    <a:solidFill>
                      <a:srgbClr val="FFFFFF"/>
                    </a:solidFill>
                  </a:tcPr>
                </a:tc>
                <a:tc>
                  <a:txBody>
                    <a:bodyPr/>
                    <a:lstStyle/>
                    <a:p>
                      <a:r>
                        <a:rPr sz="1050" b="0">
                          <a:solidFill>
                            <a:srgbClr val="222A35"/>
                          </a:solidFill>
                          <a:latin typeface="Arial"/>
                        </a:rPr>
                        <a:t>Same procedure as run 1; the accessibility service's “keeps stopping” dialog appeared and the model closed it; one unfocused Type was refused. Shown on slide 10.</a:t>
                      </a:r>
                    </a:p>
                  </a:txBody>
                  <a:tcPr marL="54864" marR="54864" marT="27432" marB="27432" anchor="ctr">
                    <a:solidFill>
                      <a:srgbClr val="FFFFFF"/>
                    </a:solidFill>
                  </a:tcPr>
                </a:tc>
                <a:extLst>
                  <a:ext uri="{0D108BD9-81ED-4DB2-BD59-A6C34878D82A}">
                    <a16:rowId xmlns:a16="http://schemas.microsoft.com/office/drawing/2014/main" val="10005"/>
                  </a:ext>
                </a:extLst>
              </a:tr>
              <a:tr h="274320">
                <a:tc>
                  <a:txBody>
                    <a:bodyPr/>
                    <a:lstStyle/>
                    <a:p>
                      <a:r>
                        <a:rPr sz="1050" b="0">
                          <a:solidFill>
                            <a:srgbClr val="222A35"/>
                          </a:solidFill>
                          <a:latin typeface="Arial"/>
                        </a:rPr>
                        <a:t>OsmAndTrack</a:t>
                      </a:r>
                    </a:p>
                  </a:txBody>
                  <a:tcPr marL="54864" marR="54864" marT="27432" marB="27432" anchor="ctr">
                    <a:solidFill>
                      <a:srgbClr val="F2F5F9"/>
                    </a:solidFill>
                  </a:tcPr>
                </a:tc>
                <a:tc>
                  <a:txBody>
                    <a:bodyPr/>
                    <a:lstStyle/>
                    <a:p>
                      <a:r>
                        <a:rPr sz="1050" b="0" u="sng">
                          <a:solidFill>
                            <a:srgbClr val="0065BD"/>
                          </a:solidFill>
                          <a:latin typeface="Arial"/>
                          <a:hlinkClick r:id="rId8"/>
                        </a:rPr>
                        <a:t>3 of 3</a:t>
                      </a:r>
                    </a:p>
                  </a:txBody>
                  <a:tcPr marL="54864" marR="54864" marT="27432" marB="27432" anchor="ctr">
                    <a:solidFill>
                      <a:srgbClr val="F2F5F9"/>
                    </a:solidFill>
                  </a:tcPr>
                </a:tc>
                <a:tc>
                  <a:txBody>
                    <a:bodyPr/>
                    <a:lstStyle/>
                    <a:p>
                      <a:r>
                        <a:rPr sz="1050" b="0">
                          <a:solidFill>
                            <a:srgbClr val="222A35"/>
                          </a:solidFill>
                          <a:latin typeface="Arial"/>
                        </a:rPr>
                        <a:t>366</a:t>
                      </a:r>
                    </a:p>
                  </a:txBody>
                  <a:tcPr marL="54864" marR="54864" marT="27432" marB="27432" anchor="ctr">
                    <a:solidFill>
                      <a:srgbClr val="F2F5F9"/>
                    </a:solidFill>
                  </a:tcPr>
                </a:tc>
                <a:tc>
                  <a:txBody>
                    <a:bodyPr/>
                    <a:lstStyle/>
                    <a:p>
                      <a:r>
                        <a:rPr sz="1050" b="0">
                          <a:solidFill>
                            <a:srgbClr val="222A35"/>
                          </a:solidFill>
                          <a:latin typeface="Arial"/>
                        </a:rPr>
                        <a:t>screenshot + tree + Skill</a:t>
                      </a:r>
                    </a:p>
                  </a:txBody>
                  <a:tcPr marL="54864" marR="54864" marT="27432" marB="27432" anchor="ctr">
                    <a:solidFill>
                      <a:srgbClr val="F2F5F9"/>
                    </a:solidFill>
                  </a:tcPr>
                </a:tc>
                <a:tc>
                  <a:txBody>
                    <a:bodyPr/>
                    <a:lstStyle/>
                    <a:p>
                      <a:r>
                        <a:rPr sz="1050" b="0">
                          <a:solidFill>
                            <a:srgbClr val="222A35"/>
                          </a:solidFill>
                          <a:latin typeface="Arial"/>
                        </a:rPr>
                        <a:t>16 / 90</a:t>
                      </a:r>
                    </a:p>
                  </a:txBody>
                  <a:tcPr marL="54864" marR="54864" marT="27432" marB="27432" anchor="ctr">
                    <a:solidFill>
                      <a:srgbClr val="F2F5F9"/>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grounding</a:t>
                      </a:r>
                    </a:p>
                  </a:txBody>
                  <a:tcPr marL="54864" marR="54864" marT="27432" marB="27432" anchor="ctr">
                    <a:solidFill>
                      <a:srgbClr val="FCECE0"/>
                    </a:solidFill>
                  </a:tcPr>
                </a:tc>
                <a:tc>
                  <a:txBody>
                    <a:bodyPr/>
                    <a:lstStyle/>
                    <a:p>
                      <a:r>
                        <a:rPr sz="1050" b="0">
                          <a:solidFill>
                            <a:srgbClr val="222A35"/>
                          </a:solidFill>
                          <a:latin typeface="Arial"/>
                        </a:rPr>
                        <a:t>2</a:t>
                      </a:r>
                    </a:p>
                  </a:txBody>
                  <a:tcPr marL="54864" marR="54864" marT="27432" marB="27432" anchor="ctr">
                    <a:solidFill>
                      <a:srgbClr val="F2F5F9"/>
                    </a:solidFill>
                  </a:tcPr>
                </a:tc>
                <a:tc>
                  <a:txBody>
                    <a:bodyPr/>
                    <a:lstStyle/>
                    <a:p>
                      <a:r>
                        <a:rPr sz="1050" b="0">
                          <a:solidFill>
                            <a:srgbClr val="222A35"/>
                          </a:solidFill>
                          <a:latin typeface="Arial"/>
                        </a:rPr>
                        <a:t>Ruggell became route point 1 and the crash dialog was closed; in the second search the code stated “Tap Clear at [941, 83]” but the model tapped [941, 57], the top edge of the button, three times with no effect. No-progress stop.</a:t>
                      </a:r>
                    </a:p>
                  </a:txBody>
                  <a:tcPr marL="54864" marR="54864" marT="27432" marB="27432" anchor="ctr">
                    <a:solidFill>
                      <a:srgbClr val="F2F5F9"/>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All 21 evaluation runs at once (sped up)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15</a:t>
            </a:r>
          </a:p>
        </p:txBody>
      </p:sp>
      <p:pic>
        <p:nvPicPr>
          <p:cNvPr id="9" name="wall_21_run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371600"/>
            <a:ext cx="5232654" cy="4983480"/>
          </a:xfrm>
          <a:prstGeom prst="rect">
            <a:avLst/>
          </a:prstGeom>
        </p:spPr>
      </p:pic>
      <p:sp>
        <p:nvSpPr>
          <p:cNvPr id="10" name="Rectangle 9"/>
          <p:cNvSpPr/>
          <p:nvPr/>
        </p:nvSpPr>
        <p:spPr>
          <a:xfrm>
            <a:off x="6263640" y="1371600"/>
            <a:ext cx="5303520" cy="4983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6263640" y="1371600"/>
            <a:ext cx="54864" cy="4983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28231" y="1463040"/>
            <a:ext cx="504748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How to read it</a:t>
            </a:r>
          </a:p>
        </p:txBody>
      </p:sp>
      <p:sp>
        <p:nvSpPr>
          <p:cNvPr id="13" name="TextBox 12"/>
          <p:cNvSpPr txBox="1"/>
          <p:nvPr/>
        </p:nvSpPr>
        <p:spPr>
          <a:xfrm>
            <a:off x="6428231" y="1874519"/>
            <a:ext cx="5029200" cy="1881862"/>
          </a:xfrm>
          <a:prstGeom prst="rect">
            <a:avLst/>
          </a:prstGeom>
          <a:noFill/>
        </p:spPr>
        <p:txBody>
          <a:bodyPr wrap="square">
            <a:spAutoFit/>
          </a:bodyPr>
          <a:lstStyle/>
          <a:p>
            <a:pPr>
              <a:lnSpc>
                <a:spcPct val="108000"/>
              </a:lnSpc>
              <a:spcAft>
                <a:spcPts val="300"/>
              </a:spcAft>
            </a:pPr>
            <a:r>
              <a:rPr sz="1700" dirty="0">
                <a:solidFill>
                  <a:srgbClr val="0065BD"/>
                </a:solidFill>
                <a:latin typeface="Arial"/>
              </a:rPr>
              <a:t>▪  </a:t>
            </a:r>
            <a:r>
              <a:rPr sz="1700" b="0" dirty="0">
                <a:solidFill>
                  <a:srgbClr val="222A35"/>
                </a:solidFill>
                <a:latin typeface="Arial"/>
              </a:rPr>
              <a:t>Columns: Wi-Fi, Contacts, SMS, Files, Calendar, </a:t>
            </a:r>
            <a:r>
              <a:rPr sz="1700" b="0" dirty="0" err="1">
                <a:solidFill>
                  <a:srgbClr val="222A35"/>
                </a:solidFill>
                <a:latin typeface="Arial"/>
              </a:rPr>
              <a:t>Markor</a:t>
            </a:r>
            <a:r>
              <a:rPr sz="1700" b="0" dirty="0">
                <a:solidFill>
                  <a:srgbClr val="222A35"/>
                </a:solidFill>
                <a:latin typeface="Arial"/>
              </a:rPr>
              <a:t> + SMS, </a:t>
            </a:r>
            <a:r>
              <a:rPr sz="1700" b="0" dirty="0" err="1">
                <a:solidFill>
                  <a:srgbClr val="222A35"/>
                </a:solidFill>
                <a:latin typeface="Arial"/>
              </a:rPr>
              <a:t>OsmAnd</a:t>
            </a:r>
            <a:endParaRPr sz="1700" b="0" dirty="0">
              <a:solidFill>
                <a:srgbClr val="222A35"/>
              </a:solidFill>
              <a:latin typeface="Arial"/>
            </a:endParaRPr>
          </a:p>
          <a:p>
            <a:pPr>
              <a:lnSpc>
                <a:spcPct val="108000"/>
              </a:lnSpc>
              <a:spcAft>
                <a:spcPts val="300"/>
              </a:spcAft>
            </a:pPr>
            <a:r>
              <a:rPr sz="1700" dirty="0">
                <a:solidFill>
                  <a:srgbClr val="0065BD"/>
                </a:solidFill>
                <a:latin typeface="Arial"/>
              </a:rPr>
              <a:t>▪  </a:t>
            </a:r>
            <a:r>
              <a:rPr sz="1700" b="0" dirty="0">
                <a:solidFill>
                  <a:srgbClr val="222A35"/>
                </a:solidFill>
                <a:latin typeface="Arial"/>
              </a:rPr>
              <a:t>Rows: run 1, 2, 3 (seeds 42 / 43 / 44; </a:t>
            </a:r>
            <a:r>
              <a:rPr sz="1700" b="0" dirty="0" err="1">
                <a:solidFill>
                  <a:srgbClr val="222A35"/>
                </a:solidFill>
                <a:latin typeface="Arial"/>
              </a:rPr>
              <a:t>OsmAnd</a:t>
            </a:r>
            <a:r>
              <a:rPr sz="1700" b="0" dirty="0">
                <a:solidFill>
                  <a:srgbClr val="222A35"/>
                </a:solidFill>
                <a:latin typeface="Arial"/>
              </a:rPr>
              <a:t> 31 / 314 / 366)</a:t>
            </a:r>
          </a:p>
          <a:p>
            <a:pPr>
              <a:lnSpc>
                <a:spcPct val="108000"/>
              </a:lnSpc>
              <a:spcAft>
                <a:spcPts val="300"/>
              </a:spcAft>
            </a:pPr>
            <a:r>
              <a:rPr sz="1700" dirty="0">
                <a:solidFill>
                  <a:srgbClr val="0065BD"/>
                </a:solidFill>
                <a:latin typeface="Arial"/>
              </a:rPr>
              <a:t>▪  </a:t>
            </a:r>
            <a:r>
              <a:rPr sz="1700" b="0" dirty="0">
                <a:solidFill>
                  <a:srgbClr val="222A35"/>
                </a:solidFill>
                <a:latin typeface="Arial"/>
              </a:rPr>
              <a:t>Label: verdict and speed-up (x2)</a:t>
            </a:r>
          </a:p>
          <a:p>
            <a:pPr>
              <a:lnSpc>
                <a:spcPct val="108000"/>
              </a:lnSpc>
              <a:spcAft>
                <a:spcPts val="300"/>
              </a:spcAft>
            </a:pPr>
            <a:r>
              <a:rPr sz="1700" dirty="0">
                <a:solidFill>
                  <a:srgbClr val="0065BD"/>
                </a:solidFill>
                <a:latin typeface="Arial"/>
              </a:rPr>
              <a:t>▪  </a:t>
            </a:r>
            <a:r>
              <a:rPr sz="1700" b="0" dirty="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pPr algn="l">
              <a:lnSpc>
                <a:spcPct val="100000"/>
              </a:lnSpc>
            </a:pPr>
            <a:r>
              <a:rPr lang="en-US" sz="2800" b="1" i="0" dirty="0">
                <a:solidFill>
                  <a:srgbClr val="072140"/>
                </a:solidFill>
                <a:latin typeface="Arial"/>
              </a:rPr>
              <a:t>Warm-up: SystemWifiTurnOn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16</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186415"/>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dirty="0">
                <a:solidFill>
                  <a:srgbClr val="222A35"/>
                </a:solidFill>
                <a:latin typeface="Arial"/>
              </a:rPr>
              <a:t>S</a:t>
            </a:r>
            <a:r>
              <a:rPr lang="en-US" sz="1500" b="0" dirty="0">
                <a:solidFill>
                  <a:srgbClr val="222A35"/>
                </a:solidFill>
                <a:latin typeface="Arial"/>
              </a:rPr>
              <a:t>eed 42</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5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Switched Wi-Fi on</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Finished on its own</a:t>
            </a:r>
          </a:p>
        </p:txBody>
      </p:sp>
      <p:pic>
        <p:nvPicPr>
          <p:cNvPr id="20" name="WIFI">
            <a:hlinkClick r:id="" action="ppaction://media"/>
            <a:extLst>
              <a:ext uri="{FF2B5EF4-FFF2-40B4-BE49-F238E27FC236}">
                <a16:creationId xmlns:a16="http://schemas.microsoft.com/office/drawing/2014/main" id="{0BF6308A-12A7-8EEF-BBA3-7D336A5A8E00}"/>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37447" r="37310"/>
          <a:stretch>
            <a:fillRect/>
          </a:stretch>
        </p:blipFill>
        <p:spPr>
          <a:xfrm>
            <a:off x="1188720" y="1417319"/>
            <a:ext cx="2240280" cy="4991501"/>
          </a:xfrm>
          <a:prstGeom prst="rect">
            <a:avLst/>
          </a:prstGeom>
        </p:spPr>
      </p:pic>
    </p:spTree>
    <p:extLst>
      <p:ext uri="{BB962C8B-B14F-4D97-AF65-F5344CB8AC3E}">
        <p14:creationId xmlns:p14="http://schemas.microsoft.com/office/powerpoint/2010/main" val="3981267619"/>
      </p:ext>
    </p:extLst>
  </p:cSld>
  <p:clrMapOvr>
    <a:masterClrMapping/>
  </p:clrMapOvr>
  <p:timing>
    <p:tnLst>
      <p:par>
        <p:cTn id="1" dur="indefinite" restart="never" nodeType="tmRoot">
          <p:childTnLst>
            <p:video>
              <p:cMediaNode vol="80000">
                <p:cTn id="2" fill="hold" display="0">
                  <p:stCondLst>
                    <p:cond delay="indefinite"/>
                  </p:stCondLst>
                </p:cTn>
                <p:tgtEl>
                  <p:spTgt spid="20"/>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Warm-up</a:t>
            </a:r>
            <a:r>
              <a:rPr lang="en-US" sz="2800" b="1" i="0" dirty="0">
                <a:solidFill>
                  <a:srgbClr val="072140"/>
                </a:solidFill>
                <a:latin typeface="Arial"/>
              </a:rPr>
              <a:t>: ContactsAddContact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17</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1435714"/>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dirty="0">
                <a:solidFill>
                  <a:srgbClr val="222A35"/>
                </a:solidFill>
                <a:latin typeface="Arial"/>
              </a:rPr>
              <a:t>S</a:t>
            </a:r>
            <a:r>
              <a:rPr lang="en-US" sz="1500" b="0" dirty="0">
                <a:solidFill>
                  <a:srgbClr val="222A35"/>
                </a:solidFill>
                <a:latin typeface="Arial"/>
              </a:rPr>
              <a:t>eed 42</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12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Name, scroll, number, save</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Finished on its own</a:t>
            </a:r>
          </a:p>
        </p:txBody>
      </p:sp>
      <p:sp>
        <p:nvSpPr>
          <p:cNvPr id="15" name="Rectangle 14"/>
          <p:cNvSpPr/>
          <p:nvPr/>
        </p:nvSpPr>
        <p:spPr>
          <a:xfrm>
            <a:off x="8778241" y="1417320"/>
            <a:ext cx="2532886"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1435714"/>
          </a:xfrm>
          <a:prstGeom prst="rect">
            <a:avLst/>
          </a:prstGeom>
          <a:noFill/>
        </p:spPr>
        <p:txBody>
          <a:bodyPr wrap="square">
            <a:spAutoFit/>
          </a:bodyPr>
          <a:lstStyle/>
          <a:p>
            <a:pPr>
              <a:lnSpc>
                <a:spcPct val="108000"/>
              </a:lnSpc>
              <a:spcAft>
                <a:spcPts val="300"/>
              </a:spcAft>
            </a:pPr>
            <a:r>
              <a:rPr sz="1500" dirty="0">
                <a:solidFill>
                  <a:srgbClr val="E37222"/>
                </a:solidFill>
                <a:latin typeface="Arial"/>
              </a:rPr>
              <a:t>▪  </a:t>
            </a:r>
            <a:r>
              <a:rPr lang="en-US" sz="1500" dirty="0">
                <a:solidFill>
                  <a:srgbClr val="222A35"/>
                </a:solidFill>
                <a:latin typeface="Arial"/>
              </a:rPr>
              <a:t>S</a:t>
            </a:r>
            <a:r>
              <a:rPr lang="en-US" sz="1500" b="0" dirty="0">
                <a:solidFill>
                  <a:srgbClr val="222A35"/>
                </a:solidFill>
                <a:latin typeface="Arial"/>
              </a:rPr>
              <a:t>eed 43</a:t>
            </a:r>
          </a:p>
          <a:p>
            <a:pPr>
              <a:lnSpc>
                <a:spcPct val="108000"/>
              </a:lnSpc>
              <a:spcAft>
                <a:spcPts val="300"/>
              </a:spcAft>
            </a:pPr>
            <a:r>
              <a:rPr sz="1500" dirty="0">
                <a:solidFill>
                  <a:srgbClr val="E37222"/>
                </a:solidFill>
                <a:latin typeface="Arial"/>
              </a:rPr>
              <a:t>▪  </a:t>
            </a:r>
            <a:r>
              <a:rPr lang="en-US" sz="1500" b="0" dirty="0">
                <a:solidFill>
                  <a:srgbClr val="222A35"/>
                </a:solidFill>
                <a:latin typeface="Arial"/>
              </a:rPr>
              <a:t>11 steps, FAIL</a:t>
            </a:r>
          </a:p>
          <a:p>
            <a:pPr>
              <a:lnSpc>
                <a:spcPct val="108000"/>
              </a:lnSpc>
              <a:spcAft>
                <a:spcPts val="300"/>
              </a:spcAft>
            </a:pPr>
            <a:r>
              <a:rPr sz="1500" dirty="0">
                <a:solidFill>
                  <a:srgbClr val="E37222"/>
                </a:solidFill>
                <a:latin typeface="Arial"/>
              </a:rPr>
              <a:t>▪  </a:t>
            </a:r>
            <a:r>
              <a:rPr lang="en-US" sz="1500" b="0" dirty="0">
                <a:solidFill>
                  <a:srgbClr val="222A35"/>
                </a:solidFill>
                <a:latin typeface="Arial"/>
              </a:rPr>
              <a:t>Swiped past the Phone field</a:t>
            </a:r>
          </a:p>
          <a:p>
            <a:pPr>
              <a:lnSpc>
                <a:spcPct val="108000"/>
              </a:lnSpc>
              <a:spcAft>
                <a:spcPts val="300"/>
              </a:spcAft>
            </a:pPr>
            <a:r>
              <a:rPr sz="1500" dirty="0">
                <a:solidFill>
                  <a:srgbClr val="E37222"/>
                </a:solidFill>
                <a:latin typeface="Arial"/>
              </a:rPr>
              <a:t>▪  </a:t>
            </a:r>
            <a:r>
              <a:rPr lang="en-US" sz="1500" b="0" dirty="0">
                <a:solidFill>
                  <a:srgbClr val="222A35"/>
                </a:solidFill>
                <a:latin typeface="Arial"/>
              </a:rPr>
              <a:t>Stopped for no progress</a:t>
            </a:r>
          </a:p>
        </p:txBody>
      </p:sp>
      <p:pic>
        <p:nvPicPr>
          <p:cNvPr id="19" name="Create contact success">
            <a:hlinkClick r:id="" action="ppaction://media"/>
            <a:extLst>
              <a:ext uri="{FF2B5EF4-FFF2-40B4-BE49-F238E27FC236}">
                <a16:creationId xmlns:a16="http://schemas.microsoft.com/office/drawing/2014/main" id="{D8AF7EA0-561F-1B36-DE0E-4822A2C30A51}"/>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37456" r="37299"/>
          <a:stretch>
            <a:fillRect/>
          </a:stretch>
        </p:blipFill>
        <p:spPr>
          <a:xfrm>
            <a:off x="1188720" y="1417319"/>
            <a:ext cx="2240280" cy="4991501"/>
          </a:xfrm>
          <a:prstGeom prst="rect">
            <a:avLst/>
          </a:prstGeom>
        </p:spPr>
      </p:pic>
      <p:pic>
        <p:nvPicPr>
          <p:cNvPr id="20" name="Create contact failed">
            <a:hlinkClick r:id="" action="ppaction://media"/>
            <a:extLst>
              <a:ext uri="{FF2B5EF4-FFF2-40B4-BE49-F238E27FC236}">
                <a16:creationId xmlns:a16="http://schemas.microsoft.com/office/drawing/2014/main" id="{08224475-867A-39B9-EFBB-49BBCAD7EF37}"/>
              </a:ext>
            </a:extLst>
          </p:cNvPr>
          <p:cNvPicPr>
            <a:picLocks noChangeAspect="1"/>
          </p:cNvPicPr>
          <p:nvPr>
            <a:videoFile r:link="rId4"/>
            <p:extLst>
              <p:ext uri="{DAA4B4D4-6D71-4841-9C94-3DE7FCFB9230}">
                <p14:media xmlns:p14="http://schemas.microsoft.com/office/powerpoint/2010/main" r:embed="rId3"/>
              </p:ext>
            </p:extLst>
          </p:nvPr>
        </p:nvPicPr>
        <p:blipFill>
          <a:blip r:embed="rId8"/>
          <a:srcRect l="37456" r="37299"/>
          <a:stretch>
            <a:fillRect/>
          </a:stretch>
        </p:blipFill>
        <p:spPr>
          <a:xfrm>
            <a:off x="6361460" y="1417319"/>
            <a:ext cx="2240280" cy="4991501"/>
          </a:xfrm>
          <a:prstGeom prst="rect">
            <a:avLst/>
          </a:prstGeom>
        </p:spPr>
      </p:pic>
    </p:spTree>
    <p:extLst>
      <p:ext uri="{BB962C8B-B14F-4D97-AF65-F5344CB8AC3E}">
        <p14:creationId xmlns:p14="http://schemas.microsoft.com/office/powerpoint/2010/main" val="38169724"/>
      </p:ext>
    </p:extLst>
  </p:cSld>
  <p:clrMapOvr>
    <a:masterClrMapping/>
  </p:clrMapOvr>
  <p:timing>
    <p:tnLst>
      <p:par>
        <p:cTn id="1" dur="indefinite" restart="never" nodeType="tmRoot">
          <p:childTnLst>
            <p:video>
              <p:cMediaNode vol="80000">
                <p:cTn id="2" fill="hold" display="0">
                  <p:stCondLst>
                    <p:cond delay="indefinite"/>
                  </p:stCondLst>
                </p:cTn>
                <p:tgtEl>
                  <p:spTgt spid="19"/>
                </p:tgtEl>
              </p:cMediaNode>
            </p:video>
            <p:video>
              <p:cMediaNode vol="80000">
                <p:cTn id="3" fill="hold" display="0">
                  <p:stCondLst>
                    <p:cond delay="indefinite"/>
                  </p:stCondLst>
                </p:cTn>
                <p:tgtEl>
                  <p:spTgt spid="20"/>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i="0" dirty="0">
                <a:solidFill>
                  <a:srgbClr val="072140"/>
                </a:solidFill>
                <a:latin typeface="Arial"/>
              </a:rPr>
              <a:t>Real work: SimpleSmsSend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18</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b="0" dirty="0">
                <a:solidFill>
                  <a:srgbClr val="222A35"/>
                </a:solidFill>
                <a:latin typeface="Arial"/>
              </a:rPr>
              <a:t>Seed 42</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9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New conversation, number, message, send</a:t>
            </a:r>
          </a:p>
        </p:txBody>
      </p:sp>
      <p:pic>
        <p:nvPicPr>
          <p:cNvPr id="19" name="Send SMS">
            <a:hlinkClick r:id="" action="ppaction://media"/>
            <a:extLst>
              <a:ext uri="{FF2B5EF4-FFF2-40B4-BE49-F238E27FC236}">
                <a16:creationId xmlns:a16="http://schemas.microsoft.com/office/drawing/2014/main" id="{1EF78A74-EBFE-DF1F-CE30-C6AA31B1E6DC}"/>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37456" r="37299"/>
          <a:stretch>
            <a:fillRect/>
          </a:stretch>
        </p:blipFill>
        <p:spPr>
          <a:xfrm>
            <a:off x="1188720" y="1417319"/>
            <a:ext cx="2240280" cy="4991501"/>
          </a:xfrm>
          <a:prstGeom prst="rect">
            <a:avLst/>
          </a:prstGeom>
        </p:spPr>
      </p:pic>
    </p:spTree>
    <p:extLst>
      <p:ext uri="{BB962C8B-B14F-4D97-AF65-F5344CB8AC3E}">
        <p14:creationId xmlns:p14="http://schemas.microsoft.com/office/powerpoint/2010/main" val="889339144"/>
      </p:ext>
    </p:extLst>
  </p:cSld>
  <p:clrMapOvr>
    <a:masterClrMapping/>
  </p:clrMapOvr>
  <p:timing>
    <p:tnLst>
      <p:par>
        <p:cTn id="1" dur="indefinite" restart="never" nodeType="tmRoot">
          <p:childTnLst>
            <p:video>
              <p:cMediaNode vol="80000">
                <p:cTn id="2" fill="hold" display="0">
                  <p:stCondLst>
                    <p:cond delay="indefinite"/>
                  </p:stCondLst>
                </p:cTn>
                <p:tgtEl>
                  <p:spTgt spid="19"/>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Real work</a:t>
            </a:r>
            <a:r>
              <a:rPr lang="en-GB" sz="2800" b="1" i="0" dirty="0">
                <a:solidFill>
                  <a:srgbClr val="072140"/>
                </a:solidFill>
                <a:latin typeface="Arial"/>
              </a:rPr>
              <a:t>: </a:t>
            </a:r>
            <a:r>
              <a:rPr lang="en-GB" sz="2800" b="1" i="0" dirty="0" err="1">
                <a:solidFill>
                  <a:srgbClr val="072140"/>
                </a:solidFill>
                <a:latin typeface="Arial"/>
              </a:rPr>
              <a:t>FilesMoveFile</a:t>
            </a:r>
            <a:endParaRPr sz="2800" b="1" i="0" dirty="0">
              <a:solidFill>
                <a:srgbClr val="072140"/>
              </a:solidFill>
              <a:latin typeface="Arial"/>
            </a:endParaRP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19</a:t>
            </a:r>
            <a:endParaRPr sz="1000" b="0" i="0">
              <a:solidFill>
                <a:srgbClr val="5E6773"/>
              </a:solidFill>
              <a:latin typeface="Arial"/>
            </a:endParaRPr>
          </a:p>
        </p:txBody>
      </p:sp>
      <p:pic>
        <p:nvPicPr>
          <p:cNvPr id="9" name="featured_files_pas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188720" y="1417320"/>
            <a:ext cx="2240280" cy="4983480"/>
          </a:xfrm>
          <a:prstGeom prst="rect">
            <a:avLst/>
          </a:prstGeom>
        </p:spPr>
      </p:pic>
      <p:pic>
        <p:nvPicPr>
          <p:cNvPr id="10" name="featured_files_fail.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355080" y="1417320"/>
            <a:ext cx="2240280" cy="4983480"/>
          </a:xfrm>
          <a:prstGeom prst="rect">
            <a:avLst/>
          </a:prstGeom>
        </p:spPr>
      </p:pic>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GB" sz="1500" dirty="0">
                <a:solidFill>
                  <a:srgbClr val="222A35"/>
                </a:solidFill>
                <a:latin typeface="Arial"/>
              </a:rPr>
              <a:t>S</a:t>
            </a:r>
            <a:r>
              <a:rPr sz="1500" b="0" dirty="0">
                <a:solidFill>
                  <a:srgbClr val="222A35"/>
                </a:solidFill>
                <a:latin typeface="Arial"/>
              </a:rPr>
              <a:t>e</a:t>
            </a:r>
            <a:r>
              <a:rPr lang="en-GB" sz="1500" b="0" dirty="0">
                <a:solidFill>
                  <a:srgbClr val="222A35"/>
                </a:solidFill>
                <a:latin typeface="Arial"/>
              </a:rPr>
              <a:t>e</a:t>
            </a:r>
            <a:r>
              <a:rPr sz="1500" b="0" dirty="0">
                <a:solidFill>
                  <a:srgbClr val="222A35"/>
                </a:solidFill>
                <a:latin typeface="Arial"/>
              </a:rPr>
              <a:t>d 42</a:t>
            </a:r>
          </a:p>
          <a:p>
            <a:pPr>
              <a:lnSpc>
                <a:spcPct val="108000"/>
              </a:lnSpc>
              <a:spcAft>
                <a:spcPts val="300"/>
              </a:spcAft>
            </a:pPr>
            <a:r>
              <a:rPr sz="1500" dirty="0">
                <a:solidFill>
                  <a:srgbClr val="0065BD"/>
                </a:solidFill>
                <a:latin typeface="Arial"/>
              </a:rPr>
              <a:t>▪  </a:t>
            </a:r>
            <a:r>
              <a:rPr sz="1500" b="0" dirty="0">
                <a:solidFill>
                  <a:srgbClr val="222A35"/>
                </a:solidFill>
                <a:latin typeface="Arial"/>
              </a:rPr>
              <a:t>17 steps, PASS</a:t>
            </a:r>
          </a:p>
          <a:p>
            <a:pPr>
              <a:lnSpc>
                <a:spcPct val="108000"/>
              </a:lnSpc>
              <a:spcAft>
                <a:spcPts val="300"/>
              </a:spcAft>
            </a:pPr>
            <a:r>
              <a:rPr sz="1500" dirty="0">
                <a:solidFill>
                  <a:srgbClr val="0065BD"/>
                </a:solidFill>
                <a:latin typeface="Arial"/>
              </a:rPr>
              <a:t>▪  </a:t>
            </a:r>
            <a:r>
              <a:rPr sz="1500" b="0" dirty="0">
                <a:solidFill>
                  <a:srgbClr val="222A35"/>
                </a:solidFill>
                <a:latin typeface="Arial"/>
              </a:rPr>
              <a:t>Chose the file whose full name was visible</a:t>
            </a:r>
          </a:p>
        </p:txBody>
      </p:sp>
      <p:sp>
        <p:nvSpPr>
          <p:cNvPr id="15" name="Rectangle 14"/>
          <p:cNvSpPr/>
          <p:nvPr/>
        </p:nvSpPr>
        <p:spPr>
          <a:xfrm>
            <a:off x="8778240" y="1417320"/>
            <a:ext cx="2532887"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GB" sz="1500" dirty="0">
                <a:solidFill>
                  <a:srgbClr val="222A35"/>
                </a:solidFill>
                <a:latin typeface="Arial"/>
              </a:rPr>
              <a:t>Se</a:t>
            </a:r>
            <a:r>
              <a:rPr sz="1500" b="0" dirty="0">
                <a:solidFill>
                  <a:srgbClr val="222A35"/>
                </a:solidFill>
                <a:latin typeface="Arial"/>
              </a:rPr>
              <a:t>ed 43</a:t>
            </a:r>
          </a:p>
          <a:p>
            <a:pPr>
              <a:lnSpc>
                <a:spcPct val="108000"/>
              </a:lnSpc>
              <a:spcAft>
                <a:spcPts val="300"/>
              </a:spcAft>
            </a:pPr>
            <a:r>
              <a:rPr sz="1500" dirty="0">
                <a:solidFill>
                  <a:srgbClr val="0065BD"/>
                </a:solidFill>
                <a:latin typeface="Arial"/>
              </a:rPr>
              <a:t>▪  </a:t>
            </a:r>
            <a:r>
              <a:rPr sz="1500" b="0" dirty="0">
                <a:solidFill>
                  <a:srgbClr val="222A35"/>
                </a:solidFill>
                <a:latin typeface="Arial"/>
              </a:rPr>
              <a:t>13 steps, FAIL</a:t>
            </a:r>
          </a:p>
          <a:p>
            <a:pPr>
              <a:lnSpc>
                <a:spcPct val="108000"/>
              </a:lnSpc>
              <a:spcAft>
                <a:spcPts val="300"/>
              </a:spcAft>
            </a:pPr>
            <a:r>
              <a:rPr sz="1500" dirty="0">
                <a:solidFill>
                  <a:srgbClr val="0065BD"/>
                </a:solidFill>
                <a:latin typeface="Arial"/>
              </a:rPr>
              <a:t>▪  </a:t>
            </a:r>
            <a:r>
              <a:rPr sz="1500" b="0" dirty="0">
                <a:solidFill>
                  <a:srgbClr val="222A35"/>
                </a:solidFill>
                <a:latin typeface="Arial"/>
              </a:rPr>
              <a:t>Moved a look-alike file, then said done</a:t>
            </a:r>
          </a:p>
        </p:txBody>
      </p:sp>
    </p:spTree>
    <p:extLst>
      <p:ext uri="{BB962C8B-B14F-4D97-AF65-F5344CB8AC3E}">
        <p14:creationId xmlns:p14="http://schemas.microsoft.com/office/powerpoint/2010/main" val="829763135"/>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10"/>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Real work</a:t>
            </a:r>
            <a:r>
              <a:rPr lang="en-US" sz="2800" b="1" i="0" dirty="0">
                <a:solidFill>
                  <a:srgbClr val="072140"/>
                </a:solidFill>
                <a:latin typeface="Arial"/>
              </a:rPr>
              <a:t>: SimpleCalendarAddOneEvent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20</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68501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a:t>
            </a:r>
            <a:r>
              <a:rPr lang="vi-VN" sz="1500" dirty="0">
                <a:solidFill>
                  <a:srgbClr val="0065BD"/>
                </a:solidFill>
                <a:latin typeface="Arial"/>
              </a:rPr>
              <a:t>  </a:t>
            </a:r>
            <a:r>
              <a:rPr lang="en-GB" sz="1500" dirty="0">
                <a:solidFill>
                  <a:srgbClr val="222A35"/>
                </a:solidFill>
                <a:latin typeface="Arial"/>
              </a:rPr>
              <a:t>Se</a:t>
            </a:r>
            <a:r>
              <a:rPr lang="en-US" sz="1500" b="0" dirty="0">
                <a:solidFill>
                  <a:srgbClr val="222A35"/>
                </a:solidFill>
                <a:latin typeface="Arial"/>
              </a:rPr>
              <a:t>ed 44</a:t>
            </a:r>
          </a:p>
          <a:p>
            <a:pPr>
              <a:lnSpc>
                <a:spcPct val="108000"/>
              </a:lnSpc>
              <a:spcAft>
                <a:spcPts val="300"/>
              </a:spcAft>
            </a:pPr>
            <a:r>
              <a:rPr sz="1500" dirty="0">
                <a:solidFill>
                  <a:srgbClr val="0065BD"/>
                </a:solidFill>
                <a:latin typeface="Arial"/>
              </a:rPr>
              <a:t>▪  </a:t>
            </a:r>
            <a:r>
              <a:rPr lang="en-US" sz="1500" dirty="0">
                <a:solidFill>
                  <a:srgbClr val="222A35"/>
                </a:solidFill>
                <a:latin typeface="Arial"/>
              </a:rPr>
              <a:t>16</a:t>
            </a:r>
            <a:r>
              <a:rPr lang="en-US" sz="1500" b="0" dirty="0">
                <a:solidFill>
                  <a:srgbClr val="222A35"/>
                </a:solidFill>
                <a:latin typeface="Arial"/>
              </a:rPr>
              <a:t>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Title, text, date, time, length</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Event saved, no refusal</a:t>
            </a:r>
          </a:p>
        </p:txBody>
      </p:sp>
      <p:pic>
        <p:nvPicPr>
          <p:cNvPr id="19" name="Calendar">
            <a:hlinkClick r:id="" action="ppaction://media"/>
            <a:extLst>
              <a:ext uri="{FF2B5EF4-FFF2-40B4-BE49-F238E27FC236}">
                <a16:creationId xmlns:a16="http://schemas.microsoft.com/office/drawing/2014/main" id="{8FBEF4C2-2E0B-CA04-D676-87BFF4487992}"/>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37451" r="37303"/>
          <a:stretch>
            <a:fillRect/>
          </a:stretch>
        </p:blipFill>
        <p:spPr>
          <a:xfrm>
            <a:off x="1188719" y="1417319"/>
            <a:ext cx="2225041" cy="4957547"/>
          </a:xfrm>
          <a:prstGeom prst="rect">
            <a:avLst/>
          </a:prstGeom>
        </p:spPr>
      </p:pic>
    </p:spTree>
    <p:extLst>
      <p:ext uri="{BB962C8B-B14F-4D97-AF65-F5344CB8AC3E}">
        <p14:creationId xmlns:p14="http://schemas.microsoft.com/office/powerpoint/2010/main" val="1813263395"/>
      </p:ext>
    </p:extLst>
  </p:cSld>
  <p:clrMapOvr>
    <a:masterClrMapping/>
  </p:clrMapOvr>
  <p:timing>
    <p:tnLst>
      <p:par>
        <p:cTn id="1" dur="indefinite" restart="never" nodeType="tmRoot">
          <p:childTnLst>
            <p:video>
              <p:cMediaNode vol="80000">
                <p:cTn id="2" fill="hold" display="0">
                  <p:stCondLst>
                    <p:cond delay="indefinite"/>
                  </p:stCondLst>
                </p:cTn>
                <p:tgtEl>
                  <p:spTgt spid="19"/>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pPr algn="l">
              <a:lnSpc>
                <a:spcPct val="100000"/>
              </a:lnSpc>
            </a:pPr>
            <a:r>
              <a:rPr lang="en-US" sz="2800" b="1" i="0" dirty="0">
                <a:solidFill>
                  <a:srgbClr val="072140"/>
                </a:solidFill>
                <a:latin typeface="Arial"/>
              </a:rPr>
              <a:t>Multi-app and memory: MarkorCreateNoteAndSms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21</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Seed 43</a:t>
            </a:r>
            <a:r>
              <a:rPr lang="en-US" sz="1500" dirty="0">
                <a:solidFill>
                  <a:srgbClr val="222A35"/>
                </a:solidFill>
                <a:latin typeface="Arial"/>
              </a:rPr>
              <a:t/>
            </a:r>
            <a:r>
              <a:rPr lang="en-US" sz="1500" b="0" dirty="0">
                <a:solidFill>
                  <a:srgbClr val="222A35"/>
                </a:solidFill>
                <a:latin typeface="Arial"/>
              </a:rPr>
              <a:t/>
            </a:r>
          </a:p>
          <a:p>
            <a:pPr>
              <a:lnSpc>
                <a:spcPct val="108000"/>
              </a:lnSpc>
              <a:spcAft>
                <a:spcPts val="300"/>
              </a:spcAft>
            </a:pPr>
            <a:r>
              <a:rPr sz="1500" dirty="0">
                <a:solidFill>
                  <a:srgbClr val="0065BD"/>
                </a:solidFill>
                <a:latin typeface="Arial"/>
              </a:rPr>
              <a:t>▪  18 steps, PASS</a:t>
            </a:r>
            <a:r>
              <a:rPr lang="en-US" sz="1500" dirty="0">
                <a:solidFill>
                  <a:srgbClr val="222A35"/>
                </a:solidFill>
                <a:latin typeface="Arial"/>
              </a:rPr>
              <a:t/>
            </a:r>
            <a:r>
              <a:rPr lang="en-US" sz="1500" b="0" dirty="0">
                <a:solidFill>
                  <a:srgbClr val="222A35"/>
                </a:solidFill>
                <a:latin typeface="Arial"/>
              </a:rPr>
              <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Shared the note (Share &gt; Plain Text), then sent the SMS</a:t>
            </a:r>
          </a:p>
        </p:txBody>
      </p:sp>
      <p:sp>
        <p:nvSpPr>
          <p:cNvPr id="22" name="Rectangle 21">
            <a:extLst>
              <a:ext uri="{FF2B5EF4-FFF2-40B4-BE49-F238E27FC236}">
                <a16:creationId xmlns:a16="http://schemas.microsoft.com/office/drawing/2014/main" id="{E4C8F8F1-0228-AD5E-FD2F-97D72EC41287}"/>
              </a:ext>
            </a:extLst>
          </p:cNvPr>
          <p:cNvSpPr/>
          <p:nvPr/>
        </p:nvSpPr>
        <p:spPr>
          <a:xfrm>
            <a:off x="8778240" y="1417320"/>
            <a:ext cx="2532887"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a:extLst>
              <a:ext uri="{FF2B5EF4-FFF2-40B4-BE49-F238E27FC236}">
                <a16:creationId xmlns:a16="http://schemas.microsoft.com/office/drawing/2014/main" id="{21FB6644-40E7-7FF8-0FF3-FEA445D287A8}"/>
              </a:ext>
            </a:extLst>
          </p:cNvPr>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a:extLst>
              <a:ext uri="{FF2B5EF4-FFF2-40B4-BE49-F238E27FC236}">
                <a16:creationId xmlns:a16="http://schemas.microsoft.com/office/drawing/2014/main" id="{E5709DF7-1C4C-BB13-8146-7D302AAC1DCD}"/>
              </a:ext>
            </a:extLst>
          </p:cNvPr>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28" name="TextBox 27">
            <a:extLst>
              <a:ext uri="{FF2B5EF4-FFF2-40B4-BE49-F238E27FC236}">
                <a16:creationId xmlns:a16="http://schemas.microsoft.com/office/drawing/2014/main" id="{4C8E9B6F-003B-BC02-618B-D74CF26DE0A4}"/>
              </a:ext>
            </a:extLst>
          </p:cNvPr>
          <p:cNvSpPr txBox="1"/>
          <p:nvPr/>
        </p:nvSpPr>
        <p:spPr>
          <a:xfrm>
            <a:off x="8942832" y="1920240"/>
            <a:ext cx="2514600" cy="1397242"/>
          </a:xfrm>
          <a:prstGeom prst="rect">
            <a:avLst/>
          </a:prstGeom>
          <a:noFill/>
        </p:spPr>
        <p:txBody>
          <a:bodyPr wrap="square">
            <a:spAutoFit/>
          </a:bodyPr>
          <a:lstStyle/>
          <a:p>
            <a:pPr>
              <a:lnSpc>
                <a:spcPct val="108000"/>
              </a:lnSpc>
              <a:spcAft>
                <a:spcPts val="300"/>
              </a:spcAft>
            </a:pPr>
            <a:r>
              <a:rPr lang="en-DE" sz="1500" dirty="0">
                <a:solidFill>
                  <a:srgbClr val="0065BD"/>
                </a:solidFill>
                <a:latin typeface="Arial"/>
              </a:rPr>
              <a:t>▪  Seed 42</a:t>
            </a:r>
            <a:r>
              <a:rPr lang="en-GB" sz="1500" dirty="0">
                <a:solidFill>
                  <a:srgbClr val="222A35"/>
                </a:solidFill>
                <a:latin typeface="Arial"/>
              </a:rPr>
              <a:t/>
            </a:r>
            <a:r>
              <a:rPr sz="1500" b="0" dirty="0">
                <a:solidFill>
                  <a:srgbClr val="222A35"/>
                </a:solidFill>
                <a:latin typeface="Arial"/>
              </a:rPr>
              <a:t/>
            </a:r>
            <a:r>
              <a:rPr lang="en-GB" sz="1500" b="0" dirty="0">
                <a:solidFill>
                  <a:srgbClr val="222A35"/>
                </a:solidFill>
                <a:latin typeface="Arial"/>
              </a:rPr>
              <a:t/>
            </a:r>
            <a:endParaRPr sz="1500" b="0" dirty="0">
              <a:solidFill>
                <a:srgbClr val="222A35"/>
              </a:solidFill>
              <a:latin typeface="Arial"/>
            </a:endParaRPr>
          </a:p>
          <a:p>
            <a:pPr>
              <a:lnSpc>
                <a:spcPct val="108000"/>
              </a:lnSpc>
              <a:spcAft>
                <a:spcPts val="300"/>
              </a:spcAft>
            </a:pPr>
            <a:r>
              <a:rPr sz="1500" dirty="0">
                <a:solidFill>
                  <a:srgbClr val="0065BD"/>
                </a:solidFill>
                <a:latin typeface="Arial"/>
              </a:rPr>
              <a:t>▪  18 steps, FAIL</a:t>
            </a:r>
            <a:r>
              <a:rPr lang="en-GB" sz="1500" b="0" dirty="0">
                <a:solidFill>
                  <a:srgbClr val="222A35"/>
                </a:solidFill>
                <a:latin typeface="Arial"/>
              </a:rPr>
              <a:t/>
            </a:r>
            <a:r>
              <a:rPr sz="1500" b="0" dirty="0">
                <a:solidFill>
                  <a:srgbClr val="222A35"/>
                </a:solidFill>
                <a:latin typeface="Arial"/>
              </a:rPr>
              <a:t/>
            </a:r>
          </a:p>
          <a:p>
            <a:pPr>
              <a:lnSpc>
                <a:spcPct val="108000"/>
              </a:lnSpc>
              <a:spcAft>
                <a:spcPts val="300"/>
              </a:spcAft>
            </a:pPr>
            <a:r>
              <a:rPr sz="1500" dirty="0">
                <a:solidFill>
                  <a:srgbClr val="0065BD"/>
                </a:solidFill>
                <a:latin typeface="Arial"/>
              </a:rPr>
              <a:t>▪  </a:t>
            </a:r>
            <a:r>
              <a:rPr lang="en-GB" sz="1500" dirty="0">
                <a:solidFill>
                  <a:srgbClr val="222A35"/>
                </a:solidFill>
                <a:latin typeface="Arial"/>
              </a:rPr>
              <a:t>Shared the note, then tapped the top edge instead of SMS</a:t>
            </a:r>
            <a:endParaRPr sz="1500" b="0" dirty="0">
              <a:solidFill>
                <a:srgbClr val="222A35"/>
              </a:solidFill>
              <a:latin typeface="Arial"/>
            </a:endParaRPr>
          </a:p>
        </p:txBody>
      </p:sp>
      <p:pic>
        <p:nvPicPr>
          <p:cNvPr id="29" name="featured_markor_v66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30" name="featured_markor_v66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Tree>
    <p:extLst>
      <p:ext uri="{BB962C8B-B14F-4D97-AF65-F5344CB8AC3E}">
        <p14:creationId xmlns:p14="http://schemas.microsoft.com/office/powerpoint/2010/main" val="3368173811"/>
      </p:ext>
    </p:extLst>
  </p:cSld>
  <p:clrMapOvr>
    <a:masterClrMapping/>
  </p:clrMapOvr>
  <p:timing>
    <p:tnLst>
      <p:par>
        <p:cTn id="1" dur="indefinite" restart="never" nodeType="tmRoot">
          <p:childTnLst>
            <p:video>
              <p:cMediaNode vol="80000">
                <p:cTn id="2" fill="hold" display="0">
                  <p:stCondLst>
                    <p:cond delay="indefinite"/>
                  </p:stCondLst>
                </p:cTn>
                <p:tgtEl>
                  <p:spTgt spid="29"/>
                </p:tgtEl>
              </p:cMediaNode>
            </p:video>
            <p:video>
              <p:cMediaNode vol="80000">
                <p:cTn id="3" fill="hold" display="0">
                  <p:stCondLst>
                    <p:cond delay="indefinite"/>
                  </p:stCondLst>
                </p:cTn>
                <p:tgtEl>
                  <p:spTgt spid="30"/>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Multi-app and memory: </a:t>
            </a:r>
            <a:r>
              <a:rPr lang="en-US" sz="2800" b="1" i="0" dirty="0" err="1">
                <a:solidFill>
                  <a:srgbClr val="072140"/>
                </a:solidFill>
                <a:latin typeface="Arial"/>
              </a:rPr>
              <a:t>OsmAndTrack</a:t>
            </a:r>
            <a:endParaRPr lang="en-US" sz="2800" b="1" i="0" dirty="0">
              <a:solidFill>
                <a:srgbClr val="072140"/>
              </a:solidFill>
              <a:latin typeface="Arial"/>
            </a:endParaRP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22</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2743200"/>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b="0" dirty="0">
                <a:solidFill>
                  <a:srgbClr val="222A35"/>
                </a:solidFill>
                <a:latin typeface="Arial"/>
              </a:rPr>
              <a:t>OsmAnd, seed 314</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23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Route Ruggell to Bendern saved</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Closed a crash dialog</a:t>
            </a:r>
          </a:p>
        </p:txBody>
      </p:sp>
      <p:sp>
        <p:nvSpPr>
          <p:cNvPr id="15" name="Rectangle 14"/>
          <p:cNvSpPr/>
          <p:nvPr/>
        </p:nvSpPr>
        <p:spPr>
          <a:xfrm>
            <a:off x="8778240" y="1417320"/>
            <a:ext cx="2532887"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2743200"/>
          </a:xfrm>
          <a:prstGeom prst="rect">
            <a:avLst/>
          </a:prstGeom>
          <a:noFill/>
        </p:spPr>
        <p:txBody>
          <a:bodyPr wrap="square">
            <a:spAutoFit/>
          </a:bodyPr>
          <a:lstStyle/>
          <a:p>
            <a:pPr>
              <a:lnSpc>
                <a:spcPct val="108000"/>
              </a:lnSpc>
              <a:spcAft>
                <a:spcPts val="300"/>
              </a:spcAft>
            </a:pPr>
            <a:r>
              <a:rPr sz="1500">
                <a:solidFill>
                  <a:srgbClr val="E37222"/>
                </a:solidFill>
                <a:latin typeface="Arial"/>
              </a:rPr>
              <a:t>▪  </a:t>
            </a:r>
            <a:r>
              <a:rPr lang="en-US" sz="1500" b="0" dirty="0">
                <a:solidFill>
                  <a:srgbClr val="222A35"/>
                </a:solidFill>
                <a:latin typeface="Arial"/>
              </a:rPr>
              <a:t>OsmAnd, seed 366</a:t>
            </a:r>
          </a:p>
          <a:p>
            <a:pPr>
              <a:lnSpc>
                <a:spcPct val="108000"/>
              </a:lnSpc>
              <a:spcAft>
                <a:spcPts val="300"/>
              </a:spcAft>
            </a:pPr>
            <a:r>
              <a:rPr sz="1500">
                <a:solidFill>
                  <a:srgbClr val="E37222"/>
                </a:solidFill>
                <a:latin typeface="Arial"/>
              </a:rPr>
              <a:t>▪  </a:t>
            </a:r>
            <a:r>
              <a:rPr lang="en-US" sz="1500" b="0" dirty="0">
                <a:solidFill>
                  <a:srgbClr val="222A35"/>
                </a:solidFill>
                <a:latin typeface="Arial"/>
              </a:rPr>
              <a:t>16 steps, FAIL</a:t>
            </a:r>
          </a:p>
          <a:p>
            <a:pPr>
              <a:lnSpc>
                <a:spcPct val="108000"/>
              </a:lnSpc>
              <a:spcAft>
                <a:spcPts val="300"/>
              </a:spcAft>
            </a:pPr>
            <a:r>
              <a:rPr sz="1500">
                <a:solidFill>
                  <a:srgbClr val="E37222"/>
                </a:solidFill>
                <a:latin typeface="Arial"/>
              </a:rPr>
              <a:t>▪  </a:t>
            </a:r>
            <a:r>
              <a:rPr lang="en-US" sz="1500" b="0" dirty="0">
                <a:solidFill>
                  <a:srgbClr val="222A35"/>
                </a:solidFill>
                <a:latin typeface="Arial"/>
              </a:rPr>
              <a:t>Tapped [941, 57], not [941, 83]</a:t>
            </a:r>
          </a:p>
          <a:p>
            <a:pPr>
              <a:lnSpc>
                <a:spcPct val="108000"/>
              </a:lnSpc>
              <a:spcAft>
                <a:spcPts val="300"/>
              </a:spcAft>
            </a:pPr>
            <a:r>
              <a:rPr sz="1500">
                <a:solidFill>
                  <a:srgbClr val="E37222"/>
                </a:solidFill>
                <a:latin typeface="Arial"/>
              </a:rPr>
              <a:t>▪  </a:t>
            </a:r>
            <a:r>
              <a:rPr lang="en-US" sz="1500" b="0" dirty="0">
                <a:solidFill>
                  <a:srgbClr val="222A35"/>
                </a:solidFill>
                <a:latin typeface="Arial"/>
              </a:rPr>
              <a:t>Clear button missed 3 times</a:t>
            </a:r>
          </a:p>
        </p:txBody>
      </p:sp>
      <p:pic>
        <p:nvPicPr>
          <p:cNvPr id="21" name="Osmand failed">
            <a:hlinkClick r:id="" action="ppaction://media"/>
            <a:extLst>
              <a:ext uri="{FF2B5EF4-FFF2-40B4-BE49-F238E27FC236}">
                <a16:creationId xmlns:a16="http://schemas.microsoft.com/office/drawing/2014/main" id="{279C5D90-4C24-9ECA-3431-7E525347D6D6}"/>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37446" r="37306"/>
          <a:stretch>
            <a:fillRect/>
          </a:stretch>
        </p:blipFill>
        <p:spPr>
          <a:xfrm>
            <a:off x="6355080" y="1417319"/>
            <a:ext cx="2240280" cy="4991501"/>
          </a:xfrm>
          <a:prstGeom prst="rect">
            <a:avLst/>
          </a:prstGeom>
        </p:spPr>
      </p:pic>
      <p:pic>
        <p:nvPicPr>
          <p:cNvPr id="22" name="Osmand success">
            <a:hlinkClick r:id="" action="ppaction://media"/>
            <a:extLst>
              <a:ext uri="{FF2B5EF4-FFF2-40B4-BE49-F238E27FC236}">
                <a16:creationId xmlns:a16="http://schemas.microsoft.com/office/drawing/2014/main" id="{35D9AD7F-1AD6-C18C-CE0D-0E9393CA6562}"/>
              </a:ext>
            </a:extLst>
          </p:cNvPr>
          <p:cNvPicPr>
            <a:picLocks noChangeAspect="1"/>
          </p:cNvPicPr>
          <p:nvPr>
            <a:videoFile r:link="rId4"/>
            <p:extLst>
              <p:ext uri="{DAA4B4D4-6D71-4841-9C94-3DE7FCFB9230}">
                <p14:media xmlns:p14="http://schemas.microsoft.com/office/powerpoint/2010/main" r:embed="rId3"/>
              </p:ext>
            </p:extLst>
          </p:nvPr>
        </p:nvPicPr>
        <p:blipFill>
          <a:blip r:embed="rId8"/>
          <a:srcRect l="37451" r="37303"/>
          <a:stretch>
            <a:fillRect/>
          </a:stretch>
        </p:blipFill>
        <p:spPr>
          <a:xfrm>
            <a:off x="1188720" y="1417319"/>
            <a:ext cx="2240280" cy="4991501"/>
          </a:xfrm>
          <a:prstGeom prst="rect">
            <a:avLst/>
          </a:prstGeom>
        </p:spPr>
      </p:pic>
    </p:spTree>
    <p:extLst>
      <p:ext uri="{BB962C8B-B14F-4D97-AF65-F5344CB8AC3E}">
        <p14:creationId xmlns:p14="http://schemas.microsoft.com/office/powerpoint/2010/main" val="354203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9941" fill="hold"/>
                                        <p:tgtEl>
                                          <p:spTgt spid="21"/>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064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21"/>
                </p:tgtEl>
              </p:cMediaNode>
            </p:video>
            <p:seq concurrent="1" nextAc="seek">
              <p:cTn id="12" restart="whenNotActive" fill="hold" evtFilter="cancelBubble" nodeType="interactiveSeq">
                <p:stCondLst>
                  <p:cond evt="onClick" delay="0">
                    <p:tgtEl>
                      <p:spTgt spid="21"/>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21"/>
                                        </p:tgtEl>
                                      </p:cBhvr>
                                    </p:cmd>
                                  </p:childTnLst>
                                </p:cTn>
                              </p:par>
                            </p:childTnLst>
                          </p:cTn>
                        </p:par>
                      </p:childTnLst>
                    </p:cTn>
                  </p:par>
                </p:childTnLst>
              </p:cTn>
              <p:nextCondLst>
                <p:cond evt="onClick" delay="0">
                  <p:tgtEl>
                    <p:spTgt spid="21"/>
                  </p:tgtEl>
                </p:cond>
              </p:nextCondLst>
            </p:seq>
            <p:video>
              <p:cMediaNode vol="80000">
                <p:cTn id="17" fill="hold" display="0">
                  <p:stCondLst>
                    <p:cond delay="indefinite"/>
                  </p:stCondLst>
                </p:cTn>
                <p:tgtEl>
                  <p:spTgt spid="22"/>
                </p:tgtEl>
              </p:cMediaNode>
            </p:video>
            <p:seq concurrent="1" nextAc="seek">
              <p:cTn id="18" restart="whenNotActive" fill="hold" evtFilter="cancelBubble" nodeType="interactiveSeq">
                <p:stCondLst>
                  <p:cond evt="onClick" delay="0">
                    <p:tgtEl>
                      <p:spTgt spid="22"/>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2"/>
                                        </p:tgtEl>
                                      </p:cBhvr>
                                    </p:cmd>
                                  </p:childTnLst>
                                </p:cTn>
                              </p:par>
                            </p:childTnLst>
                          </p:cTn>
                        </p:par>
                      </p:childTnLst>
                    </p:cTn>
                  </p:par>
                </p:childTnLst>
              </p:cTn>
              <p:nextCondLst>
                <p:cond evt="onClick" delay="0">
                  <p:tgtEl>
                    <p:spTgt spid="22"/>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How 284 project runs ended: the setup failed most often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23</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tangle 9"/>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891271" y="1645920"/>
            <a:ext cx="358444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The five failure classes (D1 p.50)</a:t>
            </a:r>
          </a:p>
        </p:txBody>
      </p:sp>
      <p:sp>
        <p:nvSpPr>
          <p:cNvPr id="13" name="TextBox 12"/>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1">
                <a:solidFill>
                  <a:srgbClr val="222A35"/>
                </a:solidFill>
                <a:latin typeface="Arial"/>
              </a:rPr>
              <a:t>grounding</a:t>
            </a:r>
            <a:r>
              <a:rPr sz="1500" b="0">
                <a:solidFill>
                  <a:srgbClr val="222A35"/>
                </a:solidFill>
                <a:latin typeface="Arial"/>
              </a:rPr>
              <a:t>: the tap lands on nothing</a:t>
            </a:r>
          </a:p>
          <a:p>
            <a:pPr>
              <a:lnSpc>
                <a:spcPct val="108000"/>
              </a:lnSpc>
              <a:spcAft>
                <a:spcPts val="300"/>
              </a:spcAft>
            </a:pPr>
            <a:r>
              <a:rPr sz="1500">
                <a:solidFill>
                  <a:srgbClr val="0065BD"/>
                </a:solidFill>
                <a:latin typeface="Arial"/>
              </a:rPr>
              <a:t>▪  </a:t>
            </a:r>
            <a:r>
              <a:rPr sz="1500" b="1">
                <a:solidFill>
                  <a:srgbClr val="222A35"/>
                </a:solidFill>
                <a:latin typeface="Arial"/>
              </a:rPr>
              <a:t>too_early</a:t>
            </a:r>
            <a:r>
              <a:rPr sz="1500" b="0">
                <a:solidFill>
                  <a:srgbClr val="222A35"/>
                </a:solidFill>
                <a:latin typeface="Arial"/>
              </a:rPr>
              <a:t>: acting on a loading screen</a:t>
            </a:r>
          </a:p>
          <a:p>
            <a:pPr>
              <a:lnSpc>
                <a:spcPct val="108000"/>
              </a:lnSpc>
              <a:spcAft>
                <a:spcPts val="300"/>
              </a:spcAft>
            </a:pPr>
            <a:r>
              <a:rPr sz="1500">
                <a:solidFill>
                  <a:srgbClr val="0065BD"/>
                </a:solidFill>
                <a:latin typeface="Arial"/>
              </a:rPr>
              <a:t>▪  </a:t>
            </a:r>
            <a:r>
              <a:rPr sz="1500" b="1">
                <a:solidFill>
                  <a:srgbClr val="222A35"/>
                </a:solidFill>
                <a:latin typeface="Arial"/>
              </a:rPr>
              <a:t>lost_value</a:t>
            </a:r>
            <a:r>
              <a:rPr sz="1500" b="0">
                <a:solidFill>
                  <a:srgbClr val="222A35"/>
                </a:solidFill>
                <a:latin typeface="Arial"/>
              </a:rPr>
              <a:t>: a value is lost or invented</a:t>
            </a:r>
          </a:p>
          <a:p>
            <a:pPr>
              <a:lnSpc>
                <a:spcPct val="108000"/>
              </a:lnSpc>
              <a:spcAft>
                <a:spcPts val="300"/>
              </a:spcAft>
            </a:pPr>
            <a:r>
              <a:rPr sz="1500">
                <a:solidFill>
                  <a:srgbClr val="0065BD"/>
                </a:solidFill>
                <a:latin typeface="Arial"/>
              </a:rPr>
              <a:t>▪  </a:t>
            </a:r>
            <a:r>
              <a:rPr sz="1500" b="1">
                <a:solidFill>
                  <a:srgbClr val="222A35"/>
                </a:solidFill>
                <a:latin typeface="Arial"/>
              </a:rPr>
              <a:t>wrong_app</a:t>
            </a:r>
            <a:r>
              <a:rPr sz="1500" b="0">
                <a:solidFill>
                  <a:srgbClr val="222A35"/>
                </a:solidFill>
                <a:latin typeface="Arial"/>
              </a:rPr>
              <a:t>: the wrong app is used</a:t>
            </a:r>
          </a:p>
          <a:p>
            <a:pPr>
              <a:lnSpc>
                <a:spcPct val="108000"/>
              </a:lnSpc>
              <a:spcAft>
                <a:spcPts val="300"/>
              </a:spcAft>
            </a:pPr>
            <a:r>
              <a:rPr sz="1500">
                <a:solidFill>
                  <a:srgbClr val="0065BD"/>
                </a:solidFill>
                <a:latin typeface="Arial"/>
              </a:rPr>
              <a:t>▪  </a:t>
            </a:r>
            <a:r>
              <a:rPr sz="1500" b="1">
                <a:solidFill>
                  <a:srgbClr val="222A35"/>
                </a:solidFill>
                <a:latin typeface="Arial"/>
              </a:rPr>
              <a:t>false_done</a:t>
            </a:r>
            <a:r>
              <a:rPr sz="1500" b="0">
                <a:solidFill>
                  <a:srgbClr val="222A35"/>
                </a:solidFill>
                <a:latin typeface="Arial"/>
              </a:rPr>
              <a:t>: says done, verifier fails</a:t>
            </a:r>
          </a:p>
          <a:p>
            <a:pPr>
              <a:lnSpc>
                <a:spcPct val="108000"/>
              </a:lnSpc>
              <a:spcAft>
                <a:spcPts val="300"/>
              </a:spcAft>
            </a:pPr>
            <a:r>
              <a:rPr sz="1500">
                <a:solidFill>
                  <a:srgbClr val="0065BD"/>
                </a:solidFill>
                <a:latin typeface="Arial"/>
              </a:rPr>
              <a:t>▪  </a:t>
            </a:r>
            <a:r>
              <a:rPr sz="1500" b="0">
                <a:solidFill>
                  <a:srgbClr val="222A35"/>
                </a:solidFill>
                <a:latin typeface="Arial"/>
              </a:rPr>
              <a:t>Final evaluation: false_done 1, grounding 2, other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Deep dive: a false finish caused by a look-alike file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24</a:t>
            </a:r>
            <a:endParaRPr sz="1000" b="0" i="0">
              <a:solidFill>
                <a:srgbClr val="5E6773"/>
              </a:solidFill>
              <a:latin typeface="Arial"/>
            </a:endParaRPr>
          </a:p>
        </p:txBody>
      </p:sp>
      <p:pic>
        <p:nvPicPr>
          <p:cNvPr id="9" name="Picture 8" descr="files43_step5.png"/>
          <p:cNvPicPr>
            <a:picLocks noChangeAspect="1"/>
          </p:cNvPicPr>
          <p:nvPr/>
        </p:nvPicPr>
        <p:blipFill>
          <a:blip r:embed="rId3"/>
          <a:srcRect t="8000"/>
          <a:stretch>
            <a:fillRect/>
          </a:stretch>
        </p:blipFill>
        <p:spPr>
          <a:xfrm>
            <a:off x="640080" y="1463040"/>
            <a:ext cx="2180844" cy="4458614"/>
          </a:xfrm>
          <a:prstGeom prst="roundRect">
            <a:avLst/>
          </a:prstGeom>
          <a:ln w="44450">
            <a:solidFill>
              <a:srgbClr val="1B1F2A"/>
            </a:solidFill>
          </a:ln>
        </p:spPr>
      </p:pic>
      <p:pic>
        <p:nvPicPr>
          <p:cNvPr id="10" name="Picture 9" descr="files43_final.png"/>
          <p:cNvPicPr>
            <a:picLocks noChangeAspect="1"/>
          </p:cNvPicPr>
          <p:nvPr/>
        </p:nvPicPr>
        <p:blipFill>
          <a:blip r:embed="rId4"/>
          <a:srcRect t="8000"/>
          <a:stretch>
            <a:fillRect/>
          </a:stretch>
        </p:blipFill>
        <p:spPr>
          <a:xfrm>
            <a:off x="2971800" y="1463040"/>
            <a:ext cx="2180844" cy="4458614"/>
          </a:xfrm>
          <a:prstGeom prst="roundRect">
            <a:avLst/>
          </a:prstGeom>
          <a:ln w="44450">
            <a:solidFill>
              <a:srgbClr val="1B1F2A"/>
            </a:solidFill>
          </a:ln>
        </p:spPr>
      </p:pic>
      <p:graphicFrame>
        <p:nvGraphicFramePr>
          <p:cNvPr id="11" name="Table 10"/>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57200">
                <a:tc>
                  <a:txBody>
                    <a:bodyPr/>
                    <a:lstStyle/>
                    <a:p>
                      <a:r>
                        <a:rPr sz="1300" b="1">
                          <a:solidFill>
                            <a:srgbClr val="FFFFFF"/>
                          </a:solidFill>
                          <a:latin typeface="Arial"/>
                        </a:rPr>
                        <a:t>Steps</a:t>
                      </a:r>
                    </a:p>
                  </a:txBody>
                  <a:tcPr marL="54864" marR="54864" marT="27432" marB="27432" anchor="ctr">
                    <a:solidFill>
                      <a:srgbClr val="072140"/>
                    </a:solidFill>
                  </a:tcPr>
                </a:tc>
                <a:tc>
                  <a:txBody>
                    <a:bodyPr/>
                    <a:lstStyle/>
                    <a:p>
                      <a:r>
                        <a:rPr sz="1300" b="1">
                          <a:solidFill>
                            <a:srgbClr val="FFFFFF"/>
                          </a:solidFill>
                          <a:latin typeface="Arial"/>
                        </a:rPr>
                        <a:t>What happened</a:t>
                      </a:r>
                    </a:p>
                  </a:txBody>
                  <a:tcPr marL="54864" marR="54864" marT="27432" marB="27432" anchor="ctr">
                    <a:solidFill>
                      <a:srgbClr val="072140"/>
                    </a:solidFill>
                  </a:tcPr>
                </a:tc>
                <a:tc>
                  <a:txBody>
                    <a:bodyPr/>
                    <a:lstStyle/>
                    <a:p>
                      <a:r>
                        <a:rPr sz="1300" b="1">
                          <a:solidFill>
                            <a:srgbClr val="FFFFFF"/>
                          </a:solidFill>
                          <a:latin typeface="Arial"/>
                        </a:rPr>
                        <a:t>Assessment</a:t>
                      </a:r>
                    </a:p>
                  </a:txBody>
                  <a:tcPr marL="54864" marR="54864" marT="27432" marB="27432" anchor="ctr">
                    <a:solidFill>
                      <a:srgbClr val="072140"/>
                    </a:solidFill>
                  </a:tcPr>
                </a:tc>
                <a:extLst>
                  <a:ext uri="{0D108BD9-81ED-4DB2-BD59-A6C34878D82A}">
                    <a16:rowId xmlns:a16="http://schemas.microsoft.com/office/drawing/2014/main" val="10000"/>
                  </a:ext>
                </a:extLst>
              </a:tr>
              <a:tr h="457200">
                <a:tc>
                  <a:txBody>
                    <a:bodyPr/>
                    <a:lstStyle/>
                    <a:p>
                      <a:r>
                        <a:rPr sz="1300" b="0">
                          <a:solidFill>
                            <a:srgbClr val="222A35"/>
                          </a:solidFill>
                          <a:latin typeface="Arial"/>
                        </a:rPr>
                        <a:t>1–4</a:t>
                      </a:r>
                    </a:p>
                  </a:txBody>
                  <a:tcPr marL="54864" marR="54864" marT="27432" marB="27432" anchor="ctr">
                    <a:solidFill>
                      <a:srgbClr val="FFFFFF"/>
                    </a:solidFill>
                  </a:tcPr>
                </a:tc>
                <a:tc>
                  <a:txBody>
                    <a:bodyPr/>
                    <a:lstStyle/>
                    <a:p>
                      <a:r>
                        <a:rPr sz="1300" b="0">
                          <a:solidFill>
                            <a:srgbClr val="222A35"/>
                          </a:solidFill>
                          <a:latin typeface="Arial"/>
                        </a:rPr>
                        <a:t>Opened Files, the storage root, then Alarms</a:t>
                      </a:r>
                    </a:p>
                  </a:txBody>
                  <a:tcPr marL="54864" marR="54864" marT="27432" marB="27432" anchor="ctr">
                    <a:solidFill>
                      <a:srgbClr val="FFFFFF"/>
                    </a:solidFill>
                  </a:tcPr>
                </a:tc>
                <a:tc>
                  <a:txBody>
                    <a:bodyPr/>
                    <a:lstStyle/>
                    <a:p>
                      <a:r>
                        <a:rPr sz="1300" b="0">
                          <a:solidFill>
                            <a:srgbClr val="222A35"/>
                          </a:solidFill>
                          <a:latin typeface="Arial"/>
                        </a:rPr>
                        <a:t>Correct</a:t>
                      </a:r>
                    </a:p>
                  </a:txBody>
                  <a:tcPr marL="54864" marR="54864" marT="27432" marB="27432" anchor="ctr">
                    <a:solidFill>
                      <a:srgbClr val="FFFFFF"/>
                    </a:solidFill>
                  </a:tcPr>
                </a:tc>
                <a:extLst>
                  <a:ext uri="{0D108BD9-81ED-4DB2-BD59-A6C34878D82A}">
                    <a16:rowId xmlns:a16="http://schemas.microsoft.com/office/drawing/2014/main" val="10001"/>
                  </a:ext>
                </a:extLst>
              </a:tr>
              <a:tr h="457200">
                <a:tc>
                  <a:txBody>
                    <a:bodyPr/>
                    <a:lstStyle/>
                    <a:p>
                      <a:r>
                        <a:rPr sz="1300" b="0">
                          <a:solidFill>
                            <a:srgbClr val="222A35"/>
                          </a:solidFill>
                          <a:latin typeface="Arial"/>
                        </a:rPr>
                        <a:t>5</a:t>
                      </a:r>
                    </a:p>
                  </a:txBody>
                  <a:tcPr marL="54864" marR="54864" marT="27432" marB="27432" anchor="ctr">
                    <a:solidFill>
                      <a:srgbClr val="F2F5F9"/>
                    </a:solidFill>
                  </a:tcPr>
                </a:tc>
                <a:tc>
                  <a:txBody>
                    <a:bodyPr/>
                    <a:lstStyle/>
                    <a:p>
                      <a:r>
                        <a:rPr sz="1300" b="0">
                          <a:solidFill>
                            <a:srgbClr val="222A35"/>
                          </a:solidFill>
                          <a:latin typeface="Arial"/>
                        </a:rPr>
                        <a:t>Grid with cut-off names; long-pressed “documentary_20…”</a:t>
                      </a:r>
                    </a:p>
                  </a:txBody>
                  <a:tcPr marL="54864" marR="54864" marT="27432" marB="27432" anchor="ctr">
                    <a:solidFill>
                      <a:srgbClr val="F2F5F9"/>
                    </a:solidFill>
                  </a:tcPr>
                </a:tc>
                <a:tc>
                  <a:txBody>
                    <a:bodyPr/>
                    <a:lstStyle/>
                    <a:p>
                      <a:r>
                        <a:rPr sz="1300" b="0">
                          <a:solidFill>
                            <a:srgbClr val="222A35"/>
                          </a:solidFill>
                          <a:latin typeface="Arial"/>
                        </a:rPr>
                        <a:t>Wrong object</a:t>
                      </a:r>
                    </a:p>
                  </a:txBody>
                  <a:tcPr marL="54864" marR="54864" marT="27432" marB="27432" anchor="ctr">
                    <a:solidFill>
                      <a:srgbClr val="F2F5F9"/>
                    </a:solidFill>
                  </a:tcPr>
                </a:tc>
                <a:extLst>
                  <a:ext uri="{0D108BD9-81ED-4DB2-BD59-A6C34878D82A}">
                    <a16:rowId xmlns:a16="http://schemas.microsoft.com/office/drawing/2014/main" val="10002"/>
                  </a:ext>
                </a:extLst>
              </a:tr>
              <a:tr h="457200">
                <a:tc>
                  <a:txBody>
                    <a:bodyPr/>
                    <a:lstStyle/>
                    <a:p>
                      <a:r>
                        <a:rPr sz="1300" b="0">
                          <a:solidFill>
                            <a:srgbClr val="222A35"/>
                          </a:solidFill>
                          <a:latin typeface="Arial"/>
                        </a:rPr>
                        <a:t>6–11</a:t>
                      </a:r>
                    </a:p>
                  </a:txBody>
                  <a:tcPr marL="54864" marR="54864" marT="27432" marB="27432" anchor="ctr">
                    <a:solidFill>
                      <a:srgbClr val="FFFFFF"/>
                    </a:solidFill>
                  </a:tcPr>
                </a:tc>
                <a:tc>
                  <a:txBody>
                    <a:bodyPr/>
                    <a:lstStyle/>
                    <a:p>
                      <a:r>
                        <a:rPr sz="1300" b="0">
                          <a:solidFill>
                            <a:srgbClr val="222A35"/>
                          </a:solidFill>
                          <a:latin typeface="Arial"/>
                        </a:rPr>
                        <a:t>More options &gt; Move to &gt; Movies &gt; MOVE</a:t>
                      </a:r>
                    </a:p>
                  </a:txBody>
                  <a:tcPr marL="54864" marR="54864" marT="27432" marB="27432" anchor="ctr">
                    <a:solidFill>
                      <a:srgbClr val="FFFFFF"/>
                    </a:solidFill>
                  </a:tcPr>
                </a:tc>
                <a:tc>
                  <a:txBody>
                    <a:bodyPr/>
                    <a:lstStyle/>
                    <a:p>
                      <a:r>
                        <a:rPr sz="1300" b="0">
                          <a:solidFill>
                            <a:srgbClr val="222A35"/>
                          </a:solidFill>
                          <a:latin typeface="Arial"/>
                        </a:rPr>
                        <a:t>Correct steps, wrong file</a:t>
                      </a:r>
                    </a:p>
                  </a:txBody>
                  <a:tcPr marL="54864" marR="54864" marT="27432" marB="27432" anchor="ctr">
                    <a:solidFill>
                      <a:srgbClr val="FFFFFF"/>
                    </a:solidFill>
                  </a:tcPr>
                </a:tc>
                <a:extLst>
                  <a:ext uri="{0D108BD9-81ED-4DB2-BD59-A6C34878D82A}">
                    <a16:rowId xmlns:a16="http://schemas.microsoft.com/office/drawing/2014/main" val="10003"/>
                  </a:ext>
                </a:extLst>
              </a:tr>
              <a:tr h="457200">
                <a:tc>
                  <a:txBody>
                    <a:bodyPr/>
                    <a:lstStyle/>
                    <a:p>
                      <a:r>
                        <a:rPr sz="1300" b="0">
                          <a:solidFill>
                            <a:srgbClr val="222A35"/>
                          </a:solidFill>
                          <a:latin typeface="Arial"/>
                        </a:rPr>
                        <a:t>12–13</a:t>
                      </a:r>
                    </a:p>
                  </a:txBody>
                  <a:tcPr marL="54864" marR="54864" marT="27432" marB="27432" anchor="ctr">
                    <a:solidFill>
                      <a:srgbClr val="F2F5F9"/>
                    </a:solidFill>
                  </a:tcPr>
                </a:tc>
                <a:tc>
                  <a:txBody>
                    <a:bodyPr/>
                    <a:lstStyle/>
                    <a:p>
                      <a:r>
                        <a:rPr sz="1300" b="0">
                          <a:solidFill>
                            <a:srgbClr val="222A35"/>
                          </a:solidFill>
                          <a:latin typeface="Arial"/>
                        </a:rPr>
                        <a:t>Waited for “Moving 1 item”, then finish</a:t>
                      </a:r>
                    </a:p>
                  </a:txBody>
                  <a:tcPr marL="54864" marR="54864" marT="27432" marB="27432" anchor="ctr">
                    <a:solidFill>
                      <a:srgbClr val="F2F5F9"/>
                    </a:solidFill>
                  </a:tcPr>
                </a:tc>
                <a:tc>
                  <a:txBody>
                    <a:bodyPr/>
                    <a:lstStyle/>
                    <a:p>
                      <a:r>
                        <a:rPr sz="1300" b="1">
                          <a:solidFill>
                            <a:srgbClr val="FFFFFF"/>
                          </a:solidFill>
                          <a:latin typeface="Arial"/>
                        </a:rPr>
                        <a:t>false_done</a:t>
                      </a:r>
                    </a:p>
                  </a:txBody>
                  <a:tcPr marL="54864" marR="54864" marT="27432" marB="27432" anchor="ctr">
                    <a:solidFill>
                      <a:srgbClr val="E37222"/>
                    </a:solidFill>
                  </a:tcPr>
                </a:tc>
                <a:extLst>
                  <a:ext uri="{0D108BD9-81ED-4DB2-BD59-A6C34878D82A}">
                    <a16:rowId xmlns:a16="http://schemas.microsoft.com/office/drawing/2014/main" val="10004"/>
                  </a:ext>
                </a:extLst>
              </a:tr>
            </a:tbl>
          </a:graphicData>
        </a:graphic>
      </p:graphicFrame>
      <p:sp>
        <p:nvSpPr>
          <p:cNvPr id="12" name="TextBox 11"/>
          <p:cNvSpPr txBox="1"/>
          <p:nvPr/>
        </p:nvSpPr>
        <p:spPr>
          <a:xfrm>
            <a:off x="5440680" y="3886200"/>
            <a:ext cx="6126480" cy="685800"/>
          </a:xfrm>
          <a:prstGeom prst="rect">
            <a:avLst/>
          </a:prstGeom>
          <a:noFill/>
        </p:spPr>
        <p:txBody>
          <a:bodyPr wrap="square" lIns="73152" rIns="73152" anchor="t">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3" name="Rectangle 12"/>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605272" y="4754879"/>
            <a:ext cx="271576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Class</a:t>
            </a:r>
          </a:p>
        </p:txBody>
      </p:sp>
      <p:sp>
        <p:nvSpPr>
          <p:cNvPr id="16" name="TextBox 15"/>
          <p:cNvSpPr txBox="1"/>
          <p:nvPr/>
        </p:nvSpPr>
        <p:spPr>
          <a:xfrm>
            <a:off x="5605272" y="5166359"/>
            <a:ext cx="2697480" cy="1051560"/>
          </a:xfrm>
          <a:prstGeom prst="rect">
            <a:avLst/>
          </a:prstGeom>
          <a:noFill/>
        </p:spPr>
        <p:txBody>
          <a:bodyPr wrap="square" lIns="73152" rIns="73152" anchor="t">
            <a:spAutoFit/>
          </a:bodyPr>
          <a:lstStyle/>
          <a:p>
            <a:pPr algn="l">
              <a:lnSpc>
                <a:spcPct val="110000"/>
              </a:lnSpc>
            </a:pPr>
            <a:r>
              <a:rPr sz="1300" b="0" i="0">
                <a:solidFill>
                  <a:srgbClr val="222A35"/>
                </a:solidFill>
                <a:latin typeface="Arial"/>
              </a:rPr>
              <a:t>false_done (D1 p.50); root cause: a look-alike chosen from a truncated name</a:t>
            </a:r>
          </a:p>
        </p:txBody>
      </p:sp>
      <p:sp>
        <p:nvSpPr>
          <p:cNvPr id="17" name="Rectangle 16"/>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759952" y="4754879"/>
            <a:ext cx="271576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Fix layer</a:t>
            </a:r>
          </a:p>
        </p:txBody>
      </p:sp>
      <p:sp>
        <p:nvSpPr>
          <p:cNvPr id="20" name="TextBox 19"/>
          <p:cNvSpPr txBox="1"/>
          <p:nvPr/>
        </p:nvSpPr>
        <p:spPr>
          <a:xfrm>
            <a:off x="8759952" y="5166359"/>
            <a:ext cx="2697480" cy="1051560"/>
          </a:xfrm>
          <a:prstGeom prst="rect">
            <a:avLst/>
          </a:prstGeom>
          <a:noFill/>
        </p:spPr>
        <p:txBody>
          <a:bodyPr wrap="square" lIns="73152" rIns="73152" anchor="t">
            <a:spAutoFit/>
          </a:bodyPr>
          <a:lstStyle/>
          <a:p>
            <a:pPr algn="l">
              <a:lnSpc>
                <a:spcPct val="110000"/>
              </a:lnSpc>
            </a:pPr>
            <a:r>
              <a:rPr sz="1300" b="0" i="0">
                <a:solidFill>
                  <a:srgbClr val="222A35"/>
                </a:solidFill>
                <a:latin typeface="Arial"/>
              </a:rPr>
              <a:t>Instruction: list view or exact search. Program: check the full name before Move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Two more failures, and why runs of one task differ</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25</a:t>
            </a:r>
            <a:endParaRPr sz="1000" b="0" i="0">
              <a:solidFill>
                <a:srgbClr val="5E6773"/>
              </a:solidFill>
              <a:latin typeface="Arial"/>
            </a:endParaRPr>
          </a:p>
        </p:txBody>
      </p:sp>
      <p:pic>
        <p:nvPicPr>
          <p:cNvPr id="9" name="Picture 8" descr="contacts43_step9.png"/>
          <p:cNvPicPr>
            <a:picLocks noChangeAspect="1"/>
          </p:cNvPicPr>
          <p:nvPr/>
        </p:nvPicPr>
        <p:blipFill>
          <a:blip r:embed="rId3"/>
          <a:srcRect t="8000"/>
          <a:stretch>
            <a:fillRect/>
          </a:stretch>
        </p:blipFill>
        <p:spPr>
          <a:xfrm>
            <a:off x="640080" y="1463040"/>
            <a:ext cx="1769364" cy="3617366"/>
          </a:xfrm>
          <a:prstGeom prst="roundRect">
            <a:avLst/>
          </a:prstGeom>
          <a:ln w="44450">
            <a:solidFill>
              <a:srgbClr val="1B1F2A"/>
            </a:solidFill>
          </a:ln>
        </p:spPr>
      </p:pic>
      <p:pic>
        <p:nvPicPr>
          <p:cNvPr id="10" name="Picture 9" descr="osmand366_step15.png"/>
          <p:cNvPicPr>
            <a:picLocks noChangeAspect="1"/>
          </p:cNvPicPr>
          <p:nvPr/>
        </p:nvPicPr>
        <p:blipFill>
          <a:blip r:embed="rId4"/>
          <a:srcRect t="8000"/>
          <a:stretch>
            <a:fillRect/>
          </a:stretch>
        </p:blipFill>
        <p:spPr>
          <a:xfrm>
            <a:off x="2514600" y="1463040"/>
            <a:ext cx="1769364" cy="3617366"/>
          </a:xfrm>
          <a:prstGeom prst="roundRect">
            <a:avLst/>
          </a:prstGeom>
          <a:ln w="44450">
            <a:solidFill>
              <a:srgbClr val="1B1F2A"/>
            </a:solidFill>
          </a:ln>
        </p:spPr>
      </p:pic>
      <p:sp>
        <p:nvSpPr>
          <p:cNvPr id="11" name="TextBox 10"/>
          <p:cNvSpPr txBox="1"/>
          <p:nvPr/>
        </p:nvSpPr>
        <p:spPr>
          <a:xfrm>
            <a:off x="640080" y="5440680"/>
            <a:ext cx="3657600" cy="82296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2" name="Rectangle 11"/>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736592" y="1554480"/>
            <a:ext cx="312724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Contacts s43: other</a:t>
            </a:r>
          </a:p>
        </p:txBody>
      </p:sp>
      <p:sp>
        <p:nvSpPr>
          <p:cNvPr id="15" name="TextBox 14"/>
          <p:cNvSpPr txBox="1"/>
          <p:nvPr/>
        </p:nvSpPr>
        <p:spPr>
          <a:xfrm>
            <a:off x="4736592" y="1965960"/>
            <a:ext cx="3108960" cy="16916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Two swipes went past the Phone field; four more changed only the blinking cursor, which our check counted as a change.</a:t>
            </a:r>
          </a:p>
        </p:txBody>
      </p:sp>
      <p:sp>
        <p:nvSpPr>
          <p:cNvPr id="16" name="Rectangle 15"/>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348471" y="1554480"/>
            <a:ext cx="312724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OsmAnd s366: grounding</a:t>
            </a:r>
          </a:p>
        </p:txBody>
      </p:sp>
      <p:sp>
        <p:nvSpPr>
          <p:cNvPr id="19" name="TextBox 18"/>
          <p:cNvSpPr txBox="1"/>
          <p:nvPr/>
        </p:nvSpPr>
        <p:spPr>
          <a:xfrm>
            <a:off x="8348471" y="1965960"/>
            <a:ext cx="3108960" cy="16916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Code: “Tap Clear at [941, 83]”. Model tapped [941, 57], the top edge of the button, three times: no effect.</a:t>
            </a:r>
          </a:p>
        </p:txBody>
      </p:sp>
      <p:graphicFrame>
        <p:nvGraphicFramePr>
          <p:cNvPr id="20" name="Table 19"/>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02336">
                <a:tc>
                  <a:txBody>
                    <a:bodyPr/>
                    <a:lstStyle/>
                    <a:p>
                      <a:r>
                        <a:rPr sz="1300" b="1">
                          <a:solidFill>
                            <a:srgbClr val="FFFFFF"/>
                          </a:solidFill>
                          <a:latin typeface="Arial"/>
                        </a:rPr>
                        <a:t>Same task, two frozen evaluations</a:t>
                      </a:r>
                    </a:p>
                  </a:txBody>
                  <a:tcPr marL="54864" marR="54864" marT="27432" marB="27432" anchor="ctr">
                    <a:solidFill>
                      <a:srgbClr val="072140"/>
                    </a:solidFill>
                  </a:tcPr>
                </a:tc>
                <a:tc>
                  <a:txBody>
                    <a:bodyPr/>
                    <a:lstStyle/>
                    <a:p>
                      <a:pPr algn="ctr"/>
                      <a:r>
                        <a:rPr sz="1300" b="1">
                          <a:solidFill>
                            <a:srgbClr val="FFFFFF"/>
                          </a:solidFill>
                          <a:latin typeface="Arial"/>
                        </a:rPr>
                        <a:t>Run 1</a:t>
                      </a:r>
                    </a:p>
                  </a:txBody>
                  <a:tcPr marL="54864" marR="54864" marT="27432" marB="27432" anchor="ctr">
                    <a:solidFill>
                      <a:srgbClr val="072140"/>
                    </a:solidFill>
                  </a:tcPr>
                </a:tc>
                <a:tc>
                  <a:txBody>
                    <a:bodyPr/>
                    <a:lstStyle/>
                    <a:p>
                      <a:pPr algn="ctr"/>
                      <a:r>
                        <a:rPr sz="1300" b="1">
                          <a:solidFill>
                            <a:srgbClr val="FFFFFF"/>
                          </a:solidFill>
                          <a:latin typeface="Arial"/>
                        </a:rPr>
                        <a:t>Run 2</a:t>
                      </a:r>
                    </a:p>
                  </a:txBody>
                  <a:tcPr marL="54864" marR="54864" marT="27432" marB="27432" anchor="ctr">
                    <a:solidFill>
                      <a:srgbClr val="072140"/>
                    </a:solidFill>
                  </a:tcPr>
                </a:tc>
                <a:tc>
                  <a:txBody>
                    <a:bodyPr/>
                    <a:lstStyle/>
                    <a:p>
                      <a:pPr algn="ctr"/>
                      <a:r>
                        <a:rPr sz="1300" b="1">
                          <a:solidFill>
                            <a:srgbClr val="FFFFFF"/>
                          </a:solidFill>
                          <a:latin typeface="Arial"/>
                        </a:rPr>
                        <a:t>Run 3</a:t>
                      </a:r>
                    </a:p>
                  </a:txBody>
                  <a:tcPr marL="54864" marR="54864" marT="27432" marB="27432" anchor="ctr">
                    <a:solidFill>
                      <a:srgbClr val="072140"/>
                    </a:solidFill>
                  </a:tcPr>
                </a:tc>
                <a:extLst>
                  <a:ext uri="{0D108BD9-81ED-4DB2-BD59-A6C34878D82A}">
                    <a16:rowId xmlns:a16="http://schemas.microsoft.com/office/drawing/2014/main" val="10000"/>
                  </a:ext>
                </a:extLst>
              </a:tr>
              <a:tr h="402336">
                <a:tc>
                  <a:txBody>
                    <a:bodyPr/>
                    <a:lstStyle/>
                    <a:p>
                      <a:r>
                        <a:rPr sz="1300" b="0">
                          <a:solidFill>
                            <a:srgbClr val="222A35"/>
                          </a:solidFill>
                          <a:latin typeface="Arial"/>
                        </a:rPr>
                        <a:t>OsmAnd v61 (Skill experiment)</a:t>
                      </a:r>
                    </a:p>
                  </a:txBody>
                  <a:tcPr marL="54864" marR="54864" marT="27432" marB="27432" anchor="ctr">
                    <a:solidFill>
                      <a:srgbClr val="FFFFFF"/>
                    </a:solidFill>
                  </a:tcPr>
                </a:tc>
                <a:tc>
                  <a:txBody>
                    <a:bodyPr/>
                    <a:lstStyle/>
                    <a:p>
                      <a:pPr algn="ctr"/>
                      <a:r>
                        <a:rPr sz="1300" b="1">
                          <a:solidFill>
                            <a:srgbClr val="FFFFFF"/>
                          </a:solidFill>
                          <a:latin typeface="Arial"/>
                        </a:rPr>
                        <a:t>FAIL</a:t>
                      </a:r>
                    </a:p>
                  </a:txBody>
                  <a:tcPr marL="54864" marR="54864" marT="27432" marB="27432" anchor="ctr">
                    <a:solidFill>
                      <a:srgbClr val="E37222"/>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extLst>
                  <a:ext uri="{0D108BD9-81ED-4DB2-BD59-A6C34878D82A}">
                    <a16:rowId xmlns:a16="http://schemas.microsoft.com/office/drawing/2014/main" val="10001"/>
                  </a:ext>
                </a:extLst>
              </a:tr>
              <a:tr h="402336">
                <a:tc>
                  <a:txBody>
                    <a:bodyPr/>
                    <a:lstStyle/>
                    <a:p>
                      <a:r>
                        <a:rPr sz="1300" b="0">
                          <a:solidFill>
                            <a:srgbClr val="222A35"/>
                          </a:solidFill>
                          <a:latin typeface="Arial"/>
                        </a:rPr>
                        <a:t>OsmAnd v65 (final)</a:t>
                      </a:r>
                    </a:p>
                  </a:txBody>
                  <a:tcPr marL="54864" marR="54864" marT="27432" marB="27432" anchor="ctr">
                    <a:solidFill>
                      <a:srgbClr val="F2F5F9"/>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FAIL</a:t>
                      </a:r>
                    </a:p>
                  </a:txBody>
                  <a:tcPr marL="54864" marR="54864" marT="27432" marB="27432" anchor="ctr">
                    <a:solidFill>
                      <a:srgbClr val="E37222"/>
                    </a:solidFill>
                  </a:tcPr>
                </a:tc>
                <a:extLst>
                  <a:ext uri="{0D108BD9-81ED-4DB2-BD59-A6C34878D82A}">
                    <a16:rowId xmlns:a16="http://schemas.microsoft.com/office/drawing/2014/main" val="10002"/>
                  </a:ext>
                </a:extLst>
              </a:tr>
              <a:tr h="402336">
                <a:tc>
                  <a:txBody>
                    <a:bodyPr/>
                    <a:lstStyle/>
                    <a:p>
                      <a:r>
                        <a:rPr sz="1300" b="0">
                          <a:solidFill>
                            <a:srgbClr val="222A35"/>
                          </a:solidFill>
                          <a:latin typeface="Arial"/>
                        </a:rPr>
                        <a:t>Contacts v42 (earlier)</a:t>
                      </a:r>
                    </a:p>
                  </a:txBody>
                  <a:tcPr marL="54864" marR="54864" marT="27432" marB="27432" anchor="ctr">
                    <a:solidFill>
                      <a:srgbClr val="FFFFFF"/>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extLst>
                  <a:ext uri="{0D108BD9-81ED-4DB2-BD59-A6C34878D82A}">
                    <a16:rowId xmlns:a16="http://schemas.microsoft.com/office/drawing/2014/main" val="10003"/>
                  </a:ext>
                </a:extLst>
              </a:tr>
              <a:tr h="402336">
                <a:tc>
                  <a:txBody>
                    <a:bodyPr/>
                    <a:lstStyle/>
                    <a:p>
                      <a:r>
                        <a:rPr sz="1300" b="0">
                          <a:solidFill>
                            <a:srgbClr val="222A35"/>
                          </a:solidFill>
                          <a:latin typeface="Arial"/>
                        </a:rPr>
                        <a:t>Contacts v65 (final)</a:t>
                      </a:r>
                    </a:p>
                  </a:txBody>
                  <a:tcPr marL="54864" marR="54864" marT="27432" marB="27432" anchor="ctr">
                    <a:solidFill>
                      <a:srgbClr val="F2F5F9"/>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FAIL</a:t>
                      </a:r>
                    </a:p>
                  </a:txBody>
                  <a:tcPr marL="54864" marR="54864" marT="27432" marB="27432" anchor="ctr">
                    <a:solidFill>
                      <a:srgbClr val="E37222"/>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Not every failure is the model: test-setup problems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26</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701040">
                <a:tc>
                  <a:txBody>
                    <a:bodyPr/>
                    <a:lstStyle/>
                    <a:p>
                      <a:r>
                        <a:rPr sz="1300" b="1">
                          <a:solidFill>
                            <a:srgbClr val="FFFFFF"/>
                          </a:solidFill>
                          <a:latin typeface="Arial"/>
                        </a:rPr>
                        <a:t>Symptom</a:t>
                      </a:r>
                    </a:p>
                  </a:txBody>
                  <a:tcPr marL="54864" marR="54864" marT="27432" marB="27432" anchor="ctr">
                    <a:solidFill>
                      <a:srgbClr val="072140"/>
                    </a:solidFill>
                  </a:tcPr>
                </a:tc>
                <a:tc>
                  <a:txBody>
                    <a:bodyPr/>
                    <a:lstStyle/>
                    <a:p>
                      <a:r>
                        <a:rPr sz="1300" b="1">
                          <a:solidFill>
                            <a:srgbClr val="FFFFFF"/>
                          </a:solidFill>
                          <a:latin typeface="Arial"/>
                        </a:rPr>
                        <a:t>Root cause</a:t>
                      </a:r>
                    </a:p>
                  </a:txBody>
                  <a:tcPr marL="54864" marR="54864" marT="27432" marB="27432" anchor="ctr">
                    <a:solidFill>
                      <a:srgbClr val="072140"/>
                    </a:solidFill>
                  </a:tcPr>
                </a:tc>
                <a:tc>
                  <a:txBody>
                    <a:bodyPr/>
                    <a:lstStyle/>
                    <a:p>
                      <a:r>
                        <a:rPr sz="1300" b="1">
                          <a:solidFill>
                            <a:srgbClr val="FFFFFF"/>
                          </a:solidFill>
                          <a:latin typeface="Arial"/>
                        </a:rPr>
                        <a:t>Fix</a:t>
                      </a:r>
                    </a:p>
                  </a:txBody>
                  <a:tcPr marL="54864" marR="54864" marT="27432" marB="27432" anchor="ctr">
                    <a:solidFill>
                      <a:srgbClr val="072140"/>
                    </a:solidFill>
                  </a:tcPr>
                </a:tc>
                <a:extLst>
                  <a:ext uri="{0D108BD9-81ED-4DB2-BD59-A6C34878D82A}">
                    <a16:rowId xmlns:a16="http://schemas.microsoft.com/office/drawing/2014/main" val="10000"/>
                  </a:ext>
                </a:extLst>
              </a:tr>
              <a:tr h="701040">
                <a:tc>
                  <a:txBody>
                    <a:bodyPr/>
                    <a:lstStyle/>
                    <a:p>
                      <a:r>
                        <a:rPr sz="1300" b="1">
                          <a:solidFill>
                            <a:srgbClr val="222A35"/>
                          </a:solidFill>
                          <a:latin typeface="Arial"/>
                        </a:rPr>
                        <a:t>Model “waited” on a black screen</a:t>
                      </a:r>
                    </a:p>
                  </a:txBody>
                  <a:tcPr marL="54864" marR="54864" marT="27432" marB="27432" anchor="ctr">
                    <a:solidFill>
                      <a:srgbClr val="FFFFFF"/>
                    </a:solidFill>
                  </a:tcPr>
                </a:tc>
                <a:tc>
                  <a:txBody>
                    <a:bodyPr/>
                    <a:lstStyle/>
                    <a:p>
                      <a:r>
                        <a:rPr sz="1300" b="0">
                          <a:solidFill>
                            <a:srgbClr val="222A35"/>
                          </a:solidFill>
                          <a:latin typeface="Arial"/>
                        </a:rPr>
                        <a:t>Emulator GPU mode returned all-black frames</a:t>
                      </a:r>
                    </a:p>
                  </a:txBody>
                  <a:tcPr marL="54864" marR="54864" marT="27432" marB="27432" anchor="ctr">
                    <a:solidFill>
                      <a:srgbClr val="FFFFFF"/>
                    </a:solidFill>
                  </a:tcPr>
                </a:tc>
                <a:tc>
                  <a:txBody>
                    <a:bodyPr/>
                    <a:lstStyle/>
                    <a:p>
                      <a:r>
                        <a:rPr sz="1300" b="0">
                          <a:solidFill>
                            <a:srgbClr val="222A35"/>
                          </a:solidFill>
                          <a:latin typeface="Arial"/>
                        </a:rPr>
                        <a:t>Headless host-GPU emulator; black frames stop the run</a:t>
                      </a:r>
                    </a:p>
                  </a:txBody>
                  <a:tcPr marL="54864" marR="54864" marT="27432" marB="27432" anchor="ctr">
                    <a:solidFill>
                      <a:srgbClr val="FFFFFF"/>
                    </a:solidFill>
                  </a:tcPr>
                </a:tc>
                <a:extLst>
                  <a:ext uri="{0D108BD9-81ED-4DB2-BD59-A6C34878D82A}">
                    <a16:rowId xmlns:a16="http://schemas.microsoft.com/office/drawing/2014/main" val="10001"/>
                  </a:ext>
                </a:extLst>
              </a:tr>
              <a:tr h="701040">
                <a:tc>
                  <a:txBody>
                    <a:bodyPr/>
                    <a:lstStyle/>
                    <a:p>
                      <a:r>
                        <a:rPr sz="1300" b="1">
                          <a:solidFill>
                            <a:srgbClr val="222A35"/>
                          </a:solidFill>
                          <a:latin typeface="Arial"/>
                        </a:rPr>
                        <a:t>Screen recording stopped</a:t>
                      </a:r>
                    </a:p>
                  </a:txBody>
                  <a:tcPr marL="54864" marR="54864" marT="27432" marB="27432" anchor="ctr">
                    <a:solidFill>
                      <a:srgbClr val="F2F5F9"/>
                    </a:solidFill>
                  </a:tcPr>
                </a:tc>
                <a:tc>
                  <a:txBody>
                    <a:bodyPr/>
                    <a:lstStyle/>
                    <a:p>
                      <a:r>
                        <a:rPr sz="1300" b="0">
                          <a:solidFill>
                            <a:srgbClr val="222A35"/>
                          </a:solidFill>
                          <a:latin typeface="Arial"/>
                        </a:rPr>
                        <a:t>Android tools restarted their server on a timeout</a:t>
                      </a:r>
                    </a:p>
                  </a:txBody>
                  <a:tcPr marL="54864" marR="54864" marT="27432" marB="27432" anchor="ctr">
                    <a:solidFill>
                      <a:srgbClr val="F2F5F9"/>
                    </a:solidFill>
                  </a:tcPr>
                </a:tc>
                <a:tc>
                  <a:txBody>
                    <a:bodyPr/>
                    <a:lstStyle/>
                    <a:p>
                      <a:r>
                        <a:rPr sz="1300" b="0">
                          <a:solidFill>
                            <a:srgbClr val="222A35"/>
                          </a:solidFill>
                          <a:latin typeface="Arial"/>
                        </a:rPr>
                        <a:t>Keep the server; longer app-start timeout</a:t>
                      </a:r>
                    </a:p>
                  </a:txBody>
                  <a:tcPr marL="54864" marR="54864" marT="27432" marB="27432" anchor="ctr">
                    <a:solidFill>
                      <a:srgbClr val="F2F5F9"/>
                    </a:solidFill>
                  </a:tcPr>
                </a:tc>
                <a:extLst>
                  <a:ext uri="{0D108BD9-81ED-4DB2-BD59-A6C34878D82A}">
                    <a16:rowId xmlns:a16="http://schemas.microsoft.com/office/drawing/2014/main" val="10002"/>
                  </a:ext>
                </a:extLst>
              </a:tr>
              <a:tr h="701040">
                <a:tc>
                  <a:txBody>
                    <a:bodyPr/>
                    <a:lstStyle/>
                    <a:p>
                      <a:r>
                        <a:rPr sz="1300" b="1">
                          <a:solidFill>
                            <a:srgbClr val="222A35"/>
                          </a:solidFill>
                          <a:latin typeface="Arial"/>
                        </a:rPr>
                        <a:t>App start timed out</a:t>
                      </a:r>
                    </a:p>
                  </a:txBody>
                  <a:tcPr marL="54864" marR="54864" marT="27432" marB="27432" anchor="ctr">
                    <a:solidFill>
                      <a:srgbClr val="FFFFFF"/>
                    </a:solidFill>
                  </a:tcPr>
                </a:tc>
                <a:tc>
                  <a:txBody>
                    <a:bodyPr/>
                    <a:lstStyle/>
                    <a:p>
                      <a:r>
                        <a:rPr sz="1300" b="0">
                          <a:solidFill>
                            <a:srgbClr val="222A35"/>
                          </a:solidFill>
                          <a:latin typeface="Arial"/>
                        </a:rPr>
                        <a:t>Cold start longer than 5 s</a:t>
                      </a:r>
                    </a:p>
                  </a:txBody>
                  <a:tcPr marL="54864" marR="54864" marT="27432" marB="27432" anchor="ctr">
                    <a:solidFill>
                      <a:srgbClr val="FFFFFF"/>
                    </a:solidFill>
                  </a:tcPr>
                </a:tc>
                <a:tc>
                  <a:txBody>
                    <a:bodyPr/>
                    <a:lstStyle/>
                    <a:p>
                      <a:r>
                        <a:rPr sz="1300" b="0">
                          <a:solidFill>
                            <a:srgbClr val="222A35"/>
                          </a:solidFill>
                          <a:latin typeface="Arial"/>
                        </a:rPr>
                        <a:t>30 s launch timeout</a:t>
                      </a:r>
                    </a:p>
                  </a:txBody>
                  <a:tcPr marL="54864" marR="54864" marT="27432" marB="27432" anchor="ctr">
                    <a:solidFill>
                      <a:srgbClr val="FFFFFF"/>
                    </a:solidFill>
                  </a:tcPr>
                </a:tc>
                <a:extLst>
                  <a:ext uri="{0D108BD9-81ED-4DB2-BD59-A6C34878D82A}">
                    <a16:rowId xmlns:a16="http://schemas.microsoft.com/office/drawing/2014/main" val="10003"/>
                  </a:ext>
                </a:extLst>
              </a:tr>
              <a:tr h="701040">
                <a:tc>
                  <a:txBody>
                    <a:bodyPr/>
                    <a:lstStyle/>
                    <a:p>
                      <a:r>
                        <a:rPr sz="1300" b="1">
                          <a:solidFill>
                            <a:srgbClr val="222A35"/>
                          </a:solidFill>
                          <a:latin typeface="Arial"/>
                        </a:rPr>
                        <a:t>“keeps stopping” dialog</a:t>
                      </a:r>
                    </a:p>
                  </a:txBody>
                  <a:tcPr marL="54864" marR="54864" marT="27432" marB="27432" anchor="ctr">
                    <a:solidFill>
                      <a:srgbClr val="F2F5F9"/>
                    </a:solidFill>
                  </a:tcPr>
                </a:tc>
                <a:tc>
                  <a:txBody>
                    <a:bodyPr/>
                    <a:lstStyle/>
                    <a:p>
                      <a:r>
                        <a:rPr sz="1300" b="0">
                          <a:solidFill>
                            <a:srgbClr val="222A35"/>
                          </a:solidFill>
                          <a:latin typeface="Arial"/>
                        </a:rPr>
                        <a:t>Accessibility service crash (11 of 25 OsmAnd runs)</a:t>
                      </a:r>
                    </a:p>
                  </a:txBody>
                  <a:tcPr marL="54864" marR="54864" marT="27432" marB="27432" anchor="ctr">
                    <a:solidFill>
                      <a:srgbClr val="F2F5F9"/>
                    </a:solidFill>
                  </a:tcPr>
                </a:tc>
                <a:tc>
                  <a:txBody>
                    <a:bodyPr/>
                    <a:lstStyle/>
                    <a:p>
                      <a:r>
                        <a:rPr sz="1300" b="0">
                          <a:solidFill>
                            <a:srgbClr val="222A35"/>
                          </a:solidFill>
                          <a:latin typeface="Arial"/>
                        </a:rPr>
                        <a:t>Model closes it; empty tree read again</a:t>
                      </a:r>
                    </a:p>
                  </a:txBody>
                  <a:tcPr marL="54864" marR="54864" marT="27432" marB="27432" anchor="ctr">
                    <a:solidFill>
                      <a:srgbClr val="F2F5F9"/>
                    </a:solidFill>
                  </a:tcPr>
                </a:tc>
                <a:extLst>
                  <a:ext uri="{0D108BD9-81ED-4DB2-BD59-A6C34878D82A}">
                    <a16:rowId xmlns:a16="http://schemas.microsoft.com/office/drawing/2014/main" val="10004"/>
                  </a:ext>
                </a:extLst>
              </a:tr>
              <a:tr h="701040">
                <a:tc>
                  <a:txBody>
                    <a:bodyPr/>
                    <a:lstStyle/>
                    <a:p>
                      <a:r>
                        <a:rPr sz="1300" b="1">
                          <a:solidFill>
                            <a:srgbClr val="222A35"/>
                          </a:solidFill>
                          <a:latin typeface="Arial"/>
                        </a:rPr>
                        <a:t>OsmAnd map missing</a:t>
                      </a:r>
                    </a:p>
                  </a:txBody>
                  <a:tcPr marL="54864" marR="54864" marT="27432" marB="27432" anchor="ctr">
                    <a:solidFill>
                      <a:srgbClr val="FFFFFF"/>
                    </a:solidFill>
                  </a:tcPr>
                </a:tc>
                <a:tc>
                  <a:txBody>
                    <a:bodyPr/>
                    <a:lstStyle/>
                    <a:p>
                      <a:r>
                        <a:rPr sz="1300" b="0">
                          <a:solidFill>
                            <a:srgbClr val="222A35"/>
                          </a:solidFill>
                          <a:latin typeface="Arial"/>
                        </a:rPr>
                        <a:t>Files task initialization deletes shared storage</a:t>
                      </a:r>
                    </a:p>
                  </a:txBody>
                  <a:tcPr marL="54864" marR="54864" marT="27432" marB="27432" anchor="ctr">
                    <a:solidFill>
                      <a:srgbClr val="FFFFFF"/>
                    </a:solidFill>
                  </a:tcPr>
                </a:tc>
                <a:tc>
                  <a:txBody>
                    <a:bodyPr/>
                    <a:lstStyle/>
                    <a:p>
                      <a:r>
                        <a:rPr sz="1300" b="0">
                          <a:solidFill>
                            <a:srgbClr val="222A35"/>
                          </a:solidFill>
                          <a:latin typeface="Arial"/>
                        </a:rPr>
                        <a:t>Check the map before OsmAnd; rerun official setup</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pic>
        <p:nvPicPr>
          <p:cNvPr id="10" name="Picture 9" descr="forwarder_crash.png"/>
          <p:cNvPicPr>
            <a:picLocks noChangeAspect="1"/>
          </p:cNvPicPr>
          <p:nvPr/>
        </p:nvPicPr>
        <p:blipFill>
          <a:blip r:embed="rId3"/>
          <a:srcRect t="8000"/>
          <a:stretch>
            <a:fillRect/>
          </a:stretch>
        </p:blipFill>
        <p:spPr>
          <a:xfrm>
            <a:off x="8869680" y="1508760"/>
            <a:ext cx="1892808" cy="3869740"/>
          </a:xfrm>
          <a:prstGeom prst="roundRect">
            <a:avLst/>
          </a:prstGeom>
          <a:ln w="44450">
            <a:solidFill>
              <a:srgbClr val="1B1F2A"/>
            </a:solidFill>
          </a:ln>
        </p:spPr>
      </p:pic>
      <p:sp>
        <p:nvSpPr>
          <p:cNvPr id="11" name="TextBox 10"/>
          <p:cNvSpPr txBox="1"/>
          <p:nvPr/>
        </p:nvSpPr>
        <p:spPr>
          <a:xfrm>
            <a:off x="640080" y="5852160"/>
            <a:ext cx="10881360" cy="457200"/>
          </a:xfrm>
          <a:prstGeom prst="rect">
            <a:avLst/>
          </a:prstGeom>
          <a:noFill/>
        </p:spPr>
        <p:txBody>
          <a:bodyPr wrap="square" lIns="73152" rIns="73152" anchor="t">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The hardest task: from zero passes to two of three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27</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tangle 9"/>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94192" y="1645920"/>
            <a:ext cx="30815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What changed</a:t>
            </a:r>
          </a:p>
        </p:txBody>
      </p:sp>
      <p:sp>
        <p:nvSpPr>
          <p:cNvPr id="13" name="TextBox 12"/>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Skill as text: the model often ignored it</a:t>
            </a:r>
          </a:p>
          <a:p>
            <a:pPr>
              <a:lnSpc>
                <a:spcPct val="108000"/>
              </a:lnSpc>
              <a:spcAft>
                <a:spcPts val="300"/>
              </a:spcAft>
            </a:pPr>
            <a:r>
              <a:rPr sz="1400">
                <a:solidFill>
                  <a:srgbClr val="0065BD"/>
                </a:solidFill>
                <a:latin typeface="Arial"/>
              </a:rPr>
              <a:t>▪  </a:t>
            </a:r>
            <a:r>
              <a:rPr sz="1400" b="0">
                <a:solidFill>
                  <a:srgbClr val="222A35"/>
                </a:solidFill>
                <a:latin typeface="Arial"/>
              </a:rPr>
              <a:t>Rules on the model’s words: bypassed</a:t>
            </a:r>
          </a:p>
          <a:p>
            <a:pPr>
              <a:lnSpc>
                <a:spcPct val="108000"/>
              </a:lnSpc>
              <a:spcAft>
                <a:spcPts val="300"/>
              </a:spcAft>
            </a:pPr>
            <a:r>
              <a:rPr sz="1400">
                <a:solidFill>
                  <a:srgbClr val="0065BD"/>
                </a:solidFill>
                <a:latin typeface="Arial"/>
              </a:rPr>
              <a:t>▪  </a:t>
            </a:r>
            <a:r>
              <a:rPr sz="1400" b="1">
                <a:solidFill>
                  <a:srgbClr val="222A35"/>
                </a:solidFill>
                <a:latin typeface="Arial"/>
              </a:rPr>
              <a:t>Program reads the screen</a:t>
            </a:r>
            <a:r>
              <a:rPr sz="1400" b="0">
                <a:solidFill>
                  <a:srgbClr val="222A35"/>
                </a:solidFill>
                <a:latin typeface="Arial"/>
              </a:rPr>
              <a:t> (accessibility tree)</a:t>
            </a:r>
          </a:p>
          <a:p>
            <a:pPr>
              <a:lnSpc>
                <a:spcPct val="108000"/>
              </a:lnSpc>
              <a:spcAft>
                <a:spcPts val="300"/>
              </a:spcAft>
            </a:pPr>
            <a:r>
              <a:rPr sz="1400">
                <a:solidFill>
                  <a:srgbClr val="0065BD"/>
                </a:solidFill>
                <a:latin typeface="Arial"/>
              </a:rPr>
              <a:t>▪  </a:t>
            </a:r>
            <a:r>
              <a:rPr sz="1400" b="1">
                <a:solidFill>
                  <a:srgbClr val="222A35"/>
                </a:solidFill>
                <a:latin typeface="Arial"/>
              </a:rPr>
              <a:t>Skill as code</a:t>
            </a:r>
            <a:r>
              <a:rPr sz="1400" b="0">
                <a:solidFill>
                  <a:srgbClr val="222A35"/>
                </a:solidFill>
                <a:latin typeface="Arial"/>
              </a:rPr>
              <a:t>: next step + tap centre</a:t>
            </a:r>
          </a:p>
          <a:p>
            <a:pPr>
              <a:lnSpc>
                <a:spcPct val="108000"/>
              </a:lnSpc>
              <a:spcAft>
                <a:spcPts val="300"/>
              </a:spcAft>
            </a:pPr>
            <a:r>
              <a:rPr sz="1400">
                <a:solidFill>
                  <a:srgbClr val="0065BD"/>
                </a:solidFill>
                <a:latin typeface="Arial"/>
              </a:rPr>
              <a:t>▪  </a:t>
            </a:r>
            <a:r>
              <a:rPr sz="1400" b="0">
                <a:solidFill>
                  <a:srgbClr val="222A35"/>
                </a:solidFill>
                <a:latin typeface="Arial"/>
              </a:rPr>
              <a:t>Each fix tested on practice seeds, never on the evaluation seeds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Before and after: only the Skill changed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28</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502920">
                <a:tc>
                  <a:txBody>
                    <a:bodyPr/>
                    <a:lstStyle/>
                    <a:p>
                      <a:r>
                        <a:rPr sz="1400" b="1">
                          <a:solidFill>
                            <a:srgbClr val="FFFFFF"/>
                          </a:solidFill>
                          <a:latin typeface="Arial"/>
                        </a:rPr>
                        <a:t>OsmAnd, seeds 31 / 314 / 366</a:t>
                      </a:r>
                    </a:p>
                  </a:txBody>
                  <a:tcPr marL="54864" marR="54864" marT="27432" marB="27432" anchor="ctr">
                    <a:solidFill>
                      <a:srgbClr val="072140"/>
                    </a:solidFill>
                  </a:tcPr>
                </a:tc>
                <a:tc>
                  <a:txBody>
                    <a:bodyPr/>
                    <a:lstStyle/>
                    <a:p>
                      <a:pPr algn="ctr"/>
                      <a:r>
                        <a:rPr sz="1400" b="1">
                          <a:solidFill>
                            <a:srgbClr val="FFFFFF"/>
                          </a:solidFill>
                          <a:latin typeface="Arial"/>
                        </a:rPr>
                        <a:t>No Skill</a:t>
                      </a:r>
                    </a:p>
                  </a:txBody>
                  <a:tcPr marL="54864" marR="54864" marT="27432" marB="27432" anchor="ctr">
                    <a:solidFill>
                      <a:srgbClr val="072140"/>
                    </a:solidFill>
                  </a:tcPr>
                </a:tc>
                <a:tc>
                  <a:txBody>
                    <a:bodyPr/>
                    <a:lstStyle/>
                    <a:p>
                      <a:pPr algn="ctr"/>
                      <a:r>
                        <a:rPr sz="1400" b="1">
                          <a:solidFill>
                            <a:srgbClr val="FFFFFF"/>
                          </a:solidFill>
                          <a:latin typeface="Arial"/>
                        </a:rPr>
                        <a:t>Skill</a:t>
                      </a:r>
                    </a:p>
                  </a:txBody>
                  <a:tcPr marL="54864" marR="54864" marT="27432" marB="27432" anchor="ctr">
                    <a:solidFill>
                      <a:srgbClr val="072140"/>
                    </a:solidFill>
                  </a:tcPr>
                </a:tc>
                <a:extLst>
                  <a:ext uri="{0D108BD9-81ED-4DB2-BD59-A6C34878D82A}">
                    <a16:rowId xmlns:a16="http://schemas.microsoft.com/office/drawing/2014/main" val="10000"/>
                  </a:ext>
                </a:extLst>
              </a:tr>
              <a:tr h="502920">
                <a:tc>
                  <a:txBody>
                    <a:bodyPr/>
                    <a:lstStyle/>
                    <a:p>
                      <a:r>
                        <a:rPr sz="1400" b="1">
                          <a:solidFill>
                            <a:srgbClr val="222A35"/>
                          </a:solidFill>
                          <a:latin typeface="Arial"/>
                        </a:rPr>
                        <a:t>Official verifier PASS</a:t>
                      </a:r>
                    </a:p>
                  </a:txBody>
                  <a:tcPr marL="54864" marR="54864" marT="27432" marB="27432" anchor="ctr">
                    <a:solidFill>
                      <a:srgbClr val="FFFFFF"/>
                    </a:solidFill>
                  </a:tcPr>
                </a:tc>
                <a:tc>
                  <a:txBody>
                    <a:bodyPr/>
                    <a:lstStyle/>
                    <a:p>
                      <a:pPr algn="ctr"/>
                      <a:r>
                        <a:rPr sz="1400" b="1">
                          <a:solidFill>
                            <a:srgbClr val="FFFFFF"/>
                          </a:solidFill>
                          <a:latin typeface="Arial"/>
                        </a:rPr>
                        <a:t>0 / 3</a:t>
                      </a:r>
                    </a:p>
                  </a:txBody>
                  <a:tcPr marL="54864" marR="54864" marT="27432" marB="27432" anchor="ctr">
                    <a:solidFill>
                      <a:srgbClr val="E37222"/>
                    </a:solidFill>
                  </a:tcPr>
                </a:tc>
                <a:tc>
                  <a:txBody>
                    <a:bodyPr/>
                    <a:lstStyle/>
                    <a:p>
                      <a:pPr algn="ctr"/>
                      <a:r>
                        <a:rPr sz="1400" b="1">
                          <a:solidFill>
                            <a:srgbClr val="FFFFFF"/>
                          </a:solidFill>
                          <a:latin typeface="Arial"/>
                        </a:rPr>
                        <a:t>2 / 3</a:t>
                      </a:r>
                    </a:p>
                  </a:txBody>
                  <a:tcPr marL="54864" marR="54864" marT="27432" marB="27432" anchor="ctr">
                    <a:solidFill>
                      <a:srgbClr val="0065BD"/>
                    </a:solidFill>
                  </a:tcPr>
                </a:tc>
                <a:extLst>
                  <a:ext uri="{0D108BD9-81ED-4DB2-BD59-A6C34878D82A}">
                    <a16:rowId xmlns:a16="http://schemas.microsoft.com/office/drawing/2014/main" val="10001"/>
                  </a:ext>
                </a:extLst>
              </a:tr>
              <a:tr h="502920">
                <a:tc>
                  <a:txBody>
                    <a:bodyPr/>
                    <a:lstStyle/>
                    <a:p>
                      <a:r>
                        <a:rPr sz="1400" b="1">
                          <a:solidFill>
                            <a:srgbClr val="222A35"/>
                          </a:solidFill>
                          <a:latin typeface="Arial"/>
                        </a:rPr>
                        <a:t>Searched the place name only</a:t>
                      </a:r>
                    </a:p>
                  </a:txBody>
                  <a:tcPr marL="54864" marR="54864" marT="27432" marB="27432" anchor="ctr">
                    <a:solidFill>
                      <a:srgbClr val="F2F5F9"/>
                    </a:solidFill>
                  </a:tcPr>
                </a:tc>
                <a:tc>
                  <a:txBody>
                    <a:bodyPr/>
                    <a:lstStyle/>
                    <a:p>
                      <a:pPr algn="ctr"/>
                      <a:r>
                        <a:rPr sz="1400" b="0">
                          <a:solidFill>
                            <a:srgbClr val="222A35"/>
                          </a:solidFill>
                          <a:latin typeface="Arial"/>
                        </a:rPr>
                        <a:t>0 / 3</a:t>
                      </a:r>
                    </a:p>
                  </a:txBody>
                  <a:tcPr marL="54864" marR="54864" marT="27432" marB="27432" anchor="ctr">
                    <a:solidFill>
                      <a:srgbClr val="F2F5F9"/>
                    </a:solidFill>
                  </a:tcPr>
                </a:tc>
                <a:tc>
                  <a:txBody>
                    <a:bodyPr/>
                    <a:lstStyle/>
                    <a:p>
                      <a:pPr algn="ctr"/>
                      <a:r>
                        <a:rPr sz="1400" b="0">
                          <a:solidFill>
                            <a:srgbClr val="222A35"/>
                          </a:solidFill>
                          <a:latin typeface="Arial"/>
                        </a:rPr>
                        <a:t>3 / 3</a:t>
                      </a:r>
                    </a:p>
                  </a:txBody>
                  <a:tcPr marL="54864" marR="54864" marT="27432" marB="27432" anchor="ctr">
                    <a:solidFill>
                      <a:srgbClr val="F2F5F9"/>
                    </a:solidFill>
                  </a:tcPr>
                </a:tc>
                <a:extLst>
                  <a:ext uri="{0D108BD9-81ED-4DB2-BD59-A6C34878D82A}">
                    <a16:rowId xmlns:a16="http://schemas.microsoft.com/office/drawing/2014/main" val="10002"/>
                  </a:ext>
                </a:extLst>
              </a:tr>
              <a:tr h="502920">
                <a:tc>
                  <a:txBody>
                    <a:bodyPr/>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a:lstStyle/>
                    <a:p>
                      <a:pPr algn="ctr"/>
                      <a:r>
                        <a:rPr sz="1400" b="0">
                          <a:solidFill>
                            <a:srgbClr val="222A35"/>
                          </a:solidFill>
                          <a:latin typeface="Arial"/>
                        </a:rPr>
                        <a:t>0 / 3</a:t>
                      </a:r>
                    </a:p>
                  </a:txBody>
                  <a:tcPr marL="54864" marR="54864" marT="27432" marB="27432" anchor="ctr">
                    <a:solidFill>
                      <a:srgbClr val="FFFFFF"/>
                    </a:solidFill>
                  </a:tcPr>
                </a:tc>
                <a:tc>
                  <a:txBody>
                    <a:bodyPr/>
                    <a:lstStyle/>
                    <a:p>
                      <a:pPr algn="ctr"/>
                      <a:r>
                        <a:rPr sz="1400" b="0">
                          <a:solidFill>
                            <a:srgbClr val="222A35"/>
                          </a:solidFill>
                          <a:latin typeface="Arial"/>
                        </a:rPr>
                        <a:t>2 / 3</a:t>
                      </a:r>
                    </a:p>
                  </a:txBody>
                  <a:tcPr marL="54864" marR="54864" marT="27432" marB="27432" anchor="ctr">
                    <a:solidFill>
                      <a:srgbClr val="FFFFFF"/>
                    </a:solidFill>
                  </a:tcPr>
                </a:tc>
                <a:extLst>
                  <a:ext uri="{0D108BD9-81ED-4DB2-BD59-A6C34878D82A}">
                    <a16:rowId xmlns:a16="http://schemas.microsoft.com/office/drawing/2014/main" val="10003"/>
                  </a:ext>
                </a:extLst>
              </a:tr>
              <a:tr h="502920">
                <a:tc>
                  <a:txBody>
                    <a:bodyPr/>
                    <a:lstStyle/>
                    <a:p>
                      <a:r>
                        <a:rPr sz="1400" b="1">
                          <a:solidFill>
                            <a:srgbClr val="222A35"/>
                          </a:solidFill>
                          <a:latin typeface="Arial"/>
                        </a:rPr>
                        <a:t>Saved a track</a:t>
                      </a:r>
                    </a:p>
                  </a:txBody>
                  <a:tcPr marL="54864" marR="54864" marT="27432" marB="27432" anchor="ctr">
                    <a:solidFill>
                      <a:srgbClr val="F2F5F9"/>
                    </a:solidFill>
                  </a:tcPr>
                </a:tc>
                <a:tc>
                  <a:txBody>
                    <a:bodyPr/>
                    <a:lstStyle/>
                    <a:p>
                      <a:pPr algn="ctr"/>
                      <a:r>
                        <a:rPr sz="1400" b="0">
                          <a:solidFill>
                            <a:srgbClr val="222A35"/>
                          </a:solidFill>
                          <a:latin typeface="Arial"/>
                        </a:rPr>
                        <a:t>0 / 3</a:t>
                      </a:r>
                    </a:p>
                  </a:txBody>
                  <a:tcPr marL="54864" marR="54864" marT="27432" marB="27432" anchor="ctr">
                    <a:solidFill>
                      <a:srgbClr val="F2F5F9"/>
                    </a:solidFill>
                  </a:tcPr>
                </a:tc>
                <a:tc>
                  <a:txBody>
                    <a:bodyPr/>
                    <a:lstStyle/>
                    <a:p>
                      <a:pPr algn="ctr"/>
                      <a:r>
                        <a:rPr sz="1400" b="0">
                          <a:solidFill>
                            <a:srgbClr val="222A35"/>
                          </a:solidFill>
                          <a:latin typeface="Arial"/>
                        </a:rPr>
                        <a:t>2 / 3</a:t>
                      </a:r>
                    </a:p>
                  </a:txBody>
                  <a:tcPr marL="54864" marR="54864" marT="27432" marB="27432" anchor="ctr">
                    <a:solidFill>
                      <a:srgbClr val="F2F5F9"/>
                    </a:solidFill>
                  </a:tcPr>
                </a:tc>
                <a:extLst>
                  <a:ext uri="{0D108BD9-81ED-4DB2-BD59-A6C34878D82A}">
                    <a16:rowId xmlns:a16="http://schemas.microsoft.com/office/drawing/2014/main" val="10004"/>
                  </a:ext>
                </a:extLst>
              </a:tr>
              <a:tr h="502920">
                <a:tc>
                  <a:txBody>
                    <a:bodyPr/>
                    <a:lstStyle/>
                    <a:p>
                      <a:r>
                        <a:rPr sz="1400" b="1">
                          <a:solidFill>
                            <a:srgbClr val="222A35"/>
                          </a:solidFill>
                          <a:latin typeface="Arial"/>
                        </a:rPr>
                        <a:t>Mean steps</a:t>
                      </a:r>
                    </a:p>
                  </a:txBody>
                  <a:tcPr marL="54864" marR="54864" marT="27432" marB="27432" anchor="ctr">
                    <a:solidFill>
                      <a:srgbClr val="FFFFFF"/>
                    </a:solidFill>
                  </a:tcPr>
                </a:tc>
                <a:tc>
                  <a:txBody>
                    <a:bodyPr/>
                    <a:lstStyle/>
                    <a:p>
                      <a:pPr algn="ctr"/>
                      <a:r>
                        <a:rPr sz="1400" b="0">
                          <a:solidFill>
                            <a:srgbClr val="222A35"/>
                          </a:solidFill>
                          <a:latin typeface="Arial"/>
                        </a:rPr>
                        <a:t>23.3</a:t>
                      </a:r>
                    </a:p>
                  </a:txBody>
                  <a:tcPr marL="54864" marR="54864" marT="27432" marB="27432" anchor="ctr">
                    <a:solidFill>
                      <a:srgbClr val="FFFFFF"/>
                    </a:solidFill>
                  </a:tcPr>
                </a:tc>
                <a:tc>
                  <a:txBody>
                    <a:bodyPr/>
                    <a:lstStyle/>
                    <a:p>
                      <a:pPr algn="ctr"/>
                      <a:r>
                        <a:rPr sz="1400" b="0">
                          <a:solidFill>
                            <a:srgbClr val="222A35"/>
                          </a:solidFill>
                          <a:latin typeface="Arial"/>
                        </a:rPr>
                        <a:t>18.7</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640080" y="4754880"/>
            <a:ext cx="5669280" cy="14630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1" name="Chart 10"/>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29</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624839">
                <a:tc>
                  <a:txBody>
                    <a:bodyPr/>
                    <a:lstStyle/>
                    <a:p>
                      <a:r>
                        <a:rPr sz="1300" b="1">
                          <a:solidFill>
                            <a:srgbClr val="FFFFFF"/>
                          </a:solidFill>
                          <a:latin typeface="Arial"/>
                        </a:rPr>
                        <a:t>Failure we saw</a:t>
                      </a:r>
                    </a:p>
                  </a:txBody>
                  <a:tcPr marL="54864" marR="54864" marT="27432" marB="27432" anchor="ctr">
                    <a:solidFill>
                      <a:srgbClr val="072140"/>
                    </a:solidFill>
                  </a:tcPr>
                </a:tc>
                <a:tc>
                  <a:txBody>
                    <a:bodyPr/>
                    <a:lstStyle/>
                    <a:p>
                      <a:r>
                        <a:rPr sz="1300" b="1">
                          <a:solidFill>
                            <a:srgbClr val="FFFFFF"/>
                          </a:solidFill>
                          <a:latin typeface="Arial"/>
                        </a:rPr>
                        <a:t>Cause</a:t>
                      </a:r>
                    </a:p>
                  </a:txBody>
                  <a:tcPr marL="54864" marR="54864" marT="27432" marB="27432" anchor="ctr">
                    <a:solidFill>
                      <a:srgbClr val="072140"/>
                    </a:solidFill>
                  </a:tcPr>
                </a:tc>
                <a:tc>
                  <a:txBody>
                    <a:bodyPr/>
                    <a:lstStyle/>
                    <a:p>
                      <a:r>
                        <a:rPr sz="1300" b="1">
                          <a:solidFill>
                            <a:srgbClr val="FFFFFF"/>
                          </a:solidFill>
                          <a:latin typeface="Arial"/>
                        </a:rPr>
                        <a:t>Change</a:t>
                      </a:r>
                    </a:p>
                  </a:txBody>
                  <a:tcPr marL="54864" marR="54864" marT="27432" marB="27432" anchor="ctr">
                    <a:solidFill>
                      <a:srgbClr val="072140"/>
                    </a:solidFill>
                  </a:tcPr>
                </a:tc>
                <a:tc>
                  <a:txBody>
                    <a:bodyPr/>
                    <a:lstStyle/>
                    <a:p>
                      <a:r>
                        <a:rPr sz="1300" b="1">
                          <a:solidFill>
                            <a:srgbClr val="FFFFFF"/>
                          </a:solidFill>
                          <a:latin typeface="Arial"/>
                        </a:rPr>
                        <a:t>Final result</a:t>
                      </a:r>
                    </a:p>
                  </a:txBody>
                  <a:tcPr marL="54864" marR="54864" marT="27432" marB="27432" anchor="ctr">
                    <a:solidFill>
                      <a:srgbClr val="072140"/>
                    </a:solidFill>
                  </a:tcPr>
                </a:tc>
                <a:extLst>
                  <a:ext uri="{0D108BD9-81ED-4DB2-BD59-A6C34878D82A}">
                    <a16:rowId xmlns:a16="http://schemas.microsoft.com/office/drawing/2014/main" val="10000"/>
                  </a:ext>
                </a:extLst>
              </a:tr>
              <a:tr h="624839">
                <a:tc>
                  <a:txBody>
                    <a:bodyPr/>
                    <a:lstStyle/>
                    <a:p>
                      <a:r>
                        <a:rPr sz="1300" b="1">
                          <a:solidFill>
                            <a:srgbClr val="222A35"/>
                          </a:solidFill>
                          <a:latin typeface="Arial"/>
                        </a:rPr>
                        <a:t>Markor: message “Not sent”</a:t>
                      </a:r>
                    </a:p>
                  </a:txBody>
                  <a:tcPr marL="54864" marR="54864" marT="27432" marB="27432" anchor="ctr">
                    <a:solidFill>
                      <a:srgbClr val="FFFFFF"/>
                    </a:solidFill>
                  </a:tcPr>
                </a:tc>
                <a:tc>
                  <a:txBody>
                    <a:bodyPr/>
                    <a:lstStyle/>
                    <a:p>
                      <a:r>
                        <a:rPr sz="1300" b="0">
                          <a:solidFill>
                            <a:srgbClr val="222A35"/>
                          </a:solidFill>
                          <a:latin typeface="Arial"/>
                        </a:rPr>
                        <a:t>Share &gt; File attaches the note: MMS</a:t>
                      </a:r>
                    </a:p>
                  </a:txBody>
                  <a:tcPr marL="54864" marR="54864" marT="27432" marB="27432" anchor="ctr">
                    <a:solidFill>
                      <a:srgbClr val="FFFFFF"/>
                    </a:solidFill>
                  </a:tcPr>
                </a:tc>
                <a:tc>
                  <a:txBody>
                    <a:bodyPr/>
                    <a:lstStyle/>
                    <a:p>
                      <a:r>
                        <a:rPr sz="1300" b="0">
                          <a:solidFill>
                            <a:srgbClr val="222A35"/>
                          </a:solidFill>
                          <a:latin typeface="Arial"/>
                        </a:rPr>
                        <a:t>Skill: Share &gt; Plain Text, then SMS</a:t>
                      </a:r>
                    </a:p>
                  </a:txBody>
                  <a:tcPr marL="54864" marR="54864" marT="27432" marB="27432" anchor="ctr">
                    <a:solidFill>
                      <a:srgbClr val="FFFFFF"/>
                    </a:solidFill>
                  </a:tcPr>
                </a:tc>
                <a:tc>
                  <a:txBody>
                    <a:bodyPr/>
                    <a:lstStyle/>
                    <a:p>
                      <a:r>
                        <a:rPr sz="1300" b="0">
                          <a:solidFill>
                            <a:srgbClr val="222A35"/>
                          </a:solidFill>
                          <a:latin typeface="Arial"/>
                        </a:rPr>
                        <a:t>Markor 2 / 3</a:t>
                      </a:r>
                    </a:p>
                  </a:txBody>
                  <a:tcPr marL="54864" marR="54864" marT="27432" marB="27432" anchor="ctr">
                    <a:solidFill>
                      <a:srgbClr val="FFFFFF"/>
                    </a:solidFill>
                  </a:tcPr>
                </a:tc>
                <a:extLst>
                  <a:ext uri="{0D108BD9-81ED-4DB2-BD59-A6C34878D82A}">
                    <a16:rowId xmlns:a16="http://schemas.microsoft.com/office/drawing/2014/main" val="10001"/>
                  </a:ext>
                </a:extLst>
              </a:tr>
              <a:tr h="624839">
                <a:tc>
                  <a:txBody>
                    <a:bodyPr/>
                    <a:lstStyle/>
                    <a:p>
                      <a:r>
                        <a:rPr sz="1300" b="1">
                          <a:solidFill>
                            <a:srgbClr val="222A35"/>
                          </a:solidFill>
                          <a:latin typeface="Arial"/>
                        </a:rPr>
                        <a:t>Markor: typing refused</a:t>
                      </a:r>
                    </a:p>
                  </a:txBody>
                  <a:tcPr marL="54864" marR="54864" marT="27432" marB="27432" anchor="ctr">
                    <a:solidFill>
                      <a:srgbClr val="F2F5F9"/>
                    </a:solidFill>
                  </a:tcPr>
                </a:tc>
                <a:tc>
                  <a:txBody>
                    <a:bodyPr/>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a:lstStyle/>
                    <a:p>
                      <a:r>
                        <a:rPr sz="1300" b="0">
                          <a:solidFill>
                            <a:srgbClr val="222A35"/>
                          </a:solidFill>
                          <a:latin typeface="Arial"/>
                        </a:rPr>
                        <a:t>Focus check accepts the editor</a:t>
                      </a:r>
                    </a:p>
                  </a:txBody>
                  <a:tcPr marL="54864" marR="54864" marT="27432" marB="27432" anchor="ctr">
                    <a:solidFill>
                      <a:srgbClr val="F2F5F9"/>
                    </a:solidFill>
                  </a:tcPr>
                </a:tc>
                <a:tc>
                  <a:txBody>
                    <a:bodyPr/>
                    <a:lstStyle/>
                    <a:p>
                      <a:r>
                        <a:rPr sz="1300" b="0">
                          <a:solidFill>
                            <a:srgbClr val="222A35"/>
                          </a:solidFill>
                          <a:latin typeface="Arial"/>
                        </a:rPr>
                        <a:t>Markor 2 / 3</a:t>
                      </a:r>
                    </a:p>
                  </a:txBody>
                  <a:tcPr marL="54864" marR="54864" marT="27432" marB="27432" anchor="ctr">
                    <a:solidFill>
                      <a:srgbClr val="F2F5F9"/>
                    </a:solidFill>
                  </a:tcPr>
                </a:tc>
                <a:extLst>
                  <a:ext uri="{0D108BD9-81ED-4DB2-BD59-A6C34878D82A}">
                    <a16:rowId xmlns:a16="http://schemas.microsoft.com/office/drawing/2014/main" val="10002"/>
                  </a:ext>
                </a:extLst>
              </a:tr>
              <a:tr h="624839">
                <a:tc>
                  <a:txBody>
                    <a:bodyPr/>
                    <a:lstStyle/>
                    <a:p>
                      <a:r>
                        <a:rPr sz="1300" b="1">
                          <a:solidFill>
                            <a:srgbClr val="222A35"/>
                          </a:solidFill>
                          <a:latin typeface="Arial"/>
                        </a:rPr>
                        <a:t>SMS app name in Chinese</a:t>
                      </a:r>
                    </a:p>
                  </a:txBody>
                  <a:tcPr marL="54864" marR="54864" marT="27432" marB="27432" anchor="ctr">
                    <a:solidFill>
                      <a:srgbClr val="FFFFFF"/>
                    </a:solidFill>
                  </a:tcPr>
                </a:tc>
                <a:tc>
                  <a:txBody>
                    <a:bodyPr/>
                    <a:lstStyle/>
                    <a:p>
                      <a:r>
                        <a:rPr sz="1300" b="0">
                          <a:solidFill>
                            <a:srgbClr val="222A35"/>
                          </a:solidFill>
                          <a:latin typeface="Arial"/>
                        </a:rPr>
                        <a:t>Two apps allowed, name unclear</a:t>
                      </a:r>
                    </a:p>
                  </a:txBody>
                  <a:tcPr marL="54864" marR="54864" marT="27432" marB="27432" anchor="ctr">
                    <a:solidFill>
                      <a:srgbClr val="FFFFFF"/>
                    </a:solidFill>
                  </a:tcPr>
                </a:tc>
                <a:tc>
                  <a:txBody>
                    <a:bodyPr/>
                    <a:lstStyle/>
                    <a:p>
                      <a:r>
                        <a:rPr sz="1300" b="0">
                          <a:solidFill>
                            <a:srgbClr val="222A35"/>
                          </a:solidFill>
                          <a:latin typeface="Arial"/>
                        </a:rPr>
                        <a:t>Alias table for known translations</a:t>
                      </a:r>
                    </a:p>
                  </a:txBody>
                  <a:tcPr marL="54864" marR="54864" marT="27432" marB="27432" anchor="ctr">
                    <a:solidFill>
                      <a:srgbClr val="FFFFFF"/>
                    </a:solidFill>
                  </a:tcPr>
                </a:tc>
                <a:tc>
                  <a:txBody>
                    <a:bodyPr/>
                    <a:lstStyle/>
                    <a:p>
                      <a:r>
                        <a:rPr sz="1300" b="0">
                          <a:solidFill>
                            <a:srgbClr val="222A35"/>
                          </a:solidFill>
                          <a:latin typeface="Arial"/>
                        </a:rPr>
                        <a:t>Markor 2 / 3</a:t>
                      </a:r>
                    </a:p>
                  </a:txBody>
                  <a:tcPr marL="54864" marR="54864" marT="27432" marB="27432" anchor="ctr">
                    <a:solidFill>
                      <a:srgbClr val="FFFFFF"/>
                    </a:solidFill>
                  </a:tcPr>
                </a:tc>
                <a:extLst>
                  <a:ext uri="{0D108BD9-81ED-4DB2-BD59-A6C34878D82A}">
                    <a16:rowId xmlns:a16="http://schemas.microsoft.com/office/drawing/2014/main" val="10003"/>
                  </a:ext>
                </a:extLst>
              </a:tr>
              <a:tr h="624839">
                <a:tc>
                  <a:txBody>
                    <a:bodyPr/>
                    <a:lstStyle/>
                    <a:p>
                      <a:r>
                        <a:rPr sz="1300" b="1">
                          <a:solidFill>
                            <a:srgbClr val="222A35"/>
                          </a:solidFill>
                          <a:latin typeface="Arial"/>
                        </a:rPr>
                        <a:t>OsmAnd map missing</a:t>
                      </a:r>
                    </a:p>
                  </a:txBody>
                  <a:tcPr marL="54864" marR="54864" marT="27432" marB="27432" anchor="ctr">
                    <a:solidFill>
                      <a:srgbClr val="F2F5F9"/>
                    </a:solidFill>
                  </a:tcPr>
                </a:tc>
                <a:tc>
                  <a:txBody>
                    <a:bodyPr/>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a:lstStyle/>
                    <a:p>
                      <a:r>
                        <a:rPr sz="1300" b="0">
                          <a:solidFill>
                            <a:srgbClr val="222A35"/>
                          </a:solidFill>
                          <a:latin typeface="Arial"/>
                        </a:rPr>
                        <a:t>Map check + official setup</a:t>
                      </a:r>
                    </a:p>
                  </a:txBody>
                  <a:tcPr marL="54864" marR="54864" marT="27432" marB="27432" anchor="ctr">
                    <a:solidFill>
                      <a:srgbClr val="F2F5F9"/>
                    </a:solidFill>
                  </a:tcPr>
                </a:tc>
                <a:tc>
                  <a:txBody>
                    <a:bodyPr/>
                    <a:lstStyle/>
                    <a:p>
                      <a:r>
                        <a:rPr sz="1300" b="0">
                          <a:solidFill>
                            <a:srgbClr val="222A35"/>
                          </a:solidFill>
                          <a:latin typeface="Arial"/>
                        </a:rPr>
                        <a:t>OsmAnd 2 / 3</a:t>
                      </a:r>
                    </a:p>
                  </a:txBody>
                  <a:tcPr marL="54864" marR="54864" marT="27432" marB="27432" anchor="ctr">
                    <a:solidFill>
                      <a:srgbClr val="F2F5F9"/>
                    </a:solidFill>
                  </a:tcPr>
                </a:tc>
                <a:extLst>
                  <a:ext uri="{0D108BD9-81ED-4DB2-BD59-A6C34878D82A}">
                    <a16:rowId xmlns:a16="http://schemas.microsoft.com/office/drawing/2014/main" val="10004"/>
                  </a:ext>
                </a:extLst>
              </a:tr>
              <a:tr h="624844">
                <a:tc>
                  <a:txBody>
                    <a:bodyPr/>
                    <a:lstStyle/>
                    <a:p>
                      <a:r>
                        <a:rPr sz="1300" b="1">
                          <a:solidFill>
                            <a:srgbClr val="222A35"/>
                          </a:solidFill>
                          <a:latin typeface="Arial"/>
                        </a:rPr>
                        <a:t>OsmAnd 0 / 3</a:t>
                      </a:r>
                    </a:p>
                  </a:txBody>
                  <a:tcPr marL="54864" marR="54864" marT="27432" marB="27432" anchor="ctr">
                    <a:solidFill>
                      <a:srgbClr val="FFFFFF"/>
                    </a:solidFill>
                  </a:tcPr>
                </a:tc>
                <a:tc>
                  <a:txBody>
                    <a:bodyPr/>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a:lstStyle/>
                    <a:p>
                      <a:r>
                        <a:rPr sz="1300" b="0">
                          <a:solidFill>
                            <a:srgbClr val="222A35"/>
                          </a:solidFill>
                          <a:latin typeface="Arial"/>
                        </a:rPr>
                        <a:t>Skill as code + GUI tree</a:t>
                      </a:r>
                    </a:p>
                  </a:txBody>
                  <a:tcPr marL="54864" marR="54864" marT="27432" marB="27432" anchor="ctr">
                    <a:solidFill>
                      <a:srgbClr val="FFFFFF"/>
                    </a:solidFill>
                  </a:tcPr>
                </a:tc>
                <a:tc>
                  <a:txBody>
                    <a:bodyPr/>
                    <a:lstStyle/>
                    <a:p>
                      <a:r>
                        <a:rPr sz="1300" b="0">
                          <a:solidFill>
                            <a:srgbClr val="222A35"/>
                          </a:solidFill>
                          <a:latin typeface="Arial"/>
                        </a:rPr>
                        <a:t>OsmAnd 2 / 3</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640080" y="5486400"/>
            <a:ext cx="10927080" cy="731520"/>
          </a:xfrm>
          <a:prstGeom prst="rect">
            <a:avLst/>
          </a:prstGeom>
          <a:noFill/>
        </p:spPr>
        <p:txBody>
          <a:bodyPr wrap="square" lIns="73152" rIns="73152" anchor="t">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72140"/>
                </a:solidFill>
                <a:latin typeface="Arial"/>
              </a:rPr>
              <a:t>OUR WORK IN NUMBERS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Behind the final result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30</a:t>
            </a:r>
            <a:endParaRPr sz="1000" b="0" i="0">
              <a:solidFill>
                <a:srgbClr val="5E6773"/>
              </a:solidFill>
              <a:latin typeface="Arial"/>
            </a:endParaRPr>
          </a:p>
        </p:txBody>
      </p:sp>
      <p:sp>
        <p:nvSpPr>
          <p:cNvPr id="9" name="Rectangle 8"/>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196596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~300</a:t>
            </a:r>
          </a:p>
        </p:txBody>
      </p:sp>
      <p:sp>
        <p:nvSpPr>
          <p:cNvPr id="12" name="TextBox 11"/>
          <p:cNvSpPr txBox="1"/>
          <p:nvPr/>
        </p:nvSpPr>
        <p:spPr>
          <a:xfrm>
            <a:off x="868680" y="2679191"/>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recorded runs across the project</a:t>
            </a:r>
          </a:p>
        </p:txBody>
      </p:sp>
      <p:sp>
        <p:nvSpPr>
          <p:cNvPr id="13" name="Rectangle 12"/>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4340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72000" y="196596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66</a:t>
            </a:r>
          </a:p>
        </p:txBody>
      </p:sp>
      <p:sp>
        <p:nvSpPr>
          <p:cNvPr id="16" name="TextBox 15"/>
          <p:cNvSpPr txBox="1"/>
          <p:nvPr/>
        </p:nvSpPr>
        <p:spPr>
          <a:xfrm>
            <a:off x="4572000" y="2679191"/>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agent versions with a written reason</a:t>
            </a:r>
          </a:p>
        </p:txBody>
      </p:sp>
      <p:sp>
        <p:nvSpPr>
          <p:cNvPr id="17" name="Rectangle 16"/>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19"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75319" y="196596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1,531</a:t>
            </a:r>
          </a:p>
        </p:txBody>
      </p:sp>
      <p:sp>
        <p:nvSpPr>
          <p:cNvPr id="20" name="TextBox 19"/>
          <p:cNvSpPr txBox="1"/>
          <p:nvPr/>
        </p:nvSpPr>
        <p:spPr>
          <a:xfrm>
            <a:off x="8275319" y="2679191"/>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steps executed in this agent's runs</a:t>
            </a:r>
          </a:p>
        </p:txBody>
      </p:sp>
      <p:sp>
        <p:nvSpPr>
          <p:cNvPr id="21" name="Rectangle 20"/>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64008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8680" y="420624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1,722</a:t>
            </a:r>
          </a:p>
        </p:txBody>
      </p:sp>
      <p:sp>
        <p:nvSpPr>
          <p:cNvPr id="24" name="TextBox 23"/>
          <p:cNvSpPr txBox="1"/>
          <p:nvPr/>
        </p:nvSpPr>
        <p:spPr>
          <a:xfrm>
            <a:off x="868680" y="4919472"/>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model calls in this agent's runs</a:t>
            </a:r>
          </a:p>
        </p:txBody>
      </p:sp>
      <p:sp>
        <p:nvSpPr>
          <p:cNvPr id="25" name="Rectangle 24"/>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434340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572000" y="420624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38</a:t>
            </a:r>
          </a:p>
        </p:txBody>
      </p:sp>
      <p:sp>
        <p:nvSpPr>
          <p:cNvPr id="28" name="TextBox 27"/>
          <p:cNvSpPr txBox="1"/>
          <p:nvPr/>
        </p:nvSpPr>
        <p:spPr>
          <a:xfrm>
            <a:off x="4572000" y="4919472"/>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automatic offline tests</a:t>
            </a:r>
          </a:p>
        </p:txBody>
      </p:sp>
      <p:sp>
        <p:nvSpPr>
          <p:cNvPr id="29" name="Rectangle 28"/>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046719"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275319" y="420624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€0.51</a:t>
            </a:r>
          </a:p>
        </p:txBody>
      </p:sp>
      <p:sp>
        <p:nvSpPr>
          <p:cNvPr id="32" name="TextBox 31"/>
          <p:cNvSpPr txBox="1"/>
          <p:nvPr/>
        </p:nvSpPr>
        <p:spPr>
          <a:xfrm>
            <a:off x="8275319" y="4919472"/>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model cost of all local runs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72140"/>
                </a:solidFill>
                <a:latin typeface="Arial"/>
              </a:rPr>
              <a:t>FINDINGS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What we learned, and what is still limited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31</a:t>
            </a:r>
            <a:endParaRPr sz="1000" b="0" i="0">
              <a:solidFill>
                <a:srgbClr val="5E6773"/>
              </a:solidFill>
              <a:latin typeface="Arial"/>
            </a:endParaRPr>
          </a:p>
        </p:txBody>
      </p:sp>
      <p:sp>
        <p:nvSpPr>
          <p:cNvPr id="9" name="Rectangle 8"/>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45920"/>
            <a:ext cx="6053328" cy="365760"/>
          </a:xfrm>
          <a:prstGeom prst="rect">
            <a:avLst/>
          </a:prstGeom>
          <a:noFill/>
        </p:spPr>
        <p:txBody>
          <a:bodyPr wrap="square" lIns="73152" rIns="73152" anchor="t">
            <a:spAutoFit/>
          </a:bodyPr>
          <a:lstStyle/>
          <a:p>
            <a:pPr algn="l">
              <a:lnSpc>
                <a:spcPct val="110000"/>
              </a:lnSpc>
            </a:pPr>
            <a:r>
              <a:rPr sz="2100" b="1" i="0">
                <a:solidFill>
                  <a:srgbClr val="072140"/>
                </a:solidFill>
                <a:latin typeface="Arial"/>
              </a:rPr>
              <a:t>Findings</a:t>
            </a:r>
          </a:p>
        </p:txBody>
      </p:sp>
      <p:sp>
        <p:nvSpPr>
          <p:cNvPr id="12" name="TextBox 11"/>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1">
                <a:solidFill>
                  <a:srgbClr val="222A35"/>
                </a:solidFill>
                <a:latin typeface="Arial"/>
              </a:rPr>
              <a:t>Trust the harness first</a:t>
            </a:r>
            <a:r>
              <a:rPr sz="1900" b="0">
                <a:solidFill>
                  <a:srgbClr val="222A35"/>
                </a:solidFill>
                <a:latin typeface="Arial"/>
              </a:rPr>
              <a:t>: setup faults looked like agent failures</a:t>
            </a:r>
          </a:p>
          <a:p>
            <a:pPr>
              <a:lnSpc>
                <a:spcPct val="108000"/>
              </a:lnSpc>
              <a:spcAft>
                <a:spcPts val="300"/>
              </a:spcAft>
            </a:pPr>
            <a:r>
              <a:rPr sz="1900">
                <a:solidFill>
                  <a:srgbClr val="0065BD"/>
                </a:solidFill>
                <a:latin typeface="Arial"/>
              </a:rPr>
              <a:t>▪  </a:t>
            </a:r>
            <a:r>
              <a:rPr sz="1900" b="1">
                <a:solidFill>
                  <a:srgbClr val="222A35"/>
                </a:solidFill>
                <a:latin typeface="Arial"/>
              </a:rPr>
              <a:t>The verifier decides</a:t>
            </a:r>
            <a:r>
              <a:rPr sz="1900" b="0">
                <a:solidFill>
                  <a:srgbClr val="222A35"/>
                </a:solidFill>
                <a:latin typeface="Arial"/>
              </a:rPr>
              <a:t>: false completions are real and dangerous</a:t>
            </a:r>
          </a:p>
          <a:p>
            <a:pPr>
              <a:lnSpc>
                <a:spcPct val="108000"/>
              </a:lnSpc>
              <a:spcAft>
                <a:spcPts val="300"/>
              </a:spcAft>
            </a:pPr>
            <a:r>
              <a:rPr sz="1900">
                <a:solidFill>
                  <a:srgbClr val="0065BD"/>
                </a:solidFill>
                <a:latin typeface="Arial"/>
              </a:rPr>
              <a:t>▪  </a:t>
            </a:r>
            <a:r>
              <a:rPr sz="1900" b="1">
                <a:solidFill>
                  <a:srgbClr val="222A35"/>
                </a:solidFill>
                <a:latin typeface="Arial"/>
              </a:rPr>
              <a:t>Where knowledge lives matters</a:t>
            </a:r>
            <a:r>
              <a:rPr sz="1900" b="0">
                <a:solidFill>
                  <a:srgbClr val="222A35"/>
                </a:solidFill>
                <a:latin typeface="Arial"/>
              </a:rPr>
              <a:t>: prompt &lt; reminder each step &lt; code</a:t>
            </a:r>
          </a:p>
          <a:p>
            <a:pPr>
              <a:lnSpc>
                <a:spcPct val="108000"/>
              </a:lnSpc>
              <a:spcAft>
                <a:spcPts val="300"/>
              </a:spcAft>
            </a:pPr>
            <a:r>
              <a:rPr sz="1900">
                <a:solidFill>
                  <a:srgbClr val="0065BD"/>
                </a:solidFill>
                <a:latin typeface="Arial"/>
              </a:rPr>
              <a:t>▪  </a:t>
            </a:r>
            <a:r>
              <a:rPr sz="1900" b="1">
                <a:solidFill>
                  <a:srgbClr val="222A35"/>
                </a:solidFill>
                <a:latin typeface="Arial"/>
              </a:rPr>
              <a:t>Long tasks fail by small errors</a:t>
            </a:r>
            <a:r>
              <a:rPr sz="1900" b="0">
                <a:solidFill>
                  <a:srgbClr val="222A35"/>
                </a:solidFill>
                <a:latin typeface="Arial"/>
              </a:rPr>
              <a:t>: one missed tap is enough</a:t>
            </a:r>
          </a:p>
          <a:p>
            <a:pPr>
              <a:lnSpc>
                <a:spcPct val="108000"/>
              </a:lnSpc>
              <a:spcAft>
                <a:spcPts val="300"/>
              </a:spcAft>
            </a:pPr>
            <a:r>
              <a:rPr sz="1900">
                <a:solidFill>
                  <a:srgbClr val="0065BD"/>
                </a:solidFill>
                <a:latin typeface="Arial"/>
              </a:rPr>
              <a:t>▪  </a:t>
            </a:r>
            <a:r>
              <a:rPr sz="1900" b="1">
                <a:solidFill>
                  <a:srgbClr val="222A35"/>
                </a:solidFill>
                <a:latin typeface="Arial"/>
              </a:rPr>
              <a:t>Checks catch traps</a:t>
            </a:r>
            <a:r>
              <a:rPr sz="1900" b="0">
                <a:solidFill>
                  <a:srgbClr val="222A35"/>
                </a:solidFill>
                <a:latin typeface="Arial"/>
              </a:rPr>
              <a:t>: 7 actions stopped in the final runs</a:t>
            </a:r>
          </a:p>
        </p:txBody>
      </p:sp>
      <p:sp>
        <p:nvSpPr>
          <p:cNvPr id="13" name="Rectangle 12"/>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342631" y="1645920"/>
            <a:ext cx="4133087" cy="365760"/>
          </a:xfrm>
          <a:prstGeom prst="rect">
            <a:avLst/>
          </a:prstGeom>
          <a:noFill/>
        </p:spPr>
        <p:txBody>
          <a:bodyPr wrap="square" lIns="73152" rIns="73152" anchor="t">
            <a:spAutoFit/>
          </a:bodyPr>
          <a:lstStyle/>
          <a:p>
            <a:pPr algn="l">
              <a:lnSpc>
                <a:spcPct val="110000"/>
              </a:lnSpc>
            </a:pPr>
            <a:r>
              <a:rPr sz="2100" b="1" i="0">
                <a:solidFill>
                  <a:srgbClr val="072140"/>
                </a:solidFill>
                <a:latin typeface="Arial"/>
              </a:rPr>
              <a:t>Limitations</a:t>
            </a:r>
          </a:p>
        </p:txBody>
      </p:sp>
      <p:sp>
        <p:nvSpPr>
          <p:cNvPr id="16" name="TextBox 15"/>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0">
                <a:solidFill>
                  <a:srgbClr val="222A35"/>
                </a:solidFill>
                <a:latin typeface="Arial"/>
              </a:rPr>
              <a:t>Three runs per task: small sample</a:t>
            </a:r>
          </a:p>
          <a:p>
            <a:pPr>
              <a:lnSpc>
                <a:spcPct val="108000"/>
              </a:lnSpc>
              <a:spcAft>
                <a:spcPts val="300"/>
              </a:spcAft>
            </a:pPr>
            <a:r>
              <a:rPr sz="1900">
                <a:solidFill>
                  <a:srgbClr val="0065BD"/>
                </a:solidFill>
                <a:latin typeface="Arial"/>
              </a:rPr>
              <a:t>▪  </a:t>
            </a:r>
            <a:r>
              <a:rPr sz="1900" b="0">
                <a:solidFill>
                  <a:srgbClr val="222A35"/>
                </a:solidFill>
                <a:latin typeface="Arial"/>
              </a:rPr>
              <a:t>One model, one laptop, one emulator</a:t>
            </a:r>
          </a:p>
          <a:p>
            <a:pPr>
              <a:lnSpc>
                <a:spcPct val="108000"/>
              </a:lnSpc>
              <a:spcAft>
                <a:spcPts val="300"/>
              </a:spcAft>
            </a:pPr>
            <a:r>
              <a:rPr sz="1900">
                <a:solidFill>
                  <a:srgbClr val="0065BD"/>
                </a:solidFill>
                <a:latin typeface="Arial"/>
              </a:rPr>
              <a:t>▪  </a:t>
            </a:r>
            <a:r>
              <a:rPr sz="1900" b="0">
                <a:solidFill>
                  <a:srgbClr val="222A35"/>
                </a:solidFill>
                <a:latin typeface="Arial"/>
              </a:rPr>
              <a:t>OsmAnd Skill works only for OsmAnd</a:t>
            </a:r>
          </a:p>
          <a:p>
            <a:pPr>
              <a:lnSpc>
                <a:spcPct val="108000"/>
              </a:lnSpc>
              <a:spcAft>
                <a:spcPts val="300"/>
              </a:spcAft>
            </a:pPr>
            <a:r>
              <a:rPr sz="1900">
                <a:solidFill>
                  <a:srgbClr val="0065BD"/>
                </a:solidFill>
                <a:latin typeface="Arial"/>
              </a:rPr>
              <a:t>▪  </a:t>
            </a:r>
            <a:r>
              <a:rPr sz="1900" b="0">
                <a:solidFill>
                  <a:srgbClr val="222A35"/>
                </a:solidFill>
                <a:latin typeface="Arial"/>
              </a:rPr>
              <a:t>Two tasks used extra screen labels</a:t>
            </a:r>
          </a:p>
          <a:p>
            <a:pPr>
              <a:lnSpc>
                <a:spcPct val="108000"/>
              </a:lnSpc>
              <a:spcAft>
                <a:spcPts val="300"/>
              </a:spcAft>
            </a:pPr>
            <a:r>
              <a:rPr sz="1900">
                <a:solidFill>
                  <a:srgbClr val="0065BD"/>
                </a:solidFill>
                <a:latin typeface="Arial"/>
              </a:rPr>
              <a:t>▪  </a:t>
            </a:r>
            <a:r>
              <a:rPr sz="1900" b="0">
                <a:solidFill>
                  <a:srgbClr val="222A35"/>
                </a:solidFill>
                <a:latin typeface="Arial"/>
              </a:rPr>
              <a:t>Fixes after the freeze are not evaluated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85800" y="640080"/>
            <a:ext cx="6217920" cy="320040"/>
          </a:xfrm>
          <a:prstGeom prst="rect">
            <a:avLst/>
          </a:prstGeom>
          <a:noFill/>
        </p:spPr>
        <p:txBody>
          <a:bodyPr wrap="square" lIns="73152" rIns="73152" anchor="t">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1691640"/>
            <a:ext cx="6309360" cy="1005840"/>
          </a:xfrm>
          <a:prstGeom prst="rect">
            <a:avLst/>
          </a:prstGeom>
          <a:noFill/>
        </p:spPr>
        <p:txBody>
          <a:bodyPr wrap="square" lIns="73152" rIns="73152" anchor="t">
            <a:spAutoFit/>
          </a:bodyPr>
          <a:lstStyle/>
          <a:p>
            <a:pPr algn="l">
              <a:lnSpc>
                <a:spcPct val="110000"/>
              </a:lnSpc>
            </a:pPr>
            <a:r>
              <a:rPr sz="5400" b="1" i="0">
                <a:solidFill>
                  <a:srgbClr val="FFFFFF"/>
                </a:solidFill>
                <a:latin typeface="Arial"/>
              </a:rPr>
              <a:t>Thank you</a:t>
            </a:r>
          </a:p>
        </p:txBody>
      </p:sp>
      <p:sp>
        <p:nvSpPr>
          <p:cNvPr id="7" name="TextBox 6"/>
          <p:cNvSpPr txBox="1"/>
          <p:nvPr/>
        </p:nvSpPr>
        <p:spPr>
          <a:xfrm>
            <a:off x="685800" y="2743200"/>
            <a:ext cx="6309360" cy="457200"/>
          </a:xfrm>
          <a:prstGeom prst="rect">
            <a:avLst/>
          </a:prstGeom>
          <a:noFill/>
        </p:spPr>
        <p:txBody>
          <a:bodyPr wrap="square" lIns="73152" rIns="73152" anchor="t">
            <a:spAutoFit/>
          </a:bodyPr>
          <a:lstStyle/>
          <a:p>
            <a:pPr algn="l">
              <a:lnSpc>
                <a:spcPct val="110000"/>
              </a:lnSpc>
            </a:pPr>
            <a:r>
              <a:rPr sz="2200" b="0" i="0">
                <a:solidFill>
                  <a:srgbClr val="B9C4D6"/>
                </a:solidFill>
                <a:latin typeface="Arial"/>
              </a:rPr>
              <a:t>Questions are welcome</a:t>
            </a:r>
          </a:p>
        </p:txBody>
      </p:sp>
      <p:sp>
        <p:nvSpPr>
          <p:cNvPr id="8" name="Rectangle 7"/>
          <p:cNvSpPr/>
          <p:nvPr/>
        </p:nvSpPr>
        <p:spPr>
          <a:xfrm>
            <a:off x="772885" y="3493008"/>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85800" y="3840480"/>
            <a:ext cx="6309360" cy="620876"/>
          </a:xfrm>
          <a:prstGeom prst="rect">
            <a:avLst/>
          </a:prstGeom>
          <a:noFill/>
        </p:spPr>
        <p:txBody>
          <a:bodyPr wrap="square" lIns="73152" rIns="73152" anchor="t">
            <a:spAutoFit/>
          </a:bodyPr>
          <a:lstStyle/>
          <a:p>
            <a:pPr algn="l">
              <a:lnSpc>
                <a:spcPct val="120000"/>
              </a:lnSpc>
            </a:pPr>
            <a:r>
              <a:rPr lang="vi-VN" sz="1500" dirty="0">
                <a:solidFill>
                  <a:srgbClr val="F09A5B"/>
                </a:solidFill>
                <a:latin typeface="Arial"/>
                <a:hlinkClick r:id="rId3">
                  <a:extLst>
                    <a:ext uri="{A12FA001-AC4F-418D-AE19-62706E023703}">
                      <ahyp:hlinkClr xmlns:ahyp="http://schemas.microsoft.com/office/drawing/2018/hyperlinkcolor" val="tx"/>
                    </a:ext>
                  </a:extLst>
                </a:hlinkClick>
              </a:rPr>
              <a:t>https://github.com/Chenschenschen/androidworld-gui-agent/tree/team-agent</a:t>
            </a:r>
            <a:endParaRPr sz="1500" b="0" i="0" dirty="0">
              <a:solidFill>
                <a:srgbClr val="F09A5B"/>
              </a:solidFill>
              <a:latin typeface="Arial"/>
            </a:endParaRPr>
          </a:p>
        </p:txBody>
      </p:sp>
      <p:sp>
        <p:nvSpPr>
          <p:cNvPr id="10" name="TextBox 9"/>
          <p:cNvSpPr txBox="1"/>
          <p:nvPr/>
        </p:nvSpPr>
        <p:spPr>
          <a:xfrm>
            <a:off x="685800" y="4846320"/>
            <a:ext cx="6309360" cy="822960"/>
          </a:xfrm>
          <a:prstGeom prst="rect">
            <a:avLst/>
          </a:prstGeom>
          <a:noFill/>
        </p:spPr>
        <p:txBody>
          <a:bodyPr wrap="square" lIns="73152" rIns="73152" anchor="t">
            <a:spAutoFit/>
          </a:bodyPr>
          <a:lstStyle/>
          <a:p>
            <a:pPr algn="l">
              <a:lnSpc>
                <a:spcPct val="120000"/>
              </a:lnSpc>
            </a:pPr>
            <a:r>
              <a:rPr sz="1400" b="0" i="0">
                <a:solidFill>
                  <a:srgbClr val="B9C4D6"/>
                </a:solidFill>
                <a:latin typeface="Arial"/>
              </a:rPr>
              <a:t>Model: AutoGLM-Phone-9B-Multilingual (Z.ai)</a:t>
            </a:r>
          </a:p>
          <a:p>
            <a:pPr algn="l">
              <a:lnSpc>
                <a:spcPct val="120000"/>
              </a:lnSpc>
            </a:pPr>
            <a:r>
              <a:rPr sz="1400" b="0" i="0">
                <a:solidFill>
                  <a:srgbClr val="B9C4D6"/>
                </a:solidFill>
                <a:latin typeface="Arial"/>
              </a:rPr>
              <a:t>Benchmark: AndroidWorld (Google Research)</a:t>
            </a:r>
          </a:p>
        </p:txBody>
      </p:sp>
      <p:pic>
        <p:nvPicPr>
          <p:cNvPr id="11" name="Picture 10" descr="traj_2.png"/>
          <p:cNvPicPr>
            <a:picLocks noChangeAspect="1"/>
          </p:cNvPicPr>
          <p:nvPr/>
        </p:nvPicPr>
        <p:blipFill>
          <a:blip r:embed="rId4"/>
          <a:srcRect t="8000"/>
          <a:stretch>
            <a:fillRect/>
          </a:stretch>
        </p:blipFill>
        <p:spPr>
          <a:xfrm rot="21120000">
            <a:off x="7406640" y="1325880"/>
            <a:ext cx="2016252" cy="4122115"/>
          </a:xfrm>
          <a:prstGeom prst="roundRect">
            <a:avLst/>
          </a:prstGeom>
          <a:ln w="76200">
            <a:solidFill>
              <a:srgbClr val="1B1F2A"/>
            </a:solidFill>
          </a:ln>
        </p:spPr>
      </p:pic>
      <p:pic>
        <p:nvPicPr>
          <p:cNvPr id="12" name="Picture 11" descr="traj_5.png"/>
          <p:cNvPicPr>
            <a:picLocks noChangeAspect="1"/>
          </p:cNvPicPr>
          <p:nvPr/>
        </p:nvPicPr>
        <p:blipFill>
          <a:blip r:embed="rId5"/>
          <a:srcRect t="8000"/>
          <a:stretch>
            <a:fillRect/>
          </a:stretch>
        </p:blipFill>
        <p:spPr>
          <a:xfrm rot="480000">
            <a:off x="9601200" y="1325880"/>
            <a:ext cx="2016252" cy="4122115"/>
          </a:xfrm>
          <a:prstGeom prst="roundRect">
            <a:avLst/>
          </a:prstGeom>
          <a:ln w="76200">
            <a:solidFill>
              <a:srgbClr val="1B1F2A"/>
            </a:solidFill>
          </a:ln>
        </p:spPr>
      </p:pic>
      <p:pic>
        <p:nvPicPr>
          <p:cNvPr id="13" name="Picture 12" descr="osmand_pass_3.png"/>
          <p:cNvPicPr>
            <a:picLocks noChangeAspect="1"/>
          </p:cNvPicPr>
          <p:nvPr/>
        </p:nvPicPr>
        <p:blipFill>
          <a:blip r:embed="rId6"/>
          <a:srcRect t="8000"/>
          <a:stretch>
            <a:fillRect/>
          </a:stretch>
        </p:blipFill>
        <p:spPr>
          <a:xfrm>
            <a:off x="8366760" y="777240"/>
            <a:ext cx="2366010" cy="4837176"/>
          </a:xfrm>
          <a:prstGeom prst="roundRect">
            <a:avLst/>
          </a:prstGeom>
          <a:ln w="76200">
            <a:solidFill>
              <a:srgbClr val="1B1F2A"/>
            </a:solid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What the agent can do, and what it sees in each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33</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22514">
                <a:tc>
                  <a:txBody>
                    <a:bodyPr/>
                    <a:lstStyle/>
                    <a:p>
                      <a:r>
                        <a:rPr sz="1300" b="1">
                          <a:solidFill>
                            <a:srgbClr val="FFFFFF"/>
                          </a:solidFill>
                          <a:latin typeface="Arial"/>
                        </a:rPr>
                        <a:t>Action</a:t>
                      </a:r>
                    </a:p>
                  </a:txBody>
                  <a:tcPr marL="54864" marR="54864" marT="27432" marB="27432" anchor="ctr">
                    <a:solidFill>
                      <a:srgbClr val="072140"/>
                    </a:solidFill>
                  </a:tcPr>
                </a:tc>
                <a:tc>
                  <a:txBody>
                    <a:bodyPr/>
                    <a:lstStyle/>
                    <a:p>
                      <a:r>
                        <a:rPr sz="1300" b="1">
                          <a:solidFill>
                            <a:srgbClr val="FFFFFF"/>
                          </a:solidFill>
                          <a:latin typeface="Arial"/>
                        </a:rPr>
                        <a:t>Example</a:t>
                      </a:r>
                    </a:p>
                  </a:txBody>
                  <a:tcPr marL="54864" marR="54864" marT="27432" marB="27432" anchor="ctr">
                    <a:solidFill>
                      <a:srgbClr val="072140"/>
                    </a:solidFill>
                  </a:tcPr>
                </a:tc>
                <a:extLst>
                  <a:ext uri="{0D108BD9-81ED-4DB2-BD59-A6C34878D82A}">
                    <a16:rowId xmlns:a16="http://schemas.microsoft.com/office/drawing/2014/main" val="10000"/>
                  </a:ext>
                </a:extLst>
              </a:tr>
              <a:tr h="522514">
                <a:tc>
                  <a:txBody>
                    <a:bodyPr/>
                    <a:lstStyle/>
                    <a:p>
                      <a:r>
                        <a:rPr sz="1300" b="1">
                          <a:solidFill>
                            <a:srgbClr val="222A35"/>
                          </a:solidFill>
                          <a:latin typeface="Arial"/>
                        </a:rPr>
                        <a:t>Tap</a:t>
                      </a:r>
                    </a:p>
                  </a:txBody>
                  <a:tcPr marL="54864" marR="54864" marT="27432" marB="27432" anchor="ctr">
                    <a:solidFill>
                      <a:srgbClr val="FFFFFF"/>
                    </a:solidFill>
                  </a:tcPr>
                </a:tc>
                <a:tc>
                  <a:txBody>
                    <a:bodyPr/>
                    <a:lstStyle/>
                    <a:p>
                      <a:r>
                        <a:rPr sz="1300" b="0">
                          <a:solidFill>
                            <a:srgbClr val="222A35"/>
                          </a:solidFill>
                          <a:latin typeface="Arial"/>
                        </a:rPr>
                        <a:t>do(action="Tap", element=[500, 335])</a:t>
                      </a:r>
                    </a:p>
                  </a:txBody>
                  <a:tcPr marL="54864" marR="54864" marT="27432" marB="27432" anchor="ctr">
                    <a:solidFill>
                      <a:srgbClr val="FFFFFF"/>
                    </a:solidFill>
                  </a:tcPr>
                </a:tc>
                <a:extLst>
                  <a:ext uri="{0D108BD9-81ED-4DB2-BD59-A6C34878D82A}">
                    <a16:rowId xmlns:a16="http://schemas.microsoft.com/office/drawing/2014/main" val="10001"/>
                  </a:ext>
                </a:extLst>
              </a:tr>
              <a:tr h="522514">
                <a:tc>
                  <a:txBody>
                    <a:bodyPr/>
                    <a:lstStyle/>
                    <a:p>
                      <a:r>
                        <a:rPr sz="1300" b="1">
                          <a:solidFill>
                            <a:srgbClr val="222A35"/>
                          </a:solidFill>
                          <a:latin typeface="Arial"/>
                        </a:rPr>
                        <a:t>Type</a:t>
                      </a:r>
                    </a:p>
                  </a:txBody>
                  <a:tcPr marL="54864" marR="54864" marT="27432" marB="27432" anchor="ctr">
                    <a:solidFill>
                      <a:srgbClr val="F2F5F9"/>
                    </a:solidFill>
                  </a:tcPr>
                </a:tc>
                <a:tc>
                  <a:txBody>
                    <a:bodyPr/>
                    <a:lstStyle/>
                    <a:p>
                      <a:r>
                        <a:rPr sz="1300" b="0">
                          <a:solidFill>
                            <a:srgbClr val="222A35"/>
                          </a:solidFill>
                          <a:latin typeface="Arial"/>
                        </a:rPr>
                        <a:t>do(action="Type", text="Ruggell")</a:t>
                      </a:r>
                    </a:p>
                  </a:txBody>
                  <a:tcPr marL="54864" marR="54864" marT="27432" marB="27432" anchor="ctr">
                    <a:solidFill>
                      <a:srgbClr val="F2F5F9"/>
                    </a:solidFill>
                  </a:tcPr>
                </a:tc>
                <a:extLst>
                  <a:ext uri="{0D108BD9-81ED-4DB2-BD59-A6C34878D82A}">
                    <a16:rowId xmlns:a16="http://schemas.microsoft.com/office/drawing/2014/main" val="10002"/>
                  </a:ext>
                </a:extLst>
              </a:tr>
              <a:tr h="522514">
                <a:tc>
                  <a:txBody>
                    <a:bodyPr/>
                    <a:lstStyle/>
                    <a:p>
                      <a:r>
                        <a:rPr sz="1300" b="1">
                          <a:solidFill>
                            <a:srgbClr val="222A35"/>
                          </a:solidFill>
                          <a:latin typeface="Arial"/>
                        </a:rPr>
                        <a:t>Swipe</a:t>
                      </a:r>
                    </a:p>
                  </a:txBody>
                  <a:tcPr marL="54864" marR="54864" marT="27432" marB="27432" anchor="ctr">
                    <a:solidFill>
                      <a:srgbClr val="FFFFFF"/>
                    </a:solidFill>
                  </a:tcPr>
                </a:tc>
                <a:tc>
                  <a:txBody>
                    <a:bodyPr/>
                    <a:lstStyle/>
                    <a:p>
                      <a:r>
                        <a:rPr sz="1300" b="0">
                          <a:solidFill>
                            <a:srgbClr val="222A35"/>
                          </a:solidFill>
                          <a:latin typeface="Arial"/>
                        </a:rPr>
                        <a:t>do(action="Swipe", start=[500,560], end=[500,260])</a:t>
                      </a:r>
                    </a:p>
                  </a:txBody>
                  <a:tcPr marL="54864" marR="54864" marT="27432" marB="27432" anchor="ctr">
                    <a:solidFill>
                      <a:srgbClr val="FFFFFF"/>
                    </a:solidFill>
                  </a:tcPr>
                </a:tc>
                <a:extLst>
                  <a:ext uri="{0D108BD9-81ED-4DB2-BD59-A6C34878D82A}">
                    <a16:rowId xmlns:a16="http://schemas.microsoft.com/office/drawing/2014/main" val="10003"/>
                  </a:ext>
                </a:extLst>
              </a:tr>
              <a:tr h="522514">
                <a:tc>
                  <a:txBody>
                    <a:bodyPr/>
                    <a:lstStyle/>
                    <a:p>
                      <a:r>
                        <a:rPr sz="1300" b="1">
                          <a:solidFill>
                            <a:srgbClr val="222A35"/>
                          </a:solidFill>
                          <a:latin typeface="Arial"/>
                        </a:rPr>
                        <a:t>Launch</a:t>
                      </a:r>
                    </a:p>
                  </a:txBody>
                  <a:tcPr marL="54864" marR="54864" marT="27432" marB="27432" anchor="ctr">
                    <a:solidFill>
                      <a:srgbClr val="F2F5F9"/>
                    </a:solidFill>
                  </a:tcPr>
                </a:tc>
                <a:tc>
                  <a:txBody>
                    <a:bodyPr/>
                    <a:lstStyle/>
                    <a:p>
                      <a:r>
                        <a:rPr sz="1300" b="0">
                          <a:solidFill>
                            <a:srgbClr val="222A35"/>
                          </a:solidFill>
                          <a:latin typeface="Arial"/>
                        </a:rPr>
                        <a:t>do(action="Launch", app="markor")</a:t>
                      </a:r>
                    </a:p>
                  </a:txBody>
                  <a:tcPr marL="54864" marR="54864" marT="27432" marB="27432" anchor="ctr">
                    <a:solidFill>
                      <a:srgbClr val="F2F5F9"/>
                    </a:solidFill>
                  </a:tcPr>
                </a:tc>
                <a:extLst>
                  <a:ext uri="{0D108BD9-81ED-4DB2-BD59-A6C34878D82A}">
                    <a16:rowId xmlns:a16="http://schemas.microsoft.com/office/drawing/2014/main" val="10004"/>
                  </a:ext>
                </a:extLst>
              </a:tr>
              <a:tr h="522514">
                <a:tc>
                  <a:txBody>
                    <a:bodyPr/>
                    <a:lstStyle/>
                    <a:p>
                      <a:r>
                        <a:rPr sz="1300" b="1">
                          <a:solidFill>
                            <a:srgbClr val="222A35"/>
                          </a:solidFill>
                          <a:latin typeface="Arial"/>
                        </a:rPr>
                        <a:t>Back / Wait</a:t>
                      </a:r>
                    </a:p>
                  </a:txBody>
                  <a:tcPr marL="54864" marR="54864" marT="27432" marB="27432" anchor="ctr">
                    <a:solidFill>
                      <a:srgbClr val="FFFFFF"/>
                    </a:solidFill>
                  </a:tcPr>
                </a:tc>
                <a:tc>
                  <a:txBody>
                    <a:bodyPr/>
                    <a:lstStyle/>
                    <a:p>
                      <a:r>
                        <a:rPr sz="1300" b="0">
                          <a:solidFill>
                            <a:srgbClr val="222A35"/>
                          </a:solidFill>
                          <a:latin typeface="Arial"/>
                        </a:rPr>
                        <a:t>do(action="Back")</a:t>
                      </a:r>
                    </a:p>
                  </a:txBody>
                  <a:tcPr marL="54864" marR="54864" marT="27432" marB="27432" anchor="ctr">
                    <a:solidFill>
                      <a:srgbClr val="FFFFFF"/>
                    </a:solidFill>
                  </a:tcPr>
                </a:tc>
                <a:extLst>
                  <a:ext uri="{0D108BD9-81ED-4DB2-BD59-A6C34878D82A}">
                    <a16:rowId xmlns:a16="http://schemas.microsoft.com/office/drawing/2014/main" val="10005"/>
                  </a:ext>
                </a:extLst>
              </a:tr>
              <a:tr h="522516">
                <a:tc>
                  <a:txBody>
                    <a:bodyPr/>
                    <a:lstStyle/>
                    <a:p>
                      <a:r>
                        <a:rPr sz="1300" b="1">
                          <a:solidFill>
                            <a:srgbClr val="222A35"/>
                          </a:solidFill>
                          <a:latin typeface="Arial"/>
                        </a:rPr>
                        <a:t>Finish</a:t>
                      </a:r>
                    </a:p>
                  </a:txBody>
                  <a:tcPr marL="54864" marR="54864" marT="27432" marB="27432" anchor="ctr">
                    <a:solidFill>
                      <a:srgbClr val="F2F5F9"/>
                    </a:solidFill>
                  </a:tcPr>
                </a:tc>
                <a:tc>
                  <a:txBody>
                    <a:bodyPr/>
                    <a:lstStyle/>
                    <a:p>
                      <a:r>
                        <a:rPr sz="1300" b="0">
                          <a:solidFill>
                            <a:srgbClr val="222A35"/>
                          </a:solidFill>
                          <a:latin typeface="Arial"/>
                        </a:rPr>
                        <a:t>finish(message="Track saved")</a:t>
                      </a:r>
                    </a:p>
                  </a:txBody>
                  <a:tcPr marL="54864" marR="54864" marT="27432" marB="27432" anchor="ctr">
                    <a:solidFill>
                      <a:srgbClr val="F2F5F9"/>
                    </a:solidFill>
                  </a:tcPr>
                </a:tc>
                <a:extLst>
                  <a:ext uri="{0D108BD9-81ED-4DB2-BD59-A6C34878D82A}">
                    <a16:rowId xmlns:a16="http://schemas.microsoft.com/office/drawing/2014/main" val="10006"/>
                  </a:ext>
                </a:extLst>
              </a:tr>
            </a:tbl>
          </a:graphicData>
        </a:graphic>
      </p:graphicFrame>
      <p:graphicFrame>
        <p:nvGraphicFramePr>
          <p:cNvPr id="10" name="Table 9"/>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457200">
                <a:tc>
                  <a:txBody>
                    <a:bodyPr/>
                    <a:lstStyle/>
                    <a:p>
                      <a:r>
                        <a:rPr sz="1300" b="1">
                          <a:solidFill>
                            <a:srgbClr val="FFFFFF"/>
                          </a:solidFill>
                          <a:latin typeface="Arial"/>
                        </a:rPr>
                        <a:t>Task</a:t>
                      </a:r>
                    </a:p>
                  </a:txBody>
                  <a:tcPr marL="54864" marR="54864" marT="27432" marB="27432" anchor="ctr">
                    <a:solidFill>
                      <a:srgbClr val="072140"/>
                    </a:solidFill>
                  </a:tcPr>
                </a:tc>
                <a:tc>
                  <a:txBody>
                    <a:bodyPr/>
                    <a:lstStyle/>
                    <a:p>
                      <a:r>
                        <a:rPr sz="1300" b="1">
                          <a:solidFill>
                            <a:srgbClr val="FFFFFF"/>
                          </a:solidFill>
                          <a:latin typeface="Arial"/>
                        </a:rPr>
                        <a:t>Observation</a:t>
                      </a:r>
                    </a:p>
                  </a:txBody>
                  <a:tcPr marL="54864" marR="54864" marT="27432" marB="27432" anchor="ctr">
                    <a:solidFill>
                      <a:srgbClr val="072140"/>
                    </a:solidFill>
                  </a:tcPr>
                </a:tc>
                <a:extLst>
                  <a:ext uri="{0D108BD9-81ED-4DB2-BD59-A6C34878D82A}">
                    <a16:rowId xmlns:a16="http://schemas.microsoft.com/office/drawing/2014/main" val="10000"/>
                  </a:ext>
                </a:extLst>
              </a:tr>
              <a:tr h="457200">
                <a:tc>
                  <a:txBody>
                    <a:bodyPr/>
                    <a:lstStyle/>
                    <a:p>
                      <a:r>
                        <a:rPr sz="1300" b="1">
                          <a:solidFill>
                            <a:srgbClr val="222A35"/>
                          </a:solidFill>
                          <a:latin typeface="Arial"/>
                        </a:rPr>
                        <a:t>Wi-Fi</a:t>
                      </a:r>
                    </a:p>
                  </a:txBody>
                  <a:tcPr marL="54864" marR="54864" marT="27432" marB="27432" anchor="ctr">
                    <a:solidFill>
                      <a:srgbClr val="FFFFFF"/>
                    </a:solidFill>
                  </a:tcPr>
                </a:tc>
                <a:tc>
                  <a:txBody>
                    <a:bodyPr/>
                    <a:lstStyle/>
                    <a:p>
                      <a:r>
                        <a:rPr sz="1300" b="0">
                          <a:solidFill>
                            <a:srgbClr val="222A35"/>
                          </a:solidFill>
                          <a:latin typeface="Arial"/>
                        </a:rPr>
                        <a:t>Screenshot + Settings labels</a:t>
                      </a:r>
                    </a:p>
                  </a:txBody>
                  <a:tcPr marL="54864" marR="54864" marT="27432" marB="27432" anchor="ctr">
                    <a:solidFill>
                      <a:srgbClr val="E5EFF8"/>
                    </a:solidFill>
                  </a:tcPr>
                </a:tc>
                <a:extLst>
                  <a:ext uri="{0D108BD9-81ED-4DB2-BD59-A6C34878D82A}">
                    <a16:rowId xmlns:a16="http://schemas.microsoft.com/office/drawing/2014/main" val="10001"/>
                  </a:ext>
                </a:extLst>
              </a:tr>
              <a:tr h="457200">
                <a:tc>
                  <a:txBody>
                    <a:bodyPr/>
                    <a:lstStyle/>
                    <a:p>
                      <a:r>
                        <a:rPr sz="1300" b="1">
                          <a:solidFill>
                            <a:srgbClr val="222A35"/>
                          </a:solidFill>
                          <a:latin typeface="Arial"/>
                        </a:rPr>
                        <a:t>Contacts</a:t>
                      </a:r>
                    </a:p>
                  </a:txBody>
                  <a:tcPr marL="54864" marR="54864" marT="27432" marB="27432" anchor="ctr">
                    <a:solidFill>
                      <a:srgbClr val="F2F5F9"/>
                    </a:solidFill>
                  </a:tcPr>
                </a:tc>
                <a:tc>
                  <a:txBody>
                    <a:bodyPr/>
                    <a:lstStyle/>
                    <a:p>
                      <a:r>
                        <a:rPr sz="1300" b="0">
                          <a:solidFill>
                            <a:srgbClr val="222A35"/>
                          </a:solidFill>
                          <a:latin typeface="Arial"/>
                        </a:rPr>
                        <a:t>Screenshot only</a:t>
                      </a:r>
                    </a:p>
                  </a:txBody>
                  <a:tcPr marL="54864" marR="54864" marT="27432" marB="27432" anchor="ctr">
                    <a:solidFill>
                      <a:srgbClr val="F2F5F9"/>
                    </a:solidFill>
                  </a:tcPr>
                </a:tc>
                <a:extLst>
                  <a:ext uri="{0D108BD9-81ED-4DB2-BD59-A6C34878D82A}">
                    <a16:rowId xmlns:a16="http://schemas.microsoft.com/office/drawing/2014/main" val="10002"/>
                  </a:ext>
                </a:extLst>
              </a:tr>
              <a:tr h="457200">
                <a:tc>
                  <a:txBody>
                    <a:bodyPr/>
                    <a:lstStyle/>
                    <a:p>
                      <a:r>
                        <a:rPr sz="1300" b="1">
                          <a:solidFill>
                            <a:srgbClr val="222A35"/>
                          </a:solidFill>
                          <a:latin typeface="Arial"/>
                        </a:rPr>
                        <a:t>SMS</a:t>
                      </a:r>
                    </a:p>
                  </a:txBody>
                  <a:tcPr marL="54864" marR="54864" marT="27432" marB="27432" anchor="ctr">
                    <a:solidFill>
                      <a:srgbClr val="FFFFFF"/>
                    </a:solidFill>
                  </a:tcPr>
                </a:tc>
                <a:tc>
                  <a:txBody>
                    <a:bodyPr/>
                    <a:lstStyle/>
                    <a:p>
                      <a:r>
                        <a:rPr sz="1300" b="0">
                          <a:solidFill>
                            <a:srgbClr val="222A35"/>
                          </a:solidFill>
                          <a:latin typeface="Arial"/>
                        </a:rPr>
                        <a:t>Screenshot only</a:t>
                      </a:r>
                    </a:p>
                  </a:txBody>
                  <a:tcPr marL="54864" marR="54864" marT="27432" marB="27432" anchor="ctr">
                    <a:solidFill>
                      <a:srgbClr val="FFFFFF"/>
                    </a:solidFill>
                  </a:tcPr>
                </a:tc>
                <a:extLst>
                  <a:ext uri="{0D108BD9-81ED-4DB2-BD59-A6C34878D82A}">
                    <a16:rowId xmlns:a16="http://schemas.microsoft.com/office/drawing/2014/main" val="10003"/>
                  </a:ext>
                </a:extLst>
              </a:tr>
              <a:tr h="457200">
                <a:tc>
                  <a:txBody>
                    <a:bodyPr/>
                    <a:lstStyle/>
                    <a:p>
                      <a:r>
                        <a:rPr sz="1300" b="1">
                          <a:solidFill>
                            <a:srgbClr val="222A35"/>
                          </a:solidFill>
                          <a:latin typeface="Arial"/>
                        </a:rPr>
                        <a:t>Files</a:t>
                      </a:r>
                    </a:p>
                  </a:txBody>
                  <a:tcPr marL="54864" marR="54864" marT="27432" marB="27432" anchor="ctr">
                    <a:solidFill>
                      <a:srgbClr val="F2F5F9"/>
                    </a:solidFill>
                  </a:tcPr>
                </a:tc>
                <a:tc>
                  <a:txBody>
                    <a:bodyPr/>
                    <a:lstStyle/>
                    <a:p>
                      <a:r>
                        <a:rPr sz="1300" b="0">
                          <a:solidFill>
                            <a:srgbClr val="222A35"/>
                          </a:solidFill>
                          <a:latin typeface="Arial"/>
                        </a:rPr>
                        <a:t>Screenshot only</a:t>
                      </a:r>
                    </a:p>
                  </a:txBody>
                  <a:tcPr marL="54864" marR="54864" marT="27432" marB="27432" anchor="ctr">
                    <a:solidFill>
                      <a:srgbClr val="F2F5F9"/>
                    </a:solidFill>
                  </a:tcPr>
                </a:tc>
                <a:extLst>
                  <a:ext uri="{0D108BD9-81ED-4DB2-BD59-A6C34878D82A}">
                    <a16:rowId xmlns:a16="http://schemas.microsoft.com/office/drawing/2014/main" val="10004"/>
                  </a:ext>
                </a:extLst>
              </a:tr>
              <a:tr h="457200">
                <a:tc>
                  <a:txBody>
                    <a:bodyPr/>
                    <a:lstStyle/>
                    <a:p>
                      <a:r>
                        <a:rPr sz="1300" b="1">
                          <a:solidFill>
                            <a:srgbClr val="222A35"/>
                          </a:solidFill>
                          <a:latin typeface="Arial"/>
                        </a:rPr>
                        <a:t>Calendar</a:t>
                      </a:r>
                    </a:p>
                  </a:txBody>
                  <a:tcPr marL="54864" marR="54864" marT="27432" marB="27432" anchor="ctr">
                    <a:solidFill>
                      <a:srgbClr val="FFFFFF"/>
                    </a:solidFill>
                  </a:tcPr>
                </a:tc>
                <a:tc>
                  <a:txBody>
                    <a:bodyPr/>
                    <a:lstStyle/>
                    <a:p>
                      <a:r>
                        <a:rPr sz="1300" b="0">
                          <a:solidFill>
                            <a:srgbClr val="222A35"/>
                          </a:solidFill>
                          <a:latin typeface="Arial"/>
                        </a:rPr>
                        <a:t>Screenshot only</a:t>
                      </a:r>
                    </a:p>
                  </a:txBody>
                  <a:tcPr marL="54864" marR="54864" marT="27432" marB="27432" anchor="ctr">
                    <a:solidFill>
                      <a:srgbClr val="FFFFFF"/>
                    </a:solidFill>
                  </a:tcPr>
                </a:tc>
                <a:extLst>
                  <a:ext uri="{0D108BD9-81ED-4DB2-BD59-A6C34878D82A}">
                    <a16:rowId xmlns:a16="http://schemas.microsoft.com/office/drawing/2014/main" val="10005"/>
                  </a:ext>
                </a:extLst>
              </a:tr>
              <a:tr h="457200">
                <a:tc>
                  <a:txBody>
                    <a:bodyPr/>
                    <a:lstStyle/>
                    <a:p>
                      <a:r>
                        <a:rPr sz="1300" b="1">
                          <a:solidFill>
                            <a:srgbClr val="222A35"/>
                          </a:solidFill>
                          <a:latin typeface="Arial"/>
                        </a:rPr>
                        <a:t>Markor + SMS</a:t>
                      </a:r>
                    </a:p>
                  </a:txBody>
                  <a:tcPr marL="54864" marR="54864" marT="27432" marB="27432" anchor="ctr">
                    <a:solidFill>
                      <a:srgbClr val="F2F5F9"/>
                    </a:solidFill>
                  </a:tcPr>
                </a:tc>
                <a:tc>
                  <a:txBody>
                    <a:bodyPr/>
                    <a:lstStyle/>
                    <a:p>
                      <a:r>
                        <a:rPr sz="1300" b="0">
                          <a:solidFill>
                            <a:srgbClr val="222A35"/>
                          </a:solidFill>
                          <a:latin typeface="Arial"/>
                        </a:rPr>
                        <a:t>Screenshot only (+ text Skill)</a:t>
                      </a:r>
                    </a:p>
                  </a:txBody>
                  <a:tcPr marL="54864" marR="54864" marT="27432" marB="27432" anchor="ctr">
                    <a:solidFill>
                      <a:srgbClr val="F2F5F9"/>
                    </a:solidFill>
                  </a:tcPr>
                </a:tc>
                <a:extLst>
                  <a:ext uri="{0D108BD9-81ED-4DB2-BD59-A6C34878D82A}">
                    <a16:rowId xmlns:a16="http://schemas.microsoft.com/office/drawing/2014/main" val="10006"/>
                  </a:ext>
                </a:extLst>
              </a:tr>
              <a:tr h="457200">
                <a:tc>
                  <a:txBody>
                    <a:bodyPr/>
                    <a:lstStyle/>
                    <a:p>
                      <a:r>
                        <a:rPr sz="1300" b="1">
                          <a:solidFill>
                            <a:srgbClr val="222A35"/>
                          </a:solidFill>
                          <a:latin typeface="Arial"/>
                        </a:rPr>
                        <a:t>OsmAnd</a:t>
                      </a:r>
                    </a:p>
                  </a:txBody>
                  <a:tcPr marL="54864" marR="54864" marT="27432" marB="27432" anchor="ctr">
                    <a:solidFill>
                      <a:srgbClr val="FFFFFF"/>
                    </a:solidFill>
                  </a:tcPr>
                </a:tc>
                <a:tc>
                  <a:txBody>
                    <a:bodyPr/>
                    <a:lstStyle/>
                    <a:p>
                      <a:r>
                        <a:rPr sz="1300" b="0">
                          <a:solidFill>
                            <a:srgbClr val="222A35"/>
                          </a:solidFill>
                          <a:latin typeface="Arial"/>
                        </a:rPr>
                        <a:t>Screenshot + accessibility tree (+ coded Skill)</a:t>
                      </a:r>
                    </a:p>
                  </a:txBody>
                  <a:tcPr marL="54864" marR="54864" marT="27432" marB="27432" anchor="ctr">
                    <a:solidFill>
                      <a:srgbClr val="FCECE0"/>
                    </a:solidFill>
                  </a:tcPr>
                </a:tc>
                <a:extLst>
                  <a:ext uri="{0D108BD9-81ED-4DB2-BD59-A6C34878D82A}">
                    <a16:rowId xmlns:a16="http://schemas.microsoft.com/office/drawing/2014/main" val="10007"/>
                  </a:ext>
                </a:extLst>
              </a:tr>
            </a:tbl>
          </a:graphicData>
        </a:graphic>
      </p:graphicFrame>
      <p:sp>
        <p:nvSpPr>
          <p:cNvPr id="11" name="TextBox 10"/>
          <p:cNvSpPr txBox="1"/>
          <p:nvPr/>
        </p:nvSpPr>
        <p:spPr>
          <a:xfrm>
            <a:off x="640080" y="5440680"/>
            <a:ext cx="10881360" cy="822960"/>
          </a:xfrm>
          <a:prstGeom prst="rect">
            <a:avLst/>
          </a:prstGeom>
          <a:noFill/>
        </p:spPr>
        <p:txBody>
          <a:bodyPr wrap="square" lIns="73152" rIns="73152" anchor="t">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Steps used versus the course's reference steps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34</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Speed and cost: about 0.066 € for all 21 runs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35</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001000" y="1600200"/>
            <a:ext cx="3566160" cy="685800"/>
          </a:xfrm>
          <a:prstGeom prst="rect">
            <a:avLst/>
          </a:prstGeom>
          <a:noFill/>
        </p:spPr>
        <p:txBody>
          <a:bodyPr wrap="square" lIns="73152" rIns="73152" anchor="t">
            <a:spAutoFit/>
          </a:bodyPr>
          <a:lstStyle/>
          <a:p>
            <a:pPr algn="l">
              <a:lnSpc>
                <a:spcPct val="110000"/>
              </a:lnSpc>
            </a:pPr>
            <a:r>
              <a:rPr sz="3600" b="1" i="0">
                <a:solidFill>
                  <a:srgbClr val="0065BD"/>
                </a:solidFill>
                <a:latin typeface="Arial"/>
              </a:rPr>
              <a:t>1.47 M</a:t>
            </a:r>
          </a:p>
        </p:txBody>
      </p:sp>
      <p:sp>
        <p:nvSpPr>
          <p:cNvPr id="11" name="TextBox 10"/>
          <p:cNvSpPr txBox="1"/>
          <p:nvPr/>
        </p:nvSpPr>
        <p:spPr>
          <a:xfrm>
            <a:off x="8001000" y="2313432"/>
            <a:ext cx="35661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tokens for all 21 final runs</a:t>
            </a:r>
          </a:p>
        </p:txBody>
      </p:sp>
      <p:sp>
        <p:nvSpPr>
          <p:cNvPr id="12" name="TextBox 11"/>
          <p:cNvSpPr txBox="1"/>
          <p:nvPr/>
        </p:nvSpPr>
        <p:spPr>
          <a:xfrm>
            <a:off x="8001000" y="3063240"/>
            <a:ext cx="3566160" cy="685800"/>
          </a:xfrm>
          <a:prstGeom prst="rect">
            <a:avLst/>
          </a:prstGeom>
          <a:noFill/>
        </p:spPr>
        <p:txBody>
          <a:bodyPr wrap="square" lIns="73152" rIns="73152" anchor="t">
            <a:spAutoFit/>
          </a:bodyPr>
          <a:lstStyle/>
          <a:p>
            <a:pPr algn="l">
              <a:lnSpc>
                <a:spcPct val="110000"/>
              </a:lnSpc>
            </a:pPr>
            <a:r>
              <a:rPr sz="3600" b="1" i="0">
                <a:solidFill>
                  <a:srgbClr val="0065BD"/>
                </a:solidFill>
                <a:latin typeface="Arial"/>
              </a:rPr>
              <a:t>€0.066</a:t>
            </a:r>
          </a:p>
        </p:txBody>
      </p:sp>
      <p:sp>
        <p:nvSpPr>
          <p:cNvPr id="13" name="TextBox 12"/>
          <p:cNvSpPr txBox="1"/>
          <p:nvPr/>
        </p:nvSpPr>
        <p:spPr>
          <a:xfrm>
            <a:off x="8001000" y="3776472"/>
            <a:ext cx="35661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model cost of the final evaluation</a:t>
            </a:r>
          </a:p>
          <a:p>
            <a:pPr algn="l">
              <a:lnSpc>
                <a:spcPct val="110000"/>
              </a:lnSpc>
            </a:pPr>
            <a:r>
              <a:rPr sz="1400" b="0" i="0">
                <a:solidFill>
                  <a:srgbClr val="5E6773"/>
                </a:solidFill>
                <a:latin typeface="Arial"/>
              </a:rPr>
              <a:t>(€0.045 per million tokens)</a:t>
            </a:r>
          </a:p>
        </p:txBody>
      </p:sp>
      <p:sp>
        <p:nvSpPr>
          <p:cNvPr id="14" name="TextBox 13"/>
          <p:cNvSpPr txBox="1"/>
          <p:nvPr/>
        </p:nvSpPr>
        <p:spPr>
          <a:xfrm>
            <a:off x="8001000" y="4526280"/>
            <a:ext cx="3566160" cy="685800"/>
          </a:xfrm>
          <a:prstGeom prst="rect">
            <a:avLst/>
          </a:prstGeom>
          <a:noFill/>
        </p:spPr>
        <p:txBody>
          <a:bodyPr wrap="square" lIns="73152" rIns="73152" anchor="t">
            <a:spAutoFit/>
          </a:bodyPr>
          <a:lstStyle/>
          <a:p>
            <a:pPr algn="l">
              <a:lnSpc>
                <a:spcPct val="110000"/>
              </a:lnSpc>
            </a:pPr>
            <a:r>
              <a:rPr sz="3600" b="1" i="0">
                <a:solidFill>
                  <a:srgbClr val="0065BD"/>
                </a:solidFill>
                <a:latin typeface="Arial"/>
              </a:rPr>
              <a:t>1.75 s</a:t>
            </a:r>
          </a:p>
        </p:txBody>
      </p:sp>
      <p:sp>
        <p:nvSpPr>
          <p:cNvPr id="15" name="TextBox 14"/>
          <p:cNvSpPr txBox="1"/>
          <p:nvPr/>
        </p:nvSpPr>
        <p:spPr>
          <a:xfrm>
            <a:off x="8001000" y="5239512"/>
            <a:ext cx="35661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median time per model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3F756E6-8C80-4A83-A2A9-96F100A09D26}">
  <we:reference id="wa200010001" version="1.0.0.1" store="en-US" storeType="OMEX"/>
  <we:alternateReferences>
    <we:reference id="WA200010001" version="1.0.0.1" store="" storeType="OMEX"/>
  </we:alternateReferences>
  <we:properties>
    <we:property name="claude.fileId" value="&quot;a1f25de8-71ed-4d83-9d74-4f1b1319718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9425</Words>
  <Application>Microsoft Office PowerPoint</Application>
  <PresentationFormat>Widescreen</PresentationFormat>
  <Paragraphs>1058</Paragraphs>
  <Slides>35</Slides>
  <Notes>35</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Nghia Nguyen</cp:lastModifiedBy>
  <cp:revision>3</cp:revision>
  <dcterms:created xsi:type="dcterms:W3CDTF">2013-01-27T09:14:16Z</dcterms:created>
  <dcterms:modified xsi:type="dcterms:W3CDTF">2026-10-11T10:14:06Z</dcterms:modified>
  <cp:category/>
</cp:coreProperties>
</file>